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8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hammad Sun" initials="MS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4660"/>
  </p:normalViewPr>
  <p:slideViewPr>
    <p:cSldViewPr snapToGrid="0">
      <p:cViewPr varScale="1">
        <p:scale>
          <a:sx n="75" d="100"/>
          <a:sy n="75" d="100"/>
        </p:scale>
        <p:origin x="-13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0E494-DD1B-46B5-BEAA-61D157DEAA4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FACC2-AE5A-4C63-BB35-C0A034DF2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46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xmlns="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xmlns="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xmlns="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xmlns="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xmlns="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DB3C7FD-F667-45F2-B7F1-A0E87BCD69EB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xmlns="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xmlns="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xmlns="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xmlns="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720334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F2036-3F9E-4759-897E-9D00683A0BAE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6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xmlns="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xmlns="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EC81B68E-867F-4F4D-A75B-572EF4246E14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xmlns="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4515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623A8EA-B6AB-4625-A2FE-0CB8032808E1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04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D9CA-F69C-4F89-BDE2-97A58CB7CDC9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50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A98D50D8-F68F-4000-AB1B-A396297C1F9F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xmlns="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xmlns="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xmlns="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xmlns="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xmlns="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xmlns="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xmlns="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xmlns="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101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8572F062-4625-4971-9D73-CE14F69F722F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91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E2D16-C30B-4BCE-BA81-024F016C59BB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xmlns="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xmlns="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xmlns="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4889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xmlns="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xmlns="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xmlns="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xmlns="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xmlns="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F7B71C8-95BE-445B-8BDF-BD89F85B5912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1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xmlns="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A2DE2570-B205-43C9-994C-F13941092B21}" type="datetime1">
              <a:rPr lang="en-US" smtClean="0"/>
              <a:t>10/6/2026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xmlns="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xmlns="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0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3EBF-C6C8-4029-9AA3-B7AB545E0480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xmlns="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xmlns="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xmlns="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xmlns="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8907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xmlns="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3D818-A0BF-4DF1-A76B-B73D0DAF8D7F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xmlns="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57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F6C6FA33-6DE7-4379-BA29-B1931664F39F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81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xmlns="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A48DB4C9-4609-4D6E-A57A-2CFAD7B4FA84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335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067E5565-9866-453F-9643-0D069C0C29AF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xmlns="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xmlns="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xmlns="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xmlns="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xmlns="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3079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A3FAEFA4-7FCF-4CD4-A43B-0175F267F238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6984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3773-9607-485B-8D6F-FF860ADD0721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046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2D19-E9B8-426F-9442-CC8DDD27BB44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xmlns="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908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xmlns="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xmlns="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63F980-EE16-4592-AC0A-4DB70A34BFC0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xmlns="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xmlns="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xmlns="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xmlns="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xmlns="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xmlns="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xmlns="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xmlns="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19229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D3070ED7-80B8-49F3-9671-27776298E0E5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xmlns="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xmlns="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3754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xmlns="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2D958A-1198-4A0E-9A09-5E1403306F7A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xmlns="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xmlns="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xmlns="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xmlns="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xmlns="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xmlns="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xmlns="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xmlns="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97578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617F-7D74-4C78-94E7-80A1F55C6696}" type="datetime1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471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7D2E1-CAF0-4B59-AA4D-71B785220595}" type="datetime1">
              <a:rPr lang="en-US" smtClean="0"/>
              <a:t>10/6/2026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921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E8907-0FC8-4883-8BE4-94132AC2072E}" type="datetime1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747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EE61-5EB1-4A50-85E1-5EFAD9CCB0BF}" type="datetime1">
              <a:rPr lang="en-US" smtClean="0"/>
              <a:t>10/6/2026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20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xmlns="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xmlns="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C64654-30D1-4B8D-8775-B751C624816B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5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xmlns="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402E61-2751-4891-948A-EA2B8A71FB67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34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C1BE2700-D708-4A6E-9FBB-C1D849DA0286}" type="datetime1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05D66C37-7C32-4DDF-A55F-2AF4259C1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3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hf hdr="0" ftr="0" dt="0"/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AEE0BE9C-2C40-F92B-348C-F3B4722EA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Classification Using Deep Learning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F917796C-F8FF-7ADB-032B-0F075E721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Course: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Hasibur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 Sun — 0112330199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Nafis Iqbal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Neloy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0112330617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Mishkatul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Bary — 0112330669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Abdullah Al Muhaimin — 0112330641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Farjana Akter — 0112330657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Jannatul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Ferdaous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0112330670</a:t>
            </a:r>
          </a:p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xmlns="" id="{B4027C98-F91F-14C2-39C8-7EB8922E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1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5207A66F-C841-1784-C9ED-27DC39A97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367" y="1580627"/>
            <a:ext cx="3670458" cy="369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40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4506D04-C405-2BE8-E304-3EAD5D23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D5AE7D24-9ACE-89F7-1C6B-7E6EDBC76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waste classification is: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Time-consuming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Labor-intensive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Inconsistent</a:t>
            </a:r>
          </a:p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garbage images vary in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Appearance</a:t>
            </a:r>
          </a:p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evaluate an EfficientNet-B6-based system for classifying garbage images into 10 categories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90DD1D7-12AA-9B24-93EC-B69B7C72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9990B1D-E33D-EABA-C359-91B546EA7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589" y="1511748"/>
            <a:ext cx="3323105" cy="2091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54AF9540-A8CF-DC72-139F-F993527FD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412" y="1511748"/>
            <a:ext cx="3191848" cy="20917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915DBADB-207E-146A-8DC6-B65F18E40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589" y="3690153"/>
            <a:ext cx="3323105" cy="19912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290E4DC0-52ED-8B6B-C792-C386D87AE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410" y="3690153"/>
            <a:ext cx="3191849" cy="199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4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E388C764-0243-247E-AF81-F4C4A90B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Exploratory Data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63470D9C-62C9-5ED6-97C9-4A42EE2CC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Garbage Classification V2 — Kaggle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Classes: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Performed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 analysis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resolution analysis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sample inspection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intensity analysis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Corrupted image checking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contains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unequal numbers of images across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4C3A6A1-A662-DE45-23C0-7F51F1EE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FEC9202-42CF-B63E-6A05-A934DF40D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671" y="2321859"/>
            <a:ext cx="4096871" cy="2800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66EC36E-2B19-B42D-A88E-B3C2FC829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386" y="2321859"/>
            <a:ext cx="3662718" cy="28002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A9C6877-706A-076D-5AF7-5EDF7FE67D75}"/>
              </a:ext>
            </a:extLst>
          </p:cNvPr>
          <p:cNvSpPr txBox="1"/>
          <p:nvPr/>
        </p:nvSpPr>
        <p:spPr>
          <a:xfrm>
            <a:off x="3519515" y="5201159"/>
            <a:ext cx="4033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Class Distribution Across the 10 Garbage Categories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AA597D4-8C4C-E79A-E596-F2324BDACDC9}"/>
              </a:ext>
            </a:extLst>
          </p:cNvPr>
          <p:cNvSpPr txBox="1"/>
          <p:nvPr/>
        </p:nvSpPr>
        <p:spPr>
          <a:xfrm>
            <a:off x="7852386" y="5207752"/>
            <a:ext cx="3887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 Representative Samples from the Garbage Dataset</a:t>
            </a:r>
          </a:p>
        </p:txBody>
      </p:sp>
    </p:spTree>
    <p:extLst>
      <p:ext uri="{BB962C8B-B14F-4D97-AF65-F5344CB8AC3E}">
        <p14:creationId xmlns:p14="http://schemas.microsoft.com/office/powerpoint/2010/main" val="3051305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97E245-8BA9-0E88-10A5-B08C397E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C876DF-28C7-EBB6-7260-4F4765852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transfer learning pipeline was developed for garbage image classification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15CC64-BE65-F3A2-B02F-9375362C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18E6355-A6FF-B94E-2990-623CC6872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268" y="1909852"/>
            <a:ext cx="7612050" cy="3892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056D750-F6AE-4D9A-3194-AC8F75A28148}"/>
              </a:ext>
            </a:extLst>
          </p:cNvPr>
          <p:cNvSpPr txBox="1"/>
          <p:nvPr/>
        </p:nvSpPr>
        <p:spPr>
          <a:xfrm>
            <a:off x="2904471" y="5834181"/>
            <a:ext cx="61059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Figure3 . End-to-end workflow of the proposed EfficientNet-B6 garbage classification system.</a:t>
            </a:r>
          </a:p>
        </p:txBody>
      </p:sp>
    </p:spTree>
    <p:extLst>
      <p:ext uri="{BB962C8B-B14F-4D97-AF65-F5344CB8AC3E}">
        <p14:creationId xmlns:p14="http://schemas.microsoft.com/office/powerpoint/2010/main" val="184073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70181A-2DBB-2AE9-91AA-5DACDCD9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5F709C-8B13-5B5A-6132-A49F6E921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815444" cy="48433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Resize: 224 × 224 pixels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image input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 conversion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 normalization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Augmentation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&amp; vertical flipping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rotation: +30°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 adjustment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 adjustment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Training | 15% Validation | 15%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D4CF358-B8DC-991F-8041-F2EA1DADA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5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8329B135-AB0B-8B81-34AE-E4AFF02BB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625" y="2280019"/>
            <a:ext cx="7669479" cy="26505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F18B1F2-148F-6C6A-D79B-0DE8D2CA8B3A}"/>
              </a:ext>
            </a:extLst>
          </p:cNvPr>
          <p:cNvSpPr txBox="1"/>
          <p:nvPr/>
        </p:nvSpPr>
        <p:spPr>
          <a:xfrm>
            <a:off x="5226424" y="4930589"/>
            <a:ext cx="510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 Example of training data augmentation applied to a glass-class image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8457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5C9174-0688-833E-E492-639BCAB0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EfficientNet-B6 Transfer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9F196B-9506-7B6E-4A1F-F6670675E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ImageNet-pretrained EfficientNet-B6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classifier modified for 10 classes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fine-tuning</a:t>
            </a:r>
          </a:p>
          <a:p>
            <a:pPr marL="0" indent="0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CrossEntropyLoss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 — Adam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— 16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LR — 0.001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LR — 0.0001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— NVIDIA T4 GPU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187420E-7068-EED6-D7D9-1C8C6C52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3E74E5C4-4663-10E1-EF3F-71137630C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561" y="2017059"/>
            <a:ext cx="7407460" cy="29942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7CFFD56-604F-AD8F-1F7B-A300A2586EE8}"/>
              </a:ext>
            </a:extLst>
          </p:cNvPr>
          <p:cNvSpPr txBox="1"/>
          <p:nvPr/>
        </p:nvSpPr>
        <p:spPr>
          <a:xfrm>
            <a:off x="4353561" y="4976920"/>
            <a:ext cx="752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5. Transfer learning architecture using ImageNet-pretrained EfficientNet-B6 for 10-class garbage classification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9155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291C55-A31F-AA5C-1D83-A77D8A12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Fine-Tuning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05176F-1792-B36B-C776-20DFCCF84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3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0.001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Training Accuracy: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84.90%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85.10%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Epochs: 2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0.0001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Training Accuracy: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94.23%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93.47%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496A16A-78BB-E506-D0ED-A9A240F8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D919DFC-366E-2887-FC66-181317175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169" y="2005145"/>
            <a:ext cx="6636091" cy="33411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87B5DA5-2CC6-58DF-E74B-568E2A22109B}"/>
              </a:ext>
            </a:extLst>
          </p:cNvPr>
          <p:cNvSpPr txBox="1"/>
          <p:nvPr/>
        </p:nvSpPr>
        <p:spPr>
          <a:xfrm>
            <a:off x="5370270" y="5376673"/>
            <a:ext cx="5593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6. Training accuracy progression across initial training and fine-tuning</a:t>
            </a:r>
            <a:r>
              <a:rPr lang="en-US" sz="1200" dirty="0"/>
              <a:t>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353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76F01C-46CD-1C6D-C20D-7325E2A92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A8E811-88CD-2FB0-F545-5B67ED5B8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Test Accuracy: 93.64%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CA45FB6-2567-38F9-DAE8-1D13ECB9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8D60FE73-8814-FC2B-B72F-3B40797BC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87392"/>
              </p:ext>
            </p:extLst>
          </p:nvPr>
        </p:nvGraphicFramePr>
        <p:xfrm>
          <a:off x="794870" y="2198842"/>
          <a:ext cx="3696448" cy="2713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224">
                  <a:extLst>
                    <a:ext uri="{9D8B030D-6E8A-4147-A177-3AD203B41FA5}">
                      <a16:colId xmlns:a16="http://schemas.microsoft.com/office/drawing/2014/main" xmlns="" val="836788890"/>
                    </a:ext>
                  </a:extLst>
                </a:gridCol>
                <a:gridCol w="1848224">
                  <a:extLst>
                    <a:ext uri="{9D8B030D-6E8A-4147-A177-3AD203B41FA5}">
                      <a16:colId xmlns:a16="http://schemas.microsoft.com/office/drawing/2014/main" xmlns="" val="2854880479"/>
                    </a:ext>
                  </a:extLst>
                </a:gridCol>
              </a:tblGrid>
              <a:tr h="739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75774457"/>
                  </a:ext>
                </a:extLst>
              </a:tr>
              <a:tr h="73990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4135839"/>
                  </a:ext>
                </a:extLst>
              </a:tr>
              <a:tr h="73990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6875143"/>
                  </a:ext>
                </a:extLst>
              </a:tr>
              <a:tr h="49410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242133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AA8B865-E005-2D7E-CB3E-248C53CE4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35" y="1690887"/>
            <a:ext cx="5982535" cy="34762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D028B4D-9982-819C-9EFC-9253B9705A5B}"/>
              </a:ext>
            </a:extLst>
          </p:cNvPr>
          <p:cNvSpPr txBox="1"/>
          <p:nvPr/>
        </p:nvSpPr>
        <p:spPr>
          <a:xfrm>
            <a:off x="6320117" y="5223648"/>
            <a:ext cx="42482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7. Accuracy comparison across different evaluation stages.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7BB54F8-F75E-BDCC-CCBB-D689CBBAE961}"/>
              </a:ext>
            </a:extLst>
          </p:cNvPr>
          <p:cNvSpPr txBox="1"/>
          <p:nvPr/>
        </p:nvSpPr>
        <p:spPr>
          <a:xfrm>
            <a:off x="651881" y="5330987"/>
            <a:ext cx="5444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improved validation accuracy from 85.10% to 93.47%,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final model achieved 93.64% accuracy on the held-out test set.</a:t>
            </a:r>
          </a:p>
        </p:txBody>
      </p:sp>
    </p:spTree>
    <p:extLst>
      <p:ext uri="{BB962C8B-B14F-4D97-AF65-F5344CB8AC3E}">
        <p14:creationId xmlns:p14="http://schemas.microsoft.com/office/powerpoint/2010/main" val="2618371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E4FB7F-9FD8-B879-5846-0CA74816E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Class-Level Performance &amp; Error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7AD92D-E479-107D-9B1F-450D7C947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 , Recall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, Confusion Matrix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3E203F9-9C7D-BFF5-1D23-32FF0D591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558C962-76FC-DF16-12D7-F49F9C0F4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07" y="2605442"/>
            <a:ext cx="4078528" cy="34340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22CE163-EB7E-34D2-83C5-5C1D4BA60362}"/>
              </a:ext>
            </a:extLst>
          </p:cNvPr>
          <p:cNvSpPr txBox="1"/>
          <p:nvPr/>
        </p:nvSpPr>
        <p:spPr>
          <a:xfrm>
            <a:off x="7685043" y="1550425"/>
            <a:ext cx="2725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Error 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5C7362F-B229-B082-200A-BEA3D01DD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716" y="1873412"/>
            <a:ext cx="4312119" cy="27957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79A0AFB-C5CE-EC54-C8E9-222C650CCC20}"/>
              </a:ext>
            </a:extLst>
          </p:cNvPr>
          <p:cNvSpPr txBox="1"/>
          <p:nvPr/>
        </p:nvSpPr>
        <p:spPr>
          <a:xfrm>
            <a:off x="7834480" y="4669149"/>
            <a:ext cx="1775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Class: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Metal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Class: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6397ABC-C3F7-F954-59D2-465E9C06D9A0}"/>
              </a:ext>
            </a:extLst>
          </p:cNvPr>
          <p:cNvSpPr txBox="1"/>
          <p:nvPr/>
        </p:nvSpPr>
        <p:spPr>
          <a:xfrm>
            <a:off x="6096000" y="5128554"/>
            <a:ext cx="5903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Similar visual features and real-world background variation can lead to incorrect predictions.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6C70BB9-8032-D0DE-AA0B-960C375F3D53}"/>
              </a:ext>
            </a:extLst>
          </p:cNvPr>
          <p:cNvSpPr txBox="1"/>
          <p:nvPr/>
        </p:nvSpPr>
        <p:spPr>
          <a:xfrm>
            <a:off x="558334" y="5985748"/>
            <a:ext cx="4676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Figure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Confusion matrix of EfficientNet-B6 on the held-out test set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502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8C2EEC-15D0-2276-4E05-9FDA23A2A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A5215-1BE2-0F20-F062-3F37B6AF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Image → Preprocessing → EfficientNet-B6 → Prediction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interactive interface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user-uploaded garbage images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the same inference preprocessing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class probabilities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top predicted categories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EA2D2B-343B-FB60-7711-18AFAA3D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4433461-180D-C5C6-A464-8E1AC75E8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007" y="2336263"/>
            <a:ext cx="3817931" cy="22569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12C098E-DE8B-57BC-9644-7A0254349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599" y="2336263"/>
            <a:ext cx="3728801" cy="22569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F79A96B-BF92-D1C6-3FB8-D711BC7469D2}"/>
              </a:ext>
            </a:extLst>
          </p:cNvPr>
          <p:cNvSpPr txBox="1"/>
          <p:nvPr/>
        </p:nvSpPr>
        <p:spPr>
          <a:xfrm>
            <a:off x="4876440" y="4593217"/>
            <a:ext cx="2244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Successful Prediction — Paper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42608F1-54F7-94F6-4B78-B73F0798A40C}"/>
              </a:ext>
            </a:extLst>
          </p:cNvPr>
          <p:cNvSpPr txBox="1"/>
          <p:nvPr/>
        </p:nvSpPr>
        <p:spPr>
          <a:xfrm>
            <a:off x="8830236" y="4623637"/>
            <a:ext cx="2212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Challenging Real-World Input</a:t>
            </a:r>
          </a:p>
        </p:txBody>
      </p:sp>
    </p:spTree>
    <p:extLst>
      <p:ext uri="{BB962C8B-B14F-4D97-AF65-F5344CB8AC3E}">
        <p14:creationId xmlns:p14="http://schemas.microsoft.com/office/powerpoint/2010/main" val="2411584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3AB025-9AB3-4A24-333E-F489ED16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6771B5-F921-D6D4-286B-47B9444FE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Developed an end-to-end garbage classification pipeline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-Applied transfer learning using EfficientNet-B6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-Validation accuracy improved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85.10% to 93.47%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-Achieved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93.64% test 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-Implemented a functional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and balance the dataset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robustness to real-world backgrounds and lighting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further hyperparameter optimization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difficult and misclassified samples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lightweight deployment for mobile/edge devices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79EE6A0-5EE8-F83C-F512-B5F58810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3017627-DBB3-922F-AB3B-4783A46A980A}"/>
              </a:ext>
            </a:extLst>
          </p:cNvPr>
          <p:cNvSpPr txBox="1"/>
          <p:nvPr/>
        </p:nvSpPr>
        <p:spPr>
          <a:xfrm>
            <a:off x="844972" y="5853381"/>
            <a:ext cx="1116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EfficientNet-B6 demonstrated strong performance for garbage classification while revealing opportunities to improve real-world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309320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EDE3BA-6C48-D582-3B49-BB24369F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9F3E42-AB5D-CCC5-E270-AFEE4A96F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10515600" cy="4599432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Garbage Classification V2, Kaggle. Dataset: sumn2u/garbage-classification-v2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M. Tan and Q. V. Le,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Rethinking Model Scaling for Convolutional Neural Networks,”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ICML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AD53C34-1333-76CC-3FF0-8FD4EF405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6C37-7C32-4DDF-A55F-2AF4259C141F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6C89B8E-ED50-CED5-A215-9ED1D4350B62}"/>
              </a:ext>
            </a:extLst>
          </p:cNvPr>
          <p:cNvSpPr txBox="1"/>
          <p:nvPr/>
        </p:nvSpPr>
        <p:spPr>
          <a:xfrm>
            <a:off x="4818529" y="4096869"/>
            <a:ext cx="2554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you!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865140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337</TotalTime>
  <Words>511</Words>
  <Application>Microsoft Office PowerPoint</Application>
  <PresentationFormat>Custom</PresentationFormat>
  <Paragraphs>135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School Days</vt:lpstr>
      <vt:lpstr>Garbage Classification Using Deep Learning </vt:lpstr>
      <vt:lpstr>Problem &amp; Objective</vt:lpstr>
      <vt:lpstr>Dataset &amp; Exploratory Data Analysis</vt:lpstr>
      <vt:lpstr>Proposed Methodology</vt:lpstr>
      <vt:lpstr>Data Preprocessing &amp; Augmentation</vt:lpstr>
      <vt:lpstr>EfficientNet-B6 Transfer Learning</vt:lpstr>
      <vt:lpstr>Training &amp; Fine-Tuning Performance</vt:lpstr>
      <vt:lpstr>Final Model Evaluation</vt:lpstr>
      <vt:lpstr>Class-Level Performance &amp; Error Analysis</vt:lpstr>
      <vt:lpstr>Prototype Deployment</vt:lpstr>
      <vt:lpstr>Conclusion &amp; Future Work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Garbage Classification Using Deep Learning </dc:title>
  <dc:creator>Muhammad Sun</dc:creator>
  <cp:lastModifiedBy>Neloy</cp:lastModifiedBy>
  <cp:revision>3</cp:revision>
  <dcterms:created xsi:type="dcterms:W3CDTF">2026-10-05T14:54:08Z</dcterms:created>
  <dcterms:modified xsi:type="dcterms:W3CDTF">2026-10-05T20:37:42Z</dcterms:modified>
</cp:coreProperties>
</file>