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Lato Bold" panose="020B0604020202020204" charset="0"/>
      <p:regular r:id="rId13"/>
    </p:embeddedFont>
    <p:embeddedFont>
      <p:font typeface="Lato" panose="020B0604020202020204" charset="0"/>
      <p:regular r:id="rId14"/>
    </p:embeddedFont>
    <p:embeddedFont>
      <p:font typeface="Calibri" panose="020F0502020204030204" pitchFamily="34" charset="0"/>
      <p:regular r:id="rId15"/>
      <p:bold r:id="rId16"/>
      <p:italic r:id="rId17"/>
      <p:boldItalic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296"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735D2803-20E8-47AD-ACAC-A51676566CB5}" type="datetimeFigureOut">
              <a:rPr lang="en-US" smtClean="0"/>
              <a:t>9/15/2026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6A7811BC-E164-4726-8583-E52766C55EFF}" type="slidenum">
              <a:rPr lang="en-US" smtClean="0"/>
              <a:t>‹#›</a:t>
            </a:fld>
            <a:endParaRPr lang="en-US"/>
          </a:p>
        </p:txBody>
      </p:sp>
    </p:spTree>
    <p:extLst>
      <p:ext uri="{BB962C8B-B14F-4D97-AF65-F5344CB8AC3E}">
        <p14:creationId xmlns:p14="http://schemas.microsoft.com/office/powerpoint/2010/main" val="506712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our "Preliminary Results" section, focusing on verifiable outputs rather than speculative performance metrics.
We have thoroughly analyzed the dataset, ensuring its readiness for model training. This includes understanding the class distribution, inspecting image quality, and confirming standardization of all images.
Crucially, our data pipeline is robust: training batches load correctly, augmentation applies as expected, and tensor dimensions are verified. We've confirmed our CUDA environment is active and training has begun, which is key implementation evidence.
The image visually demonstrates our data preprocessing by showing a grid of original alongside augmented images, highlighting the transformation our data undergoes before feeding into the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remaining phases of our project. It clearly communicates to the audience what's left to do before completion.
I've used an infographic to visually represent the sequential flow of our pipeline, starting from completing model training all the way to a final system demonstration. This helps the audience quickly grasp the scope of work ahead.
Below the pipeline, I've detailed the specific evaluation metrics we will use. This is critical for an academic project, as it shows we have a clear plan for how to quantitatively assess our model's success. I will explain each metric briefly, emphasizing why it's important and how it contributes to a thorough understanding of our model's performance, especially highlighting the utility of the confusion matrix for error analysis.
It's important to convey that while these experiments haven't been completed yet, we have a well-defined strategy for their evaluation.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conclusion slide, serving as a concise summary of our project's standing and immediate next steps.
I will emphasize the solid foundation we've built, highlighting the completion of data preparation, preprocessing, and the implementation of our chosen model architectures. It's crucial to state that experimental training is actively ongoing.
For the next phase, I'll clearly outline the rigorous evaluation, comparative analysis, and ultimate selection of the best model, reinforcing our scientific approach.
I will deliberately avoid any premature claims about model success or accuracy, as these have not yet been empirically established. The accent image subtly conveys progress without implying a finished product.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clearly lists all the external information, datasets, methods, and architectures that form the foundation of our project. It demonstrates our commitment to academic integrity and provides transparency regarding our sources.
I typically won't verbally present this slide unless specifically asked to do so by the audience. However, it's crucial for the comprehensive report.
The note about handling citations on other slides (e.g., "Tan &amp; Le (2019)" on the EfficientNet slide) reinforces proper academic practice throughout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D6CC"/>
          </a:solidFill>
          <a:ln/>
        </p:spPr>
      </p:sp>
      <p:sp>
        <p:nvSpPr>
          <p:cNvPr id="3" name="Shape 1"/>
          <p:cNvSpPr/>
          <p:nvPr/>
        </p:nvSpPr>
        <p:spPr>
          <a:xfrm>
            <a:off x="0" y="0"/>
            <a:ext cx="12191695"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D6CC"/>
          </a:solidFill>
          <a:ln/>
        </p:spPr>
      </p:sp>
      <p:sp>
        <p:nvSpPr>
          <p:cNvPr id="3" name="Shape 1"/>
          <p:cNvSpPr/>
          <p:nvPr/>
        </p:nvSpPr>
        <p:spPr>
          <a:xfrm>
            <a:off x="0" y="0"/>
            <a:ext cx="12191695" cy="6858000"/>
          </a:xfrm>
          <a:prstGeom prst="rect">
            <a:avLst/>
          </a:prstGeom>
          <a:solidFill>
            <a:srgbClr val="EFECE6"/>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EFECE6">
              <a:alpha val="85000"/>
            </a:srgbClr>
          </a:solidFill>
          <a:ln/>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png"/><Relationship Id="rId6" Type="http://schemas.openxmlformats.org/officeDocument/2006/relationships/image" Target="../media/image7.jpeg"/><Relationship Id="rId7" Type="http://schemas.openxmlformats.org/officeDocument/2006/relationships/image" Target="../media/image8.png"/><Relationship Id="rId8" Type="http://schemas.openxmlformats.org/officeDocument/2006/relationships/image" Target="../media/image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eg"/><Relationship Id="rId4" Type="http://schemas.openxmlformats.org/officeDocument/2006/relationships/image" Target="../media/image15.png"/><Relationship Id="rId5" Type="http://schemas.openxmlformats.org/officeDocument/2006/relationships/image" Target="../media/image-8-3.svg"/><Relationship Id="rId6" Type="http://schemas.openxmlformats.org/officeDocument/2006/relationships/image" Target="../media/image-8-3.svg"/><Relationship Id="rId7" Type="http://schemas.openxmlformats.org/officeDocument/2006/relationships/image" Target="../media/image-8-3.svg"/><Relationship Id="rId9" Type="http://schemas.openxmlformats.org/officeDocument/2006/relationships/image" Target="../media/image-8-3.svg"/><Relationship Id="rId11" Type="http://schemas.openxmlformats.org/officeDocument/2006/relationships/image" Target="../media/image-8-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5DFD2"/>
          </a:solidFill>
          <a:ln/>
        </p:spPr>
        <p:txBody>
          <a:bodyPr/>
          <a:p/>
        </p:txBody>
      </p:sp>
      <p:pic>
        <p:nvPicPr>
          <p:cNvPr id="3" name="Image 0" descr="preencoded.png"/>
          <p:cNvPicPr>
            <a:picLocks noChangeAspect="1"/>
          </p:cNvPicPr>
          <p:nvPr/>
        </p:nvPicPr>
        <p:blipFill>
          <a:blip r:embed="rId3"/>
          <a:stretch>
            <a:fillRect/>
          </a:stretch>
        </p:blipFill>
        <p:spPr>
          <a:xfrm>
            <a:off x="94454" y="1237456"/>
            <a:ext cx="4382978" cy="4383088"/>
          </a:xfrm>
          <a:prstGeom prst="rect">
            <a:avLst/>
          </a:prstGeom>
        </p:spPr>
      </p:pic>
      <p:sp>
        <p:nvSpPr>
          <p:cNvPr id="4" name="Text 1"/>
          <p:cNvSpPr/>
          <p:nvPr/>
        </p:nvSpPr>
        <p:spPr>
          <a:xfrm>
            <a:off x="5233360" y="1000224"/>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Garbage Classification Using Deep Learning </a:t>
            </a:r>
            <a:endParaRPr lang="en-US" sz="3700" dirty="0"/>
          </a:p>
        </p:txBody>
      </p:sp>
      <p:sp>
        <p:nvSpPr>
          <p:cNvPr id="5" name="Text 2"/>
          <p:cNvSpPr/>
          <p:nvPr/>
        </p:nvSpPr>
        <p:spPr>
          <a:xfrm>
            <a:off x="5233360" y="2464991"/>
            <a:ext cx="6296860" cy="3392686"/>
          </a:xfrm>
          <a:prstGeom prst="rect">
            <a:avLst/>
          </a:prstGeom>
          <a:noFill/>
          <a:ln/>
        </p:spPr>
        <p:txBody>
          <a:bodyPr wrap="square" lIns="0" tIns="0" rIns="0" bIns="0" rtlCol="0" anchor="t"/>
          <a:lstStyle/>
          <a:p>
            <a:pPr marL="0" indent="0" algn="l">
              <a:lnSpc>
                <a:spcPct val="133000"/>
              </a:lnSpc>
              <a:spcAft>
                <a:spcPts val="1650"/>
              </a:spcAft>
              <a:buNone/>
            </a:pPr>
            <a:endParaRPr lang="en-US" sz="1450" dirty="0"/>
          </a:p>
          <a:p>
            <a:pPr marL="0" indent="0" algn="l">
              <a:lnSpc>
                <a:spcPct val="133000"/>
              </a:lnSpc>
              <a:spcAft>
                <a:spcPts val="1650"/>
              </a:spcAft>
              <a:buNone/>
            </a:pPr>
            <a:r>
              <a:rPr lang="en-US" sz="1450" b="1" dirty="0">
                <a:solidFill>
                  <a:srgbClr val="4A4A45"/>
                </a:solidFill>
                <a:latin typeface="Lato" pitchFamily="34" charset="0"/>
                <a:ea typeface="Lato" pitchFamily="34" charset="-122"/>
                <a:cs typeface="Lato" pitchFamily="34" charset="-120"/>
              </a:rPr>
              <a:t>Hasibur Rahman Sun </a:t>
            </a:r>
            <a:r>
              <a:rPr lang="en-US" sz="1450" dirty="0">
                <a:solidFill>
                  <a:srgbClr val="4A4A45"/>
                </a:solidFill>
                <a:latin typeface="Lato" pitchFamily="34" charset="0"/>
                <a:ea typeface="Lato" pitchFamily="34" charset="-122"/>
                <a:cs typeface="Lato" pitchFamily="34" charset="-120"/>
              </a:rPr>
              <a:t>— 0112330199</a:t>
            </a:r>
            <a:endParaRPr lang="en-US" sz="1450" dirty="0"/>
          </a:p>
          <a:p>
            <a:pPr marL="0" indent="0" algn="l">
              <a:lnSpc>
                <a:spcPct val="133000"/>
              </a:lnSpc>
              <a:spcAft>
                <a:spcPts val="1650"/>
              </a:spcAft>
              <a:buNone/>
            </a:pPr>
            <a:r>
              <a:rPr lang="en-US" sz="1450" b="1" dirty="0">
                <a:solidFill>
                  <a:srgbClr val="4A4A45"/>
                </a:solidFill>
                <a:latin typeface="Lato" pitchFamily="34" charset="0"/>
                <a:ea typeface="Lato" pitchFamily="34" charset="-122"/>
                <a:cs typeface="Lato" pitchFamily="34" charset="-120"/>
              </a:rPr>
              <a:t>Nafis Iqbal Neloy </a:t>
            </a:r>
            <a:r>
              <a:rPr lang="en-US" sz="1450" dirty="0">
                <a:solidFill>
                  <a:srgbClr val="4A4A45"/>
                </a:solidFill>
                <a:latin typeface="Lato" pitchFamily="34" charset="0"/>
                <a:ea typeface="Lato" pitchFamily="34" charset="-122"/>
                <a:cs typeface="Lato" pitchFamily="34" charset="-120"/>
              </a:rPr>
              <a:t>— 0112330617</a:t>
            </a:r>
            <a:endParaRPr lang="en-US" sz="1450" dirty="0"/>
          </a:p>
          <a:p>
            <a:pPr marL="0" indent="0" algn="l">
              <a:lnSpc>
                <a:spcPct val="133000"/>
              </a:lnSpc>
              <a:spcAft>
                <a:spcPts val="1650"/>
              </a:spcAft>
              <a:buNone/>
            </a:pPr>
            <a:r>
              <a:rPr lang="en-US" sz="1450" b="1" dirty="0">
                <a:solidFill>
                  <a:srgbClr val="4A4A45"/>
                </a:solidFill>
                <a:latin typeface="Lato" pitchFamily="34" charset="0"/>
                <a:ea typeface="Lato" pitchFamily="34" charset="-122"/>
                <a:cs typeface="Lato" pitchFamily="34" charset="-120"/>
              </a:rPr>
              <a:t>Md. Mishkatul Bary </a:t>
            </a:r>
            <a:r>
              <a:rPr lang="en-US" sz="1450" dirty="0">
                <a:solidFill>
                  <a:srgbClr val="4A4A45"/>
                </a:solidFill>
                <a:latin typeface="Lato" pitchFamily="34" charset="0"/>
                <a:ea typeface="Lato" pitchFamily="34" charset="-122"/>
                <a:cs typeface="Lato" pitchFamily="34" charset="-120"/>
              </a:rPr>
              <a:t>— 0112330669</a:t>
            </a:r>
            <a:endParaRPr lang="en-US" sz="1450" dirty="0"/>
          </a:p>
          <a:p>
            <a:pPr marL="0" indent="0" algn="l">
              <a:lnSpc>
                <a:spcPct val="133000"/>
              </a:lnSpc>
              <a:spcAft>
                <a:spcPts val="1650"/>
              </a:spcAft>
              <a:buNone/>
            </a:pPr>
            <a:r>
              <a:rPr lang="en-US" sz="1450" b="1" dirty="0">
                <a:solidFill>
                  <a:srgbClr val="4A4A45"/>
                </a:solidFill>
                <a:latin typeface="Lato" pitchFamily="34" charset="0"/>
                <a:ea typeface="Lato" pitchFamily="34" charset="-122"/>
                <a:cs typeface="Lato" pitchFamily="34" charset="-120"/>
              </a:rPr>
              <a:t>Abdullah Al Muhaimin </a:t>
            </a:r>
            <a:r>
              <a:rPr lang="en-US" sz="1450" dirty="0">
                <a:solidFill>
                  <a:srgbClr val="4A4A45"/>
                </a:solidFill>
                <a:latin typeface="Lato" pitchFamily="34" charset="0"/>
                <a:ea typeface="Lato" pitchFamily="34" charset="-122"/>
                <a:cs typeface="Lato" pitchFamily="34" charset="-120"/>
              </a:rPr>
              <a:t>— 0112330641</a:t>
            </a:r>
            <a:endParaRPr lang="en-US" sz="1450" dirty="0"/>
          </a:p>
          <a:p>
            <a:pPr marL="0" indent="0" algn="l">
              <a:lnSpc>
                <a:spcPct val="133000"/>
              </a:lnSpc>
              <a:spcAft>
                <a:spcPts val="1650"/>
              </a:spcAft>
              <a:buNone/>
            </a:pPr>
            <a:r>
              <a:rPr lang="en-US" sz="1450" b="1" dirty="0">
                <a:solidFill>
                  <a:srgbClr val="4A4A45"/>
                </a:solidFill>
                <a:latin typeface="Lato" pitchFamily="34" charset="0"/>
                <a:ea typeface="Lato" pitchFamily="34" charset="-122"/>
                <a:cs typeface="Lato" pitchFamily="34" charset="-120"/>
              </a:rPr>
              <a:t>Farjana Akter </a:t>
            </a:r>
            <a:r>
              <a:rPr lang="en-US" sz="1450" dirty="0">
                <a:solidFill>
                  <a:srgbClr val="4A4A45"/>
                </a:solidFill>
                <a:latin typeface="Lato" pitchFamily="34" charset="0"/>
                <a:ea typeface="Lato" pitchFamily="34" charset="-122"/>
                <a:cs typeface="Lato" pitchFamily="34" charset="-120"/>
              </a:rPr>
              <a:t>— 0112330657</a:t>
            </a:r>
            <a:endParaRPr lang="en-US" sz="1450" dirty="0"/>
          </a:p>
          <a:p>
            <a:pPr marL="0" indent="0" algn="l">
              <a:lnSpc>
                <a:spcPct val="133000"/>
              </a:lnSpc>
              <a:buNone/>
            </a:pPr>
            <a:r>
              <a:rPr lang="en-US" sz="1450" b="1" dirty="0">
                <a:solidFill>
                  <a:srgbClr val="4A4A45"/>
                </a:solidFill>
                <a:latin typeface="Lato" pitchFamily="34" charset="0"/>
                <a:ea typeface="Lato" pitchFamily="34" charset="-122"/>
                <a:cs typeface="Lato" pitchFamily="34" charset="-120"/>
              </a:rPr>
              <a:t>Jannatul Ferdaous </a:t>
            </a:r>
            <a:r>
              <a:rPr lang="en-US" sz="1450" dirty="0">
                <a:solidFill>
                  <a:srgbClr val="4A4A45"/>
                </a:solidFill>
                <a:latin typeface="Lato" pitchFamily="34" charset="0"/>
                <a:ea typeface="Lato" pitchFamily="34" charset="-122"/>
                <a:cs typeface="Lato" pitchFamily="34" charset="-120"/>
              </a:rPr>
              <a:t>— 0112330670</a:t>
            </a:r>
            <a:endParaRPr lang="en-US" sz="1450" dirty="0"/>
          </a:p>
        </p:txBody>
      </p:sp>
      <p:sp>
        <p:nvSpPr>
          <p:cNvPr id="6" name="TextBox 5"/>
          <p:cNvSpPr txBox="1"/>
          <p:nvPr/>
        </p:nvSpPr>
        <p:spPr>
          <a:xfrm>
            <a:off x="182880" y="6446520"/>
            <a:ext cx="635000" cy="254000"/>
          </a:xfrm>
          <a:prstGeom prst="rect">
            <a:avLst/>
          </a:prstGeom>
          <a:noFill/>
        </p:spPr>
        <p:txBody>
          <a:bodyPr wrap="none">
            <a:spAutoFit/>
          </a:bodyPr>
          <a:lstStyle/>
          <a:p>
            <a:pPr algn="r"/>
            <a:r>
              <a:rPr sz="100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47291"/>
            <a:ext cx="10868745" cy="544513"/>
          </a:xfrm>
          <a:prstGeom prst="rect">
            <a:avLst/>
          </a:prstGeom>
          <a:noFill/>
          <a:ln/>
        </p:spPr>
        <p:txBody>
          <a:bodyPr wrap="none" lIns="0" tIns="0" rIns="0" bIns="0" rtlCol="0" anchor="t"/>
          <a:lstStyle/>
          <a:p>
            <a:pPr marL="0" indent="0" algn="l">
              <a:lnSpc>
                <a:spcPct val="104000"/>
              </a:lnSpc>
              <a:buNone/>
            </a:pPr>
            <a:r>
              <a:rPr lang="en-US" sz="3400" b="1" dirty="0">
                <a:solidFill>
                  <a:srgbClr val="282824"/>
                </a:solidFill>
                <a:latin typeface="Lato Bold" pitchFamily="34" charset="0"/>
                <a:ea typeface="Lato Bold" pitchFamily="34" charset="-122"/>
                <a:cs typeface="Lato Bold" pitchFamily="34" charset="-120"/>
              </a:rPr>
              <a:t>Background &amp; Problem Statement</a:t>
            </a:r>
            <a:endParaRPr lang="en-US" sz="3400" dirty="0"/>
          </a:p>
        </p:txBody>
      </p:sp>
      <p:sp>
        <p:nvSpPr>
          <p:cNvPr id="3" name="Text 1"/>
          <p:cNvSpPr/>
          <p:nvPr/>
        </p:nvSpPr>
        <p:spPr>
          <a:xfrm>
            <a:off x="661475" y="1493341"/>
            <a:ext cx="6351230" cy="272157"/>
          </a:xfrm>
          <a:prstGeom prst="rect">
            <a:avLst/>
          </a:prstGeom>
          <a:noFill/>
          <a:ln/>
        </p:spPr>
        <p:txBody>
          <a:bodyPr wrap="none" lIns="0" tIns="0" rIns="0" bIns="0" rtlCol="0" anchor="t"/>
          <a:lstStyle/>
          <a:p>
            <a:pPr marL="0" indent="0" algn="l">
              <a:lnSpc>
                <a:spcPct val="104000"/>
              </a:lnSpc>
              <a:buNone/>
            </a:pPr>
            <a:r>
              <a:rPr lang="en-US" sz="1700" b="1" dirty="0">
                <a:solidFill>
                  <a:srgbClr val="282824"/>
                </a:solidFill>
                <a:latin typeface="Lato Bold" pitchFamily="34" charset="0"/>
                <a:ea typeface="Lato Bold" pitchFamily="34" charset="-122"/>
                <a:cs typeface="Lato Bold" pitchFamily="34" charset="-120"/>
              </a:rPr>
              <a:t>Background</a:t>
            </a:r>
            <a:endParaRPr lang="en-US" sz="1700" dirty="0"/>
          </a:p>
        </p:txBody>
      </p:sp>
      <p:sp>
        <p:nvSpPr>
          <p:cNvPr id="4" name="Text 2"/>
          <p:cNvSpPr/>
          <p:nvPr/>
        </p:nvSpPr>
        <p:spPr>
          <a:xfrm>
            <a:off x="661475" y="1926134"/>
            <a:ext cx="6351230" cy="1071166"/>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Waste segregation is a critical component of effective waste management. Different waste materials require appropriate identification and separation, which is often a manual, labor-intensive process. Image-based classification presents a promising opportunity to automate a significant portion of this essential task.</a:t>
            </a:r>
            <a:endParaRPr lang="en-US" sz="1350" dirty="0"/>
          </a:p>
        </p:txBody>
      </p:sp>
      <p:sp>
        <p:nvSpPr>
          <p:cNvPr id="5" name="Text 3"/>
          <p:cNvSpPr/>
          <p:nvPr/>
        </p:nvSpPr>
        <p:spPr>
          <a:xfrm>
            <a:off x="661475" y="3157934"/>
            <a:ext cx="6351230" cy="272157"/>
          </a:xfrm>
          <a:prstGeom prst="rect">
            <a:avLst/>
          </a:prstGeom>
          <a:noFill/>
          <a:ln/>
        </p:spPr>
        <p:txBody>
          <a:bodyPr wrap="none" lIns="0" tIns="0" rIns="0" bIns="0" rtlCol="0" anchor="t"/>
          <a:lstStyle/>
          <a:p>
            <a:pPr marL="0" indent="0" algn="l">
              <a:lnSpc>
                <a:spcPct val="104000"/>
              </a:lnSpc>
              <a:buNone/>
            </a:pPr>
            <a:r>
              <a:rPr lang="en-US" sz="1700" b="1" dirty="0">
                <a:solidFill>
                  <a:srgbClr val="282824"/>
                </a:solidFill>
                <a:latin typeface="Lato Bold" pitchFamily="34" charset="0"/>
                <a:ea typeface="Lato Bold" pitchFamily="34" charset="-122"/>
                <a:cs typeface="Lato Bold" pitchFamily="34" charset="-120"/>
              </a:rPr>
              <a:t>Problem Statement</a:t>
            </a:r>
            <a:endParaRPr lang="en-US" sz="1700" dirty="0"/>
          </a:p>
        </p:txBody>
      </p:sp>
      <p:sp>
        <p:nvSpPr>
          <p:cNvPr id="6" name="Text 4"/>
          <p:cNvSpPr/>
          <p:nvPr/>
        </p:nvSpPr>
        <p:spPr>
          <a:xfrm>
            <a:off x="661475" y="3590727"/>
            <a:ext cx="6351230" cy="1071166"/>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Manual waste classification is inherently inefficient and inconsistent. Furthermore, real-world garbage images exhibit considerable variations in orientation, lighting, background, and appearance. Consequently, developing a reliable automatic classification system poses a challenging computer-vision problem.</a:t>
            </a:r>
            <a:endParaRPr lang="en-US" sz="1350" dirty="0"/>
          </a:p>
        </p:txBody>
      </p:sp>
      <p:sp>
        <p:nvSpPr>
          <p:cNvPr id="7" name="Text 5"/>
          <p:cNvSpPr/>
          <p:nvPr/>
        </p:nvSpPr>
        <p:spPr>
          <a:xfrm>
            <a:off x="922811" y="4987131"/>
            <a:ext cx="6089895"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Our focus is on:</a:t>
            </a:r>
            <a:endParaRPr lang="en-US" sz="1350" dirty="0"/>
          </a:p>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How effectively can deep-learning models classify garbage images into predefined categories?</a:t>
            </a:r>
            <a:endParaRPr lang="en-US" sz="1350" dirty="0"/>
          </a:p>
        </p:txBody>
      </p:sp>
      <p:sp>
        <p:nvSpPr>
          <p:cNvPr id="8" name="Shape 6"/>
          <p:cNvSpPr/>
          <p:nvPr/>
        </p:nvSpPr>
        <p:spPr>
          <a:xfrm>
            <a:off x="661475" y="4842570"/>
            <a:ext cx="19050" cy="1092498"/>
          </a:xfrm>
          <a:prstGeom prst="roundRect">
            <a:avLst>
              <a:gd name="adj" fmla="val 49999"/>
            </a:avLst>
          </a:prstGeom>
          <a:solidFill>
            <a:srgbClr val="282824"/>
          </a:solidFill>
          <a:ln/>
        </p:spPr>
        <p:txBody>
          <a:bodyPr/>
          <a:p/>
        </p:txBody>
      </p:sp>
      <p:pic>
        <p:nvPicPr>
          <p:cNvPr id="9" name="Image 0" descr="preencoded.png"/>
          <p:cNvPicPr>
            <a:picLocks noChangeAspect="1"/>
          </p:cNvPicPr>
          <p:nvPr/>
        </p:nvPicPr>
        <p:blipFill>
          <a:blip r:embed="rId3"/>
          <a:stretch>
            <a:fillRect/>
          </a:stretch>
        </p:blipFill>
        <p:spPr>
          <a:xfrm>
            <a:off x="7444097" y="1513384"/>
            <a:ext cx="856137" cy="856159"/>
          </a:xfrm>
          <a:prstGeom prst="rect">
            <a:avLst/>
          </a:prstGeom>
        </p:spPr>
      </p:pic>
      <p:sp>
        <p:nvSpPr>
          <p:cNvPr id="10" name="Text 7"/>
          <p:cNvSpPr/>
          <p:nvPr/>
        </p:nvSpPr>
        <p:spPr>
          <a:xfrm>
            <a:off x="7444097" y="2570262"/>
            <a:ext cx="19458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Plastic</a:t>
            </a:r>
            <a:endParaRPr lang="en-US" sz="1350" dirty="0"/>
          </a:p>
        </p:txBody>
      </p:sp>
      <p:pic>
        <p:nvPicPr>
          <p:cNvPr id="11" name="Image 1" descr="preencoded.png"/>
          <p:cNvPicPr>
            <a:picLocks noChangeAspect="1"/>
          </p:cNvPicPr>
          <p:nvPr/>
        </p:nvPicPr>
        <p:blipFill>
          <a:blip r:embed="rId4"/>
          <a:stretch>
            <a:fillRect/>
          </a:stretch>
        </p:blipFill>
        <p:spPr>
          <a:xfrm>
            <a:off x="9590641" y="1513384"/>
            <a:ext cx="856137" cy="856159"/>
          </a:xfrm>
          <a:prstGeom prst="rect">
            <a:avLst/>
          </a:prstGeom>
        </p:spPr>
      </p:pic>
      <p:sp>
        <p:nvSpPr>
          <p:cNvPr id="12" name="Text 8"/>
          <p:cNvSpPr/>
          <p:nvPr/>
        </p:nvSpPr>
        <p:spPr>
          <a:xfrm>
            <a:off x="9590641" y="2570262"/>
            <a:ext cx="19459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Paper</a:t>
            </a:r>
            <a:endParaRPr lang="en-US" sz="1350" dirty="0"/>
          </a:p>
        </p:txBody>
      </p:sp>
      <p:pic>
        <p:nvPicPr>
          <p:cNvPr id="13" name="Image 2" descr="preencoded.png"/>
          <p:cNvPicPr>
            <a:picLocks noChangeAspect="1"/>
          </p:cNvPicPr>
          <p:nvPr/>
        </p:nvPicPr>
        <p:blipFill>
          <a:blip r:embed="rId5"/>
          <a:stretch>
            <a:fillRect/>
          </a:stretch>
        </p:blipFill>
        <p:spPr>
          <a:xfrm>
            <a:off x="7444097" y="3159323"/>
            <a:ext cx="856137" cy="856159"/>
          </a:xfrm>
          <a:prstGeom prst="rect">
            <a:avLst/>
          </a:prstGeom>
        </p:spPr>
      </p:pic>
      <p:sp>
        <p:nvSpPr>
          <p:cNvPr id="14" name="Text 9"/>
          <p:cNvSpPr/>
          <p:nvPr/>
        </p:nvSpPr>
        <p:spPr>
          <a:xfrm>
            <a:off x="7444097" y="4216202"/>
            <a:ext cx="19458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Organic</a:t>
            </a:r>
            <a:endParaRPr lang="en-US" sz="1350" dirty="0"/>
          </a:p>
        </p:txBody>
      </p:sp>
      <p:pic>
        <p:nvPicPr>
          <p:cNvPr id="15" name="Image 3" descr="preencoded.png"/>
          <p:cNvPicPr>
            <a:picLocks noChangeAspect="1"/>
          </p:cNvPicPr>
          <p:nvPr/>
        </p:nvPicPr>
        <p:blipFill>
          <a:blip r:embed="rId6"/>
          <a:stretch>
            <a:fillRect/>
          </a:stretch>
        </p:blipFill>
        <p:spPr>
          <a:xfrm>
            <a:off x="9590641" y="3159323"/>
            <a:ext cx="856137" cy="856159"/>
          </a:xfrm>
          <a:prstGeom prst="rect">
            <a:avLst/>
          </a:prstGeom>
        </p:spPr>
      </p:pic>
      <p:sp>
        <p:nvSpPr>
          <p:cNvPr id="16" name="Text 10"/>
          <p:cNvSpPr/>
          <p:nvPr/>
        </p:nvSpPr>
        <p:spPr>
          <a:xfrm>
            <a:off x="9590641" y="4216202"/>
            <a:ext cx="19459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Metal</a:t>
            </a:r>
            <a:endParaRPr lang="en-US" sz="1350" dirty="0"/>
          </a:p>
        </p:txBody>
      </p:sp>
      <p:pic>
        <p:nvPicPr>
          <p:cNvPr id="17" name="Image 4" descr="preencoded.png"/>
          <p:cNvPicPr>
            <a:picLocks noChangeAspect="1"/>
          </p:cNvPicPr>
          <p:nvPr/>
        </p:nvPicPr>
        <p:blipFill>
          <a:blip r:embed="rId7"/>
          <a:stretch>
            <a:fillRect/>
          </a:stretch>
        </p:blipFill>
        <p:spPr>
          <a:xfrm>
            <a:off x="7444097" y="4805263"/>
            <a:ext cx="856137" cy="856159"/>
          </a:xfrm>
          <a:prstGeom prst="rect">
            <a:avLst/>
          </a:prstGeom>
        </p:spPr>
      </p:pic>
      <p:sp>
        <p:nvSpPr>
          <p:cNvPr id="18" name="Text 11"/>
          <p:cNvSpPr/>
          <p:nvPr/>
        </p:nvSpPr>
        <p:spPr>
          <a:xfrm>
            <a:off x="7444097" y="5862141"/>
            <a:ext cx="19458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Glass</a:t>
            </a:r>
            <a:endParaRPr lang="en-US" sz="1350" dirty="0"/>
          </a:p>
        </p:txBody>
      </p:sp>
      <p:pic>
        <p:nvPicPr>
          <p:cNvPr id="19" name="Image 5" descr="preencoded.png"/>
          <p:cNvPicPr>
            <a:picLocks noChangeAspect="1"/>
          </p:cNvPicPr>
          <p:nvPr/>
        </p:nvPicPr>
        <p:blipFill>
          <a:blip r:embed="rId8"/>
          <a:stretch>
            <a:fillRect/>
          </a:stretch>
        </p:blipFill>
        <p:spPr>
          <a:xfrm>
            <a:off x="9590641" y="4805263"/>
            <a:ext cx="856137" cy="856159"/>
          </a:xfrm>
          <a:prstGeom prst="rect">
            <a:avLst/>
          </a:prstGeom>
        </p:spPr>
      </p:pic>
      <p:sp>
        <p:nvSpPr>
          <p:cNvPr id="20" name="Text 12"/>
          <p:cNvSpPr/>
          <p:nvPr/>
        </p:nvSpPr>
        <p:spPr>
          <a:xfrm>
            <a:off x="9590641" y="5862141"/>
            <a:ext cx="1945929" cy="267791"/>
          </a:xfrm>
          <a:prstGeom prst="rect">
            <a:avLst/>
          </a:prstGeom>
          <a:noFill/>
          <a:ln/>
        </p:spPr>
        <p:txBody>
          <a:bodyPr wrap="none" lIns="0" tIns="0" rIns="0" bIns="0" rtlCol="0" anchor="t"/>
          <a:lstStyle/>
          <a:p>
            <a:pPr marL="0" indent="0" algn="l">
              <a:lnSpc>
                <a:spcPct val="128000"/>
              </a:lnSpc>
              <a:buNone/>
            </a:pPr>
            <a:r>
              <a:rPr lang="en-US" sz="1350" dirty="0">
                <a:solidFill>
                  <a:srgbClr val="4A4A45"/>
                </a:solidFill>
                <a:latin typeface="Lato" pitchFamily="34" charset="0"/>
                <a:ea typeface="Lato" pitchFamily="34" charset="-122"/>
                <a:cs typeface="Lato" pitchFamily="34" charset="-120"/>
              </a:rPr>
              <a:t>Textile</a:t>
            </a:r>
            <a:endParaRPr lang="en-US" sz="1350" dirty="0"/>
          </a:p>
        </p:txBody>
      </p:sp>
      <p:sp>
        <p:nvSpPr>
          <p:cNvPr id="21" name="TextBox 20"/>
          <p:cNvSpPr txBox="1"/>
          <p:nvPr/>
        </p:nvSpPr>
        <p:spPr>
          <a:xfrm>
            <a:off x="182880" y="6446520"/>
            <a:ext cx="635000" cy="254000"/>
          </a:xfrm>
          <a:prstGeom prst="rect">
            <a:avLst/>
          </a:prstGeom>
          <a:noFill/>
        </p:spPr>
        <p:txBody>
          <a:bodyPr wrap="none">
            <a:spAutoFit/>
          </a:bodyPr>
          <a:lstStyle/>
          <a:p>
            <a:pPr algn="r"/>
            <a:r>
              <a:rPr sz="100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32631"/>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Project Objectives</a:t>
            </a:r>
            <a:endParaRPr lang="en-US" sz="3700" dirty="0"/>
          </a:p>
        </p:txBody>
      </p:sp>
      <p:sp>
        <p:nvSpPr>
          <p:cNvPr id="3" name="Text 1"/>
          <p:cNvSpPr/>
          <p:nvPr/>
        </p:nvSpPr>
        <p:spPr>
          <a:xfrm>
            <a:off x="661475" y="1795760"/>
            <a:ext cx="6336745"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Main Objective</a:t>
            </a:r>
            <a:endParaRPr lang="en-US" sz="1850" dirty="0"/>
          </a:p>
        </p:txBody>
      </p:sp>
      <p:sp>
        <p:nvSpPr>
          <p:cNvPr id="4" name="Text 2"/>
          <p:cNvSpPr/>
          <p:nvPr/>
        </p:nvSpPr>
        <p:spPr>
          <a:xfrm>
            <a:off x="661475" y="2280047"/>
            <a:ext cx="6336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To develop and evaluate a deep-learning-based image classification system for identifying different categories of garbage.</a:t>
            </a:r>
            <a:endParaRPr lang="en-US" sz="1450" dirty="0"/>
          </a:p>
        </p:txBody>
      </p:sp>
      <p:sp>
        <p:nvSpPr>
          <p:cNvPr id="5" name="Shape 3"/>
          <p:cNvSpPr/>
          <p:nvPr/>
        </p:nvSpPr>
        <p:spPr>
          <a:xfrm>
            <a:off x="661475" y="3144738"/>
            <a:ext cx="6336745" cy="25400"/>
          </a:xfrm>
          <a:prstGeom prst="roundRect">
            <a:avLst>
              <a:gd name="adj" fmla="val 49999"/>
            </a:avLst>
          </a:prstGeom>
          <a:solidFill>
            <a:srgbClr val="4A4A45">
              <a:alpha val="50000"/>
            </a:srgbClr>
          </a:solidFill>
          <a:ln/>
        </p:spPr>
        <p:txBody>
          <a:bodyPr/>
          <a:p/>
        </p:txBody>
      </p:sp>
      <p:sp>
        <p:nvSpPr>
          <p:cNvPr id="6" name="Text 4"/>
          <p:cNvSpPr/>
          <p:nvPr/>
        </p:nvSpPr>
        <p:spPr>
          <a:xfrm>
            <a:off x="661475" y="3429992"/>
            <a:ext cx="6336745"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Specific Objectives</a:t>
            </a:r>
            <a:endParaRPr lang="en-US" sz="1850" dirty="0"/>
          </a:p>
        </p:txBody>
      </p:sp>
      <p:sp>
        <p:nvSpPr>
          <p:cNvPr id="7" name="Text 5"/>
          <p:cNvSpPr/>
          <p:nvPr/>
        </p:nvSpPr>
        <p:spPr>
          <a:xfrm>
            <a:off x="661475" y="3914279"/>
            <a:ext cx="6336745" cy="214491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Analyze and prepare the garbage image dataset.</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Develop a consistent preprocessing and augmentation pipeline.</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Apply transfer learning using pretrained EfficientNet architectures.</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Develop a Custom CNN as an experimental baseline.</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Compare candidate models using standard classification metrics.</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Identify the most suitable model based on experimental performance.</a:t>
            </a:r>
            <a:endParaRPr lang="en-US" sz="1450" dirty="0"/>
          </a:p>
        </p:txBody>
      </p:sp>
      <p:pic>
        <p:nvPicPr>
          <p:cNvPr id="8" name="Image 0" descr="preencoded.png"/>
          <p:cNvPicPr>
            <a:picLocks noChangeAspect="1"/>
          </p:cNvPicPr>
          <p:nvPr/>
        </p:nvPicPr>
        <p:blipFill>
          <a:blip r:embed="rId3"/>
          <a:stretch>
            <a:fillRect/>
          </a:stretch>
        </p:blipFill>
        <p:spPr>
          <a:xfrm>
            <a:off x="7465727" y="2387104"/>
            <a:ext cx="4070744" cy="2545854"/>
          </a:xfrm>
          <a:prstGeom prst="rect">
            <a:avLst/>
          </a:prstGeom>
        </p:spPr>
      </p:pic>
      <p:sp>
        <p:nvSpPr>
          <p:cNvPr id="9" name="Text 6"/>
          <p:cNvSpPr/>
          <p:nvPr/>
        </p:nvSpPr>
        <p:spPr>
          <a:xfrm>
            <a:off x="7566579" y="3537660"/>
            <a:ext cx="839240" cy="281291"/>
          </a:xfrm>
          <a:prstGeom prst="rect">
            <a:avLst/>
          </a:prstGeom>
          <a:noFill/>
          <a:ln/>
        </p:spPr>
        <p:txBody>
          <a:bodyPr wrap="square" lIns="0" tIns="0" rIns="0" bIns="0" rtlCol="0" anchor="t">
            <a:normAutofit/>
          </a:bodyPr>
          <a:lstStyle/>
          <a:p>
            <a:pPr marL="0" indent="0" algn="r">
              <a:lnSpc>
                <a:spcPct val="104000"/>
              </a:lnSpc>
              <a:buNone/>
            </a:pPr>
            <a:r>
              <a:rPr lang="en-US" sz="850" b="1" dirty="0">
                <a:solidFill>
                  <a:srgbClr val="282824"/>
                </a:solidFill>
                <a:latin typeface="Lato Bold" pitchFamily="34" charset="0"/>
                <a:ea typeface="Lato Bold" pitchFamily="34" charset="-122"/>
                <a:cs typeface="Lato Bold" pitchFamily="34" charset="-120"/>
              </a:rPr>
              <a:t>Deployment Plan</a:t>
            </a:r>
            <a:endParaRPr lang="en-US" sz="850" dirty="0"/>
          </a:p>
        </p:txBody>
      </p:sp>
      <p:sp>
        <p:nvSpPr>
          <p:cNvPr id="10" name="Text 7"/>
          <p:cNvSpPr/>
          <p:nvPr/>
        </p:nvSpPr>
        <p:spPr>
          <a:xfrm>
            <a:off x="9081290" y="4684309"/>
            <a:ext cx="839240" cy="140645"/>
          </a:xfrm>
          <a:prstGeom prst="rect">
            <a:avLst/>
          </a:prstGeom>
          <a:noFill/>
          <a:ln/>
        </p:spPr>
        <p:txBody>
          <a:bodyPr wrap="none" lIns="0" tIns="0" rIns="0" bIns="0" rtlCol="0" anchor="t"/>
          <a:lstStyle/>
          <a:p>
            <a:pPr marL="0" indent="0" algn="ctr">
              <a:lnSpc>
                <a:spcPct val="104000"/>
              </a:lnSpc>
              <a:buNone/>
            </a:pPr>
            <a:r>
              <a:rPr lang="en-US" sz="850" b="1" dirty="0">
                <a:solidFill>
                  <a:srgbClr val="282824"/>
                </a:solidFill>
                <a:latin typeface="Lato Bold" pitchFamily="34" charset="0"/>
                <a:ea typeface="Lato Bold" pitchFamily="34" charset="-122"/>
                <a:cs typeface="Lato Bold" pitchFamily="34" charset="-120"/>
              </a:rPr>
              <a:t>Model Accuracy</a:t>
            </a:r>
            <a:endParaRPr lang="en-US" sz="850" dirty="0"/>
          </a:p>
        </p:txBody>
      </p:sp>
      <p:sp>
        <p:nvSpPr>
          <p:cNvPr id="11" name="Text 8"/>
          <p:cNvSpPr/>
          <p:nvPr/>
        </p:nvSpPr>
        <p:spPr>
          <a:xfrm>
            <a:off x="10596235" y="3607436"/>
            <a:ext cx="839239" cy="140645"/>
          </a:xfrm>
          <a:prstGeom prst="rect">
            <a:avLst/>
          </a:prstGeom>
          <a:noFill/>
          <a:ln/>
        </p:spPr>
        <p:txBody>
          <a:bodyPr wrap="none" lIns="0" tIns="0" rIns="0" bIns="0" rtlCol="0" anchor="t"/>
          <a:lstStyle/>
          <a:p>
            <a:pPr marL="0" indent="0" algn="l">
              <a:lnSpc>
                <a:spcPct val="104000"/>
              </a:lnSpc>
              <a:buNone/>
            </a:pPr>
            <a:r>
              <a:rPr lang="en-US" sz="850" b="1" dirty="0">
                <a:solidFill>
                  <a:srgbClr val="282824"/>
                </a:solidFill>
                <a:latin typeface="Lato Bold" pitchFamily="34" charset="0"/>
                <a:ea typeface="Lato Bold" pitchFamily="34" charset="-122"/>
                <a:cs typeface="Lato Bold" pitchFamily="34" charset="-120"/>
              </a:rPr>
              <a:t>Dataset Quality</a:t>
            </a:r>
            <a:endParaRPr lang="en-US" sz="850" dirty="0"/>
          </a:p>
        </p:txBody>
      </p:sp>
      <p:sp>
        <p:nvSpPr>
          <p:cNvPr id="12" name="Text 9"/>
          <p:cNvSpPr/>
          <p:nvPr/>
        </p:nvSpPr>
        <p:spPr>
          <a:xfrm>
            <a:off x="9081290" y="2495010"/>
            <a:ext cx="839240" cy="140645"/>
          </a:xfrm>
          <a:prstGeom prst="rect">
            <a:avLst/>
          </a:prstGeom>
          <a:noFill/>
          <a:ln/>
        </p:spPr>
        <p:txBody>
          <a:bodyPr wrap="none" lIns="0" tIns="0" rIns="0" bIns="0" rtlCol="0" anchor="t"/>
          <a:lstStyle/>
          <a:p>
            <a:pPr marL="0" indent="0" algn="ctr">
              <a:lnSpc>
                <a:spcPct val="104000"/>
              </a:lnSpc>
              <a:buNone/>
            </a:pPr>
            <a:r>
              <a:rPr lang="en-US" sz="850" b="1" dirty="0">
                <a:solidFill>
                  <a:srgbClr val="282824"/>
                </a:solidFill>
                <a:latin typeface="Lato Bold" pitchFamily="34" charset="0"/>
                <a:ea typeface="Lato Bold" pitchFamily="34" charset="-122"/>
                <a:cs typeface="Lato Bold" pitchFamily="34" charset="-120"/>
              </a:rPr>
              <a:t>Clear Goal</a:t>
            </a:r>
            <a:endParaRPr lang="en-US" sz="850" dirty="0"/>
          </a:p>
        </p:txBody>
      </p:sp>
      <p:sp>
        <p:nvSpPr>
          <p:cNvPr id="13" name="Text 10"/>
          <p:cNvSpPr/>
          <p:nvPr/>
        </p:nvSpPr>
        <p:spPr>
          <a:xfrm>
            <a:off x="7160934" y="5145584"/>
            <a:ext cx="4680329" cy="241895"/>
          </a:xfrm>
          <a:prstGeom prst="rect">
            <a:avLst/>
          </a:prstGeom>
          <a:noFill/>
          <a:ln/>
        </p:spPr>
        <p:txBody>
          <a:bodyPr wrap="none" lIns="0" tIns="0" rIns="0" bIns="0" rtlCol="0" anchor="t"/>
          <a:lstStyle/>
          <a:p>
            <a:pPr marL="0" indent="0" algn="ctr">
              <a:lnSpc>
                <a:spcPct val="133000"/>
              </a:lnSpc>
              <a:buNone/>
            </a:pPr>
            <a:r>
              <a:rPr lang="en-US" sz="1150" dirty="0">
                <a:solidFill>
                  <a:srgbClr val="4A4A45"/>
                </a:solidFill>
                <a:latin typeface="Lato" pitchFamily="34" charset="0"/>
                <a:ea typeface="Lato" pitchFamily="34" charset="-122"/>
                <a:cs typeface="Lato" pitchFamily="34" charset="-120"/>
              </a:rPr>
              <a:t>Clearly defined objectives guide our research and evaluation.</a:t>
            </a:r>
            <a:endParaRPr lang="en-US" sz="1150" dirty="0"/>
          </a:p>
        </p:txBody>
      </p:sp>
      <p:sp>
        <p:nvSpPr>
          <p:cNvPr id="14" name="TextBox 13"/>
          <p:cNvSpPr txBox="1"/>
          <p:nvPr/>
        </p:nvSpPr>
        <p:spPr>
          <a:xfrm>
            <a:off x="182880" y="6446520"/>
            <a:ext cx="635000" cy="254000"/>
          </a:xfrm>
          <a:prstGeom prst="rect">
            <a:avLst/>
          </a:prstGeom>
          <a:noFill/>
        </p:spPr>
        <p:txBody>
          <a:bodyPr wrap="none">
            <a:spAutoFit/>
          </a:bodyPr>
          <a:lstStyle/>
          <a:p>
            <a:pPr algn="r"/>
            <a:r>
              <a:rPr sz="100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6775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Dataset and Exploratory Analysis</a:t>
            </a:r>
            <a:endParaRPr lang="en-US" sz="3700" dirty="0"/>
          </a:p>
        </p:txBody>
      </p:sp>
      <p:sp>
        <p:nvSpPr>
          <p:cNvPr id="3" name="Text 1"/>
          <p:cNvSpPr/>
          <p:nvPr/>
        </p:nvSpPr>
        <p:spPr>
          <a:xfrm>
            <a:off x="661475" y="2173982"/>
            <a:ext cx="5203794" cy="2929533"/>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4A4A45"/>
                </a:solidFill>
                <a:latin typeface="Lato" pitchFamily="34" charset="0"/>
                <a:ea typeface="Lato" pitchFamily="34" charset="-122"/>
                <a:cs typeface="Lato" pitchFamily="34" charset="-120"/>
              </a:rPr>
              <a:t>         Dataset: Garbage Classification V2 (Kaggle). (Dataset source </a:t>
            </a:r>
            <a:r>
              <a:rPr lang="en-US" sz="1450" dirty="0" smtClean="0">
                <a:solidFill>
                  <a:srgbClr val="4A4A45"/>
                </a:solidFill>
                <a:latin typeface="Lato" pitchFamily="34" charset="0"/>
                <a:ea typeface="Lato" pitchFamily="34" charset="-122"/>
                <a:cs typeface="Lato" pitchFamily="34" charset="-120"/>
              </a:rPr>
              <a:t>         citation </a:t>
            </a:r>
            <a:r>
              <a:rPr lang="en-US" sz="1450" dirty="0">
                <a:solidFill>
                  <a:srgbClr val="4A4A45"/>
                </a:solidFill>
                <a:latin typeface="Lato" pitchFamily="34" charset="0"/>
                <a:ea typeface="Lato" pitchFamily="34" charset="-122"/>
                <a:cs typeface="Lato" pitchFamily="34" charset="-120"/>
              </a:rPr>
              <a:t>placed in report.)       </a:t>
            </a:r>
            <a:endParaRPr lang="en-US" sz="1450" dirty="0"/>
          </a:p>
          <a:p>
            <a:pPr marL="0" indent="0" algn="l">
              <a:lnSpc>
                <a:spcPct val="133000"/>
              </a:lnSpc>
              <a:spcAft>
                <a:spcPts val="1300"/>
              </a:spcAft>
              <a:buNone/>
            </a:pPr>
            <a:r>
              <a:rPr lang="en-US" sz="1450" dirty="0">
                <a:solidFill>
                  <a:srgbClr val="4A4A45"/>
                </a:solidFill>
                <a:latin typeface="Lato" pitchFamily="34" charset="0"/>
                <a:ea typeface="Lato" pitchFamily="34" charset="-122"/>
                <a:cs typeface="Lato" pitchFamily="34" charset="-120"/>
              </a:rPr>
              <a:t>         Class taxonomy: 10 garbage categories       </a:t>
            </a:r>
            <a:endParaRPr lang="en-US" sz="1450" dirty="0"/>
          </a:p>
          <a:p>
            <a:pPr marL="0" indent="0" algn="l">
              <a:lnSpc>
                <a:spcPct val="133000"/>
              </a:lnSpc>
              <a:spcAft>
                <a:spcPts val="1300"/>
              </a:spcAft>
              <a:buNone/>
            </a:pPr>
            <a:r>
              <a:rPr lang="en-US" sz="1450" dirty="0">
                <a:solidFill>
                  <a:srgbClr val="4A4A45"/>
                </a:solidFill>
                <a:latin typeface="Lato" pitchFamily="34" charset="0"/>
                <a:ea typeface="Lato" pitchFamily="34" charset="-122"/>
                <a:cs typeface="Lato" pitchFamily="34" charset="-120"/>
              </a:rPr>
              <a:t>          EDA performed: class distribution inspection, image-resolution analysis, random sample visualization, RGB color statistics.       </a:t>
            </a:r>
            <a:endParaRPr lang="en-US" sz="1450" dirty="0"/>
          </a:p>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         Partitioning: stratified split — Training 70% | Validation 15% | Test 15%.       </a:t>
            </a:r>
            <a:endParaRPr lang="en-US" sz="1450" dirty="0"/>
          </a:p>
        </p:txBody>
      </p:sp>
      <p:pic>
        <p:nvPicPr>
          <p:cNvPr id="4" name="Image 0" descr="preencoded.png"/>
          <p:cNvPicPr>
            <a:picLocks noChangeAspect="1"/>
          </p:cNvPicPr>
          <p:nvPr/>
        </p:nvPicPr>
        <p:blipFill>
          <a:blip r:embed="rId3"/>
          <a:stretch>
            <a:fillRect/>
          </a:stretch>
        </p:blipFill>
        <p:spPr>
          <a:xfrm>
            <a:off x="6332776" y="1854498"/>
            <a:ext cx="5203794" cy="3568502"/>
          </a:xfrm>
          <a:prstGeom prst="rect">
            <a:avLst/>
          </a:prstGeom>
        </p:spPr>
      </p:pic>
      <p:sp>
        <p:nvSpPr>
          <p:cNvPr id="5" name="TextBox 4"/>
          <p:cNvSpPr txBox="1"/>
          <p:nvPr/>
        </p:nvSpPr>
        <p:spPr>
          <a:xfrm>
            <a:off x="182880" y="6446520"/>
            <a:ext cx="635000" cy="254000"/>
          </a:xfrm>
          <a:prstGeom prst="rect">
            <a:avLst/>
          </a:prstGeom>
          <a:noFill/>
        </p:spPr>
        <p:txBody>
          <a:bodyPr wrap="none">
            <a:spAutoFit/>
          </a:bodyPr>
          <a:lstStyle/>
          <a:p>
            <a:pPr algn="r"/>
            <a:r>
              <a:rPr sz="100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356682" y="6396732"/>
            <a:ext cx="11478330" cy="114399"/>
          </a:xfrm>
          <a:prstGeom prst="rect">
            <a:avLst/>
          </a:prstGeom>
          <a:noFill/>
          <a:ln/>
        </p:spPr>
        <p:txBody>
          <a:bodyPr wrap="none" lIns="0" tIns="0" rIns="0" bIns="0" rtlCol="0" anchor="t"/>
          <a:lstStyle/>
          <a:p>
            <a:pPr marL="0" indent="0" algn="ctr">
              <a:lnSpc>
                <a:spcPct val="106000"/>
              </a:lnSpc>
              <a:buNone/>
            </a:pPr>
            <a:r>
              <a:rPr lang="en-US" sz="1050" dirty="0">
                <a:solidFill>
                  <a:srgbClr val="4A4A45"/>
                </a:solidFill>
                <a:latin typeface="Lato" pitchFamily="34" charset="0"/>
                <a:ea typeface="Lato" pitchFamily="34" charset="-122"/>
                <a:cs typeface="Lato" pitchFamily="34" charset="-120"/>
              </a:rPr>
              <a:t>Figure: Proposed deep-learning methodology for garbage image classification</a:t>
            </a:r>
            <a:r>
              <a:rPr lang="en-US" sz="700" dirty="0">
                <a:solidFill>
                  <a:srgbClr val="4A4A45"/>
                </a:solidFill>
                <a:latin typeface="Lato" pitchFamily="34" charset="0"/>
                <a:ea typeface="Lato" pitchFamily="34" charset="-122"/>
                <a:cs typeface="Lato" pitchFamily="34" charset="-120"/>
              </a:rPr>
              <a:t>.</a:t>
            </a:r>
            <a:endParaRPr lang="en-US" sz="7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399" y="441325"/>
            <a:ext cx="10422467" cy="5660857"/>
          </a:xfrm>
          <a:prstGeom prst="rect">
            <a:avLst/>
          </a:prstGeom>
        </p:spPr>
      </p:pic>
      <p:sp>
        <p:nvSpPr>
          <p:cNvPr id="6" name="TextBox 5"/>
          <p:cNvSpPr txBox="1"/>
          <p:nvPr/>
        </p:nvSpPr>
        <p:spPr>
          <a:xfrm>
            <a:off x="182880" y="6446520"/>
            <a:ext cx="635000" cy="254000"/>
          </a:xfrm>
          <a:prstGeom prst="rect">
            <a:avLst/>
          </a:prstGeom>
          <a:noFill/>
        </p:spPr>
        <p:txBody>
          <a:bodyPr wrap="none">
            <a:spAutoFit/>
          </a:bodyPr>
          <a:lstStyle/>
          <a:p>
            <a:pPr algn="r"/>
            <a:r>
              <a:rPr sz="100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48184"/>
            <a:ext cx="10868745" cy="498376"/>
          </a:xfrm>
          <a:prstGeom prst="rect">
            <a:avLst/>
          </a:prstGeom>
          <a:noFill/>
          <a:ln/>
        </p:spPr>
        <p:txBody>
          <a:bodyPr wrap="none" lIns="0" tIns="0" rIns="0" bIns="0" rtlCol="0" anchor="t"/>
          <a:lstStyle/>
          <a:p>
            <a:pPr marL="0" indent="0" algn="l">
              <a:lnSpc>
                <a:spcPct val="104000"/>
              </a:lnSpc>
              <a:buNone/>
            </a:pPr>
            <a:r>
              <a:rPr lang="en-US" sz="3100" b="1" dirty="0">
                <a:solidFill>
                  <a:srgbClr val="282824"/>
                </a:solidFill>
                <a:latin typeface="Lato Bold" pitchFamily="34" charset="0"/>
                <a:ea typeface="Lato Bold" pitchFamily="34" charset="-122"/>
                <a:cs typeface="Lato Bold" pitchFamily="34" charset="-120"/>
              </a:rPr>
              <a:t>Implementation Progress </a:t>
            </a:r>
            <a:endParaRPr lang="en-US" sz="3100" dirty="0"/>
          </a:p>
        </p:txBody>
      </p:sp>
      <p:sp>
        <p:nvSpPr>
          <p:cNvPr id="3" name="Text 1"/>
          <p:cNvSpPr/>
          <p:nvPr/>
        </p:nvSpPr>
        <p:spPr>
          <a:xfrm>
            <a:off x="661475" y="1315641"/>
            <a:ext cx="11478330" cy="235148"/>
          </a:xfrm>
          <a:prstGeom prst="rect">
            <a:avLst/>
          </a:prstGeom>
          <a:noFill/>
          <a:ln/>
        </p:spPr>
        <p:txBody>
          <a:bodyPr wrap="none" lIns="0" tIns="0" rIns="0" bIns="0" rtlCol="0" anchor="t"/>
          <a:lstStyle/>
          <a:p>
            <a:pPr marL="0" indent="0" algn="l">
              <a:lnSpc>
                <a:spcPct val="123000"/>
              </a:lnSpc>
              <a:buNone/>
            </a:pPr>
            <a:r>
              <a:rPr lang="en-US" sz="1250" dirty="0">
                <a:solidFill>
                  <a:srgbClr val="4A4A45"/>
                </a:solidFill>
                <a:latin typeface="Lato" pitchFamily="34" charset="0"/>
                <a:ea typeface="Lato" pitchFamily="34" charset="-122"/>
                <a:cs typeface="Lato" pitchFamily="34" charset="-120"/>
              </a:rPr>
              <a:t>The data preparation and model-development pipeline has been implemented, while experimental model training is currently in progress.</a:t>
            </a:r>
            <a:endParaRPr lang="en-US" sz="1250" dirty="0"/>
          </a:p>
        </p:txBody>
      </p:sp>
      <p:sp>
        <p:nvSpPr>
          <p:cNvPr id="4" name="Text 2"/>
          <p:cNvSpPr/>
          <p:nvPr/>
        </p:nvSpPr>
        <p:spPr>
          <a:xfrm>
            <a:off x="356682" y="1702098"/>
            <a:ext cx="11478330" cy="235148"/>
          </a:xfrm>
          <a:prstGeom prst="rect">
            <a:avLst/>
          </a:prstGeom>
          <a:noFill/>
          <a:ln/>
        </p:spPr>
        <p:txBody>
          <a:bodyPr wrap="none" lIns="0" tIns="0" rIns="0" bIns="0" rtlCol="0" anchor="t"/>
          <a:lstStyle/>
          <a:p>
            <a:pPr marL="0" indent="0" algn="ctr">
              <a:lnSpc>
                <a:spcPct val="123000"/>
              </a:lnSpc>
              <a:buNone/>
            </a:pPr>
            <a:r>
              <a:rPr lang="en-US" sz="1250" b="1" dirty="0">
                <a:solidFill>
                  <a:srgbClr val="4A4A45"/>
                </a:solidFill>
                <a:latin typeface="Lato Bold" pitchFamily="34" charset="0"/>
                <a:ea typeface="Lato Bold" pitchFamily="34" charset="-122"/>
                <a:cs typeface="Lato Bold" pitchFamily="34" charset="-120"/>
              </a:rPr>
              <a:t>Dataset ✓ → EDA ✓ → Processing ✓ → Split ✓ → Models ✓ → TRAINING ◉ → Evaluation ○</a:t>
            </a:r>
            <a:endParaRPr lang="en-US" sz="1250" dirty="0"/>
          </a:p>
        </p:txBody>
      </p:sp>
      <p:sp>
        <p:nvSpPr>
          <p:cNvPr id="5" name="Text 3"/>
          <p:cNvSpPr/>
          <p:nvPr/>
        </p:nvSpPr>
        <p:spPr>
          <a:xfrm>
            <a:off x="356682" y="2088555"/>
            <a:ext cx="11478330" cy="188119"/>
          </a:xfrm>
          <a:prstGeom prst="rect">
            <a:avLst/>
          </a:prstGeom>
          <a:noFill/>
          <a:ln/>
        </p:spPr>
        <p:txBody>
          <a:bodyPr wrap="none" lIns="0" tIns="0" rIns="0" bIns="0" rtlCol="0" anchor="t"/>
          <a:lstStyle/>
          <a:p>
            <a:pPr marL="0" indent="0" algn="ctr">
              <a:lnSpc>
                <a:spcPct val="123000"/>
              </a:lnSpc>
              <a:buNone/>
            </a:pPr>
            <a:r>
              <a:rPr lang="en-US" sz="1000" dirty="0">
                <a:solidFill>
                  <a:srgbClr val="4A4A45"/>
                </a:solidFill>
                <a:latin typeface="Lato" pitchFamily="34" charset="0"/>
                <a:ea typeface="Lato" pitchFamily="34" charset="-122"/>
                <a:cs typeface="Lato" pitchFamily="34" charset="-120"/>
              </a:rPr>
              <a:t>✓ Completed    ◉ Current Stage    ○ Future Work</a:t>
            </a:r>
            <a:endParaRPr lang="en-US" sz="1000" dirty="0"/>
          </a:p>
        </p:txBody>
      </p:sp>
      <p:sp>
        <p:nvSpPr>
          <p:cNvPr id="6" name="Text 4"/>
          <p:cNvSpPr/>
          <p:nvPr/>
        </p:nvSpPr>
        <p:spPr>
          <a:xfrm>
            <a:off x="661475" y="2562523"/>
            <a:ext cx="5239810" cy="298946"/>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Completed Implementation</a:t>
            </a:r>
            <a:endParaRPr lang="en-US" sz="1850" dirty="0"/>
          </a:p>
        </p:txBody>
      </p:sp>
      <p:sp>
        <p:nvSpPr>
          <p:cNvPr id="7" name="Text 5"/>
          <p:cNvSpPr/>
          <p:nvPr/>
        </p:nvSpPr>
        <p:spPr>
          <a:xfrm>
            <a:off x="661475" y="2996009"/>
            <a:ext cx="5239810" cy="1646039"/>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Dataset acquisition and EDA</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Cleaning, preprocessing and augmentation</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Stratified 70/15/15 partitioning</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PyTorch DataLoaders and input verification</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EfficientNet-B2, EfficientNet-B6 and Custom CNN implemented</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CUDA/T4 training environment configured</a:t>
            </a:r>
            <a:endParaRPr lang="en-US" sz="1250" dirty="0"/>
          </a:p>
        </p:txBody>
      </p:sp>
      <p:sp>
        <p:nvSpPr>
          <p:cNvPr id="8" name="Text 6"/>
          <p:cNvSpPr/>
          <p:nvPr/>
        </p:nvSpPr>
        <p:spPr>
          <a:xfrm>
            <a:off x="6296760" y="2562523"/>
            <a:ext cx="5239810" cy="298946"/>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Current Experimental Setup</a:t>
            </a:r>
            <a:endParaRPr lang="en-US" sz="1850" dirty="0"/>
          </a:p>
        </p:txBody>
      </p:sp>
      <p:sp>
        <p:nvSpPr>
          <p:cNvPr id="9" name="Text 7"/>
          <p:cNvSpPr/>
          <p:nvPr/>
        </p:nvSpPr>
        <p:spPr>
          <a:xfrm>
            <a:off x="6296760" y="2915245"/>
            <a:ext cx="5239810" cy="249138"/>
          </a:xfrm>
          <a:prstGeom prst="rect">
            <a:avLst/>
          </a:prstGeom>
          <a:noFill/>
          <a:ln/>
        </p:spPr>
        <p:txBody>
          <a:bodyPr wrap="none" lIns="0" tIns="0" rIns="0" bIns="0" rtlCol="0" anchor="t"/>
          <a:lstStyle/>
          <a:p>
            <a:pPr marL="0" indent="0" algn="l">
              <a:lnSpc>
                <a:spcPct val="104000"/>
              </a:lnSpc>
              <a:buNone/>
            </a:pPr>
            <a:r>
              <a:rPr lang="en-US" sz="1550" b="1" dirty="0">
                <a:solidFill>
                  <a:srgbClr val="282824"/>
                </a:solidFill>
                <a:latin typeface="Lato Bold" pitchFamily="34" charset="0"/>
                <a:ea typeface="Lato Bold" pitchFamily="34" charset="-122"/>
                <a:cs typeface="Lato Bold" pitchFamily="34" charset="-120"/>
              </a:rPr>
              <a:t>Model Architectures</a:t>
            </a:r>
            <a:endParaRPr lang="en-US" sz="1550" dirty="0"/>
          </a:p>
        </p:txBody>
      </p:sp>
      <p:sp>
        <p:nvSpPr>
          <p:cNvPr id="10" name="Text 8"/>
          <p:cNvSpPr/>
          <p:nvPr/>
        </p:nvSpPr>
        <p:spPr>
          <a:xfrm>
            <a:off x="6296760" y="3298924"/>
            <a:ext cx="5239810" cy="799505"/>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EfficientNet-B2 — Transfer Learning</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EfficientNet-B6 — Transfer Learning</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Custom CNN — Baseline</a:t>
            </a:r>
            <a:endParaRPr lang="en-US" sz="1250" dirty="0"/>
          </a:p>
        </p:txBody>
      </p:sp>
      <p:sp>
        <p:nvSpPr>
          <p:cNvPr id="11" name="Text 9"/>
          <p:cNvSpPr/>
          <p:nvPr/>
        </p:nvSpPr>
        <p:spPr>
          <a:xfrm>
            <a:off x="6296760" y="4232970"/>
            <a:ext cx="5239810" cy="249138"/>
          </a:xfrm>
          <a:prstGeom prst="rect">
            <a:avLst/>
          </a:prstGeom>
          <a:noFill/>
          <a:ln/>
        </p:spPr>
        <p:txBody>
          <a:bodyPr wrap="none" lIns="0" tIns="0" rIns="0" bIns="0" rtlCol="0" anchor="t"/>
          <a:lstStyle/>
          <a:p>
            <a:pPr marL="0" indent="0" algn="l">
              <a:lnSpc>
                <a:spcPct val="104000"/>
              </a:lnSpc>
              <a:buNone/>
            </a:pPr>
            <a:r>
              <a:rPr lang="en-US" sz="1550" b="1" dirty="0">
                <a:solidFill>
                  <a:srgbClr val="282824"/>
                </a:solidFill>
                <a:latin typeface="Lato Bold" pitchFamily="34" charset="0"/>
                <a:ea typeface="Lato Bold" pitchFamily="34" charset="-122"/>
                <a:cs typeface="Lato Bold" pitchFamily="34" charset="-120"/>
              </a:rPr>
              <a:t>Training Configuration</a:t>
            </a:r>
            <a:endParaRPr lang="en-US" sz="1550" dirty="0"/>
          </a:p>
        </p:txBody>
      </p:sp>
      <p:sp>
        <p:nvSpPr>
          <p:cNvPr id="12" name="Text 10"/>
          <p:cNvSpPr/>
          <p:nvPr/>
        </p:nvSpPr>
        <p:spPr>
          <a:xfrm>
            <a:off x="6296760" y="4616648"/>
            <a:ext cx="5239810" cy="1646039"/>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Framework: PyTorch</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Loss Function: CrossEntropyLoss</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Optimizer: Adam</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Learning Rate: 0.001</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Batch Size: 16</a:t>
            </a:r>
            <a:endParaRPr lang="en-US" sz="1250" dirty="0"/>
          </a:p>
          <a:p>
            <a:pPr marL="254000" indent="-254000" algn="l">
              <a:lnSpc>
                <a:spcPct val="123000"/>
              </a:lnSpc>
              <a:buSzPct val="100000"/>
              <a:buChar char="•"/>
            </a:pPr>
            <a:r>
              <a:rPr lang="en-US" sz="1250" dirty="0">
                <a:solidFill>
                  <a:srgbClr val="4A4A45"/>
                </a:solidFill>
                <a:latin typeface="Lato" pitchFamily="34" charset="0"/>
                <a:ea typeface="Lato" pitchFamily="34" charset="-122"/>
                <a:cs typeface="Lato" pitchFamily="34" charset="-120"/>
              </a:rPr>
              <a:t>Hardware: NVIDIA T4 GPU / CUDA</a:t>
            </a:r>
            <a:endParaRPr lang="en-US" sz="1250" dirty="0"/>
          </a:p>
        </p:txBody>
      </p:sp>
      <p:sp>
        <p:nvSpPr>
          <p:cNvPr id="13" name="TextBox 12"/>
          <p:cNvSpPr txBox="1"/>
          <p:nvPr/>
        </p:nvSpPr>
        <p:spPr>
          <a:xfrm>
            <a:off x="182880" y="6446520"/>
            <a:ext cx="635000" cy="254000"/>
          </a:xfrm>
          <a:prstGeom prst="rect">
            <a:avLst/>
          </a:prstGeom>
          <a:noFill/>
        </p:spPr>
        <p:txBody>
          <a:bodyPr wrap="none">
            <a:spAutoFit/>
          </a:bodyPr>
          <a:lstStyle/>
          <a:p>
            <a:pPr algn="r"/>
            <a:r>
              <a:rPr sz="100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40941"/>
            <a:ext cx="10868745" cy="553740"/>
          </a:xfrm>
          <a:prstGeom prst="rect">
            <a:avLst/>
          </a:prstGeom>
          <a:noFill/>
          <a:ln/>
        </p:spPr>
        <p:txBody>
          <a:bodyPr wrap="none" lIns="0" tIns="0" rIns="0" bIns="0" rtlCol="0" anchor="t"/>
          <a:lstStyle/>
          <a:p>
            <a:pPr marL="0" indent="0" algn="l">
              <a:lnSpc>
                <a:spcPct val="104000"/>
              </a:lnSpc>
              <a:buNone/>
            </a:pPr>
            <a:r>
              <a:rPr lang="en-US" sz="3450" b="1" dirty="0">
                <a:solidFill>
                  <a:srgbClr val="282824"/>
                </a:solidFill>
                <a:latin typeface="Lato Bold" pitchFamily="34" charset="0"/>
                <a:ea typeface="Lato Bold" pitchFamily="34" charset="-122"/>
                <a:cs typeface="Lato Bold" pitchFamily="34" charset="-120"/>
              </a:rPr>
              <a:t>Preliminary Observations &amp; Pipeline Verification</a:t>
            </a:r>
            <a:endParaRPr lang="en-US" sz="3450" dirty="0"/>
          </a:p>
        </p:txBody>
      </p:sp>
      <p:sp>
        <p:nvSpPr>
          <p:cNvPr id="3" name="Text 1"/>
          <p:cNvSpPr/>
          <p:nvPr/>
        </p:nvSpPr>
        <p:spPr>
          <a:xfrm>
            <a:off x="661475" y="1509911"/>
            <a:ext cx="5218280" cy="332184"/>
          </a:xfrm>
          <a:prstGeom prst="rect">
            <a:avLst/>
          </a:prstGeom>
          <a:noFill/>
          <a:ln/>
        </p:spPr>
        <p:txBody>
          <a:bodyPr wrap="none" lIns="0" tIns="0" rIns="0" bIns="0" rtlCol="0" anchor="t"/>
          <a:lstStyle/>
          <a:p>
            <a:pPr marL="0" indent="0" algn="l">
              <a:lnSpc>
                <a:spcPct val="104000"/>
              </a:lnSpc>
              <a:buNone/>
            </a:pPr>
            <a:r>
              <a:rPr lang="en-US" sz="2050" b="1" dirty="0">
                <a:solidFill>
                  <a:srgbClr val="282824"/>
                </a:solidFill>
                <a:latin typeface="Lato Bold" pitchFamily="34" charset="0"/>
                <a:ea typeface="Lato Bold" pitchFamily="34" charset="-122"/>
                <a:cs typeface="Lato Bold" pitchFamily="34" charset="-120"/>
              </a:rPr>
              <a:t>Dataset Insights</a:t>
            </a:r>
            <a:endParaRPr lang="en-US" sz="2050" dirty="0"/>
          </a:p>
        </p:txBody>
      </p:sp>
      <p:sp>
        <p:nvSpPr>
          <p:cNvPr id="4" name="Text 2"/>
          <p:cNvSpPr/>
          <p:nvPr/>
        </p:nvSpPr>
        <p:spPr>
          <a:xfrm>
            <a:off x="661475" y="2008188"/>
            <a:ext cx="5218280" cy="1489472"/>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Class-distribution analysis completed across 10 garbage categories.</a:t>
            </a:r>
            <a:endParaRPr lang="en-US" sz="1350" dirty="0"/>
          </a:p>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Original image resolutions and representative samples were analyzed during EDA.</a:t>
            </a:r>
            <a:endParaRPr lang="en-US" sz="1350" dirty="0"/>
          </a:p>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All images are resized to 224 × 224 pixels during preprocessing</a:t>
            </a:r>
            <a:endParaRPr lang="en-US" sz="1350" dirty="0"/>
          </a:p>
        </p:txBody>
      </p:sp>
      <p:sp>
        <p:nvSpPr>
          <p:cNvPr id="5" name="Text 3"/>
          <p:cNvSpPr/>
          <p:nvPr/>
        </p:nvSpPr>
        <p:spPr>
          <a:xfrm>
            <a:off x="661475" y="3663752"/>
            <a:ext cx="5218280" cy="332184"/>
          </a:xfrm>
          <a:prstGeom prst="rect">
            <a:avLst/>
          </a:prstGeom>
          <a:noFill/>
          <a:ln/>
        </p:spPr>
        <p:txBody>
          <a:bodyPr wrap="none" lIns="0" tIns="0" rIns="0" bIns="0" rtlCol="0" anchor="t"/>
          <a:lstStyle/>
          <a:p>
            <a:pPr marL="0" indent="0" algn="l">
              <a:lnSpc>
                <a:spcPct val="104000"/>
              </a:lnSpc>
              <a:buNone/>
            </a:pPr>
            <a:r>
              <a:rPr lang="en-US" sz="2050" b="1" dirty="0">
                <a:solidFill>
                  <a:srgbClr val="282824"/>
                </a:solidFill>
                <a:latin typeface="Lato Bold" pitchFamily="34" charset="0"/>
                <a:ea typeface="Lato Bold" pitchFamily="34" charset="-122"/>
                <a:cs typeface="Lato Bold" pitchFamily="34" charset="-120"/>
              </a:rPr>
              <a:t>Pipeline Verification</a:t>
            </a:r>
            <a:endParaRPr lang="en-US" sz="2050" dirty="0"/>
          </a:p>
        </p:txBody>
      </p:sp>
      <p:sp>
        <p:nvSpPr>
          <p:cNvPr id="6" name="Text 4"/>
          <p:cNvSpPr/>
          <p:nvPr/>
        </p:nvSpPr>
        <p:spPr>
          <a:xfrm>
            <a:off x="661475" y="4162028"/>
            <a:ext cx="5218280" cy="2096889"/>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PyTorch DataLoaders successfully generate training batches.</a:t>
            </a:r>
            <a:endParaRPr lang="en-US" sz="1350" dirty="0"/>
          </a:p>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Training augmentation includes horizontal/vertical flips, rotation, and brightness/contrast adjustment.</a:t>
            </a:r>
            <a:endParaRPr lang="en-US" sz="1350" dirty="0"/>
          </a:p>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Input batches follow the expected tensor shape: [16, 3, 224, 224] (batch, channels, height, width).</a:t>
            </a:r>
            <a:endParaRPr lang="en-US" sz="1350" dirty="0"/>
          </a:p>
          <a:p>
            <a:pPr marL="274320" indent="-274320" algn="l">
              <a:lnSpc>
                <a:spcPct val="129000"/>
              </a:lnSpc>
              <a:buSzPct val="100000"/>
              <a:buChar char="•"/>
            </a:pPr>
            <a:r>
              <a:rPr lang="en-US" sz="1350" dirty="0">
                <a:solidFill>
                  <a:srgbClr val="4A4A45"/>
                </a:solidFill>
                <a:latin typeface="Lato" pitchFamily="34" charset="0"/>
                <a:ea typeface="Lato" pitchFamily="34" charset="-122"/>
                <a:cs typeface="Lato" pitchFamily="34" charset="-120"/>
              </a:rPr>
              <a:t>CUDA-enabled model training has been successfully initiated on an NVIDIA T4 GPU.</a:t>
            </a:r>
            <a:endParaRPr lang="en-US" sz="1350" dirty="0"/>
          </a:p>
        </p:txBody>
      </p:sp>
      <p:pic>
        <p:nvPicPr>
          <p:cNvPr id="7" name="Image 0" descr="preencoded.png"/>
          <p:cNvPicPr>
            <a:picLocks noChangeAspect="1"/>
          </p:cNvPicPr>
          <p:nvPr/>
        </p:nvPicPr>
        <p:blipFill>
          <a:blip r:embed="rId3"/>
          <a:stretch>
            <a:fillRect/>
          </a:stretch>
        </p:blipFill>
        <p:spPr>
          <a:xfrm>
            <a:off x="6318290" y="3004741"/>
            <a:ext cx="4882929" cy="1651298"/>
          </a:xfrm>
          <a:prstGeom prst="rect">
            <a:avLst/>
          </a:prstGeom>
        </p:spPr>
      </p:pic>
      <p:sp>
        <p:nvSpPr>
          <p:cNvPr id="8" name="TextBox 7"/>
          <p:cNvSpPr txBox="1"/>
          <p:nvPr/>
        </p:nvSpPr>
        <p:spPr>
          <a:xfrm>
            <a:off x="182880" y="6446520"/>
            <a:ext cx="635000" cy="254000"/>
          </a:xfrm>
          <a:prstGeom prst="rect">
            <a:avLst/>
          </a:prstGeom>
          <a:noFill/>
        </p:spPr>
        <p:txBody>
          <a:bodyPr wrap="none">
            <a:spAutoFit/>
          </a:bodyPr>
          <a:lstStyle/>
          <a:p>
            <a:pPr algn="r"/>
            <a:r>
              <a:rPr sz="100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8205"/>
            <a:ext cx="10868745" cy="369193"/>
          </a:xfrm>
          <a:prstGeom prst="rect">
            <a:avLst/>
          </a:prstGeom>
          <a:noFill/>
          <a:ln/>
        </p:spPr>
        <p:txBody>
          <a:bodyPr wrap="none" lIns="0" tIns="0" rIns="0" bIns="0" rtlCol="0" anchor="t"/>
          <a:lstStyle/>
          <a:p>
            <a:pPr marL="0" indent="0" algn="l">
              <a:lnSpc>
                <a:spcPct val="104000"/>
              </a:lnSpc>
              <a:buNone/>
            </a:pPr>
            <a:r>
              <a:rPr lang="en-US" sz="2300" b="1" dirty="0">
                <a:solidFill>
                  <a:srgbClr val="282824"/>
                </a:solidFill>
                <a:latin typeface="Lato Bold" pitchFamily="34" charset="0"/>
                <a:ea typeface="Lato Bold" pitchFamily="34" charset="-122"/>
                <a:cs typeface="Lato Bold" pitchFamily="34" charset="-120"/>
              </a:rPr>
              <a:t>Next Steps &amp; Remaining Work</a:t>
            </a:r>
            <a:endParaRPr lang="en-US" sz="2300" dirty="0"/>
          </a:p>
        </p:txBody>
      </p:sp>
      <p:sp>
        <p:nvSpPr>
          <p:cNvPr id="3" name="Text 1"/>
          <p:cNvSpPr/>
          <p:nvPr/>
        </p:nvSpPr>
        <p:spPr>
          <a:xfrm>
            <a:off x="661475" y="1075035"/>
            <a:ext cx="11478330" cy="153591"/>
          </a:xfrm>
          <a:prstGeom prst="rect">
            <a:avLst/>
          </a:prstGeom>
          <a:noFill/>
          <a:ln/>
        </p:spPr>
        <p:txBody>
          <a:bodyPr wrap="none" lIns="0" tIns="0" rIns="0" bIns="0" rtlCol="0" anchor="t"/>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With foundational work complete, our focus now shifts to the experimental phase and rigorous evaluation.</a:t>
            </a:r>
            <a:endParaRPr lang="en-US" sz="900" dirty="0"/>
          </a:p>
        </p:txBody>
      </p:sp>
      <p:pic>
        <p:nvPicPr>
          <p:cNvPr id="4" name="Image 0" descr="preencoded.png"/>
          <p:cNvPicPr>
            <a:picLocks noChangeAspect="1"/>
          </p:cNvPicPr>
          <p:nvPr/>
        </p:nvPicPr>
        <p:blipFill>
          <a:blip r:embed="rId3"/>
          <a:stretch>
            <a:fillRect/>
          </a:stretch>
        </p:blipFill>
        <p:spPr>
          <a:xfrm>
            <a:off x="661475" y="1311672"/>
            <a:ext cx="4561369" cy="2565797"/>
          </a:xfrm>
          <a:prstGeom prst="rect">
            <a:avLst/>
          </a:prstGeom>
        </p:spPr>
      </p:pic>
      <p:sp>
        <p:nvSpPr>
          <p:cNvPr id="5" name="Text 2"/>
          <p:cNvSpPr/>
          <p:nvPr/>
        </p:nvSpPr>
        <p:spPr>
          <a:xfrm>
            <a:off x="661475" y="3988197"/>
            <a:ext cx="10868745"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Planned Evaluation Metrics</a:t>
            </a:r>
            <a:endParaRPr lang="en-US" sz="1850" dirty="0"/>
          </a:p>
        </p:txBody>
      </p:sp>
      <p:sp>
        <p:nvSpPr>
          <p:cNvPr id="6" name="Text 3"/>
          <p:cNvSpPr/>
          <p:nvPr/>
        </p:nvSpPr>
        <p:spPr>
          <a:xfrm>
            <a:off x="661475" y="4394200"/>
            <a:ext cx="11478330" cy="153591"/>
          </a:xfrm>
          <a:prstGeom prst="rect">
            <a:avLst/>
          </a:prstGeom>
          <a:noFill/>
          <a:ln/>
        </p:spPr>
        <p:txBody>
          <a:bodyPr wrap="none" lIns="0" tIns="0" rIns="0" bIns="0" rtlCol="0" anchor="t"/>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To ensure a comprehensive assessment of model performance, we will utilize a suite of established metrics:</a:t>
            </a:r>
            <a:endParaRPr lang="en-US" sz="900" dirty="0"/>
          </a:p>
        </p:txBody>
      </p:sp>
      <p:pic>
        <p:nvPicPr>
          <p:cNvPr id="7"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61475" y="4630837"/>
            <a:ext cx="3573671" cy="797520"/>
          </a:xfrm>
          <a:prstGeom prst="rect">
            <a:avLst/>
          </a:prstGeom>
        </p:spPr>
      </p:pic>
      <p:sp>
        <p:nvSpPr>
          <p:cNvPr id="8" name="Text 4"/>
          <p:cNvSpPr/>
          <p:nvPr/>
        </p:nvSpPr>
        <p:spPr>
          <a:xfrm>
            <a:off x="843041" y="4761607"/>
            <a:ext cx="3261338" cy="184547"/>
          </a:xfrm>
          <a:prstGeom prst="rect">
            <a:avLst/>
          </a:prstGeom>
          <a:noFill/>
          <a:ln/>
        </p:spPr>
        <p:txBody>
          <a:bodyPr wrap="none" lIns="0" tIns="0" rIns="0" bIns="0" rtlCol="0" anchor="t"/>
          <a:lstStyle/>
          <a:p>
            <a:pPr marL="0" indent="0" algn="l">
              <a:lnSpc>
                <a:spcPct val="104000"/>
              </a:lnSpc>
              <a:buNone/>
            </a:pPr>
            <a:r>
              <a:rPr lang="en-US" sz="1150" b="1" dirty="0">
                <a:solidFill>
                  <a:srgbClr val="4A4A45"/>
                </a:solidFill>
                <a:latin typeface="Lato Bold" pitchFamily="34" charset="0"/>
                <a:ea typeface="Lato Bold" pitchFamily="34" charset="-122"/>
                <a:cs typeface="Lato Bold" pitchFamily="34" charset="-120"/>
              </a:rPr>
              <a:t>Accuracy</a:t>
            </a:r>
            <a:endParaRPr lang="en-US" sz="1150" dirty="0"/>
          </a:p>
        </p:txBody>
      </p:sp>
      <p:sp>
        <p:nvSpPr>
          <p:cNvPr id="9" name="Text 5"/>
          <p:cNvSpPr/>
          <p:nvPr/>
        </p:nvSpPr>
        <p:spPr>
          <a:xfrm>
            <a:off x="843041" y="4990405"/>
            <a:ext cx="3261338"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The overall percentage of correct classifications across all categories.</a:t>
            </a:r>
            <a:endParaRPr lang="en-US" sz="900" dirty="0"/>
          </a:p>
        </p:txBody>
      </p:sp>
      <p:pic>
        <p:nvPicPr>
          <p:cNvPr id="10"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4308963" y="4630837"/>
            <a:ext cx="3573671" cy="797520"/>
          </a:xfrm>
          <a:prstGeom prst="rect">
            <a:avLst/>
          </a:prstGeom>
        </p:spPr>
      </p:pic>
      <p:sp>
        <p:nvSpPr>
          <p:cNvPr id="11" name="Text 6"/>
          <p:cNvSpPr/>
          <p:nvPr/>
        </p:nvSpPr>
        <p:spPr>
          <a:xfrm>
            <a:off x="4490528" y="4761607"/>
            <a:ext cx="3261338" cy="184547"/>
          </a:xfrm>
          <a:prstGeom prst="rect">
            <a:avLst/>
          </a:prstGeom>
          <a:noFill/>
          <a:ln/>
        </p:spPr>
        <p:txBody>
          <a:bodyPr wrap="none" lIns="0" tIns="0" rIns="0" bIns="0" rtlCol="0" anchor="t"/>
          <a:lstStyle/>
          <a:p>
            <a:pPr marL="0" indent="0" algn="l">
              <a:lnSpc>
                <a:spcPct val="104000"/>
              </a:lnSpc>
              <a:buNone/>
            </a:pPr>
            <a:r>
              <a:rPr lang="en-US" sz="1150" b="1" dirty="0">
                <a:solidFill>
                  <a:srgbClr val="4A4A45"/>
                </a:solidFill>
                <a:latin typeface="Lato Bold" pitchFamily="34" charset="0"/>
                <a:ea typeface="Lato Bold" pitchFamily="34" charset="-122"/>
                <a:cs typeface="Lato Bold" pitchFamily="34" charset="-120"/>
              </a:rPr>
              <a:t>Precision</a:t>
            </a:r>
            <a:endParaRPr lang="en-US" sz="1150" dirty="0"/>
          </a:p>
        </p:txBody>
      </p:sp>
      <p:sp>
        <p:nvSpPr>
          <p:cNvPr id="12" name="Text 7"/>
          <p:cNvSpPr/>
          <p:nvPr/>
        </p:nvSpPr>
        <p:spPr>
          <a:xfrm>
            <a:off x="4490528" y="4990405"/>
            <a:ext cx="3261338"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When the model predicts a particular category, how often that prediction is correct.</a:t>
            </a:r>
            <a:endParaRPr lang="en-US" sz="900" dirty="0"/>
          </a:p>
        </p:txBody>
      </p:sp>
      <p:pic>
        <p:nvPicPr>
          <p:cNvPr id="13"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7956450" y="4630837"/>
            <a:ext cx="3573671" cy="797520"/>
          </a:xfrm>
          <a:prstGeom prst="rect">
            <a:avLst/>
          </a:prstGeom>
        </p:spPr>
      </p:pic>
      <p:sp>
        <p:nvSpPr>
          <p:cNvPr id="14" name="Text 8"/>
          <p:cNvSpPr/>
          <p:nvPr/>
        </p:nvSpPr>
        <p:spPr>
          <a:xfrm>
            <a:off x="8138016" y="4761607"/>
            <a:ext cx="3261338" cy="184547"/>
          </a:xfrm>
          <a:prstGeom prst="rect">
            <a:avLst/>
          </a:prstGeom>
          <a:noFill/>
          <a:ln/>
        </p:spPr>
        <p:txBody>
          <a:bodyPr wrap="none" lIns="0" tIns="0" rIns="0" bIns="0" rtlCol="0" anchor="t"/>
          <a:lstStyle/>
          <a:p>
            <a:pPr marL="0" indent="0" algn="l">
              <a:lnSpc>
                <a:spcPct val="104000"/>
              </a:lnSpc>
              <a:buNone/>
            </a:pPr>
            <a:r>
              <a:rPr lang="en-US" sz="1150" b="1" dirty="0">
                <a:solidFill>
                  <a:srgbClr val="4A4A45"/>
                </a:solidFill>
                <a:latin typeface="Lato Bold" pitchFamily="34" charset="0"/>
                <a:ea typeface="Lato Bold" pitchFamily="34" charset="-122"/>
                <a:cs typeface="Lato Bold" pitchFamily="34" charset="-120"/>
              </a:rPr>
              <a:t>Recall</a:t>
            </a:r>
            <a:endParaRPr lang="en-US" sz="1150" dirty="0"/>
          </a:p>
        </p:txBody>
      </p:sp>
      <p:sp>
        <p:nvSpPr>
          <p:cNvPr id="15" name="Text 9"/>
          <p:cNvSpPr/>
          <p:nvPr/>
        </p:nvSpPr>
        <p:spPr>
          <a:xfrm>
            <a:off x="8138016" y="4990405"/>
            <a:ext cx="3261338"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How effectively the model finds actual instances of a specific category.</a:t>
            </a:r>
            <a:endParaRPr lang="en-US" sz="900" dirty="0"/>
          </a:p>
        </p:txBody>
      </p:sp>
      <p:pic>
        <p:nvPicPr>
          <p:cNvPr id="16"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661475" y="5502176"/>
            <a:ext cx="3573671" cy="797520"/>
          </a:xfrm>
          <a:prstGeom prst="rect">
            <a:avLst/>
          </a:prstGeom>
        </p:spPr>
      </p:pic>
      <p:sp>
        <p:nvSpPr>
          <p:cNvPr id="17" name="Text 10"/>
          <p:cNvSpPr/>
          <p:nvPr/>
        </p:nvSpPr>
        <p:spPr>
          <a:xfrm>
            <a:off x="843041" y="5632946"/>
            <a:ext cx="3261338" cy="184547"/>
          </a:xfrm>
          <a:prstGeom prst="rect">
            <a:avLst/>
          </a:prstGeom>
          <a:noFill/>
          <a:ln/>
        </p:spPr>
        <p:txBody>
          <a:bodyPr wrap="none" lIns="0" tIns="0" rIns="0" bIns="0" rtlCol="0" anchor="t"/>
          <a:lstStyle/>
          <a:p>
            <a:pPr marL="0" indent="0" algn="l">
              <a:lnSpc>
                <a:spcPct val="104000"/>
              </a:lnSpc>
              <a:buNone/>
            </a:pPr>
            <a:r>
              <a:rPr lang="en-US" sz="1150" b="1" dirty="0">
                <a:solidFill>
                  <a:srgbClr val="4A4A45"/>
                </a:solidFill>
                <a:latin typeface="Lato Bold" pitchFamily="34" charset="0"/>
                <a:ea typeface="Lato Bold" pitchFamily="34" charset="-122"/>
                <a:cs typeface="Lato Bold" pitchFamily="34" charset="-120"/>
              </a:rPr>
              <a:t>F1-Score</a:t>
            </a:r>
            <a:endParaRPr lang="en-US" sz="1150" dirty="0"/>
          </a:p>
        </p:txBody>
      </p:sp>
      <p:sp>
        <p:nvSpPr>
          <p:cNvPr id="18" name="Text 11"/>
          <p:cNvSpPr/>
          <p:nvPr/>
        </p:nvSpPr>
        <p:spPr>
          <a:xfrm>
            <a:off x="843041" y="5861745"/>
            <a:ext cx="3261338"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A harmonic mean that balances both precision and recall, useful for imbalanced datasets.</a:t>
            </a:r>
            <a:endParaRPr lang="en-US" sz="900" dirty="0"/>
          </a:p>
        </p:txBody>
      </p:sp>
      <p:pic>
        <p:nvPicPr>
          <p:cNvPr id="19" name="Image 5" descr="preencoded.png"/>
          <p:cNvPicPr>
            <a:picLocks noChangeAspect="1"/>
          </p:cNvPicPr>
          <p:nvPr/>
        </p:nvPicPr>
        <p:blipFill>
          <a:blip r:embed="rId4">
            <a:extLst>
              <a:ext uri="{96DAC541-7B7A-43D3-8B79-37D633B846F1}">
                <asvg:svgBlip xmlns:asvg="http://schemas.microsoft.com/office/drawing/2016/SVG/main" xmlns="" r:embed="rId11"/>
              </a:ext>
            </a:extLst>
          </a:blip>
          <a:stretch>
            <a:fillRect/>
          </a:stretch>
        </p:blipFill>
        <p:spPr>
          <a:xfrm>
            <a:off x="4308963" y="5502176"/>
            <a:ext cx="3573671" cy="797520"/>
          </a:xfrm>
          <a:prstGeom prst="rect">
            <a:avLst/>
          </a:prstGeom>
        </p:spPr>
      </p:pic>
      <p:sp>
        <p:nvSpPr>
          <p:cNvPr id="20" name="Text 12"/>
          <p:cNvSpPr/>
          <p:nvPr/>
        </p:nvSpPr>
        <p:spPr>
          <a:xfrm>
            <a:off x="4490528" y="5632946"/>
            <a:ext cx="3261338" cy="184547"/>
          </a:xfrm>
          <a:prstGeom prst="rect">
            <a:avLst/>
          </a:prstGeom>
          <a:noFill/>
          <a:ln/>
        </p:spPr>
        <p:txBody>
          <a:bodyPr wrap="none" lIns="0" tIns="0" rIns="0" bIns="0" rtlCol="0" anchor="t"/>
          <a:lstStyle/>
          <a:p>
            <a:pPr marL="0" indent="0" algn="l">
              <a:lnSpc>
                <a:spcPct val="104000"/>
              </a:lnSpc>
              <a:buNone/>
            </a:pPr>
            <a:r>
              <a:rPr lang="en-US" sz="1150" b="1" dirty="0">
                <a:solidFill>
                  <a:srgbClr val="4A4A45"/>
                </a:solidFill>
                <a:latin typeface="Lato Bold" pitchFamily="34" charset="0"/>
                <a:ea typeface="Lato Bold" pitchFamily="34" charset="-122"/>
                <a:cs typeface="Lato Bold" pitchFamily="34" charset="-120"/>
              </a:rPr>
              <a:t>Confusion Matrix</a:t>
            </a:r>
            <a:endParaRPr lang="en-US" sz="1150" dirty="0"/>
          </a:p>
        </p:txBody>
      </p:sp>
      <p:sp>
        <p:nvSpPr>
          <p:cNvPr id="21" name="Text 13"/>
          <p:cNvSpPr/>
          <p:nvPr/>
        </p:nvSpPr>
        <p:spPr>
          <a:xfrm>
            <a:off x="4490528" y="5861745"/>
            <a:ext cx="3261338"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4A4A45"/>
                </a:solidFill>
                <a:latin typeface="Lato" pitchFamily="34" charset="0"/>
                <a:ea typeface="Lato" pitchFamily="34" charset="-122"/>
                <a:cs typeface="Lato" pitchFamily="34" charset="-120"/>
              </a:rPr>
              <a:t>A table that visualizes the performance of an algorithm, showing which categories are being confused with each other.</a:t>
            </a:r>
            <a:endParaRPr lang="en-US" sz="900" dirty="0"/>
          </a:p>
        </p:txBody>
      </p:sp>
      <p:sp>
        <p:nvSpPr>
          <p:cNvPr id="22" name="TextBox 21"/>
          <p:cNvSpPr txBox="1"/>
          <p:nvPr/>
        </p:nvSpPr>
        <p:spPr>
          <a:xfrm>
            <a:off x="182880" y="6446520"/>
            <a:ext cx="635000" cy="254000"/>
          </a:xfrm>
          <a:prstGeom prst="rect">
            <a:avLst/>
          </a:prstGeom>
          <a:noFill/>
        </p:spPr>
        <p:txBody>
          <a:bodyPr wrap="none">
            <a:spAutoFit/>
          </a:bodyPr>
          <a:lstStyle/>
          <a:p>
            <a:pPr algn="r"/>
            <a:r>
              <a:rPr sz="100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542554"/>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Conclusion</a:t>
            </a:r>
            <a:endParaRPr lang="en-US" sz="3700" dirty="0"/>
          </a:p>
        </p:txBody>
      </p:sp>
      <p:sp>
        <p:nvSpPr>
          <p:cNvPr id="3" name="Text 1"/>
          <p:cNvSpPr/>
          <p:nvPr/>
        </p:nvSpPr>
        <p:spPr>
          <a:xfrm>
            <a:off x="661475" y="2416671"/>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A4A45"/>
                </a:solidFill>
                <a:latin typeface="Lato" pitchFamily="34" charset="0"/>
                <a:ea typeface="Lato" pitchFamily="34" charset="-122"/>
                <a:cs typeface="Lato" pitchFamily="34" charset="-120"/>
              </a:rPr>
              <a:t>Our journey from raw data to a fully evaluated deep learning model is progressing systematically. This presentation concludes with a summary of our current achievements and a clear roadmap for the immediate future.</a:t>
            </a:r>
            <a:endParaRPr lang="en-US" sz="1450" dirty="0"/>
          </a:p>
        </p:txBody>
      </p:sp>
      <p:sp>
        <p:nvSpPr>
          <p:cNvPr id="4" name="Text 2"/>
          <p:cNvSpPr/>
          <p:nvPr/>
        </p:nvSpPr>
        <p:spPr>
          <a:xfrm>
            <a:off x="661475" y="3423146"/>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Current Status</a:t>
            </a:r>
            <a:endParaRPr lang="en-US" sz="1850" dirty="0"/>
          </a:p>
        </p:txBody>
      </p:sp>
      <p:sp>
        <p:nvSpPr>
          <p:cNvPr id="5" name="Text 3"/>
          <p:cNvSpPr/>
          <p:nvPr/>
        </p:nvSpPr>
        <p:spPr>
          <a:xfrm>
            <a:off x="661475" y="3907433"/>
            <a:ext cx="5203794" cy="134183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Data preparation and preprocessing pipeline completed.</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Candidate classification architectures implemented (EfficientNet-B2, B6, Custom CNN).</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Experimental model training is currently underway.</a:t>
            </a:r>
            <a:endParaRPr lang="en-US" sz="1450" dirty="0"/>
          </a:p>
        </p:txBody>
      </p:sp>
      <p:sp>
        <p:nvSpPr>
          <p:cNvPr id="6" name="Text 4"/>
          <p:cNvSpPr/>
          <p:nvPr/>
        </p:nvSpPr>
        <p:spPr>
          <a:xfrm>
            <a:off x="6332776" y="3423146"/>
            <a:ext cx="5203794" cy="295275"/>
          </a:xfrm>
          <a:prstGeom prst="rect">
            <a:avLst/>
          </a:prstGeom>
          <a:noFill/>
          <a:ln/>
        </p:spPr>
        <p:txBody>
          <a:bodyPr wrap="none" lIns="0" tIns="0" rIns="0" bIns="0" rtlCol="0" anchor="t"/>
          <a:lstStyle/>
          <a:p>
            <a:pPr marL="0" indent="0" algn="l">
              <a:lnSpc>
                <a:spcPct val="104000"/>
              </a:lnSpc>
              <a:buNone/>
            </a:pPr>
            <a:r>
              <a:rPr lang="en-US" sz="1850" b="1" dirty="0">
                <a:solidFill>
                  <a:srgbClr val="282824"/>
                </a:solidFill>
                <a:latin typeface="Lato Bold" pitchFamily="34" charset="0"/>
                <a:ea typeface="Lato Bold" pitchFamily="34" charset="-122"/>
                <a:cs typeface="Lato Bold" pitchFamily="34" charset="-120"/>
              </a:rPr>
              <a:t>Next Phase</a:t>
            </a:r>
            <a:endParaRPr lang="en-US" sz="1850" dirty="0"/>
          </a:p>
        </p:txBody>
      </p:sp>
      <p:sp>
        <p:nvSpPr>
          <p:cNvPr id="7" name="Text 5"/>
          <p:cNvSpPr/>
          <p:nvPr/>
        </p:nvSpPr>
        <p:spPr>
          <a:xfrm>
            <a:off x="6332776" y="3907433"/>
            <a:ext cx="5203794" cy="103941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Evaluation</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Comparative analysis</a:t>
            </a:r>
            <a:endParaRPr lang="en-US" sz="1450" dirty="0"/>
          </a:p>
          <a:p>
            <a:pPr marL="294640" indent="-294640" algn="l">
              <a:lnSpc>
                <a:spcPct val="133000"/>
              </a:lnSpc>
              <a:buSzPct val="100000"/>
              <a:buChar char="•"/>
            </a:pPr>
            <a:r>
              <a:rPr lang="en-US" sz="1450" dirty="0">
                <a:solidFill>
                  <a:srgbClr val="4A4A45"/>
                </a:solidFill>
                <a:latin typeface="Lato" pitchFamily="34" charset="0"/>
                <a:ea typeface="Lato" pitchFamily="34" charset="-122"/>
                <a:cs typeface="Lato" pitchFamily="34" charset="-120"/>
              </a:rPr>
              <a:t>Best-model selection</a:t>
            </a:r>
            <a:endParaRPr lang="en-US" sz="1450" dirty="0"/>
          </a:p>
        </p:txBody>
      </p:sp>
      <p:sp>
        <p:nvSpPr>
          <p:cNvPr id="8" name="TextBox 7"/>
          <p:cNvSpPr txBox="1"/>
          <p:nvPr/>
        </p:nvSpPr>
        <p:spPr>
          <a:xfrm>
            <a:off x="182880" y="6446520"/>
            <a:ext cx="635000" cy="254000"/>
          </a:xfrm>
          <a:prstGeom prst="rect">
            <a:avLst/>
          </a:prstGeom>
          <a:noFill/>
        </p:spPr>
        <p:txBody>
          <a:bodyPr wrap="none">
            <a:spAutoFit/>
          </a:bodyPr>
          <a:lstStyle/>
          <a:p>
            <a:pPr algn="r"/>
            <a:r>
              <a:rPr sz="100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127151"/>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282824"/>
                </a:solidFill>
                <a:latin typeface="Lato Bold" pitchFamily="34" charset="0"/>
                <a:ea typeface="Lato Bold" pitchFamily="34" charset="-122"/>
                <a:cs typeface="Lato Bold" pitchFamily="34" charset="-120"/>
              </a:rPr>
              <a:t>References</a:t>
            </a:r>
            <a:endParaRPr lang="en-US" sz="3700" dirty="0"/>
          </a:p>
        </p:txBody>
      </p:sp>
      <p:sp>
        <p:nvSpPr>
          <p:cNvPr id="3" name="Text 1"/>
          <p:cNvSpPr/>
          <p:nvPr/>
        </p:nvSpPr>
        <p:spPr>
          <a:xfrm>
            <a:off x="661475" y="3095823"/>
            <a:ext cx="10868745" cy="1634927"/>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4A4A45"/>
                </a:solidFill>
                <a:latin typeface="Lato Bold" pitchFamily="34" charset="0"/>
                <a:ea typeface="Lato Bold" pitchFamily="34" charset="-122"/>
                <a:cs typeface="Lato Bold" pitchFamily="34" charset="-120"/>
              </a:rPr>
              <a:t>[1]</a:t>
            </a:r>
            <a:r>
              <a:rPr lang="en-US" sz="1450" dirty="0">
                <a:solidFill>
                  <a:srgbClr val="4A4A45"/>
                </a:solidFill>
                <a:latin typeface="Lato" pitchFamily="34" charset="0"/>
                <a:ea typeface="Lato" pitchFamily="34" charset="-122"/>
                <a:cs typeface="Lato" pitchFamily="34" charset="-120"/>
              </a:rPr>
              <a:t> Garbage Classification V2, Kaggle. Dataset identifier: sumn2u/garbage-classification-v2.</a:t>
            </a:r>
            <a:endParaRPr lang="en-US" sz="1450" dirty="0"/>
          </a:p>
          <a:p>
            <a:pPr marL="0" indent="0" algn="l">
              <a:lnSpc>
                <a:spcPct val="133000"/>
              </a:lnSpc>
              <a:spcAft>
                <a:spcPts val="1650"/>
              </a:spcAft>
              <a:buNone/>
            </a:pPr>
            <a:r>
              <a:rPr lang="en-US" sz="1450" b="1" dirty="0">
                <a:solidFill>
                  <a:srgbClr val="4A4A45"/>
                </a:solidFill>
                <a:latin typeface="Lato Bold" pitchFamily="34" charset="0"/>
                <a:ea typeface="Lato Bold" pitchFamily="34" charset="-122"/>
                <a:cs typeface="Lato Bold" pitchFamily="34" charset="-120"/>
              </a:rPr>
              <a:t>[2]</a:t>
            </a:r>
            <a:r>
              <a:rPr lang="en-US" sz="1450" dirty="0">
                <a:solidFill>
                  <a:srgbClr val="4A4A45"/>
                </a:solidFill>
                <a:latin typeface="Lato" pitchFamily="34" charset="0"/>
                <a:ea typeface="Lato" pitchFamily="34" charset="-122"/>
                <a:cs typeface="Lato" pitchFamily="34" charset="-120"/>
              </a:rPr>
              <a:t> M. Tan and Q. V. Le, </a:t>
            </a:r>
            <a:r>
              <a:rPr lang="en-US" sz="1450" i="1" dirty="0">
                <a:solidFill>
                  <a:srgbClr val="4A4A45"/>
                </a:solidFill>
                <a:latin typeface="Lato" pitchFamily="34" charset="0"/>
                <a:ea typeface="Lato" pitchFamily="34" charset="-122"/>
                <a:cs typeface="Lato" pitchFamily="34" charset="-120"/>
              </a:rPr>
              <a:t>"EfficientNet: Rethinking Model Scaling for Convolutional Neural Networks,"</a:t>
            </a:r>
            <a:r>
              <a:rPr lang="en-US" sz="1450" dirty="0">
                <a:solidFill>
                  <a:srgbClr val="4A4A45"/>
                </a:solidFill>
                <a:latin typeface="Lato" pitchFamily="34" charset="0"/>
                <a:ea typeface="Lato" pitchFamily="34" charset="-122"/>
                <a:cs typeface="Lato" pitchFamily="34" charset="-120"/>
              </a:rPr>
              <a:t> Proceedings of the 36th International Conference on Machine Learning (ICML), 2019.</a:t>
            </a:r>
            <a:endParaRPr lang="en-US" sz="1450" dirty="0"/>
          </a:p>
          <a:p>
            <a:pPr marL="0" indent="0" algn="l">
              <a:lnSpc>
                <a:spcPct val="133000"/>
              </a:lnSpc>
              <a:buNone/>
            </a:pPr>
            <a:r>
              <a:rPr lang="en-US" sz="1450" b="1" dirty="0">
                <a:solidFill>
                  <a:srgbClr val="4A4A45"/>
                </a:solidFill>
                <a:latin typeface="Lato Bold" pitchFamily="34" charset="0"/>
                <a:ea typeface="Lato Bold" pitchFamily="34" charset="-122"/>
                <a:cs typeface="Lato Bold" pitchFamily="34" charset="-120"/>
              </a:rPr>
              <a:t>[3]</a:t>
            </a:r>
            <a:r>
              <a:rPr lang="en-US" sz="1450" dirty="0">
                <a:solidFill>
                  <a:srgbClr val="4A4A45"/>
                </a:solidFill>
                <a:latin typeface="Lato" pitchFamily="34" charset="0"/>
                <a:ea typeface="Lato" pitchFamily="34" charset="-122"/>
                <a:cs typeface="Lato" pitchFamily="34" charset="-120"/>
              </a:rPr>
              <a:t> PyTorch and TorchVision Documentation, PyTorch Foundation.</a:t>
            </a:r>
            <a:endParaRPr lang="en-US" sz="1450" dirty="0"/>
          </a:p>
        </p:txBody>
      </p:sp>
      <p:sp>
        <p:nvSpPr>
          <p:cNvPr id="4" name="TextBox 3"/>
          <p:cNvSpPr txBox="1"/>
          <p:nvPr/>
        </p:nvSpPr>
        <p:spPr>
          <a:xfrm>
            <a:off x="182880" y="6446520"/>
            <a:ext cx="635000" cy="254000"/>
          </a:xfrm>
          <a:prstGeom prst="rect">
            <a:avLst/>
          </a:prstGeom>
          <a:noFill/>
        </p:spPr>
        <p:txBody>
          <a:bodyPr wrap="none">
            <a:spAutoFit/>
          </a:bodyPr>
          <a:lstStyle/>
          <a:p>
            <a:pPr algn="r"/>
            <a:r>
              <a:rPr sz="1000"/>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895</Words>
  <Application>Microsoft Office PowerPoint</Application>
  <PresentationFormat>Custom</PresentationFormat>
  <Paragraphs>117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Lato Bold</vt:lpstr>
      <vt:lpstr>Lato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Nafis Iqbal</dc:creator>
  <cp:lastModifiedBy>Neloy</cp:lastModifiedBy>
  <cp:revision>2</cp:revision>
  <dcterms:created xsi:type="dcterms:W3CDTF">2026-09-14T19:54:17Z</dcterms:created>
  <dcterms:modified xsi:type="dcterms:W3CDTF">2026-09-14T19:58:50Z</dcterms:modified>
</cp:coreProperties>
</file>