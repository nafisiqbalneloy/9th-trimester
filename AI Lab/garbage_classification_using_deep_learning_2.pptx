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embeddedFontLst>
    <p:embeddedFont>
      <p:font typeface="Outfit Medium" panose="020B0604020202020204" charset="0"/>
      <p:regular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IBM Plex Sans" panose="020B0604020202020204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-296" y="22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91B320-99B1-4542-B5E4-A1C754606F1A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05355F-1039-4A04-8D3A-323FA7DE39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737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-8-6.sv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12" Type="http://schemas.openxmlformats.org/officeDocument/2006/relationships/image" Target="../media/image-8-1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8-4.svg"/><Relationship Id="rId11" Type="http://schemas.openxmlformats.org/officeDocument/2006/relationships/image" Target="../media/image19.png"/><Relationship Id="rId5" Type="http://schemas.openxmlformats.org/officeDocument/2006/relationships/image" Target="../media/image16.png"/><Relationship Id="rId10" Type="http://schemas.openxmlformats.org/officeDocument/2006/relationships/image" Target="../media/image-8-8.svg"/><Relationship Id="rId4" Type="http://schemas.openxmlformats.org/officeDocument/2006/relationships/image" Target="../media/image-8-2.sv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7" Type="http://schemas.openxmlformats.org/officeDocument/2006/relationships/image" Target="../media/image-12-3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12-3.svg"/><Relationship Id="rId5" Type="http://schemas.openxmlformats.org/officeDocument/2006/relationships/image" Target="../media/image-12-3.sv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63676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Garbage Classification Using </a:t>
            </a:r>
            <a:r>
              <a:rPr lang="en-US" sz="2750" dirty="0" smtClean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Images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735336"/>
            <a:ext cx="4722763" cy="2771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endParaRPr lang="en-US" sz="1200" dirty="0"/>
          </a:p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20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Hasibur Rahman </a:t>
            </a:r>
            <a:r>
              <a:rPr lang="en-US" sz="1200" b="1" dirty="0" smtClean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Sun</a:t>
            </a:r>
            <a:r>
              <a:rPr lang="en-US" sz="1200" dirty="0" smtClean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-0112330199</a:t>
            </a:r>
            <a:endParaRPr lang="en-US" sz="1200" dirty="0"/>
          </a:p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20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Nafis Iqbal Neloy</a:t>
            </a:r>
            <a:r>
              <a:rPr lang="en-US" sz="1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-0112330617</a:t>
            </a:r>
            <a:endParaRPr lang="en-US" sz="1200" dirty="0"/>
          </a:p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20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Md. Mishkatul Bary</a:t>
            </a:r>
            <a:r>
              <a:rPr lang="en-US" sz="1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-0112330669</a:t>
            </a:r>
            <a:endParaRPr lang="en-US" sz="1200" dirty="0"/>
          </a:p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20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Abdullah Al Muhaimin</a:t>
            </a:r>
            <a:r>
              <a:rPr lang="en-US" sz="1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-0112330641</a:t>
            </a:r>
            <a:endParaRPr lang="en-US" sz="1200" dirty="0"/>
          </a:p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200" b="1" dirty="0" err="1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Farjana</a:t>
            </a:r>
            <a:r>
              <a:rPr lang="en-US" sz="120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200" b="1" dirty="0" smtClean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Akter</a:t>
            </a:r>
            <a:r>
              <a:rPr lang="en-US" sz="1200" dirty="0" smtClean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-0112330657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Jannatul Ferdaous</a:t>
            </a:r>
            <a:r>
              <a:rPr lang="en-US" sz="1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-0112330670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71638"/>
            <a:ext cx="4722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96119" y="2238598"/>
            <a:ext cx="4722763" cy="1233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Global waste generation is rising — improper segregation leads to pollution.</a:t>
            </a:r>
            <a:endParaRPr lang="en-US" sz="12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Poor sorting reduces recycling rates and increases landfill burden.</a:t>
            </a:r>
            <a:endParaRPr lang="en-US" sz="12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Intelligent waste management can improve resource recovery and public health.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60265"/>
            <a:ext cx="4722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96119" y="2327225"/>
            <a:ext cx="472276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Manual garbage sorting is slow and labor-intensive.</a:t>
            </a:r>
            <a:endParaRPr lang="en-US" sz="12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Human errors lower recycling efficiency and contaminate streams.</a:t>
            </a:r>
            <a:endParaRPr lang="en-US" sz="12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Waste volume is increasing; current systems struggle to scale.</a:t>
            </a:r>
            <a:endParaRPr lang="en-US" sz="12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 need automated, reliable classification to boost recycling rates.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60265"/>
            <a:ext cx="4722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Motivation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925119" y="2327225"/>
            <a:ext cx="472276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Environmental sustainability: reduce landfill and pollution.</a:t>
            </a:r>
            <a:endParaRPr lang="en-US" sz="12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Enable smart recycling systems across cities and facilities.</a:t>
            </a:r>
            <a:endParaRPr lang="en-US" sz="12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Reduce manual effort and exposure to hazardous waste.</a:t>
            </a:r>
            <a:endParaRPr lang="en-US" sz="12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Demonstrate applied AI solving a tangible societal problem.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006897"/>
            <a:ext cx="4722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Project Objectives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496119" y="1573857"/>
            <a:ext cx="2290465" cy="2562746"/>
          </a:xfrm>
          <a:prstGeom prst="roundRect">
            <a:avLst>
              <a:gd name="adj" fmla="val 5571"/>
            </a:avLst>
          </a:prstGeom>
          <a:solidFill>
            <a:srgbClr val="CFDBFC"/>
          </a:solidFill>
          <a:ln w="4763">
            <a:solidFill>
              <a:srgbClr val="B5C1E2"/>
            </a:solidFill>
            <a:prstDash val="solid"/>
          </a:ln>
          <a:effectLst>
            <a:outerShdw blurRad="127" dist="1778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42640" y="1720379"/>
            <a:ext cx="1997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Main Objective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42640" y="2026890"/>
            <a:ext cx="19974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Develop an AI-powered system that classifies garbage using deep learning.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928342" y="1573857"/>
            <a:ext cx="2290539" cy="2562746"/>
          </a:xfrm>
          <a:prstGeom prst="roundRect">
            <a:avLst>
              <a:gd name="adj" fmla="val 5570"/>
            </a:avLst>
          </a:prstGeom>
          <a:solidFill>
            <a:srgbClr val="CFDBFC"/>
          </a:solidFill>
          <a:ln w="4763">
            <a:solidFill>
              <a:srgbClr val="B5C1E2"/>
            </a:solidFill>
            <a:prstDash val="solid"/>
          </a:ln>
          <a:effectLst>
            <a:outerShdw blurRad="127" dist="1778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074863" y="1720379"/>
            <a:ext cx="19974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Specific Goals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74863" y="2026890"/>
            <a:ext cx="1997497" cy="196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Automatic waste classification (multi-class).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Improve recycling accuracy and throughput.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Reduce manual sorting effort and contamination.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Showcase computer vision techniques for coursework.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6286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595661"/>
            <a:ext cx="815176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Proposed Solution: Workflow</a:t>
            </a:r>
            <a:endParaRPr lang="en-US" sz="1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1919734"/>
            <a:ext cx="465162" cy="5581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22300" y="2012752"/>
            <a:ext cx="7625581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Garbage Image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1022300" y="2194694"/>
            <a:ext cx="7625581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High-resolution image capture of waste items</a:t>
            </a:r>
            <a:r>
              <a:rPr lang="en-US" sz="7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2477914"/>
            <a:ext cx="465162" cy="5581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22300" y="2570931"/>
            <a:ext cx="7625581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Image Preprocessing</a:t>
            </a:r>
            <a:endParaRPr lang="en-US" sz="1050" dirty="0"/>
          </a:p>
        </p:txBody>
      </p:sp>
      <p:sp>
        <p:nvSpPr>
          <p:cNvPr id="9" name="Text 4"/>
          <p:cNvSpPr/>
          <p:nvPr/>
        </p:nvSpPr>
        <p:spPr>
          <a:xfrm>
            <a:off x="1022300" y="2752874"/>
            <a:ext cx="7625581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Resize, normalize, and augment images for model compatibility</a:t>
            </a:r>
            <a:r>
              <a:rPr lang="en-US" sz="7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7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19" y="3036094"/>
            <a:ext cx="465162" cy="5581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22300" y="3129111"/>
            <a:ext cx="7625581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CNN Model</a:t>
            </a:r>
            <a:endParaRPr lang="en-US" sz="1050" dirty="0"/>
          </a:p>
        </p:txBody>
      </p:sp>
      <p:sp>
        <p:nvSpPr>
          <p:cNvPr id="12" name="Text 6"/>
          <p:cNvSpPr/>
          <p:nvPr/>
        </p:nvSpPr>
        <p:spPr>
          <a:xfrm>
            <a:off x="1022300" y="3311054"/>
            <a:ext cx="7625581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Convolutional Neural Network infers waste category</a:t>
            </a:r>
            <a:r>
              <a:rPr lang="en-US" sz="7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7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119" y="3594274"/>
            <a:ext cx="465162" cy="55818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22300" y="3687291"/>
            <a:ext cx="7625581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Prediction</a:t>
            </a:r>
            <a:endParaRPr lang="en-US" sz="1050" dirty="0"/>
          </a:p>
        </p:txBody>
      </p:sp>
      <p:sp>
        <p:nvSpPr>
          <p:cNvPr id="15" name="Text 8"/>
          <p:cNvSpPr/>
          <p:nvPr/>
        </p:nvSpPr>
        <p:spPr>
          <a:xfrm>
            <a:off x="1022300" y="3869234"/>
            <a:ext cx="7625581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 outputs the most probable garbage type</a:t>
            </a:r>
            <a:r>
              <a:rPr lang="en-US" sz="7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7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6119" y="4152454"/>
            <a:ext cx="465162" cy="55818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022300" y="4245471"/>
            <a:ext cx="7625581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Garbage Category</a:t>
            </a:r>
            <a:endParaRPr lang="en-US" sz="1050" dirty="0"/>
          </a:p>
        </p:txBody>
      </p:sp>
      <p:sp>
        <p:nvSpPr>
          <p:cNvPr id="18" name="Text 10"/>
          <p:cNvSpPr/>
          <p:nvPr/>
        </p:nvSpPr>
        <p:spPr>
          <a:xfrm>
            <a:off x="1022300" y="4427413"/>
            <a:ext cx="7625581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Identified category guides automated sorting action.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41" y="784696"/>
            <a:ext cx="7890644" cy="296093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02209" y="3026837"/>
            <a:ext cx="119014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Deploy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502299" y="3026837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Validate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010540" y="3026837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Train CNN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518781" y="3026837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Preprocess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94415" y="3026837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Collect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6119" y="3905101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step builds on the previous: collect labeled images → clean &amp; augment → train CNN (transfer learning) → validate with metrics → deploy for real-time prediction.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02556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440433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Our project follows a structured methodology to ensure robust model development and evaluation: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1826716"/>
            <a:ext cx="318939" cy="318939"/>
          </a:xfrm>
          <a:prstGeom prst="roundRect">
            <a:avLst>
              <a:gd name="adj" fmla="val 40005"/>
            </a:avLst>
          </a:prstGeom>
          <a:solidFill>
            <a:srgbClr val="CFDBFC"/>
          </a:solidFill>
          <a:ln w="4763">
            <a:solidFill>
              <a:srgbClr val="B5C1E2"/>
            </a:solidFill>
            <a:prstDash val="solid"/>
          </a:ln>
          <a:effectLst>
            <a:outerShdw blurRad="127" dist="17780" dir="2700000" algn="bl" rotWithShape="0">
              <a:srgbClr val="B5C1E2">
                <a:alpha val="10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549287" y="1879848"/>
            <a:ext cx="212601" cy="2126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6816" y="1875383"/>
            <a:ext cx="213843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Dataset Collection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956816" y="2181895"/>
            <a:ext cx="213843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Gathering a diverse and representative image dataset of various waste categories.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72433" y="1826716"/>
            <a:ext cx="318939" cy="318939"/>
          </a:xfrm>
          <a:prstGeom prst="roundRect">
            <a:avLst>
              <a:gd name="adj" fmla="val 40005"/>
            </a:avLst>
          </a:prstGeom>
          <a:solidFill>
            <a:srgbClr val="CFDBFC"/>
          </a:solidFill>
          <a:ln w="4763">
            <a:solidFill>
              <a:srgbClr val="B5C1E2"/>
            </a:solidFill>
            <a:prstDash val="solid"/>
          </a:ln>
          <a:effectLst>
            <a:outerShdw blurRad="127" dist="17780" dir="2700000" algn="bl" rotWithShape="0">
              <a:srgbClr val="B5C1E2">
                <a:alpha val="10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3325602" y="1879848"/>
            <a:ext cx="212601" cy="21260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33130" y="1875383"/>
            <a:ext cx="213843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Image Preprocessing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3733130" y="2181895"/>
            <a:ext cx="213843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Resizing, normalizing, and augmenting images to optimize for CNN training.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048747" y="1826716"/>
            <a:ext cx="318939" cy="318939"/>
          </a:xfrm>
          <a:prstGeom prst="roundRect">
            <a:avLst>
              <a:gd name="adj" fmla="val 40005"/>
            </a:avLst>
          </a:prstGeom>
          <a:solidFill>
            <a:srgbClr val="CFDBFC"/>
          </a:solidFill>
          <a:ln w="4763">
            <a:solidFill>
              <a:srgbClr val="B5C1E2"/>
            </a:solidFill>
            <a:prstDash val="solid"/>
          </a:ln>
          <a:effectLst>
            <a:outerShdw blurRad="127" dist="17780" dir="2700000" algn="bl" rotWithShape="0">
              <a:srgbClr val="B5C1E2">
                <a:alpha val="100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101916" y="1879848"/>
            <a:ext cx="212601" cy="21260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09445" y="1875383"/>
            <a:ext cx="213843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Train CNN Model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509445" y="2181895"/>
            <a:ext cx="213843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Developing and training a Convolutional Neural Network for accurate classification.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96119" y="3145854"/>
            <a:ext cx="318939" cy="318939"/>
          </a:xfrm>
          <a:prstGeom prst="roundRect">
            <a:avLst>
              <a:gd name="adj" fmla="val 40005"/>
            </a:avLst>
          </a:prstGeom>
          <a:solidFill>
            <a:srgbClr val="CFDBFC"/>
          </a:solidFill>
          <a:ln w="4763">
            <a:solidFill>
              <a:srgbClr val="B5C1E2"/>
            </a:solidFill>
            <a:prstDash val="solid"/>
          </a:ln>
          <a:effectLst>
            <a:outerShdw blurRad="127" dist="17780" dir="2700000" algn="bl" rotWithShape="0">
              <a:srgbClr val="B5C1E2">
                <a:alpha val="100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549287" y="3198986"/>
            <a:ext cx="212601" cy="21260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56816" y="3194521"/>
            <a:ext cx="35265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Model Testing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956816" y="3501033"/>
            <a:ext cx="352655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Rigorously evaluating model performance using unseen data and key metrics.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660553" y="3145854"/>
            <a:ext cx="318939" cy="318939"/>
          </a:xfrm>
          <a:prstGeom prst="roundRect">
            <a:avLst>
              <a:gd name="adj" fmla="val 40005"/>
            </a:avLst>
          </a:prstGeom>
          <a:solidFill>
            <a:srgbClr val="CFDBFC"/>
          </a:solidFill>
          <a:ln w="4763">
            <a:solidFill>
              <a:srgbClr val="B5C1E2"/>
            </a:solidFill>
            <a:prstDash val="solid"/>
          </a:ln>
          <a:effectLst>
            <a:outerShdw blurRad="127" dist="17780" dir="2700000" algn="bl" rotWithShape="0">
              <a:srgbClr val="B5C1E2">
                <a:alpha val="100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4713722" y="3198986"/>
            <a:ext cx="212601" cy="21260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121250" y="3194521"/>
            <a:ext cx="35266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Prediction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5121250" y="3501033"/>
            <a:ext cx="352663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Applying the trained model to predict waste categories for sorting.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496119" y="4114130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This systematic approach ensures each stage is thoroughly developed and validated, building a reliable classification system.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045146"/>
            <a:ext cx="3053135" cy="30531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99892" y="1703561"/>
            <a:ext cx="4752677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Technologies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899892" y="2199680"/>
            <a:ext cx="4752677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— primary implementation language</a:t>
            </a:r>
            <a:endParaRPr lang="en-US" sz="12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TensorFlow &amp; Keras — model building and training</a:t>
            </a:r>
            <a:endParaRPr lang="en-US" sz="12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Convolutional Neural Networks (CNNs) — core architecture</a:t>
            </a:r>
            <a:endParaRPr lang="en-US" sz="12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NumPy &amp; Matplotlib — data handling and visualization</a:t>
            </a:r>
            <a:endParaRPr lang="en-US" sz="12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Jupyter Notebook / Google Colab — experimentation and prototyping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46858"/>
            <a:ext cx="4722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Expected Outcomes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96119" y="2213818"/>
            <a:ext cx="4722763" cy="128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High-accuracy garbage classification (objective: measurable improvement over manual sorting).</a:t>
            </a:r>
            <a:endParaRPr lang="en-US" sz="12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Faster sorting throughput and reduced contamination.</a:t>
            </a:r>
            <a:endParaRPr lang="en-US" sz="12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Lower human labor and exposure to hazardous items.</a:t>
            </a:r>
            <a:endParaRPr lang="en-US" sz="12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Clear pathway from prototype to deployment in sorting lines or bins.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620241"/>
            <a:ext cx="3902943" cy="390294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49701" y="602531"/>
            <a:ext cx="390294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Applications &amp; Future Scope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749701" y="1098649"/>
            <a:ext cx="3902943" cy="128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Smart dustbins and curbside sorting</a:t>
            </a:r>
            <a:endParaRPr lang="en-US" sz="12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Automation in recycling plants and smart cities</a:t>
            </a:r>
            <a:endParaRPr lang="en-US" sz="12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Educational tools demonstrating AI for sustainability</a:t>
            </a:r>
            <a:endParaRPr lang="en-US" sz="12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Future: mobile apps, IoT cameras, real-time detection, robotic sorting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394171"/>
            <a:ext cx="4722763" cy="293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3925119" y="726430"/>
            <a:ext cx="4722763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Our Proposal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925119" y="1092324"/>
            <a:ext cx="5179963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Our project delivers a comprehensive solution to enhance waste management</a:t>
            </a: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</a:t>
            </a:r>
            <a:endParaRPr lang="en-US" sz="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3925119" y="1373312"/>
            <a:ext cx="4722763" cy="6766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13907" y="1504950"/>
            <a:ext cx="4402336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AI-Based Garbage Classification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4113907" y="1746647"/>
            <a:ext cx="4402336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Leveraging deep learning for accurate waste identification.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3925119" y="2147143"/>
            <a:ext cx="4722763" cy="6766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113907" y="2278782"/>
            <a:ext cx="4402336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Automatic Waste Segregation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4113907" y="2520479"/>
            <a:ext cx="4402336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Enabling automated sorting to minimize human intervention</a:t>
            </a:r>
            <a:r>
              <a:rPr lang="en-US" sz="9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9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3925119" y="2920975"/>
            <a:ext cx="4722763" cy="67664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113907" y="3052614"/>
            <a:ext cx="4402336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Improved Recycling Efficiency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4113907" y="3294311"/>
            <a:ext cx="4402336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Boosting rates and purity of recycled materials.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3925119" y="3736256"/>
            <a:ext cx="4722763" cy="14288"/>
          </a:xfrm>
          <a:prstGeom prst="roundRect">
            <a:avLst>
              <a:gd name="adj" fmla="val 49998"/>
            </a:avLst>
          </a:prstGeom>
          <a:solidFill>
            <a:srgbClr val="666666">
              <a:alpha val="50000"/>
            </a:srgbClr>
          </a:solidFill>
          <a:ln/>
        </p:spPr>
      </p:sp>
      <p:sp>
        <p:nvSpPr>
          <p:cNvPr id="16" name="Text 10"/>
          <p:cNvSpPr/>
          <p:nvPr/>
        </p:nvSpPr>
        <p:spPr>
          <a:xfrm>
            <a:off x="3925118" y="3925639"/>
            <a:ext cx="4722763" cy="506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1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Thank You!</a:t>
            </a:r>
            <a:endParaRPr lang="en-US" sz="3150" dirty="0"/>
          </a:p>
        </p:txBody>
      </p:sp>
      <p:sp>
        <p:nvSpPr>
          <p:cNvPr id="17" name="Text 11"/>
          <p:cNvSpPr/>
          <p:nvPr/>
        </p:nvSpPr>
        <p:spPr>
          <a:xfrm>
            <a:off x="3696519" y="4577655"/>
            <a:ext cx="5179963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Questions?</a:t>
            </a:r>
            <a:endParaRPr lang="en-US" sz="105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547</Words>
  <Application>Microsoft Office PowerPoint</Application>
  <PresentationFormat>On-screen Show (16:9)</PresentationFormat>
  <Paragraphs>99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Outfit Medium</vt:lpstr>
      <vt:lpstr>Calibri</vt:lpstr>
      <vt:lpstr>IBM Plex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Nafis Iqbal</dc:creator>
  <cp:lastModifiedBy>Neloy</cp:lastModifiedBy>
  <cp:revision>6</cp:revision>
  <dcterms:created xsi:type="dcterms:W3CDTF">2026-08-03T16:37:31Z</dcterms:created>
  <dcterms:modified xsi:type="dcterms:W3CDTF">2026-08-04T06:27:06Z</dcterms:modified>
</cp:coreProperties>
</file>