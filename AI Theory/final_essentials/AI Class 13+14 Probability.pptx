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Y7ec1+AZm3F3/4p6d/hEVSMS9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A7BF8C-0431-4659-953F-DEF52727E35D}">
  <a:tblStyle styleId="{25A7BF8C-0431-4659-953F-DEF52727E35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5.png"/><Relationship Id="rId3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AI winter --- logic (exceptions, etc.  +  so much knowledge --- can learn)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Diagnosis: temperature, blood pressure, types of pain 🡪 disease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Speech: temporal signal of pressure variation 🡪 words and sentences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Tracking objects: e.g. helicopter you saw in last lecture, combines gps data with accelerometers, gyros and magnetic compass to infer its position and orientation using probabilistic reasoning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Robot mapping: turns out if you put a camera on the helicopter, it would not only be able to fly upside down, but also build a map of the environment!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Genetics: discovery of gene interactions from gene expression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Error correcting codes: which we use on pretty much all our digital communication lines.  They ensure that even in the presence of noise (which is everywhere) we can communicate reliably.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OK: how do we collect all that knowledge in general?  --- Part III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Good news: We are going to learn about the tools that got us out of AI winter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other news: It’s going to get very mathematical!  Total shift in gears compared to what we have looked at before.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yet other news: Time for a fresh start --- which might help if you fell behind in the past weeks.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Like “sort this list”  or “add these two numbers”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4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2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2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2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3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3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3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3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7" name="Google Shape;37;p40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8" name="Google Shape;38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41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5" name="Google Shape;45;p41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41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7" name="Google Shape;47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4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4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4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5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 txBox="1"/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" type="body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6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image" Target="../media/image8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8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35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Relationship Id="rId7" Type="http://schemas.openxmlformats.org/officeDocument/2006/relationships/image" Target="../media/image5.png"/><Relationship Id="rId8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52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20.png"/><Relationship Id="rId9" Type="http://schemas.openxmlformats.org/officeDocument/2006/relationships/image" Target="../media/image42.png"/><Relationship Id="rId5" Type="http://schemas.openxmlformats.org/officeDocument/2006/relationships/image" Target="../media/image36.png"/><Relationship Id="rId6" Type="http://schemas.openxmlformats.org/officeDocument/2006/relationships/image" Target="../media/image47.png"/><Relationship Id="rId7" Type="http://schemas.openxmlformats.org/officeDocument/2006/relationships/image" Target="../media/image45.png"/><Relationship Id="rId8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Relationship Id="rId5" Type="http://schemas.openxmlformats.org/officeDocument/2006/relationships/image" Target="../media/image20.png"/><Relationship Id="rId6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72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64.png"/><Relationship Id="rId5" Type="http://schemas.openxmlformats.org/officeDocument/2006/relationships/image" Target="../media/image59.png"/><Relationship Id="rId6" Type="http://schemas.openxmlformats.org/officeDocument/2006/relationships/image" Target="../media/image62.png"/><Relationship Id="rId7" Type="http://schemas.openxmlformats.org/officeDocument/2006/relationships/image" Target="../media/image20.png"/><Relationship Id="rId8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3.png"/><Relationship Id="rId13" Type="http://schemas.openxmlformats.org/officeDocument/2006/relationships/image" Target="../media/image99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Relationship Id="rId4" Type="http://schemas.openxmlformats.org/officeDocument/2006/relationships/image" Target="../media/image61.png"/><Relationship Id="rId9" Type="http://schemas.openxmlformats.org/officeDocument/2006/relationships/image" Target="../media/image58.png"/><Relationship Id="rId5" Type="http://schemas.openxmlformats.org/officeDocument/2006/relationships/image" Target="../media/image67.png"/><Relationship Id="rId6" Type="http://schemas.openxmlformats.org/officeDocument/2006/relationships/image" Target="../media/image78.png"/><Relationship Id="rId7" Type="http://schemas.openxmlformats.org/officeDocument/2006/relationships/image" Target="../media/image20.png"/><Relationship Id="rId8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68.png"/><Relationship Id="rId5" Type="http://schemas.openxmlformats.org/officeDocument/2006/relationships/image" Target="../media/image99.png"/><Relationship Id="rId6" Type="http://schemas.openxmlformats.org/officeDocument/2006/relationships/image" Target="../media/image9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90.png"/><Relationship Id="rId6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3.png"/><Relationship Id="rId10" Type="http://schemas.openxmlformats.org/officeDocument/2006/relationships/image" Target="../media/image88.png"/><Relationship Id="rId13" Type="http://schemas.openxmlformats.org/officeDocument/2006/relationships/image" Target="../media/image94.png"/><Relationship Id="rId1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5.png"/><Relationship Id="rId4" Type="http://schemas.openxmlformats.org/officeDocument/2006/relationships/image" Target="../media/image69.png"/><Relationship Id="rId9" Type="http://schemas.openxmlformats.org/officeDocument/2006/relationships/image" Target="../media/image82.png"/><Relationship Id="rId14" Type="http://schemas.openxmlformats.org/officeDocument/2006/relationships/image" Target="../media/image76.png"/><Relationship Id="rId5" Type="http://schemas.openxmlformats.org/officeDocument/2006/relationships/image" Target="../media/image74.png"/><Relationship Id="rId6" Type="http://schemas.openxmlformats.org/officeDocument/2006/relationships/image" Target="../media/image70.png"/><Relationship Id="rId7" Type="http://schemas.openxmlformats.org/officeDocument/2006/relationships/image" Target="../media/image81.png"/><Relationship Id="rId8" Type="http://schemas.openxmlformats.org/officeDocument/2006/relationships/image" Target="../media/image8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2.png"/><Relationship Id="rId4" Type="http://schemas.openxmlformats.org/officeDocument/2006/relationships/image" Target="../media/image109.png"/><Relationship Id="rId5" Type="http://schemas.openxmlformats.org/officeDocument/2006/relationships/image" Target="../media/image9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3.png"/><Relationship Id="rId4" Type="http://schemas.openxmlformats.org/officeDocument/2006/relationships/image" Target="../media/image100.png"/><Relationship Id="rId5" Type="http://schemas.openxmlformats.org/officeDocument/2006/relationships/image" Target="../media/image5.png"/><Relationship Id="rId6" Type="http://schemas.openxmlformats.org/officeDocument/2006/relationships/image" Target="../media/image10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Relationship Id="rId4" Type="http://schemas.openxmlformats.org/officeDocument/2006/relationships/image" Target="../media/image1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5.png"/><Relationship Id="rId4" Type="http://schemas.openxmlformats.org/officeDocument/2006/relationships/image" Target="../media/image112.png"/><Relationship Id="rId5" Type="http://schemas.openxmlformats.org/officeDocument/2006/relationships/image" Target="../media/image106.png"/><Relationship Id="rId6" Type="http://schemas.openxmlformats.org/officeDocument/2006/relationships/hyperlink" Target="http://en.wikipedia.org/wiki/Image:Thomasbayes.jpg" TargetMode="External"/><Relationship Id="rId7" Type="http://schemas.openxmlformats.org/officeDocument/2006/relationships/image" Target="../media/image10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8.png"/><Relationship Id="rId4" Type="http://schemas.openxmlformats.org/officeDocument/2006/relationships/image" Target="../media/image113.png"/><Relationship Id="rId5" Type="http://schemas.openxmlformats.org/officeDocument/2006/relationships/image" Target="../media/image103.png"/><Relationship Id="rId6" Type="http://schemas.openxmlformats.org/officeDocument/2006/relationships/image" Target="../media/image101.png"/><Relationship Id="rId7" Type="http://schemas.openxmlformats.org/officeDocument/2006/relationships/image" Target="../media/image1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3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Our Status in CS188</a:t>
            </a:r>
            <a:endParaRPr/>
          </a:p>
        </p:txBody>
      </p:sp>
      <p:sp>
        <p:nvSpPr>
          <p:cNvPr id="91" name="Google Shape;91;p1"/>
          <p:cNvSpPr txBox="1"/>
          <p:nvPr>
            <p:ph idx="1" type="body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We’re done with Part I Search and Planning!</a:t>
            </a:r>
            <a:endParaRPr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Part II: Probabilistic Reasoning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Diagnosis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Speech recognition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Tracking objects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Robot mapping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Genetics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Error correcting codes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… lots more!</a:t>
            </a:r>
            <a:endParaRPr/>
          </a:p>
          <a:p>
            <a:pPr indent="-1333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Part III: Machine Learning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1662" y="2269319"/>
            <a:ext cx="5381661" cy="3791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99" name="Google Shape;99;p2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Probability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082" y="1900985"/>
            <a:ext cx="5592576" cy="3728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0" y="6003922"/>
            <a:ext cx="12192000" cy="761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 --- University of California,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668988" y="1397000"/>
            <a:ext cx="6502411" cy="50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Probability</a:t>
            </a:r>
            <a:endParaRPr/>
          </a:p>
          <a:p>
            <a:pPr indent="-209537" lvl="8" marL="3886005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300"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Random Variables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Joint and Marginal Distributions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Conditional Distribution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Product Rule, Chain Rule, Bayes’ Rule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Inference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Independence</a:t>
            </a:r>
            <a:endParaRPr/>
          </a:p>
          <a:p>
            <a:pPr indent="-101587" lvl="2" marL="114294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You’ll need all this stuff A LOT for the next few weeks, so make sure you go over it now!</a:t>
            </a:r>
            <a:endParaRPr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329" y="1301896"/>
            <a:ext cx="4704859" cy="4742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Uncertainty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967676" y="1500583"/>
            <a:ext cx="668928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General situation:</a:t>
            </a:r>
            <a:endParaRPr/>
          </a:p>
          <a:p>
            <a:pPr indent="-1269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Observed variables (evidence)</a:t>
            </a:r>
            <a:r>
              <a:rPr lang="en-US" sz="2000"/>
              <a:t>: Agent knows certain things about the state of the world (e.g., sensor readings or symptoms)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Unobserved variables</a:t>
            </a:r>
            <a:r>
              <a:rPr lang="en-US" sz="2000"/>
              <a:t>: Agent needs to reason about other aspects (e.g. where an object is or what disease is present)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Model</a:t>
            </a:r>
            <a:r>
              <a:rPr lang="en-US" sz="2000"/>
              <a:t>: Agent knows something about how the known variables relate to the unknown variables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Probabilistic reasoning gives us a framework for managing our beliefs and knowledge</a:t>
            </a:r>
            <a:endParaRPr/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8542273" y="1526975"/>
          <a:ext cx="1387475" cy="1387475"/>
        </p:xfrm>
        <a:graphic>
          <a:graphicData uri="http://schemas.openxmlformats.org/presentationml/2006/ole">
            <mc:AlternateContent>
              <mc:Choice Requires="v">
                <p:oleObj r:id="rId4" imgH="1387475" imgW="1387475" progId="MSPhotoEd.3" spid="_x0000_s1">
                  <p:embed/>
                </p:oleObj>
              </mc:Choice>
              <mc:Fallback>
                <p:oleObj r:id="rId5" imgH="1387475" imgW="1387475" progId="MSPhotoEd.3">
                  <p:embed/>
                  <p:pic>
                    <p:nvPicPr>
                      <p:cNvPr id="117" name="Google Shape;117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542273" y="1526975"/>
                        <a:ext cx="138747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Google Shape;118;p4"/>
          <p:cNvGraphicFramePr/>
          <p:nvPr/>
        </p:nvGraphicFramePr>
        <p:xfrm>
          <a:off x="8542273" y="3127175"/>
          <a:ext cx="1425575" cy="1425575"/>
        </p:xfrm>
        <a:graphic>
          <a:graphicData uri="http://schemas.openxmlformats.org/presentationml/2006/ole">
            <mc:AlternateContent>
              <mc:Choice Requires="v">
                <p:oleObj r:id="rId7" imgH="1425575" imgW="1425575" progId="MSPhotoEd.3" spid="_x0000_s2">
                  <p:embed/>
                </p:oleObj>
              </mc:Choice>
              <mc:Fallback>
                <p:oleObj r:id="rId8" imgH="1425575" imgW="1425575" progId="MSPhotoEd.3">
                  <p:embed/>
                  <p:pic>
                    <p:nvPicPr>
                      <p:cNvPr id="118" name="Google Shape;118;p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542273" y="3127175"/>
                        <a:ext cx="1425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9" name="Google Shape;119;p4"/>
          <p:cNvGrpSpPr/>
          <p:nvPr/>
        </p:nvGrpSpPr>
        <p:grpSpPr>
          <a:xfrm>
            <a:off x="8534336" y="4727375"/>
            <a:ext cx="1414462" cy="1439863"/>
            <a:chOff x="4027" y="3072"/>
            <a:chExt cx="891" cy="907"/>
          </a:xfrm>
        </p:grpSpPr>
        <p:graphicFrame>
          <p:nvGraphicFramePr>
            <p:cNvPr id="120" name="Google Shape;120;p4"/>
            <p:cNvGraphicFramePr/>
            <p:nvPr/>
          </p:nvGraphicFramePr>
          <p:xfrm>
            <a:off x="4032" y="3072"/>
            <a:ext cx="886" cy="880"/>
          </p:xfrm>
          <a:graphic>
            <a:graphicData uri="http://schemas.openxmlformats.org/presentationml/2006/ole">
              <mc:AlternateContent>
                <mc:Choice Requires="v">
                  <p:oleObj r:id="rId10" imgH="880" imgW="886" progId="MSPhotoEd.3" spid="_x0000_s3">
                    <p:embed/>
                  </p:oleObj>
                </mc:Choice>
                <mc:Fallback>
                  <p:oleObj r:id="rId11" imgH="880" imgW="886" progId="MSPhotoEd.3">
                    <p:embed/>
                    <p:pic>
                      <p:nvPicPr>
                        <p:cNvPr id="120" name="Google Shape;120;p4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032" y="3072"/>
                          <a:ext cx="886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21" name="Google Shape;121;p4"/>
            <p:cNvPicPr preferRelativeResize="0"/>
            <p:nvPr/>
          </p:nvPicPr>
          <p:blipFill rotWithShape="1">
            <a:blip r:embed="rId13">
              <a:alphaModFix/>
            </a:blip>
            <a:srcRect b="-1558" l="0" r="62584" t="64142"/>
            <a:stretch/>
          </p:blipFill>
          <p:spPr>
            <a:xfrm>
              <a:off x="4027" y="3643"/>
              <a:ext cx="336" cy="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" name="Google Shape;12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Random Variables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498013" y="1421905"/>
            <a:ext cx="7669413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random variable is some aspect of the world about which we (may) have uncertainty</a:t>
            </a:r>
            <a:endParaRPr/>
          </a:p>
          <a:p>
            <a:pPr indent="-152387" lvl="8" marL="3886005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 = Is it raining?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 = Is it hot or cold?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D = How long will it take to drive to work?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= Where is the ghost?</a:t>
            </a:r>
            <a:endParaRPr/>
          </a:p>
          <a:p>
            <a:pPr indent="-126987" lvl="2" marL="1142942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denote random variables with capital letters</a:t>
            </a:r>
            <a:endParaRPr/>
          </a:p>
          <a:p>
            <a:pPr indent="-126987" lvl="2" marL="1142942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Like variables in a CSP, random variables have domains</a:t>
            </a:r>
            <a:endParaRPr/>
          </a:p>
          <a:p>
            <a:pPr indent="-152387" lvl="8" marL="3886005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 in {true, false}   (often write as {+r, -r})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 in {hot, cold}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D in [0, ∞)</a:t>
            </a:r>
            <a:endParaRPr sz="2000"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in possible locations, maybe {(0,0), (0,1), …}</a:t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9820" y="1332374"/>
            <a:ext cx="4094076" cy="4127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Distributions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204098" y="1304126"/>
            <a:ext cx="6882626" cy="4706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Associate a probability with each value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Temperature:</a:t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387" lvl="3" marL="160012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graphicFrame>
        <p:nvGraphicFramePr>
          <p:cNvPr id="136" name="Google Shape;136;p6"/>
          <p:cNvGraphicFramePr/>
          <p:nvPr/>
        </p:nvGraphicFramePr>
        <p:xfrm>
          <a:off x="3527323" y="3884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498" y="3506898"/>
            <a:ext cx="731837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6"/>
          <p:cNvGraphicFramePr/>
          <p:nvPr/>
        </p:nvGraphicFramePr>
        <p:xfrm>
          <a:off x="9748222" y="3636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6709" y="3189898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000" y="2937924"/>
            <a:ext cx="2862450" cy="26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5094" y="3352677"/>
            <a:ext cx="3211282" cy="214085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6399477" y="1244840"/>
            <a:ext cx="4709342" cy="156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4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387" lvl="3" marL="160012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Distributions</a:t>
            </a:r>
            <a:endParaRPr/>
          </a:p>
        </p:txBody>
      </p:sp>
      <p:sp>
        <p:nvSpPr>
          <p:cNvPr id="148" name="Google Shape;148;p48"/>
          <p:cNvSpPr txBox="1"/>
          <p:nvPr>
            <p:ph idx="1" type="body"/>
          </p:nvPr>
        </p:nvSpPr>
        <p:spPr>
          <a:xfrm>
            <a:off x="204097" y="1304126"/>
            <a:ext cx="11711237" cy="4706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 </a:t>
            </a:r>
            <a:r>
              <a:rPr b="1" lang="en-US"/>
              <a:t>statistical function</a:t>
            </a:r>
            <a:r>
              <a:rPr lang="en-US"/>
              <a:t> that describes possible values and likelihoods that a random variable can take within a given range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The </a:t>
            </a:r>
            <a:r>
              <a:rPr b="1" lang="en-US"/>
              <a:t>mathematical function</a:t>
            </a:r>
            <a:r>
              <a:rPr lang="en-US"/>
              <a:t> that gives the probabilities of occurrence of different possible outcomes for an experiment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 TABLE of probabilities of values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48"/>
          <p:cNvGraphicFramePr/>
          <p:nvPr/>
        </p:nvGraphicFramePr>
        <p:xfrm>
          <a:off x="9939554" y="4700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50" name="Google Shape;15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8042" y="4328785"/>
            <a:ext cx="850900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48"/>
          <p:cNvGraphicFramePr/>
          <p:nvPr/>
        </p:nvGraphicFramePr>
        <p:xfrm>
          <a:off x="7241258" y="4706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52" name="Google Shape;15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5433" y="4328785"/>
            <a:ext cx="731837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7517598" y="1500630"/>
            <a:ext cx="4535502" cy="3137521"/>
          </a:xfrm>
          <a:prstGeom prst="rect">
            <a:avLst/>
          </a:prstGeom>
          <a:noFill/>
          <a:ln cap="flat" cmpd="sng" w="349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	Shorthand notation: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Distributions</a:t>
            </a:r>
            <a:endParaRPr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204098" y="1304126"/>
            <a:ext cx="6882626" cy="4706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Unobserved random variables have distributions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387" lvl="3" marL="160012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distribution is a TABLE of probabilities of values</a:t>
            </a:r>
            <a:endParaRPr/>
          </a:p>
          <a:p>
            <a:pPr indent="-152387" lvl="8" marL="3886005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probability is a single number</a:t>
            </a:r>
            <a:endParaRPr/>
          </a:p>
          <a:p>
            <a:pPr indent="-126987" lvl="2" marL="1142942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Must have:                                                 and</a:t>
            </a:r>
            <a:endParaRPr/>
          </a:p>
        </p:txBody>
      </p:sp>
      <p:graphicFrame>
        <p:nvGraphicFramePr>
          <p:cNvPr id="160" name="Google Shape;160;p7"/>
          <p:cNvGraphicFramePr/>
          <p:nvPr/>
        </p:nvGraphicFramePr>
        <p:xfrm>
          <a:off x="1360963" y="2216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5138" y="1838315"/>
            <a:ext cx="731837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7"/>
          <p:cNvGraphicFramePr/>
          <p:nvPr/>
        </p:nvGraphicFramePr>
        <p:xfrm>
          <a:off x="3410425" y="2216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913" y="1844665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4" name="Google Shape;1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9033" y="5504778"/>
            <a:ext cx="285115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8064" y="6118003"/>
            <a:ext cx="2583980" cy="29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66" name="Google Shape;1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4588" y="6045653"/>
            <a:ext cx="2492511" cy="567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67" name="Google Shape;16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63848" y="3327456"/>
            <a:ext cx="3627379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68" name="Google Shape;16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13387" y="2289137"/>
            <a:ext cx="3179555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69" name="Google Shape;16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10015" y="2815765"/>
            <a:ext cx="3373612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0" name="Google Shape;17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66830" y="3922124"/>
            <a:ext cx="328405" cy="5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Joint Distributions</a:t>
            </a:r>
            <a:endParaRPr/>
          </a:p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341314" y="1339380"/>
            <a:ext cx="7924642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</a:t>
            </a:r>
            <a:r>
              <a:rPr i="1" lang="en-US" sz="2400"/>
              <a:t>joint distribution</a:t>
            </a:r>
            <a:r>
              <a:rPr lang="en-US" sz="2400"/>
              <a:t> over a set of random variables:</a:t>
            </a:r>
            <a:endParaRPr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	specifies a real number for each assignment (or </a:t>
            </a:r>
            <a:r>
              <a:rPr i="1" lang="en-US" sz="2400"/>
              <a:t>outcome</a:t>
            </a:r>
            <a:r>
              <a:rPr lang="en-US" sz="2400"/>
              <a:t>): </a:t>
            </a:r>
            <a:endParaRPr/>
          </a:p>
          <a:p>
            <a:pPr indent="-114287" lvl="2" marL="1142942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1714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Must obey</a:t>
            </a:r>
            <a:r>
              <a:rPr lang="en-US" sz="2000"/>
              <a:t>: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Size of distribution if n variables with domain size d?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For all but the smallest distributions, impractical to write out!</a:t>
            </a:r>
            <a:endParaRPr/>
          </a:p>
        </p:txBody>
      </p:sp>
      <p:pic>
        <p:nvPicPr>
          <p:cNvPr descr="txp_fig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4961" y="1416259"/>
            <a:ext cx="180340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8" name="Google Shape;1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6710" y="2388049"/>
            <a:ext cx="4867275" cy="298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79" name="Google Shape;1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2422" y="2937118"/>
            <a:ext cx="2445348" cy="32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80" name="Google Shape;18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3822" y="3760065"/>
            <a:ext cx="2836863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81" name="Google Shape;18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8005" y="4366718"/>
            <a:ext cx="4359275" cy="671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8"/>
          <p:cNvGraphicFramePr/>
          <p:nvPr/>
        </p:nvGraphicFramePr>
        <p:xfrm>
          <a:off x="8747249" y="3210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776675"/>
                <a:gridCol w="720550"/>
                <a:gridCol w="857750"/>
              </a:tblGrid>
              <a:tr h="288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83" name="Google Shape;18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182" y="274294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Probabilistic Models</a:t>
            </a:r>
            <a:endParaRPr/>
          </a:p>
        </p:txBody>
      </p:sp>
      <p:sp>
        <p:nvSpPr>
          <p:cNvPr id="189" name="Google Shape;189;p9"/>
          <p:cNvSpPr txBox="1"/>
          <p:nvPr>
            <p:ph idx="1" type="body"/>
          </p:nvPr>
        </p:nvSpPr>
        <p:spPr>
          <a:xfrm>
            <a:off x="433388" y="1568450"/>
            <a:ext cx="52784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 probabilistic model is a joint distribution over a set of random variables</a:t>
            </a:r>
            <a:endParaRPr/>
          </a:p>
          <a:p>
            <a:pPr indent="-1714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Probabilistic models: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(Random) variables with domains 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Assignments are called </a:t>
            </a:r>
            <a:r>
              <a:rPr i="1" lang="en-US" sz="1800"/>
              <a:t>outcomes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Joint distributions: say whether assignments (outcomes) are likely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i="1" lang="en-US" sz="1800"/>
              <a:t>Normalized:</a:t>
            </a:r>
            <a:r>
              <a:rPr lang="en-US" sz="1800"/>
              <a:t> sum to 1.0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Ideally: only certain variables directly interact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Constraint satisfaction problems: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Variables with domains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Constraints: state whether assignments are possible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Ideally: only certain variables directly interact</a:t>
            </a:r>
            <a:endParaRPr/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graphicFrame>
        <p:nvGraphicFramePr>
          <p:cNvPr id="190" name="Google Shape;190;p9"/>
          <p:cNvGraphicFramePr/>
          <p:nvPr/>
        </p:nvGraphicFramePr>
        <p:xfrm>
          <a:off x="5773738" y="190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1" name="Google Shape;191;p9"/>
          <p:cNvGraphicFramePr/>
          <p:nvPr/>
        </p:nvGraphicFramePr>
        <p:xfrm>
          <a:off x="5765800" y="45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9"/>
          <p:cNvSpPr txBox="1"/>
          <p:nvPr/>
        </p:nvSpPr>
        <p:spPr>
          <a:xfrm>
            <a:off x="5989638" y="1425575"/>
            <a:ext cx="24034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over T,W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010275" y="4089400"/>
            <a:ext cx="238918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 over T,W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4837" y="4420499"/>
            <a:ext cx="2621134" cy="203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2247" y="1807215"/>
            <a:ext cx="2962741" cy="208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Events</a:t>
            </a: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457200" y="1428868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An </a:t>
            </a:r>
            <a:r>
              <a:rPr i="1" lang="en-US" sz="2800"/>
              <a:t>event</a:t>
            </a:r>
            <a:r>
              <a:rPr lang="en-US" sz="2800"/>
              <a:t> is a set E of outcomes</a:t>
            </a:r>
            <a:endParaRPr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8" marL="3657417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8" marL="3657417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From a joint distribution, we can calculate the probability of any event</a:t>
            </a:r>
            <a:endParaRPr/>
          </a:p>
          <a:p>
            <a:pPr indent="-126987" lvl="3" marL="160012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 AND sunny?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 OR sunny?</a:t>
            </a:r>
            <a:endParaRPr/>
          </a:p>
          <a:p>
            <a:pPr indent="0" lvl="1" marL="45717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Typically, the events we care about are </a:t>
            </a:r>
            <a:r>
              <a:rPr i="1" lang="en-US" sz="2800"/>
              <a:t>partial assignments</a:t>
            </a:r>
            <a:r>
              <a:rPr lang="en-US" sz="2800"/>
              <a:t>, like P(T=hot)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  <p:graphicFrame>
        <p:nvGraphicFramePr>
          <p:cNvPr id="202" name="Google Shape;202;p10"/>
          <p:cNvGraphicFramePr/>
          <p:nvPr/>
        </p:nvGraphicFramePr>
        <p:xfrm>
          <a:off x="8226236" y="345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487" y="2131330"/>
            <a:ext cx="4049019" cy="625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04" name="Google Shape;2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7477" y="295618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Events</a:t>
            </a:r>
            <a:endParaRPr/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457200" y="1428868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P(+x, +y) 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P(+x) 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P(-y OR +x) ?</a:t>
            </a:r>
            <a:endParaRPr/>
          </a:p>
          <a:p>
            <a:pPr indent="0" lvl="1" marL="45717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  <p:graphicFrame>
        <p:nvGraphicFramePr>
          <p:cNvPr id="211" name="Google Shape;211;p11"/>
          <p:cNvGraphicFramePr/>
          <p:nvPr/>
        </p:nvGraphicFramePr>
        <p:xfrm>
          <a:off x="8364122" y="2116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212" name="Google Shape;2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0293" y="1620874"/>
            <a:ext cx="1149651" cy="29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Marginal Distributions</a:t>
            </a:r>
            <a:endParaRPr/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861746" y="1452563"/>
            <a:ext cx="7825053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Marginal distributions are sub-tables which eliminate variables 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Marginalization (summing out): Combine collapsed rows by adding</a:t>
            </a:r>
            <a:endParaRPr/>
          </a:p>
        </p:txBody>
      </p:sp>
      <p:graphicFrame>
        <p:nvGraphicFramePr>
          <p:cNvPr id="219" name="Google Shape;219;p12"/>
          <p:cNvGraphicFramePr/>
          <p:nvPr/>
        </p:nvGraphicFramePr>
        <p:xfrm>
          <a:off x="343549" y="3300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12"/>
          <p:cNvGraphicFramePr/>
          <p:nvPr/>
        </p:nvGraphicFramePr>
        <p:xfrm>
          <a:off x="7148913" y="27197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12"/>
          <p:cNvGraphicFramePr/>
          <p:nvPr/>
        </p:nvGraphicFramePr>
        <p:xfrm>
          <a:off x="7148913" y="4548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2" name="Google Shape;222;p12"/>
          <p:cNvCxnSpPr/>
          <p:nvPr/>
        </p:nvCxnSpPr>
        <p:spPr>
          <a:xfrm>
            <a:off x="3700875" y="3422589"/>
            <a:ext cx="2743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12"/>
          <p:cNvCxnSpPr/>
          <p:nvPr/>
        </p:nvCxnSpPr>
        <p:spPr>
          <a:xfrm>
            <a:off x="3700875" y="4993329"/>
            <a:ext cx="2743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xp_fi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587" y="2842024"/>
            <a:ext cx="11779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25" name="Google Shape;2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213" y="3671826"/>
            <a:ext cx="2433637" cy="566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26" name="Google Shape;22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6763" y="2314974"/>
            <a:ext cx="731838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27" name="Google Shape;22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26275" y="5223516"/>
            <a:ext cx="2462213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28" name="Google Shape;22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5163" y="4143774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29" name="Google Shape;22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737" y="6110686"/>
            <a:ext cx="5716588" cy="61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7642" y="1144880"/>
            <a:ext cx="2954357" cy="19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Marginal Distributions</a:t>
            </a:r>
            <a:endParaRPr/>
          </a:p>
        </p:txBody>
      </p:sp>
      <p:graphicFrame>
        <p:nvGraphicFramePr>
          <p:cNvPr id="236" name="Google Shape;236;p13"/>
          <p:cNvGraphicFramePr/>
          <p:nvPr/>
        </p:nvGraphicFramePr>
        <p:xfrm>
          <a:off x="314520" y="2495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7" name="Google Shape;237;p13"/>
          <p:cNvGraphicFramePr/>
          <p:nvPr/>
        </p:nvGraphicFramePr>
        <p:xfrm>
          <a:off x="7119884" y="1914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" name="Google Shape;238;p13"/>
          <p:cNvGraphicFramePr/>
          <p:nvPr/>
        </p:nvGraphicFramePr>
        <p:xfrm>
          <a:off x="7119884" y="3743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9" name="Google Shape;239;p13"/>
          <p:cNvCxnSpPr/>
          <p:nvPr/>
        </p:nvCxnSpPr>
        <p:spPr>
          <a:xfrm>
            <a:off x="3671846" y="2617049"/>
            <a:ext cx="2743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13"/>
          <p:cNvCxnSpPr/>
          <p:nvPr/>
        </p:nvCxnSpPr>
        <p:spPr>
          <a:xfrm>
            <a:off x="3671846" y="4187789"/>
            <a:ext cx="2743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xp_fig.png"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468" y="2036484"/>
            <a:ext cx="1148104" cy="298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42" name="Google Shape;2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0532" y="2866286"/>
            <a:ext cx="2582940" cy="612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43" name="Google Shape;24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863" y="1509434"/>
            <a:ext cx="791580" cy="298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44" name="Google Shape;24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2479" y="4417976"/>
            <a:ext cx="2551748" cy="56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45" name="Google Shape;24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0918" y="3338234"/>
            <a:ext cx="761332" cy="29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7642" y="1144880"/>
            <a:ext cx="2954357" cy="19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Conditional Probabilities</a:t>
            </a:r>
            <a:endParaRPr/>
          </a:p>
        </p:txBody>
      </p:sp>
      <p:sp>
        <p:nvSpPr>
          <p:cNvPr id="252" name="Google Shape;252;p14"/>
          <p:cNvSpPr txBox="1"/>
          <p:nvPr>
            <p:ph idx="1" type="body"/>
          </p:nvPr>
        </p:nvSpPr>
        <p:spPr>
          <a:xfrm>
            <a:off x="317500" y="1292786"/>
            <a:ext cx="8562975" cy="46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simple relation between joint and conditional probabilities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accent2"/>
                </a:solidFill>
              </a:rPr>
              <a:t>In fact, this is taken as the </a:t>
            </a:r>
            <a:r>
              <a:rPr i="1" lang="en-US" sz="2000">
                <a:solidFill>
                  <a:schemeClr val="accent2"/>
                </a:solidFill>
              </a:rPr>
              <a:t>definition</a:t>
            </a:r>
            <a:r>
              <a:rPr lang="en-US" sz="2000">
                <a:solidFill>
                  <a:schemeClr val="accent2"/>
                </a:solidFill>
              </a:rPr>
              <a:t> of a conditional probability</a:t>
            </a:r>
            <a:endParaRPr/>
          </a:p>
        </p:txBody>
      </p:sp>
      <p:pic>
        <p:nvPicPr>
          <p:cNvPr descr="txp_fig"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63" y="2740025"/>
            <a:ext cx="2373312" cy="7318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14"/>
          <p:cNvGraphicFramePr/>
          <p:nvPr/>
        </p:nvGraphicFramePr>
        <p:xfrm>
          <a:off x="762000" y="457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5" name="Google Shape;255;p14"/>
          <p:cNvGrpSpPr/>
          <p:nvPr/>
        </p:nvGrpSpPr>
        <p:grpSpPr>
          <a:xfrm>
            <a:off x="6021149" y="2655489"/>
            <a:ext cx="2197100" cy="1272154"/>
            <a:chOff x="5105400" y="2512724"/>
            <a:chExt cx="2895600" cy="1676400"/>
          </a:xfrm>
        </p:grpSpPr>
        <p:sp>
          <p:nvSpPr>
            <p:cNvPr id="256" name="Google Shape;256;p14"/>
            <p:cNvSpPr/>
            <p:nvPr/>
          </p:nvSpPr>
          <p:spPr>
            <a:xfrm>
              <a:off x="5105400" y="2512724"/>
              <a:ext cx="1828800" cy="1676400"/>
            </a:xfrm>
            <a:prstGeom prst="ellipse">
              <a:avLst/>
            </a:prstGeom>
            <a:solidFill>
              <a:srgbClr val="3333FF">
                <a:alpha val="49411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6172200" y="2512724"/>
              <a:ext cx="1828800" cy="1676400"/>
            </a:xfrm>
            <a:prstGeom prst="ellipse">
              <a:avLst/>
            </a:prstGeom>
            <a:solidFill>
              <a:srgbClr val="FF3300">
                <a:alpha val="49411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xp_fig" id="258" name="Google Shape;2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0038" y="4191000"/>
            <a:ext cx="1179512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59" name="Google Shape;25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8332" y="4885634"/>
            <a:ext cx="3269608" cy="31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/>
          <p:nvPr/>
        </p:nvSpPr>
        <p:spPr>
          <a:xfrm>
            <a:off x="5487969" y="2256706"/>
            <a:ext cx="3174853" cy="2154643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7302170" y="3957739"/>
            <a:ext cx="6661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FF9786"/>
                </a:solidFill>
                <a:latin typeface="Calibri"/>
                <a:ea typeface="Calibri"/>
                <a:cs typeface="Calibri"/>
                <a:sym typeface="Calibri"/>
              </a:rPr>
              <a:t>P(b)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6286678" y="3951376"/>
            <a:ext cx="6661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6767902" y="2289341"/>
            <a:ext cx="8620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E57071"/>
                </a:solidFill>
                <a:latin typeface="Calibri"/>
                <a:ea typeface="Calibri"/>
                <a:cs typeface="Calibri"/>
                <a:sym typeface="Calibri"/>
              </a:rPr>
              <a:t>P(a,b)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264" name="Google Shape;2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4883" y="4686487"/>
            <a:ext cx="2836647" cy="731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65" name="Google Shape;26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3115" y="4702804"/>
            <a:ext cx="836064" cy="656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66" name="Google Shape;26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25435" y="4923246"/>
            <a:ext cx="821135" cy="223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67" name="Google Shape;26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07662" y="5802804"/>
            <a:ext cx="5643434" cy="298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68" name="Google Shape;26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87759" y="6306751"/>
            <a:ext cx="1701988" cy="253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69" name="Google Shape;26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26023" y="6311728"/>
            <a:ext cx="806205" cy="22394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4"/>
          <p:cNvSpPr/>
          <p:nvPr/>
        </p:nvSpPr>
        <p:spPr>
          <a:xfrm>
            <a:off x="4784956" y="5704129"/>
            <a:ext cx="6020880" cy="997942"/>
          </a:xfrm>
          <a:prstGeom prst="wedgeRectCallout">
            <a:avLst>
              <a:gd fmla="val -1035" name="adj1"/>
              <a:gd fmla="val -81872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Conditional Probabilities</a:t>
            </a:r>
            <a:endParaRPr/>
          </a:p>
        </p:txBody>
      </p:sp>
      <p:graphicFrame>
        <p:nvGraphicFramePr>
          <p:cNvPr id="276" name="Google Shape;276;p15"/>
          <p:cNvGraphicFramePr/>
          <p:nvPr/>
        </p:nvGraphicFramePr>
        <p:xfrm>
          <a:off x="314520" y="2495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277" name="Google Shape;2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468" y="2036484"/>
            <a:ext cx="1148104" cy="2982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4209143" y="1341782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 | +y) 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P(-x | +y) ?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P(-y | +x) ?</a:t>
            </a:r>
            <a:endParaRPr/>
          </a:p>
          <a:p>
            <a:pPr indent="0" lvl="1" marL="45717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Conditional Distributions</a:t>
            </a:r>
            <a:endParaRPr/>
          </a:p>
        </p:txBody>
      </p:sp>
      <p:sp>
        <p:nvSpPr>
          <p:cNvPr id="284" name="Google Shape;284;p16"/>
          <p:cNvSpPr txBox="1"/>
          <p:nvPr>
            <p:ph idx="1" type="body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chemeClr val="dk1"/>
                </a:solidFill>
              </a:rPr>
              <a:t>Conditional distributions are probability distributions over some variables given fixed values of others</a:t>
            </a:r>
            <a:endParaRPr/>
          </a:p>
        </p:txBody>
      </p:sp>
      <p:pic>
        <p:nvPicPr>
          <p:cNvPr descr="txp_fig" id="285" name="Google Shape;2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3213" y="2943225"/>
            <a:ext cx="2071687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" name="Google Shape;286;p16"/>
          <p:cNvGraphicFramePr/>
          <p:nvPr/>
        </p:nvGraphicFramePr>
        <p:xfrm>
          <a:off x="8479064" y="35587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7" name="Google Shape;287;p16"/>
          <p:cNvGraphicFramePr/>
          <p:nvPr/>
        </p:nvGraphicFramePr>
        <p:xfrm>
          <a:off x="1708150" y="338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288" name="Google Shape;2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525" y="4800600"/>
            <a:ext cx="2162175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9" name="Google Shape;289;p16"/>
          <p:cNvGraphicFramePr/>
          <p:nvPr/>
        </p:nvGraphicFramePr>
        <p:xfrm>
          <a:off x="1712913" y="524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290" name="Google Shape;2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2489" y="3134859"/>
            <a:ext cx="1179513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 txBox="1"/>
          <p:nvPr/>
        </p:nvSpPr>
        <p:spPr>
          <a:xfrm>
            <a:off x="1309688" y="2386013"/>
            <a:ext cx="2743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Conditional Distributions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8890227" y="2507796"/>
            <a:ext cx="25876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Joint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139825" y="2921000"/>
            <a:ext cx="207963" cy="3517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294" name="Google Shape;29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3" y="4097338"/>
            <a:ext cx="312737" cy="114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300" name="Google Shape;300;p17"/>
          <p:cNvGraphicFramePr/>
          <p:nvPr/>
        </p:nvGraphicFramePr>
        <p:xfrm>
          <a:off x="303920" y="31021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01" name="Google Shape;3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9729" y="4777781"/>
            <a:ext cx="1909108" cy="21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2" name="Google Shape;3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693" y="5202189"/>
            <a:ext cx="3963475" cy="517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3" name="Google Shape;3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1641" y="4628880"/>
            <a:ext cx="1960986" cy="517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4" name="Google Shape;30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1787" y="5820987"/>
            <a:ext cx="1846854" cy="48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05" name="Google Shape;30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78" y="2617154"/>
            <a:ext cx="1267467" cy="320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6" name="Google Shape;30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4886" y="1985833"/>
            <a:ext cx="1954844" cy="223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7" name="Google Shape;30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14815" y="2414780"/>
            <a:ext cx="4058427" cy="520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8" name="Google Shape;30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84" y="1831680"/>
            <a:ext cx="2018590" cy="520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9" name="Google Shape;30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01982" y="2968286"/>
            <a:ext cx="1891099" cy="4887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17"/>
          <p:cNvGraphicFramePr/>
          <p:nvPr/>
        </p:nvGraphicFramePr>
        <p:xfrm>
          <a:off x="10246121" y="3659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11" name="Google Shape;31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0677" y="319800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17"/>
          <p:cNvCxnSpPr/>
          <p:nvPr/>
        </p:nvCxnSpPr>
        <p:spPr>
          <a:xfrm>
            <a:off x="3791013" y="3971222"/>
            <a:ext cx="5772525" cy="317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/>
        </p:nvSpPr>
        <p:spPr>
          <a:xfrm>
            <a:off x="3273100" y="2771322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319" name="Google Shape;319;p18"/>
          <p:cNvGraphicFramePr/>
          <p:nvPr/>
        </p:nvGraphicFramePr>
        <p:xfrm>
          <a:off x="303920" y="3300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0" name="Google Shape;320;p18"/>
          <p:cNvGrpSpPr/>
          <p:nvPr/>
        </p:nvGrpSpPr>
        <p:grpSpPr>
          <a:xfrm>
            <a:off x="4685939" y="5619332"/>
            <a:ext cx="3357110" cy="990267"/>
            <a:chOff x="3830658" y="4628880"/>
            <a:chExt cx="5101206" cy="1477080"/>
          </a:xfrm>
        </p:grpSpPr>
        <p:pic>
          <p:nvPicPr>
            <p:cNvPr descr="txp_fig.png" id="321" name="Google Shape;32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30658" y="4759927"/>
              <a:ext cx="2046540" cy="195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22" name="Google Shape;32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78325" y="5133446"/>
              <a:ext cx="3553539" cy="455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23" name="Google Shape;32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81865" y="4628880"/>
              <a:ext cx="1758164" cy="455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24" name="Google Shape;32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55099" y="5678047"/>
              <a:ext cx="1655837" cy="4279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txp_fig" id="325" name="Google Shape;32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78" y="2815874"/>
            <a:ext cx="1267467" cy="32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18"/>
          <p:cNvGrpSpPr/>
          <p:nvPr/>
        </p:nvGrpSpPr>
        <p:grpSpPr>
          <a:xfrm>
            <a:off x="4636141" y="1261440"/>
            <a:ext cx="3605608" cy="1008935"/>
            <a:chOff x="3711749" y="2025130"/>
            <a:chExt cx="5117028" cy="1431867"/>
          </a:xfrm>
        </p:grpSpPr>
        <p:pic>
          <p:nvPicPr>
            <p:cNvPr descr="txp_fig.png" id="327" name="Google Shape;327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11749" y="2160935"/>
              <a:ext cx="1722173" cy="196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28" name="Google Shape;328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53396" y="2538828"/>
              <a:ext cx="3575381" cy="458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29" name="Google Shape;329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70372" y="2025130"/>
              <a:ext cx="1778331" cy="458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.png" id="330" name="Google Shape;330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42091" y="3026454"/>
              <a:ext cx="1666015" cy="430543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31" name="Google Shape;331;p18"/>
          <p:cNvGraphicFramePr/>
          <p:nvPr/>
        </p:nvGraphicFramePr>
        <p:xfrm>
          <a:off x="10246121" y="37290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32" name="Google Shape;33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0677" y="326712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18"/>
          <p:cNvCxnSpPr/>
          <p:nvPr/>
        </p:nvCxnSpPr>
        <p:spPr>
          <a:xfrm flipH="1" rot="10800000">
            <a:off x="3871858" y="4216320"/>
            <a:ext cx="1026540" cy="54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34" name="Google Shape;334;p18"/>
          <p:cNvGraphicFramePr/>
          <p:nvPr/>
        </p:nvGraphicFramePr>
        <p:xfrm>
          <a:off x="5308484" y="3784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630200"/>
                <a:gridCol w="733900"/>
                <a:gridCol w="558400"/>
              </a:tblGrid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5" name="Google Shape;335;p18"/>
          <p:cNvCxnSpPr/>
          <p:nvPr/>
        </p:nvCxnSpPr>
        <p:spPr>
          <a:xfrm>
            <a:off x="7747742" y="4172690"/>
            <a:ext cx="1167859" cy="907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xp_fig.png" id="336" name="Google Shape;336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42475" y="3378055"/>
            <a:ext cx="1119543" cy="29854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8"/>
          <p:cNvSpPr txBox="1"/>
          <p:nvPr/>
        </p:nvSpPr>
        <p:spPr>
          <a:xfrm>
            <a:off x="6764454" y="2820042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343" name="Google Shape;343;p19"/>
          <p:cNvGraphicFramePr/>
          <p:nvPr/>
        </p:nvGraphicFramePr>
        <p:xfrm>
          <a:off x="303920" y="2557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344" name="Google Shape;3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778" y="2072834"/>
            <a:ext cx="1267467" cy="320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5" name="Google Shape;345;p19"/>
          <p:cNvGraphicFramePr/>
          <p:nvPr/>
        </p:nvGraphicFramePr>
        <p:xfrm>
          <a:off x="10246121" y="2986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46" name="Google Shape;3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0677" y="252408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19"/>
          <p:cNvCxnSpPr/>
          <p:nvPr/>
        </p:nvCxnSpPr>
        <p:spPr>
          <a:xfrm flipH="1" rot="10800000">
            <a:off x="3871858" y="3473280"/>
            <a:ext cx="1026540" cy="54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48" name="Google Shape;348;p19"/>
          <p:cNvGraphicFramePr/>
          <p:nvPr/>
        </p:nvGraphicFramePr>
        <p:xfrm>
          <a:off x="5308484" y="3041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630200"/>
                <a:gridCol w="733900"/>
                <a:gridCol w="558400"/>
              </a:tblGrid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9" name="Google Shape;349;p19"/>
          <p:cNvCxnSpPr/>
          <p:nvPr/>
        </p:nvCxnSpPr>
        <p:spPr>
          <a:xfrm>
            <a:off x="7747742" y="3429650"/>
            <a:ext cx="1167859" cy="907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19"/>
          <p:cNvSpPr txBox="1"/>
          <p:nvPr/>
        </p:nvSpPr>
        <p:spPr>
          <a:xfrm>
            <a:off x="3273100" y="2028282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351" name="Google Shape;3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2475" y="2635015"/>
            <a:ext cx="1119543" cy="29854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9"/>
          <p:cNvSpPr txBox="1"/>
          <p:nvPr/>
        </p:nvSpPr>
        <p:spPr>
          <a:xfrm>
            <a:off x="6764454" y="2077002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/>
          <p:nvPr>
            <p:ph idx="1" type="body"/>
          </p:nvPr>
        </p:nvSpPr>
        <p:spPr>
          <a:xfrm>
            <a:off x="396725" y="4987081"/>
            <a:ext cx="9607409" cy="58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does this work? Sum of selection is </a:t>
            </a:r>
            <a:r>
              <a:rPr b="1" lang="en-US" sz="2400"/>
              <a:t>P(evidence)</a:t>
            </a:r>
            <a:r>
              <a:rPr lang="en-US" sz="2400"/>
              <a:t>!  (P(T=c), here)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 </a:t>
            </a:r>
            <a:endParaRPr/>
          </a:p>
        </p:txBody>
      </p:sp>
      <p:pic>
        <p:nvPicPr>
          <p:cNvPr descr="txp_fig" id="354" name="Google Shape;3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7752" y="5674300"/>
            <a:ext cx="5584825" cy="79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Normalization Trick</a:t>
            </a:r>
            <a:endParaRPr/>
          </a:p>
        </p:txBody>
      </p:sp>
      <p:graphicFrame>
        <p:nvGraphicFramePr>
          <p:cNvPr id="360" name="Google Shape;360;p20"/>
          <p:cNvGraphicFramePr/>
          <p:nvPr/>
        </p:nvGraphicFramePr>
        <p:xfrm>
          <a:off x="303920" y="297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61" name="Google Shape;3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822" y="2486483"/>
            <a:ext cx="1235379" cy="320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20"/>
          <p:cNvCxnSpPr/>
          <p:nvPr/>
        </p:nvCxnSpPr>
        <p:spPr>
          <a:xfrm flipH="1" rot="10800000">
            <a:off x="3871858" y="3886929"/>
            <a:ext cx="1026540" cy="54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" name="Google Shape;363;p20"/>
          <p:cNvCxnSpPr/>
          <p:nvPr/>
        </p:nvCxnSpPr>
        <p:spPr>
          <a:xfrm>
            <a:off x="8038022" y="3843299"/>
            <a:ext cx="1167859" cy="907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20"/>
          <p:cNvSpPr txBox="1"/>
          <p:nvPr/>
        </p:nvSpPr>
        <p:spPr>
          <a:xfrm>
            <a:off x="3273100" y="2441931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6989421" y="2490651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P(X | Y=-y) 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 txBox="1"/>
          <p:nvPr>
            <p:ph idx="1" type="body"/>
          </p:nvPr>
        </p:nvSpPr>
        <p:spPr>
          <a:xfrm>
            <a:off x="491720" y="1360415"/>
            <a:ext cx="8470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(Dictionary) To bring or restore to a normal condition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Procedure: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Step 1: Compute Z = sum over all entries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Step 2: Divide every entry by Z</a:t>
            </a:r>
            <a:endParaRPr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 1</a:t>
            </a:r>
            <a:endParaRPr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72" name="Google Shape;372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 Normalize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6505277" y="2324160"/>
            <a:ext cx="3343352" cy="362880"/>
          </a:xfrm>
          <a:prstGeom prst="wedgeRectCallout">
            <a:avLst>
              <a:gd fmla="val -43217" name="adj1"/>
              <a:gd fmla="val -164407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entries sum to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5338993" y="1442880"/>
            <a:ext cx="2220261" cy="40608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5" name="Google Shape;375;p21"/>
          <p:cNvGraphicFramePr/>
          <p:nvPr/>
        </p:nvGraphicFramePr>
        <p:xfrm>
          <a:off x="578911" y="4852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6" name="Google Shape;376;p21"/>
          <p:cNvCxnSpPr/>
          <p:nvPr/>
        </p:nvCxnSpPr>
        <p:spPr>
          <a:xfrm>
            <a:off x="2417387" y="5468690"/>
            <a:ext cx="1167859" cy="907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7" name="Google Shape;377;p21"/>
          <p:cNvSpPr txBox="1"/>
          <p:nvPr/>
        </p:nvSpPr>
        <p:spPr>
          <a:xfrm>
            <a:off x="2142511" y="5650560"/>
            <a:ext cx="1330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8" name="Google Shape;378;p21"/>
          <p:cNvGraphicFramePr/>
          <p:nvPr/>
        </p:nvGraphicFramePr>
        <p:xfrm>
          <a:off x="3729096" y="48750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9" name="Google Shape;379;p21"/>
          <p:cNvSpPr txBox="1"/>
          <p:nvPr/>
        </p:nvSpPr>
        <p:spPr>
          <a:xfrm>
            <a:off x="5862165" y="4286255"/>
            <a:ext cx="5195946" cy="1398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36" lvl="1" marL="74291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21"/>
          <p:cNvGraphicFramePr/>
          <p:nvPr/>
        </p:nvGraphicFramePr>
        <p:xfrm>
          <a:off x="6031680" y="479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756850"/>
                <a:gridCol w="756850"/>
                <a:gridCol w="7568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21"/>
          <p:cNvSpPr txBox="1"/>
          <p:nvPr/>
        </p:nvSpPr>
        <p:spPr>
          <a:xfrm>
            <a:off x="2372663" y="4913040"/>
            <a:ext cx="1223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21"/>
          <p:cNvCxnSpPr/>
          <p:nvPr/>
        </p:nvCxnSpPr>
        <p:spPr>
          <a:xfrm>
            <a:off x="8608552" y="5629730"/>
            <a:ext cx="1167859" cy="907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3" name="Google Shape;383;p21"/>
          <p:cNvSpPr txBox="1"/>
          <p:nvPr/>
        </p:nvSpPr>
        <p:spPr>
          <a:xfrm>
            <a:off x="8558293" y="5785680"/>
            <a:ext cx="845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537911" y="5143200"/>
            <a:ext cx="1223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5" name="Google Shape;385;p21"/>
          <p:cNvGraphicFramePr/>
          <p:nvPr/>
        </p:nvGraphicFramePr>
        <p:xfrm>
          <a:off x="9803883" y="479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756850"/>
                <a:gridCol w="756850"/>
                <a:gridCol w="7568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sp>
        <p:nvSpPr>
          <p:cNvPr id="391" name="Google Shape;391;p22"/>
          <p:cNvSpPr txBox="1"/>
          <p:nvPr>
            <p:ph idx="1" type="body"/>
          </p:nvPr>
        </p:nvSpPr>
        <p:spPr>
          <a:xfrm>
            <a:off x="457200" y="1600200"/>
            <a:ext cx="837723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trick to get a whole conditional distribution at once: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Select the joint probabilities matching the evidence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Normalize the selection (make it sum to one)</a:t>
            </a:r>
            <a:endParaRPr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Why does this work? Sum of selection is P(evidence)!  (P(r), here)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 </a:t>
            </a:r>
            <a:endParaRPr/>
          </a:p>
        </p:txBody>
      </p:sp>
      <p:graphicFrame>
        <p:nvGraphicFramePr>
          <p:cNvPr id="392" name="Google Shape;392;p22"/>
          <p:cNvGraphicFramePr/>
          <p:nvPr/>
        </p:nvGraphicFramePr>
        <p:xfrm>
          <a:off x="611188" y="320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3" name="Google Shape;393;p22"/>
          <p:cNvCxnSpPr/>
          <p:nvPr/>
        </p:nvCxnSpPr>
        <p:spPr>
          <a:xfrm>
            <a:off x="2973388" y="4011613"/>
            <a:ext cx="81597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94" name="Google Shape;394;p22"/>
          <p:cNvGraphicFramePr/>
          <p:nvPr/>
        </p:nvGraphicFramePr>
        <p:xfrm>
          <a:off x="3883025" y="35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611975"/>
                <a:gridCol w="712675"/>
                <a:gridCol w="5422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5" name="Google Shape;395;p22"/>
          <p:cNvCxnSpPr/>
          <p:nvPr/>
        </p:nvCxnSpPr>
        <p:spPr>
          <a:xfrm>
            <a:off x="5881688" y="3979863"/>
            <a:ext cx="80645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96" name="Google Shape;396;p22"/>
          <p:cNvGraphicFramePr/>
          <p:nvPr/>
        </p:nvGraphicFramePr>
        <p:xfrm>
          <a:off x="6859588" y="358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7" name="Google Shape;397;p22"/>
          <p:cNvSpPr txBox="1"/>
          <p:nvPr/>
        </p:nvSpPr>
        <p:spPr>
          <a:xfrm>
            <a:off x="2944813" y="4194175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5745163" y="4162425"/>
            <a:ext cx="1295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399" name="Google Shape;3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6725" y="3176588"/>
            <a:ext cx="10001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00" name="Google Shape;4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5163" y="3121025"/>
            <a:ext cx="969962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01" name="Google Shape;4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4663" y="5803900"/>
            <a:ext cx="5584825" cy="792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02" name="Google Shape;40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675" y="2771775"/>
            <a:ext cx="1179513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/>
          <p:nvPr/>
        </p:nvSpPr>
        <p:spPr>
          <a:xfrm>
            <a:off x="4766149" y="3244334"/>
            <a:ext cx="2659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check feedback on elms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Full Joint Probability Distribution</a:t>
            </a:r>
            <a:endParaRPr/>
          </a:p>
        </p:txBody>
      </p:sp>
      <p:sp>
        <p:nvSpPr>
          <p:cNvPr id="409" name="Google Shape;409;p23"/>
          <p:cNvSpPr txBox="1"/>
          <p:nvPr>
            <p:ph idx="1" type="body"/>
          </p:nvPr>
        </p:nvSpPr>
        <p:spPr>
          <a:xfrm>
            <a:off x="406400" y="1397001"/>
            <a:ext cx="5374289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Juice bar survey: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8 male students, 5 female students,     3 male teachers and 2 female teachers bought orange juice 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6 male students, 7 female students,     2 male teachers and 4 female teachers bought mango juice 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4 male students, 5 female students,     2 male teachers and 2 female teachers bought lemon juice 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10" name="Google Shape;410;p2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1" name="Google Shape;411;p23"/>
          <p:cNvGraphicFramePr/>
          <p:nvPr/>
        </p:nvGraphicFramePr>
        <p:xfrm>
          <a:off x="6096000" y="1251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{25A7BF8C-0431-4659-953F-DEF52727E35D}</a:tableStyleId>
              </a:tblPr>
              <a:tblGrid>
                <a:gridCol w="1441000"/>
                <a:gridCol w="1575475"/>
                <a:gridCol w="1145625"/>
                <a:gridCol w="1240225"/>
              </a:tblGrid>
              <a:tr h="37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Gender(G)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Category(C)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Juice(J)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P(G,C,J)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2/50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Probabilistic Inference</a:t>
            </a:r>
            <a:endParaRPr/>
          </a:p>
        </p:txBody>
      </p:sp>
      <p:sp>
        <p:nvSpPr>
          <p:cNvPr id="417" name="Google Shape;417;p24"/>
          <p:cNvSpPr txBox="1"/>
          <p:nvPr>
            <p:ph idx="1" type="body"/>
          </p:nvPr>
        </p:nvSpPr>
        <p:spPr>
          <a:xfrm>
            <a:off x="379413" y="1407089"/>
            <a:ext cx="6854237" cy="4773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Probabilistic inference: compute a desired probability from other known probabilities </a:t>
            </a:r>
            <a:br>
              <a:rPr lang="en-US" sz="2400"/>
            </a:br>
            <a:r>
              <a:rPr lang="en-US" sz="2400"/>
              <a:t>(e.g., conditional from joint)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generally compute conditional probabilities 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reported accidents) = 0.90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These represent the agent’s </a:t>
            </a:r>
            <a:r>
              <a:rPr i="1" lang="en-US" sz="2000"/>
              <a:t>beliefs</a:t>
            </a:r>
            <a:r>
              <a:rPr lang="en-US" sz="2000"/>
              <a:t> given the evidence</a:t>
            </a:r>
            <a:endParaRPr i="1" sz="20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Probabilities change with new evidence: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accidents, 5 a.m.) = 0.95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accidents, 5 a.m., raining) = 0.80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Observing new evidence causes </a:t>
            </a:r>
            <a:r>
              <a:rPr i="1" lang="en-US" sz="2000"/>
              <a:t>beliefs to be updated</a:t>
            </a:r>
            <a:endParaRPr/>
          </a:p>
        </p:txBody>
      </p:sp>
      <p:pic>
        <p:nvPicPr>
          <p:cNvPr id="418" name="Google Shape;4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8016" y="1295018"/>
            <a:ext cx="5110454" cy="4728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  <p:sp>
        <p:nvSpPr>
          <p:cNvPr id="424" name="Google Shape;424;p25"/>
          <p:cNvSpPr txBox="1"/>
          <p:nvPr>
            <p:ph idx="1" type="body"/>
          </p:nvPr>
        </p:nvSpPr>
        <p:spPr>
          <a:xfrm>
            <a:off x="199221" y="1295813"/>
            <a:ext cx="8229600" cy="132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General case: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Evidence variables: 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Query* variable: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Hidden variables:</a:t>
            </a:r>
            <a:endParaRPr/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descr="txp_fig" id="425" name="Google Shape;4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81" y="1699187"/>
            <a:ext cx="157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26" name="Google Shape;4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6973" y="1610535"/>
            <a:ext cx="2095500" cy="22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27" name="Google Shape;4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9673" y="1929623"/>
            <a:ext cx="169863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28" name="Google Shape;42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4748" y="2234423"/>
            <a:ext cx="95885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29" name="Google Shape;42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9704" y="1873689"/>
            <a:ext cx="2067441" cy="356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30" name="Google Shape;43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45724" y="6153402"/>
            <a:ext cx="188595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31" name="Google Shape;43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05953" y="6071444"/>
            <a:ext cx="3257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5"/>
          <p:cNvSpPr/>
          <p:nvPr/>
        </p:nvSpPr>
        <p:spPr>
          <a:xfrm rot="-5400000">
            <a:off x="6489768" y="5379365"/>
            <a:ext cx="174830" cy="2134655"/>
          </a:xfrm>
          <a:prstGeom prst="leftBrace">
            <a:avLst>
              <a:gd fmla="val 10833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433" name="Google Shape;4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065" y="6629400"/>
            <a:ext cx="1574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5"/>
          <p:cNvSpPr/>
          <p:nvPr/>
        </p:nvSpPr>
        <p:spPr>
          <a:xfrm>
            <a:off x="5379898" y="1559239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751431" y="1968119"/>
            <a:ext cx="152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10488610" y="1129148"/>
            <a:ext cx="155733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Works fine with multiple query variables, too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7779228" y="1296460"/>
            <a:ext cx="3997028" cy="8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36" lvl="1" marL="742913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659401" y="3085809"/>
            <a:ext cx="2826696" cy="10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1: Select the entries consistent with the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4095697" y="3081163"/>
            <a:ext cx="3822722" cy="63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2: Sum out H to get joint of Query and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8618168" y="3072764"/>
            <a:ext cx="2786348" cy="463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3: Normalize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882" lvl="0" marL="342882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5579" y="3954241"/>
            <a:ext cx="3561300" cy="204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48017" y="3737772"/>
            <a:ext cx="3114039" cy="207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443" name="Google Shape;443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80292" y="5675132"/>
            <a:ext cx="2463800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444" name="Google Shape;444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08358" y="6324600"/>
            <a:ext cx="3657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445" name="Google Shape;445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92096" y="3665394"/>
            <a:ext cx="1123188" cy="15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  <p:sp>
        <p:nvSpPr>
          <p:cNvPr id="451" name="Google Shape;451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P(W)?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 | winter)?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 | winter, hot)?</a:t>
            </a:r>
            <a:endParaRPr/>
          </a:p>
        </p:txBody>
      </p:sp>
      <p:graphicFrame>
        <p:nvGraphicFramePr>
          <p:cNvPr id="452" name="Google Shape;452;p26"/>
          <p:cNvGraphicFramePr/>
          <p:nvPr/>
        </p:nvGraphicFramePr>
        <p:xfrm>
          <a:off x="7696203" y="1515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1082900"/>
                <a:gridCol w="865850"/>
                <a:gridCol w="865850"/>
                <a:gridCol w="8260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 txBox="1"/>
          <p:nvPr/>
        </p:nvSpPr>
        <p:spPr>
          <a:xfrm>
            <a:off x="929087" y="1411489"/>
            <a:ext cx="8080342" cy="429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Obvious problems: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387" lvl="3" marL="1600120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Worst-case time complexity O(d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387" lvl="6" marL="2971652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6" lvl="1" marL="742913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 complexity O(d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store the joint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36" lvl="1" marL="742913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464" name="Google Shape;464;p28"/>
          <p:cNvSpPr txBox="1"/>
          <p:nvPr>
            <p:ph idx="1" type="body"/>
          </p:nvPr>
        </p:nvSpPr>
        <p:spPr>
          <a:xfrm>
            <a:off x="893005" y="1369120"/>
            <a:ext cx="7987470" cy="4757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Sometimes have conditional distributions but want the joint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txp_fig" id="465" name="Google Shape;4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5402" y="2225699"/>
            <a:ext cx="2447925" cy="731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466" name="Google Shape;46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9" y="2347356"/>
            <a:ext cx="5906965" cy="599257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8"/>
          <p:cNvSpPr/>
          <p:nvPr/>
        </p:nvSpPr>
        <p:spPr>
          <a:xfrm>
            <a:off x="8044687" y="2421643"/>
            <a:ext cx="914400" cy="381000"/>
          </a:xfrm>
          <a:prstGeom prst="leftRightArrow">
            <a:avLst>
              <a:gd fmla="val 50000" name="adj1"/>
              <a:gd fmla="val 48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3637" y="3471580"/>
            <a:ext cx="5651673" cy="17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474" name="Google Shape;474;p29"/>
          <p:cNvSpPr txBox="1"/>
          <p:nvPr>
            <p:ph idx="1" type="body"/>
          </p:nvPr>
        </p:nvSpPr>
        <p:spPr>
          <a:xfrm>
            <a:off x="893005" y="1369120"/>
            <a:ext cx="7987500" cy="4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4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graphicFrame>
        <p:nvGraphicFramePr>
          <p:cNvPr id="475" name="Google Shape;475;p29"/>
          <p:cNvGraphicFramePr/>
          <p:nvPr/>
        </p:nvGraphicFramePr>
        <p:xfrm>
          <a:off x="1383150" y="4244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6" name="Google Shape;476;p29"/>
          <p:cNvGraphicFramePr/>
          <p:nvPr/>
        </p:nvGraphicFramePr>
        <p:xfrm>
          <a:off x="3592950" y="3739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28675"/>
                <a:gridCol w="828675"/>
                <a:gridCol w="552450"/>
              </a:tblGrid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477" name="Google Shape;4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963" y="3288979"/>
            <a:ext cx="1193800" cy="31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8" name="Google Shape;478;p29"/>
          <p:cNvGraphicFramePr/>
          <p:nvPr/>
        </p:nvGraphicFramePr>
        <p:xfrm>
          <a:off x="7479150" y="3758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28675"/>
                <a:gridCol w="828675"/>
                <a:gridCol w="704850"/>
              </a:tblGrid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479" name="Google Shape;47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5238" y="3287392"/>
            <a:ext cx="1241425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/>
          <p:nvPr/>
        </p:nvSpPr>
        <p:spPr>
          <a:xfrm>
            <a:off x="6107550" y="4520879"/>
            <a:ext cx="990600" cy="533400"/>
          </a:xfrm>
          <a:prstGeom prst="leftRightArrow">
            <a:avLst>
              <a:gd fmla="val 50000" name="adj1"/>
              <a:gd fmla="val 37143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481" name="Google Shape;48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5250" y="3852542"/>
            <a:ext cx="850900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9"/>
          <p:cNvSpPr/>
          <p:nvPr/>
        </p:nvSpPr>
        <p:spPr>
          <a:xfrm>
            <a:off x="9207875" y="4176807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9201518" y="4577236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9234852" y="4928060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9248339" y="5298724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.png" id="486" name="Google Shape;48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7035" y="1447471"/>
            <a:ext cx="5906965" cy="59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Chain Rule</a:t>
            </a:r>
            <a:endParaRPr/>
          </a:p>
        </p:txBody>
      </p:sp>
      <p:sp>
        <p:nvSpPr>
          <p:cNvPr id="492" name="Google Shape;492;p30"/>
          <p:cNvSpPr txBox="1"/>
          <p:nvPr>
            <p:ph idx="1" type="body"/>
          </p:nvPr>
        </p:nvSpPr>
        <p:spPr>
          <a:xfrm>
            <a:off x="457200" y="1600200"/>
            <a:ext cx="11233052" cy="480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More generally, can always write any joint distribution as an incremental product of conditional distributions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txp_fig" id="493" name="Google Shape;4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5067" y="2879164"/>
            <a:ext cx="5707062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94" name="Google Shape;49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6542" y="3525276"/>
            <a:ext cx="4964113" cy="56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Bayes Rule</a:t>
            </a:r>
            <a:endParaRPr/>
          </a:p>
        </p:txBody>
      </p:sp>
      <p:pic>
        <p:nvPicPr>
          <p:cNvPr id="500" name="Google Shape;5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1318" y="1628745"/>
            <a:ext cx="7963334" cy="4661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Bayes’ Rule</a:t>
            </a:r>
            <a:endParaRPr/>
          </a:p>
        </p:txBody>
      </p:sp>
      <p:sp>
        <p:nvSpPr>
          <p:cNvPr id="506" name="Google Shape;506;p32"/>
          <p:cNvSpPr txBox="1"/>
          <p:nvPr>
            <p:ph idx="1" type="body"/>
          </p:nvPr>
        </p:nvSpPr>
        <p:spPr>
          <a:xfrm>
            <a:off x="694560" y="1600200"/>
            <a:ext cx="799224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Two ways to factor a joint distribution over two variables: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Dividing, we get: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is this at all helpful?</a:t>
            </a:r>
            <a:endParaRPr/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Let’s build one conditional from its reverse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Often one conditional is tricky but the other one is simple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Foundation of many systems we’ll see later (e.g., ASR, MT)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the running for the most important AI equation!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txp_fig" id="507" name="Google Shape;5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86000"/>
            <a:ext cx="3103563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08" name="Google Shape;50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3505200"/>
            <a:ext cx="3087688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09" name="Google Shape;50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7663" y="2286000"/>
            <a:ext cx="2014537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omas Bayes" id="510" name="Google Shape;510;p32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30828" y="2735058"/>
            <a:ext cx="2927072" cy="3138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2"/>
          <p:cNvSpPr/>
          <p:nvPr/>
        </p:nvSpPr>
        <p:spPr>
          <a:xfrm>
            <a:off x="8051851" y="2041140"/>
            <a:ext cx="1905000" cy="457200"/>
          </a:xfrm>
          <a:prstGeom prst="wedgeRoundRectCallout">
            <a:avLst>
              <a:gd fmla="val -6000" name="adj1"/>
              <a:gd fmla="val 163889" name="adj2"/>
              <a:gd fmla="val 16667" name="adj3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That’s my rule!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with Bayes’ Rule</a:t>
            </a:r>
            <a:endParaRPr/>
          </a:p>
        </p:txBody>
      </p:sp>
      <p:sp>
        <p:nvSpPr>
          <p:cNvPr id="517" name="Google Shape;517;p33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 Diagnostic probability from causal probability: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M: meningitis, S: stiff neck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389" lvl="4" marL="2057298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Note</a:t>
            </a:r>
            <a:r>
              <a:rPr lang="en-US" sz="2000"/>
              <a:t>: the posterior probability of meningitis is still very small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Note</a:t>
            </a:r>
            <a:r>
              <a:rPr lang="en-US" sz="2000"/>
              <a:t>: you should still get stiff necks checked out!  Why?</a:t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7454900" y="3471863"/>
            <a:ext cx="239713" cy="100012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3"/>
          <p:cNvSpPr txBox="1"/>
          <p:nvPr/>
        </p:nvSpPr>
        <p:spPr>
          <a:xfrm>
            <a:off x="7818438" y="3641725"/>
            <a:ext cx="1201737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tex-image-1.pdf" id="520" name="Google Shape;5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9637" y="4229084"/>
            <a:ext cx="2580388" cy="324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21" name="Google Shape;52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60" y="4945726"/>
            <a:ext cx="11345311" cy="566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22" name="Google Shape;5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4426" y="3479892"/>
            <a:ext cx="2228287" cy="317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23" name="Google Shape;52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7097" y="3831425"/>
            <a:ext cx="2381074" cy="316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24" name="Google Shape;52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67698" y="2006610"/>
            <a:ext cx="5445919" cy="712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Bayes’ Rule</a:t>
            </a:r>
            <a:endParaRPr/>
          </a:p>
        </p:txBody>
      </p:sp>
      <p:sp>
        <p:nvSpPr>
          <p:cNvPr id="530" name="Google Shape;530;p34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Given: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What is P(W | dry) ? </a:t>
            </a:r>
            <a:endParaRPr/>
          </a:p>
        </p:txBody>
      </p:sp>
      <p:graphicFrame>
        <p:nvGraphicFramePr>
          <p:cNvPr id="531" name="Google Shape;531;p34"/>
          <p:cNvGraphicFramePr/>
          <p:nvPr/>
        </p:nvGraphicFramePr>
        <p:xfrm>
          <a:off x="2232236" y="2263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2" name="Google Shape;532;p34"/>
          <p:cNvGraphicFramePr/>
          <p:nvPr/>
        </p:nvGraphicFramePr>
        <p:xfrm>
          <a:off x="4442036" y="175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{25A7BF8C-0431-4659-953F-DEF52727E35D}</a:tableStyleId>
              </a:tblPr>
              <a:tblGrid>
                <a:gridCol w="828675"/>
                <a:gridCol w="828675"/>
                <a:gridCol w="552450"/>
              </a:tblGrid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533" name="Google Shape;5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049" y="1307779"/>
            <a:ext cx="11938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34" name="Google Shape;5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336" y="1871342"/>
            <a:ext cx="850900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540" name="Google Shape;54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2217" y="1397000"/>
            <a:ext cx="6367565" cy="472916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