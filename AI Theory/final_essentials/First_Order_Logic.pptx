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-396" y="-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735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80960" y="-1280160"/>
            <a:ext cx="5852160" cy="5852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0" dirty="0">
                <a:solidFill>
                  <a:srgbClr val="2925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  ·  REASONING  ·  AI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6596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First-Order Logic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Logic for Knowledge Representation &amp; Reasoning in AI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41248" y="396849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3840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27248" y="396849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10128" y="3840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Worked Problems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79008" y="396849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61888" y="38404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Pattern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349240"/>
            <a:ext cx="7498080" cy="777240"/>
          </a:xfrm>
          <a:prstGeom prst="roundRect">
            <a:avLst>
              <a:gd name="adj" fmla="val 9412"/>
            </a:avLst>
          </a:prstGeom>
          <a:solidFill>
            <a:srgbClr val="16143A"/>
          </a:solidFill>
          <a:ln w="12700">
            <a:solidFill>
              <a:srgbClr val="1614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4681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Md Suzauddola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74243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 —  Lecture Notes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515258" cy="4251960"/>
          </a:xfrm>
          <a:prstGeom prst="roundRect">
            <a:avLst>
              <a:gd name="adj" fmla="val 2601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6209" y="2148840"/>
            <a:ext cx="777240" cy="7772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6209" y="21305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00400"/>
            <a:ext cx="30580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23360"/>
            <a:ext cx="28751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First-Order Logic is, its core building blocks, and where it's used in AI.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8218" y="1691640"/>
            <a:ext cx="3515258" cy="4251960"/>
          </a:xfrm>
          <a:prstGeom prst="roundRect">
            <a:avLst>
              <a:gd name="adj" fmla="val 2601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07228" y="2148840"/>
            <a:ext cx="777240" cy="7772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07228" y="21305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566818" y="3200400"/>
            <a:ext cx="30580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Problems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58258" y="4023360"/>
            <a:ext cx="28751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fully solved reasoning problems, taken step by step from premise to conclusion.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19237" y="1691640"/>
            <a:ext cx="3515258" cy="4251960"/>
          </a:xfrm>
          <a:prstGeom prst="roundRect">
            <a:avLst>
              <a:gd name="adj" fmla="val 2601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88246" y="2148840"/>
            <a:ext cx="777240" cy="7772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88246" y="21305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447837" y="3200400"/>
            <a:ext cx="30580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Exam Pattern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539277" y="4023360"/>
            <a:ext cx="28751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inference structure behind every problem — the one to memorize.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First-Order Logic?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112772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Logic (FOL), or predicate logic, is a powerful knowledge representation tool in AI. It expands simple true/false statements into structured models of objects, properties, and relationships. Allowing machines to perform complex logical reasoning.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77295" cy="502920"/>
          </a:xfrm>
          <a:prstGeom prst="roundRect">
            <a:avLst>
              <a:gd name="adj" fmla="val 12727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60604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applied in:  </a:t>
            </a:r>
            <a:r>
              <a:rPr lang="en-US" sz="1350" b="1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· Expert Systems · Theorem Proving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5455768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38728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B5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Propositional Logic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“It is raining” → True or False.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26280"/>
            <a:ext cx="490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structure:</a:t>
            </a:r>
            <a:r>
              <a:rPr lang="en-US" sz="12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objects, no relationships, nothing to quantify over.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8728" y="3337560"/>
            <a:ext cx="5455768" cy="2514600"/>
          </a:xfrm>
          <a:prstGeom prst="roundRect">
            <a:avLst>
              <a:gd name="adj" fmla="val 327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53048" y="3538728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First-Order Logic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4023360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Raining(Location, Time)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4526280"/>
            <a:ext cx="490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D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objects, properties, relationships, and quantifiers — rich enough to reason over.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First-Order Logic in AI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is useful for knowledge representation and reasoning. AI systems use it to represent facts about a domain and infer conclusions from those facts.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1150" y="2514600"/>
            <a:ext cx="1647749" cy="457200"/>
          </a:xfrm>
          <a:prstGeom prst="roundRect">
            <a:avLst>
              <a:gd name="adj" fmla="val 50000"/>
            </a:avLst>
          </a:prstGeom>
          <a:solidFill>
            <a:srgbClr val="F1F0FA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0878" y="2514600"/>
            <a:ext cx="1428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60066" y="2514600"/>
            <a:ext cx="2583180" cy="457200"/>
          </a:xfrm>
          <a:prstGeom prst="roundRect">
            <a:avLst>
              <a:gd name="adj" fmla="val 50000"/>
            </a:avLst>
          </a:prstGeom>
          <a:solidFill>
            <a:srgbClr val="F1F0FA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9794" y="2514600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Theorem Proving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44414" y="2514600"/>
            <a:ext cx="1987906" cy="457200"/>
          </a:xfrm>
          <a:prstGeom prst="roundRect">
            <a:avLst>
              <a:gd name="adj" fmla="val 50000"/>
            </a:avLst>
          </a:prstGeom>
          <a:solidFill>
            <a:srgbClr val="F1F0FA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4142" y="2514600"/>
            <a:ext cx="1768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Reasoning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33488" y="2514600"/>
            <a:ext cx="1137514" cy="457200"/>
          </a:xfrm>
          <a:prstGeom prst="roundRect">
            <a:avLst>
              <a:gd name="adj" fmla="val 50000"/>
            </a:avLst>
          </a:prstGeom>
          <a:solidFill>
            <a:srgbClr val="F1F0FA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43216" y="2514600"/>
            <a:ext cx="91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72170" y="2514600"/>
            <a:ext cx="3008376" cy="457200"/>
          </a:xfrm>
          <a:prstGeom prst="roundRect">
            <a:avLst>
              <a:gd name="adj" fmla="val 50000"/>
            </a:avLst>
          </a:prstGeom>
          <a:solidFill>
            <a:srgbClr val="F1F0FA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81898" y="2514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Understanding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83280"/>
            <a:ext cx="112772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facts, objects, and the rules that connect them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inference rules (like Universal Instantiation + Modus Ponens) to derive new facts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logical backbone for expert systems, theorem provers, and semantic reasoners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21208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2120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 </a:t>
            </a: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Logic gives AI a precise way to represent objects, properties, relationships, and rules. So it can reason logically from what it already knows.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Components: Objects &amp; Relations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11277295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585216" cy="5852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64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6824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1031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names or things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824228"/>
            <a:ext cx="3504895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56448" y="1824228"/>
            <a:ext cx="32854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97A0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John,   NewYork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11277295" cy="1078992"/>
          </a:xfrm>
          <a:prstGeom prst="roundRect">
            <a:avLst>
              <a:gd name="adj" fmla="val 7627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008376"/>
            <a:ext cx="585216" cy="5852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99008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9077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32841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for any object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049524"/>
            <a:ext cx="3504895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56448" y="3049524"/>
            <a:ext cx="32854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97A0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x,   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86784"/>
            <a:ext cx="11277295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233672"/>
            <a:ext cx="585216" cy="5852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21538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133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Predicates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55371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traits, or relations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0" y="4274820"/>
            <a:ext cx="3504895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56448" y="4274820"/>
            <a:ext cx="32854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97A0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Brother(John, Bob)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212080"/>
            <a:ext cx="11277295" cy="1078992"/>
          </a:xfrm>
          <a:prstGeom prst="roundRect">
            <a:avLst>
              <a:gd name="adj" fmla="val 7627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458968"/>
            <a:ext cx="585216" cy="5852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4406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535838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7790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from one object to another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46720" y="5500116"/>
            <a:ext cx="3504895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56448" y="5500116"/>
            <a:ext cx="32854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97A0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FatherOf(John)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Components: Quantifiers &amp; Connectives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Quantifiers define the scope of a variable. How many objects a statement applies 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78628" cy="1005840"/>
          </a:xfrm>
          <a:prstGeom prst="roundRect">
            <a:avLst>
              <a:gd name="adj" fmla="val 8182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02536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9842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975104"/>
            <a:ext cx="41984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359152"/>
            <a:ext cx="41984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all”: true for every object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55868" y="1828800"/>
            <a:ext cx="5478628" cy="1005840"/>
          </a:xfrm>
          <a:prstGeom prst="roundRect">
            <a:avLst>
              <a:gd name="adj" fmla="val 8182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84468" y="2002536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84468" y="19842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∃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307428" y="1975104"/>
            <a:ext cx="41984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Existential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07428" y="2359152"/>
            <a:ext cx="41984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exists”: true for at least one object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06324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connectives combine sentences into larger ones.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2109155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8314" y="365760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28314" y="3639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∧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" y="4389120"/>
            <a:ext cx="19628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Conjunction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0352" y="4709160"/>
            <a:ext cx="19628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9235" y="3474720"/>
            <a:ext cx="2109155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0349" y="365760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20349" y="3639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∨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2822387" y="4389120"/>
            <a:ext cx="19628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Disjunction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822387" y="4709160"/>
            <a:ext cx="19628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41270" y="3474720"/>
            <a:ext cx="2109155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12384" y="365760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12384" y="3639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5114422" y="4389120"/>
            <a:ext cx="19628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114422" y="4709160"/>
            <a:ext cx="19628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… then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33305" y="3474720"/>
            <a:ext cx="2109155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04419" y="365760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04419" y="3639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↔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7406457" y="4389120"/>
            <a:ext cx="19628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Biconditional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406457" y="4709160"/>
            <a:ext cx="19628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and only if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25340" y="3474720"/>
            <a:ext cx="2109155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96454" y="365760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396454" y="3639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¬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9698492" y="4389120"/>
            <a:ext cx="19628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Negation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698492" y="4709160"/>
            <a:ext cx="19628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PROBLEM 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Humans Are Mortal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77295" cy="502920"/>
          </a:xfrm>
          <a:prstGeom prst="roundRect">
            <a:avLst>
              <a:gd name="adj" fmla="val 12727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syllogism: the single most famous example in all of logic.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232714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23088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1488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Fact 1 (Rule):   ∀x ( Human(x) → Mortal(x) )   </a:t>
            </a: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  <a:sym typeface="Wingdings" panose="05000000000000000000" pitchFamily="2" charset="2"/>
              </a:rPr>
              <a:t></a:t>
            </a: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“All humans are mortal.”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3232404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32141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054096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Fact 2 (Given):   Human(Socrates)   </a:t>
            </a: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  <a:sym typeface="Wingdings" panose="05000000000000000000" pitchFamily="2" charset="2"/>
              </a:rPr>
              <a:t></a:t>
            </a: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“Socrates is a human.”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77295" cy="822960"/>
          </a:xfrm>
          <a:prstGeom prst="roundRect">
            <a:avLst>
              <a:gd name="adj" fmla="val 888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4160520"/>
            <a:ext cx="420624" cy="420624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41422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959352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Inference:   Mortal(Socrates)   </a:t>
            </a:r>
            <a:r>
              <a:rPr lang="en-US" sz="1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  <a:sym typeface="Wingdings" panose="05000000000000000000" pitchFamily="2" charset="2"/>
              </a:rPr>
              <a:t></a:t>
            </a:r>
            <a:r>
              <a:rPr lang="en-US" sz="1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“Socrates is mortal.”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47488"/>
            <a:ext cx="11277295" cy="411480"/>
          </a:xfrm>
          <a:prstGeom prst="roundRect">
            <a:avLst>
              <a:gd name="adj" fmla="val 15556"/>
            </a:avLst>
          </a:prstGeom>
          <a:ln/>
        </p:spPr>
      </p:sp>
      <p:sp>
        <p:nvSpPr>
          <p:cNvPr id="21" name="Text 19"/>
          <p:cNvSpPr txBox="1"/>
          <p:nvPr/>
        </p:nvSpPr>
        <p:spPr>
          <a:xfrm>
            <a:off x="475488" y="5047488"/>
            <a:ext cx="112407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r>
              <a:rPr lang="en-US" sz="12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Instantiation + Modus Ponens </a:t>
            </a:r>
            <a:r>
              <a:rPr lang="en-US" sz="12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2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substitute Socrates for x, then apply the rule.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First-Order Logic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65049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322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572768"/>
            <a:ext cx="10225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Representation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938528"/>
            <a:ext cx="10225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objects, properties, and relationships in a structured form for reasoning tasks.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11277295" cy="841248"/>
          </a:xfrm>
          <a:prstGeom prst="roundRect">
            <a:avLst>
              <a:gd name="adj" fmla="val 8696"/>
            </a:avLst>
          </a:prstGeom>
          <a:solidFill>
            <a:srgbClr val="F1F0FA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58318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5648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05456"/>
            <a:ext cx="10225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Theorem Proving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871216"/>
            <a:ext cx="10225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logical rules to prove mathematical statements and verify system correctness.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51586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4975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438144"/>
            <a:ext cx="10225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803904"/>
            <a:ext cx="10225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convert natural language into logical representations for understanding and reasoning.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11277295" cy="841248"/>
          </a:xfrm>
          <a:prstGeom prst="roundRect">
            <a:avLst>
              <a:gd name="adj" fmla="val 8696"/>
            </a:avLst>
          </a:prstGeom>
          <a:solidFill>
            <a:srgbClr val="F1F0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4448556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4302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370832"/>
            <a:ext cx="10225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736592"/>
            <a:ext cx="10225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domain knowledge to support decision-making in systems like medical or legal assistants.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5381244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53629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303520"/>
            <a:ext cx="10225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Web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669280"/>
            <a:ext cx="10225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relationships between web resources for improved search and information retrieval.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-1005840"/>
            <a:ext cx="5852160" cy="5852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dirty="0">
                <a:solidFill>
                  <a:srgbClr val="2925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∃</a:t>
            </a:r>
            <a:endParaRPr lang="en-US" sz="32000" dirty="0"/>
          </a:p>
        </p:txBody>
      </p:sp>
      <p:sp>
        <p:nvSpPr>
          <p:cNvPr id="3" name="Text 1"/>
          <p:cNvSpPr txBox="1"/>
          <p:nvPr/>
        </p:nvSpPr>
        <p:spPr>
          <a:xfrm>
            <a:off x="804672" y="2743200"/>
            <a:ext cx="9326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Problems in FOL Reasoning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9776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solved problems: step by step, from premise to conclusion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PROBLEM 2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&amp; Courses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77295" cy="502920"/>
          </a:xfrm>
          <a:prstGeom prst="roundRect">
            <a:avLst>
              <a:gd name="adj" fmla="val 12727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Rahim is a student. Every student studies at least one course. Therefore, Rahim studies a course.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222199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2203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10312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Fact:   Student(Rahim):   “Rahim is a student.”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299008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871216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Rule:   ∀x [ Student(x) → ∃y Studies(x,y) ]  </a:t>
            </a: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  <a:sym typeface="Wingdings" panose="05000000000000000000" pitchFamily="2" charset="2"/>
              </a:rPr>
              <a:t></a:t>
            </a: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every student studies some course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3758184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3739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639312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Apply to Rahim:   Student(Rahim) → ∃y Studies(Rahim,y),   and   Student(Rahim) = True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07408"/>
            <a:ext cx="11277295" cy="804672"/>
          </a:xfrm>
          <a:prstGeom prst="roundRect">
            <a:avLst>
              <a:gd name="adj" fmla="val 909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" y="4599432"/>
            <a:ext cx="420624" cy="420624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" y="4581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407408"/>
            <a:ext cx="103628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Conclude:   ∃y Studies(Rahim, y)   </a:t>
            </a:r>
            <a:r>
              <a:rPr lang="en-US" sz="135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  <a:sym typeface="Wingdings" panose="05000000000000000000" pitchFamily="2" charset="2"/>
              </a:rPr>
              <a:t></a:t>
            </a:r>
            <a:r>
              <a:rPr lang="en-US" sz="135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“There exists a course Rahim studies.”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7200" y="5431536"/>
            <a:ext cx="11277295" cy="411480"/>
          </a:xfrm>
          <a:prstGeom prst="roundRect">
            <a:avLst>
              <a:gd name="adj" fmla="val 15556"/>
            </a:avLst>
          </a:prstGeom>
          <a:ln/>
        </p:spPr>
      </p:sp>
      <p:sp>
        <p:nvSpPr>
          <p:cNvPr id="25" name="Text 23"/>
          <p:cNvSpPr txBox="1"/>
          <p:nvPr/>
        </p:nvSpPr>
        <p:spPr>
          <a:xfrm>
            <a:off x="475488" y="5431536"/>
            <a:ext cx="112407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r>
              <a:rPr lang="en-US" sz="12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Instantiation + Modus Ponens </a:t>
            </a:r>
            <a:r>
              <a:rPr lang="en-US" sz="12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2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 the conclusion itself is an existential statement.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PROBLEM 3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Relationships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77295" cy="502920"/>
          </a:xfrm>
          <a:prstGeom prst="roundRect">
            <a:avLst>
              <a:gd name="adj" fmla="val 12727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Suppose: everyone's father is a parent.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2249424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22311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10312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Rule:   ∀x∀y [ Father(y,x) → Parent(y,x) 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308152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3063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935224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Given:   Father(Ali, Rahim)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391363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38953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767328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Apply:   Father(Ali,Rahim) → Parent(Ali,Rahim)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99432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" y="4791456"/>
            <a:ext cx="420624" cy="420624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" y="47731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599432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Conclude:   Parent(Ali, Rahim)   </a:t>
            </a:r>
            <a:r>
              <a:rPr lang="en-US" sz="135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  <a:sym typeface="Wingdings" panose="05000000000000000000" pitchFamily="2" charset="2"/>
              </a:rPr>
              <a:t></a:t>
            </a:r>
            <a:r>
              <a:rPr lang="en-US" sz="135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“Ali is Rahim's parent.”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7200" y="5632704"/>
            <a:ext cx="11277295" cy="411480"/>
          </a:xfrm>
          <a:prstGeom prst="roundRect">
            <a:avLst>
              <a:gd name="adj" fmla="val 15556"/>
            </a:avLst>
          </a:prstGeom>
          <a:ln/>
        </p:spPr>
      </p:sp>
      <p:sp>
        <p:nvSpPr>
          <p:cNvPr id="25" name="Text 23"/>
          <p:cNvSpPr txBox="1"/>
          <p:nvPr/>
        </p:nvSpPr>
        <p:spPr>
          <a:xfrm>
            <a:off x="475488" y="5632704"/>
            <a:ext cx="112407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r>
              <a:rPr lang="en-US" sz="12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Instantiation applied twice (for x and y) + Modus Ponens.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52360" y="2103120"/>
            <a:ext cx="4282135" cy="2743200"/>
          </a:xfrm>
          <a:prstGeom prst="roundRect">
            <a:avLst>
              <a:gd name="adj" fmla="val 3333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52360" y="2304288"/>
            <a:ext cx="4282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770468" y="2697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E1B4B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80196" y="26974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310128"/>
            <a:ext cx="4282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of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501988" y="3566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70468" y="38862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E1B4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80196" y="38862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Rahim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635240" y="4526280"/>
            <a:ext cx="3916375" cy="256032"/>
          </a:xfrm>
          <a:prstGeom prst="roundRect">
            <a:avLst>
              <a:gd name="adj" fmla="val 25000"/>
            </a:avLst>
          </a:prstGeom>
          <a:ln/>
        </p:spPr>
      </p:sp>
      <p:sp>
        <p:nvSpPr>
          <p:cNvPr id="35" name="Text 33"/>
          <p:cNvSpPr txBox="1"/>
          <p:nvPr/>
        </p:nvSpPr>
        <p:spPr>
          <a:xfrm>
            <a:off x="7744968" y="4526280"/>
            <a:ext cx="3696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5B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∴  Ali is a Parent of Rahim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PROBLEM 4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Using AND ( ∧ 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77295" cy="502920"/>
          </a:xfrm>
          <a:prstGeom prst="roundRect">
            <a:avLst>
              <a:gd name="adj" fmla="val 12727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person is a student and studies AI, then that person is an AI student.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237286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23545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19456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Rule:   ∀x [ (Student(x) ∧ Studies(x,AI)) → AIStudent(x) 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18104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329641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32781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118104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Given:   Student(Tanvir)  ∧  Studies(Tanvir, AI)   —   both True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41648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4265676"/>
            <a:ext cx="420624" cy="420624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42473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041648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Conclude:   AIStudent(Tanvir)   </a:t>
            </a:r>
            <a:r>
              <a:rPr lang="en-US" sz="1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  <a:sym typeface="Wingdings" panose="05000000000000000000" pitchFamily="2" charset="2"/>
              </a:rPr>
              <a:t></a:t>
            </a:r>
            <a:r>
              <a:rPr lang="en-US" sz="1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“Tanvir is an AI student.”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239512"/>
            <a:ext cx="11277295" cy="411480"/>
          </a:xfrm>
          <a:prstGeom prst="roundRect">
            <a:avLst>
              <a:gd name="adj" fmla="val 15556"/>
            </a:avLst>
          </a:prstGeom>
          <a:ln/>
        </p:spPr>
      </p:sp>
      <p:sp>
        <p:nvSpPr>
          <p:cNvPr id="21" name="Text 19"/>
          <p:cNvSpPr txBox="1"/>
          <p:nvPr/>
        </p:nvSpPr>
        <p:spPr>
          <a:xfrm>
            <a:off x="475488" y="5239512"/>
            <a:ext cx="112407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r>
              <a:rPr lang="en-US" sz="12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Instantiation + Modus Ponens, with a conjunctive (AND) antecedent.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PROBLEM 5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Using NOT ( ¬ 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77295" cy="502920"/>
          </a:xfrm>
          <a:prstGeom prst="roundRect">
            <a:avLst>
              <a:gd name="adj" fmla="val 12727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Suppose: no student is a professor.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237286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23545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19456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Rule:   ∀x [ Student(x) → ¬Professor(x) 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18104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329641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32781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118104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Given:   Student(Rahim)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41648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4265676"/>
            <a:ext cx="420624" cy="420624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42473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041648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Conclude:   ¬Professor(Rahim)   </a:t>
            </a:r>
            <a:r>
              <a:rPr lang="en-US" sz="1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  <a:sym typeface="Wingdings" panose="05000000000000000000" pitchFamily="2" charset="2"/>
              </a:rPr>
              <a:t></a:t>
            </a:r>
            <a:r>
              <a:rPr lang="en-US" sz="1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“Rahim is not a professor.”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239512"/>
            <a:ext cx="11277295" cy="411480"/>
          </a:xfrm>
          <a:prstGeom prst="roundRect">
            <a:avLst>
              <a:gd name="adj" fmla="val 15556"/>
            </a:avLst>
          </a:prstGeom>
          <a:ln/>
        </p:spPr>
      </p:sp>
      <p:sp>
        <p:nvSpPr>
          <p:cNvPr id="21" name="Text 19"/>
          <p:cNvSpPr txBox="1"/>
          <p:nvPr/>
        </p:nvSpPr>
        <p:spPr>
          <a:xfrm>
            <a:off x="475488" y="5239512"/>
            <a:ext cx="112407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r>
              <a:rPr lang="en-US" sz="12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Instantiation + Modus Ponens, concluding a negated statement.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PROBLEM 6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Typical AI Reasoning Problem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7295" cy="457200"/>
          </a:xfrm>
          <a:prstGeom prst="roundRect">
            <a:avLst>
              <a:gd name="adj" fmla="val 14000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Base:   </a:t>
            </a:r>
            <a:r>
              <a:rPr lang="en-US" sz="12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Human(Ali)   ·   Human(Rahim)   ·   ∀x [ Human(x) → Mortal(x) ]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Is Ali mortal?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5455768" cy="384048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395728"/>
            <a:ext cx="523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Ali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5455768" cy="749808"/>
          </a:xfrm>
          <a:prstGeom prst="roundRect">
            <a:avLst>
              <a:gd name="adj" fmla="val 9756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" y="3054096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889504"/>
            <a:ext cx="4541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Substitute x = Ali: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Human(Ali) → Mortal(Ali)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5455768" cy="566928"/>
          </a:xfrm>
          <a:prstGeom prst="roundRect">
            <a:avLst>
              <a:gd name="adj" fmla="val 12903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" y="382219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38039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749040"/>
            <a:ext cx="454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Since Human(Ali) = True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425696"/>
            <a:ext cx="5455768" cy="658368"/>
          </a:xfrm>
          <a:prstGeom prst="roundRect">
            <a:avLst>
              <a:gd name="adj" fmla="val 1111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" y="4544568"/>
            <a:ext cx="420624" cy="420624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" y="4526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4425696"/>
            <a:ext cx="4541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We infer:  Mortal(Ali)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78728" y="2395728"/>
            <a:ext cx="5455768" cy="384048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88456" y="2395728"/>
            <a:ext cx="523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Rahim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78728" y="2889504"/>
            <a:ext cx="5455768" cy="749808"/>
          </a:xfrm>
          <a:prstGeom prst="roundRect">
            <a:avLst>
              <a:gd name="adj" fmla="val 9756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5032" y="3054096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25032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028536" y="2889504"/>
            <a:ext cx="4541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Substitute x = Rahim: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Human(Rahim) → Mortal(Rahim)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78728" y="3749040"/>
            <a:ext cx="5455768" cy="566928"/>
          </a:xfrm>
          <a:prstGeom prst="roundRect">
            <a:avLst>
              <a:gd name="adj" fmla="val 12903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5032" y="382219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25032" y="38039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28536" y="3749040"/>
            <a:ext cx="454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Since Human(Rahim) = True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78728" y="4425696"/>
            <a:ext cx="5455768" cy="658368"/>
          </a:xfrm>
          <a:prstGeom prst="roundRect">
            <a:avLst>
              <a:gd name="adj" fmla="val 1111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25032" y="4544568"/>
            <a:ext cx="420624" cy="420624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25032" y="4526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028536" y="4425696"/>
            <a:ext cx="4541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We infer:  Mortal(Rahim)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57200" y="5440680"/>
            <a:ext cx="11277295" cy="411480"/>
          </a:xfrm>
          <a:prstGeom prst="roundRect">
            <a:avLst>
              <a:gd name="adj" fmla="val 15556"/>
            </a:avLst>
          </a:prstGeom>
          <a:ln/>
        </p:spPr>
      </p:sp>
      <p:sp>
        <p:nvSpPr>
          <p:cNvPr id="38" name="Text 36"/>
          <p:cNvSpPr txBox="1"/>
          <p:nvPr/>
        </p:nvSpPr>
        <p:spPr>
          <a:xfrm>
            <a:off x="475488" y="5440680"/>
            <a:ext cx="112407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r>
              <a:rPr lang="en-US" sz="12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Universal Instantiation + Modus Ponens step, applied once per individual.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78328" y="1417320"/>
            <a:ext cx="603504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61208" y="1417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</a:t>
            </a: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MOST COMMON STRUCTURE 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277295" cy="1691640"/>
          </a:xfrm>
          <a:prstGeom prst="roundRect">
            <a:avLst>
              <a:gd name="adj" fmla="val 540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∀x ( P(x) → Q(x) )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9748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Given:   P(a)          Infer:   Q(a)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04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Universal Instantiation  +  Modus Ponens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947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96512"/>
            <a:ext cx="11277295" cy="548640"/>
          </a:xfrm>
          <a:prstGeom prst="roundRect">
            <a:avLst>
              <a:gd name="adj" fmla="val 13333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4160520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" y="41422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096512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∀x ( Student(x) → Intelligent(x) 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11277295" cy="548640"/>
          </a:xfrm>
          <a:prstGeom prst="roundRect">
            <a:avLst>
              <a:gd name="adj" fmla="val 13333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" y="481888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" y="4800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47548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Student(Ali)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413248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" y="5513832"/>
            <a:ext cx="420624" cy="420624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" y="54955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5413248"/>
            <a:ext cx="10362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Therefore:   Intelligent(Ali)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236208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pattern applies a universal rule to a specific individual, then uses Modus Ponens. It is one of the most important reasoning structures in FOL for AI and underlies every problem in this deck.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3832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576072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515258" cy="4297680"/>
          </a:xfrm>
          <a:prstGeom prst="roundRect">
            <a:avLst>
              <a:gd name="adj" fmla="val 2601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1929" y="1965960"/>
            <a:ext cx="685800" cy="685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1929" y="19476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Blocks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74720"/>
            <a:ext cx="296661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97A0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•  </a:t>
            </a:r>
            <a:r>
              <a:rPr lang="en-US" sz="11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Constants, variables, predicates &amp; functions describe objects and relations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17720"/>
            <a:ext cx="296661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97A0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•  </a:t>
            </a:r>
            <a:r>
              <a:rPr lang="en-US" sz="11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Quantifiers (∀, ∃) and connectives (∧ ∨ → ↔ ¬) build full sentences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8218" y="1645920"/>
            <a:ext cx="3515258" cy="4297680"/>
          </a:xfrm>
          <a:prstGeom prst="roundRect">
            <a:avLst>
              <a:gd name="adj" fmla="val 2601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52948" y="1965960"/>
            <a:ext cx="685800" cy="685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52948" y="19476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521098" y="2834640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Core Pattern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12538" y="3474720"/>
            <a:ext cx="296661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97A0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•  </a:t>
            </a:r>
            <a:r>
              <a:rPr lang="en-US" sz="11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∀x(P(x)→Q(x)), given P(a), infer Q(a)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4617720"/>
            <a:ext cx="296661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97A0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•  </a:t>
            </a:r>
            <a:r>
              <a:rPr lang="en-US" sz="11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Universal Instantiation + Modus Ponens — the engine behind every example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19237" y="1645920"/>
            <a:ext cx="3515258" cy="4297680"/>
          </a:xfrm>
          <a:prstGeom prst="roundRect">
            <a:avLst>
              <a:gd name="adj" fmla="val 2601"/>
            </a:avLst>
          </a:prstGeom>
          <a:solidFill>
            <a:srgbClr val="F1F0FA"/>
          </a:solidFill>
          <a:ln w="12700">
            <a:solidFill>
              <a:srgbClr val="DCDC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3966" y="1965960"/>
            <a:ext cx="685800" cy="685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33966" y="19476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2834640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Worked Problems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93557" y="3474720"/>
            <a:ext cx="296661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97A0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•  </a:t>
            </a:r>
            <a:r>
              <a:rPr lang="en-US" sz="11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Mortality, courses, family, AND, NOT, and general KB reasoning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93557" y="4617720"/>
            <a:ext cx="296661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97A0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•  </a:t>
            </a:r>
            <a:r>
              <a:rPr lang="en-US" sz="115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Every one reduces to the same underlying pattern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463040" y="329184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0" dirty="0">
                <a:solidFill>
                  <a:srgbClr val="2925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9966960" cy="1234440"/>
          </a:xfrm>
          <a:prstGeom prst="roundRect">
            <a:avLst>
              <a:gd name="adj" fmla="val 5926"/>
            </a:avLst>
          </a:prstGeom>
          <a:solidFill>
            <a:srgbClr val="16143A"/>
          </a:solidFill>
          <a:ln w="12700">
            <a:solidFill>
              <a:srgbClr val="1614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43525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66344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4E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Adapted from lecture notes by Dr. Ohidujjaman Tuhin, Associate Professor.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4E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Core pattern: Universal Instantiation + Modus </a:t>
            </a:r>
            <a:r>
              <a:rPr lang="en-US" sz="1200">
                <a:solidFill>
                  <a:srgbClr val="C9C4E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Ponens </a:t>
            </a:r>
            <a:r>
              <a:rPr lang="en-US" sz="1200">
                <a:solidFill>
                  <a:srgbClr val="C9C4E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  <a:sym typeface="Wingdings" panose="05000000000000000000" pitchFamily="2" charset="2"/>
              </a:rPr>
              <a:t></a:t>
            </a:r>
            <a:r>
              <a:rPr lang="en-US" sz="1200">
                <a:solidFill>
                  <a:srgbClr val="C9C4E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1200" dirty="0">
                <a:solidFill>
                  <a:srgbClr val="C9C4E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∀x(P(x)→Q(x)), P(a) ⊢ Q(a).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1340</Words>
  <Application>Microsoft Office PowerPoint</Application>
  <PresentationFormat>Custom</PresentationFormat>
  <Paragraphs>267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 Nahid Ferdous Aurna</cp:lastModifiedBy>
  <cp:revision>3</cp:revision>
  <dcterms:created xsi:type="dcterms:W3CDTF">2026-09-15T20:21:47Z</dcterms:created>
  <dcterms:modified xsi:type="dcterms:W3CDTF">2026-09-22T03:13:42Z</dcterms:modified>
</cp:coreProperties>
</file>