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300" r:id="rId12"/>
    <p:sldId id="301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</p:sldIdLst>
  <p:sldSz cx="12192000" cy="6858000"/>
  <p:notesSz cx="6858000" cy="9144000"/>
  <p:embeddedFontLst>
    <p:embeddedFont>
      <p:font typeface="Corbel" pitchFamily="34" charset="0"/>
      <p:regular r:id="rId49"/>
      <p:bold r:id="rId50"/>
      <p:italic r:id="rId51"/>
      <p:boldItalic r:id="rId52"/>
    </p:embeddedFont>
    <p:embeddedFont>
      <p:font typeface="Calibri" pitchFamily="34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7" roundtripDataSignature="AMtx7mgE2fuF35hbLWv+0l6uykutsdGT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B92FA301-CADB-4BE1-8AAD-E5D0DC4E26FB}">
  <a:tblStyle styleId="{B92FA301-CADB-4BE1-8AAD-E5D0DC4E26FB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F1F4"/>
          </a:solidFill>
        </a:fill>
      </a:tcStyle>
    </a:wholeTbl>
    <a:band1H>
      <a:tcTxStyle b="off" i="off"/>
      <a:tcStyle>
        <a:tcBdr/>
        <a:fill>
          <a:solidFill>
            <a:srgbClr val="CDE3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E3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-1080" y="-2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customschemas.google.com/relationships/presentationmetadata" Target="metadata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3744564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9" name="Google Shape;13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6" name="Google Shape;14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4" name="Google Shape;1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6" name="Google Shape;23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" name="Google Shape;35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0" name="Google Shape;36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8" name="Google Shape;36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6" name="Google Shape;37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4" name="Google Shape;38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2" name="Google Shape;39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1" name="Google Shape;40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3" name="Google Shape;41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1" name="Google Shape;42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8" name="Google Shape;46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5" name="Google Shape;51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2" name="Google Shape;562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9" name="Google Shape;60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56" name="Google Shape;656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03" name="Google Shape;70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49" name="Google Shape;74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96" name="Google Shape;796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4" name="Google Shape;844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1" name="Google Shape;89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7" name="Google Shape;93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2" name="Google Shape;98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3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7" name="Google Shape;102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2" name="Google Shape;107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7" name="Google Shape;1117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2" name="Google Shape;1162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8" name="Google Shape;1208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2" name="Google Shape;125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95" name="Google Shape;129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3" name="Google Shape;134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0" name="Google Shape;1350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1" name="Google Shape;1351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4"/>
          <p:cNvSpPr txBox="1"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9600"/>
              <a:buFont typeface="Corbel"/>
              <a:buNone/>
              <a:defRPr sz="9600" b="0">
                <a:solidFill>
                  <a:srgbClr val="E2E2E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4"/>
          <p:cNvSpPr txBox="1"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 b="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5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6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502521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56"/>
          <p:cNvSpPr txBox="1">
            <a:spLocks noGrp="1"/>
          </p:cNvSpPr>
          <p:nvPr>
            <p:ph type="body" idx="2"/>
          </p:nvPr>
        </p:nvSpPr>
        <p:spPr>
          <a:xfrm>
            <a:off x="6319840" y="1825625"/>
            <a:ext cx="503396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5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8"/>
          <p:cNvSpPr txBox="1"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8"/>
          <p:cNvSpPr txBox="1">
            <a:spLocks noGrp="1"/>
          </p:cNvSpPr>
          <p:nvPr>
            <p:ph type="body" idx="1"/>
          </p:nvPr>
        </p:nvSpPr>
        <p:spPr>
          <a:xfrm>
            <a:off x="839788" y="4850581"/>
            <a:ext cx="10514012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2" name="Google Shape;42;p5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5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9"/>
          <p:cNvSpPr txBox="1"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9600"/>
              <a:buFont typeface="Corbel"/>
              <a:buNone/>
              <a:defRPr sz="9600" b="0">
                <a:solidFill>
                  <a:srgbClr val="E2E2E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9"/>
          <p:cNvSpPr txBox="1"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 b="0">
                <a:solidFill>
                  <a:schemeClr val="lt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8" name="Google Shape;48;p5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0"/>
          <p:cNvSpPr txBox="1"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60"/>
          <p:cNvSpPr txBox="1">
            <a:spLocks noGrp="1"/>
          </p:cNvSpPr>
          <p:nvPr>
            <p:ph type="body" idx="2"/>
          </p:nvPr>
        </p:nvSpPr>
        <p:spPr>
          <a:xfrm>
            <a:off x="1120000" y="2505075"/>
            <a:ext cx="5025216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60"/>
          <p:cNvSpPr txBox="1">
            <a:spLocks noGrp="1"/>
          </p:cNvSpPr>
          <p:nvPr>
            <p:ph type="body" idx="3"/>
          </p:nvPr>
        </p:nvSpPr>
        <p:spPr>
          <a:xfrm>
            <a:off x="6319840" y="1681163"/>
            <a:ext cx="503554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60"/>
          <p:cNvSpPr txBox="1">
            <a:spLocks noGrp="1"/>
          </p:cNvSpPr>
          <p:nvPr>
            <p:ph type="body" idx="4"/>
          </p:nvPr>
        </p:nvSpPr>
        <p:spPr>
          <a:xfrm>
            <a:off x="6319840" y="2505075"/>
            <a:ext cx="503554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6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6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6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3200"/>
              <a:buFont typeface="Corbe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6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62"/>
          <p:cNvSpPr txBox="1">
            <a:spLocks noGrp="1"/>
          </p:cNvSpPr>
          <p:nvPr>
            <p:ph type="body" idx="2"/>
          </p:nvPr>
        </p:nvSpPr>
        <p:spPr>
          <a:xfrm>
            <a:off x="1120000" y="2057400"/>
            <a:ext cx="365202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6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6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6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6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3200"/>
              <a:buFont typeface="Corbe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6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63"/>
          <p:cNvSpPr txBox="1">
            <a:spLocks noGrp="1"/>
          </p:cNvSpPr>
          <p:nvPr>
            <p:ph type="body" idx="1"/>
          </p:nvPr>
        </p:nvSpPr>
        <p:spPr>
          <a:xfrm>
            <a:off x="1120000" y="2057400"/>
            <a:ext cx="365202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6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6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6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4"/>
          <p:cNvSpPr txBox="1"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3200"/>
              <a:buFont typeface="Corbe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64"/>
          <p:cNvSpPr>
            <a:spLocks noGrp="1"/>
          </p:cNvSpPr>
          <p:nvPr>
            <p:ph type="pic" idx="2"/>
          </p:nvPr>
        </p:nvSpPr>
        <p:spPr>
          <a:xfrm>
            <a:off x="839788" y="987425"/>
            <a:ext cx="10515600" cy="3379735"/>
          </a:xfrm>
          <a:prstGeom prst="rect">
            <a:avLst/>
          </a:prstGeom>
          <a:noFill/>
          <a:ln>
            <a:noFill/>
          </a:ln>
        </p:spPr>
      </p:sp>
      <p:sp>
        <p:nvSpPr>
          <p:cNvPr id="81" name="Google Shape;81;p64"/>
          <p:cNvSpPr txBox="1">
            <a:spLocks noGrp="1"/>
          </p:cNvSpPr>
          <p:nvPr>
            <p:ph type="body" idx="1"/>
          </p:nvPr>
        </p:nvSpPr>
        <p:spPr>
          <a:xfrm>
            <a:off x="839788" y="5186516"/>
            <a:ext cx="10514012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2" name="Google Shape;82;p6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3200"/>
              <a:buFont typeface="Corbel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65"/>
          <p:cNvSpPr txBox="1">
            <a:spLocks noGrp="1"/>
          </p:cNvSpPr>
          <p:nvPr>
            <p:ph type="body" idx="1"/>
          </p:nvPr>
        </p:nvSpPr>
        <p:spPr>
          <a:xfrm>
            <a:off x="839788" y="4489399"/>
            <a:ext cx="10514012" cy="1501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6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6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6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6"/>
          <p:cNvSpPr txBox="1"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4400"/>
              <a:buFont typeface="Corbel"/>
              <a:buNone/>
              <a:defRPr sz="4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66"/>
          <p:cNvSpPr txBox="1">
            <a:spLocks noGrp="1"/>
          </p:cNvSpPr>
          <p:nvPr>
            <p:ph type="body" idx="1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4" name="Google Shape;94;p66"/>
          <p:cNvSpPr txBox="1">
            <a:spLocks noGrp="1"/>
          </p:cNvSpPr>
          <p:nvPr>
            <p:ph type="body" idx="2"/>
          </p:nvPr>
        </p:nvSpPr>
        <p:spPr>
          <a:xfrm>
            <a:off x="838200" y="4501729"/>
            <a:ext cx="10512424" cy="14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5" name="Google Shape;95;p6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6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6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66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6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Corbel"/>
              <a:buNone/>
            </a:pPr>
            <a:r>
              <a:rPr lang="en-US" sz="80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6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67"/>
          <p:cNvSpPr txBox="1"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03" name="Google Shape;103;p67"/>
          <p:cNvSpPr txBox="1">
            <a:spLocks noGrp="1"/>
          </p:cNvSpPr>
          <p:nvPr>
            <p:ph type="body" idx="2"/>
          </p:nvPr>
        </p:nvSpPr>
        <p:spPr>
          <a:xfrm>
            <a:off x="1356798" y="2571750"/>
            <a:ext cx="2927350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4" name="Google Shape;104;p67"/>
          <p:cNvSpPr txBox="1">
            <a:spLocks noGrp="1"/>
          </p:cNvSpPr>
          <p:nvPr>
            <p:ph type="body" idx="3"/>
          </p:nvPr>
        </p:nvSpPr>
        <p:spPr>
          <a:xfrm>
            <a:off x="4587994" y="1885950"/>
            <a:ext cx="29362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5" name="Google Shape;105;p67"/>
          <p:cNvSpPr txBox="1">
            <a:spLocks noGrp="1"/>
          </p:cNvSpPr>
          <p:nvPr>
            <p:ph type="body" idx="4"/>
          </p:nvPr>
        </p:nvSpPr>
        <p:spPr>
          <a:xfrm>
            <a:off x="4577441" y="2571750"/>
            <a:ext cx="2946794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6" name="Google Shape;106;p67"/>
          <p:cNvSpPr txBox="1">
            <a:spLocks noGrp="1"/>
          </p:cNvSpPr>
          <p:nvPr>
            <p:ph type="body" idx="5"/>
          </p:nvPr>
        </p:nvSpPr>
        <p:spPr>
          <a:xfrm>
            <a:off x="7829035" y="1885950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 b="0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7" name="Google Shape;107;p67"/>
          <p:cNvSpPr txBox="1">
            <a:spLocks noGrp="1"/>
          </p:cNvSpPr>
          <p:nvPr>
            <p:ph type="body" idx="6"/>
          </p:nvPr>
        </p:nvSpPr>
        <p:spPr>
          <a:xfrm>
            <a:off x="7829035" y="2571750"/>
            <a:ext cx="2932113" cy="3589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08" name="Google Shape;108;p6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6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6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68"/>
          <p:cNvSpPr txBox="1"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None/>
              <a:defRPr sz="2400" b="0">
                <a:solidFill>
                  <a:srgbClr val="EDEDE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4" name="Google Shape;114;p68"/>
          <p:cNvSpPr>
            <a:spLocks noGrp="1"/>
          </p:cNvSpPr>
          <p:nvPr>
            <p:ph type="pic" idx="2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352"/>
              </a:srgbClr>
            </a:outerShdw>
          </a:effectLst>
        </p:spPr>
      </p:sp>
      <p:sp>
        <p:nvSpPr>
          <p:cNvPr id="115" name="Google Shape;115;p68"/>
          <p:cNvSpPr txBox="1">
            <a:spLocks noGrp="1"/>
          </p:cNvSpPr>
          <p:nvPr>
            <p:ph type="body" idx="3"/>
          </p:nvPr>
        </p:nvSpPr>
        <p:spPr>
          <a:xfrm>
            <a:off x="1332085" y="4873765"/>
            <a:ext cx="2940050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6" name="Google Shape;116;p68"/>
          <p:cNvSpPr txBox="1">
            <a:spLocks noGrp="1"/>
          </p:cNvSpPr>
          <p:nvPr>
            <p:ph type="body" idx="4"/>
          </p:nvPr>
        </p:nvSpPr>
        <p:spPr>
          <a:xfrm>
            <a:off x="4568997" y="4297503"/>
            <a:ext cx="293052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None/>
              <a:defRPr sz="2400" b="0">
                <a:solidFill>
                  <a:srgbClr val="EDEDE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17" name="Google Shape;117;p68"/>
          <p:cNvSpPr>
            <a:spLocks noGrp="1"/>
          </p:cNvSpPr>
          <p:nvPr>
            <p:ph type="pic" idx="5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352"/>
              </a:srgbClr>
            </a:outerShdw>
          </a:effectLst>
        </p:spPr>
      </p:sp>
      <p:sp>
        <p:nvSpPr>
          <p:cNvPr id="118" name="Google Shape;118;p68"/>
          <p:cNvSpPr txBox="1">
            <a:spLocks noGrp="1"/>
          </p:cNvSpPr>
          <p:nvPr>
            <p:ph type="body" idx="6"/>
          </p:nvPr>
        </p:nvSpPr>
        <p:spPr>
          <a:xfrm>
            <a:off x="4567644" y="4873764"/>
            <a:ext cx="2934406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19" name="Google Shape;119;p68"/>
          <p:cNvSpPr txBox="1">
            <a:spLocks noGrp="1"/>
          </p:cNvSpPr>
          <p:nvPr>
            <p:ph type="body" idx="7"/>
          </p:nvPr>
        </p:nvSpPr>
        <p:spPr>
          <a:xfrm>
            <a:off x="7804322" y="4297503"/>
            <a:ext cx="293211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None/>
              <a:defRPr sz="2400" b="0">
                <a:solidFill>
                  <a:srgbClr val="EDEDE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0" name="Google Shape;120;p68"/>
          <p:cNvSpPr>
            <a:spLocks noGrp="1"/>
          </p:cNvSpPr>
          <p:nvPr>
            <p:ph type="pic" idx="8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352"/>
              </a:srgbClr>
            </a:outerShdw>
          </a:effectLst>
        </p:spPr>
      </p:sp>
      <p:sp>
        <p:nvSpPr>
          <p:cNvPr id="121" name="Google Shape;121;p68"/>
          <p:cNvSpPr txBox="1">
            <a:spLocks noGrp="1"/>
          </p:cNvSpPr>
          <p:nvPr>
            <p:ph type="body" idx="9"/>
          </p:nvPr>
        </p:nvSpPr>
        <p:spPr>
          <a:xfrm>
            <a:off x="7804197" y="4873762"/>
            <a:ext cx="2935997" cy="659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122" name="Google Shape;122;p6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6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6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69"/>
          <p:cNvSpPr txBox="1">
            <a:spLocks noGrp="1"/>
          </p:cNvSpPr>
          <p:nvPr>
            <p:ph type="body" idx="1"/>
          </p:nvPr>
        </p:nvSpPr>
        <p:spPr>
          <a:xfrm rot="5400000">
            <a:off x="4061231" y="-1115606"/>
            <a:ext cx="4351338" cy="102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6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6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6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7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7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7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7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  <a:defRPr sz="5400" b="0" i="0" u="none" strike="noStrike" cap="none">
                <a:solidFill>
                  <a:srgbClr val="ECF5D9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3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rgbClr val="E9F6F9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rgbClr val="D6EEF2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6EEF2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rgbClr val="D6EEF2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2" name="Google Shape;12;p5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3" name="Google Shape;13;p5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EDEDED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endParaRPr/>
          </a:p>
        </p:txBody>
      </p:sp>
      <p:sp>
        <p:nvSpPr>
          <p:cNvPr id="14" name="Google Shape;14;p5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3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lideshare.net/imamhossain75054/ai-5-local-search" TargetMode="External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" descr="Cute yellow robot"/>
          <p:cNvPicPr preferRelativeResize="0"/>
          <p:nvPr/>
        </p:nvPicPr>
        <p:blipFill rotWithShape="1">
          <a:blip r:embed="rId4">
            <a:alphaModFix amt="12000"/>
          </a:blip>
          <a:srcRect t="25208" b="1816"/>
          <a:stretch/>
        </p:blipFill>
        <p:spPr>
          <a:xfrm>
            <a:off x="20" y="1"/>
            <a:ext cx="12191980" cy="5938683"/>
          </a:xfrm>
          <a:prstGeom prst="rect">
            <a:avLst/>
          </a:prstGeom>
          <a:noFill/>
          <a:ln>
            <a:noFill/>
          </a:ln>
          <a:effectLst>
            <a:reflection stA="55000" endPos="15000" sy="-100000" algn="bl" rotWithShape="0"/>
          </a:effectLst>
        </p:spPr>
      </p:pic>
      <p:sp>
        <p:nvSpPr>
          <p:cNvPr id="142" name="Google Shape;142;p1"/>
          <p:cNvSpPr txBox="1"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2E2E2"/>
              </a:buClr>
              <a:buSzPts val="9600"/>
              <a:buFont typeface="Corbel"/>
              <a:buNone/>
            </a:pPr>
            <a:r>
              <a:rPr lang="en-US"/>
              <a:t>Artificial Intelligence</a:t>
            </a:r>
            <a:endParaRPr/>
          </a:p>
        </p:txBody>
      </p:sp>
      <p:sp>
        <p:nvSpPr>
          <p:cNvPr id="143" name="Google Shape;143;p1"/>
          <p:cNvSpPr txBox="1"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</a:pPr>
            <a:r>
              <a:rPr lang="en-US"/>
              <a:t>Adversarial Search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 dirty="0" err="1"/>
              <a:t>Multiagent</a:t>
            </a:r>
            <a:r>
              <a:rPr lang="en-US" dirty="0"/>
              <a:t> environments</a:t>
            </a:r>
            <a:endParaRPr dirty="0"/>
          </a:p>
        </p:txBody>
      </p:sp>
      <p:sp>
        <p:nvSpPr>
          <p:cNvPr id="149" name="Google Shape;149;p2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 dirty="0"/>
              <a:t>Each agent needs to consider the actions of other agents and how they affect its own welfare.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 dirty="0"/>
              <a:t>The unpredictability of these other agents can introduce contingencies into the agent’s problem-solving process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 dirty="0">
                <a:solidFill>
                  <a:schemeClr val="accent6"/>
                </a:solidFill>
              </a:rPr>
              <a:t>Competitive environments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 dirty="0"/>
              <a:t>the agents’ goals are in conflict, giving rise to adversarial search problems—often known as games.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 dirty="0">
                <a:solidFill>
                  <a:schemeClr val="accent6"/>
                </a:solidFill>
              </a:rPr>
              <a:t>Co-operative environments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 dirty="0"/>
              <a:t>taxi-driver</a:t>
            </a:r>
            <a:endParaRPr dirty="0"/>
          </a:p>
        </p:txBody>
      </p:sp>
      <p:sp>
        <p:nvSpPr>
          <p:cNvPr id="150" name="Google Shape;15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51" name="Google Shape;15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Game Theory</a:t>
            </a:r>
            <a:endParaRPr/>
          </a:p>
        </p:txBody>
      </p:sp>
      <p:sp>
        <p:nvSpPr>
          <p:cNvPr id="157" name="Google Shape;157;p3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 dirty="0"/>
              <a:t>In AI, the most common games are of a rather specialized kind—what game theorists call deterministic, turn-taking, two-player, </a:t>
            </a:r>
            <a:r>
              <a:rPr lang="en-US" dirty="0">
                <a:solidFill>
                  <a:schemeClr val="accent6"/>
                </a:solidFill>
              </a:rPr>
              <a:t>zero-sum</a:t>
            </a:r>
            <a:r>
              <a:rPr lang="en-US" dirty="0"/>
              <a:t> games of </a:t>
            </a:r>
            <a:r>
              <a:rPr lang="en-US" dirty="0">
                <a:solidFill>
                  <a:schemeClr val="accent6"/>
                </a:solidFill>
              </a:rPr>
              <a:t>perfect information </a:t>
            </a:r>
            <a:r>
              <a:rPr lang="en-US" dirty="0"/>
              <a:t>(such as chess).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 dirty="0"/>
              <a:t>Deterministic, Fully observable environments in which two agents act alternately and in which the utility values at the end of the game are always equal and opposite.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 dirty="0"/>
              <a:t>For example, if one player wins a game of chess, the other player necessarily loses. </a:t>
            </a:r>
            <a:r>
              <a:rPr lang="en-US" dirty="0">
                <a:solidFill>
                  <a:schemeClr val="accent3"/>
                </a:solidFill>
              </a:rPr>
              <a:t>It is this opposition between the agents’ utility functions that makes the situation adversarial.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 dirty="0">
                <a:solidFill>
                  <a:schemeClr val="accent6"/>
                </a:solidFill>
              </a:rPr>
              <a:t>Zero-sum</a:t>
            </a:r>
            <a:r>
              <a:rPr lang="en-US" dirty="0"/>
              <a:t> is a situation in game theory in which one person's gain is equivalent to another's loss, so the net change in wealth or benefit is zero.</a:t>
            </a:r>
            <a:endParaRPr dirty="0"/>
          </a:p>
        </p:txBody>
      </p:sp>
      <p:sp>
        <p:nvSpPr>
          <p:cNvPr id="158" name="Google Shape;158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59" name="Google Shape;15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Adversarial search</a:t>
            </a:r>
            <a:endParaRPr/>
          </a:p>
        </p:txBody>
      </p:sp>
      <p:sp>
        <p:nvSpPr>
          <p:cNvPr id="165" name="Google Shape;165;p4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None/>
            </a:pPr>
            <a:r>
              <a:rPr lang="en-US"/>
              <a:t>competitive environments, in which the agents’ goals are in conflict, giving rise to </a:t>
            </a:r>
            <a:r>
              <a:rPr lang="en-US">
                <a:solidFill>
                  <a:schemeClr val="accent6"/>
                </a:solidFill>
              </a:rPr>
              <a:t>adversarial search </a:t>
            </a:r>
            <a:r>
              <a:rPr lang="en-US"/>
              <a:t>problems—often known as games. </a:t>
            </a:r>
            <a:br>
              <a:rPr lang="en-US"/>
            </a:br>
            <a:endParaRPr/>
          </a:p>
        </p:txBody>
      </p:sp>
      <p:sp>
        <p:nvSpPr>
          <p:cNvPr id="166" name="Google Shape;16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67" name="Google Shape;16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Adversarial search</a:t>
            </a:r>
            <a:endParaRPr/>
          </a:p>
        </p:txBody>
      </p:sp>
      <p:sp>
        <p:nvSpPr>
          <p:cNvPr id="173" name="Google Shape;173;p5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r="-124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74" name="Google Shape;17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75" name="Google Shape;17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Games</a:t>
            </a:r>
            <a:endParaRPr/>
          </a:p>
        </p:txBody>
      </p:sp>
      <p:sp>
        <p:nvSpPr>
          <p:cNvPr id="181" name="Google Shape;181;p6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414" t="-2239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182" name="Google Shape;18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83" name="Google Shape;18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Games</a:t>
            </a:r>
            <a:endParaRPr/>
          </a:p>
        </p:txBody>
      </p:sp>
      <p:sp>
        <p:nvSpPr>
          <p:cNvPr id="189" name="Google Shape;189;p7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The initial state, ACTIONS function, and RESULT function define the </a:t>
            </a:r>
            <a:r>
              <a:rPr lang="en-US">
                <a:solidFill>
                  <a:schemeClr val="accent6"/>
                </a:solidFill>
              </a:rPr>
              <a:t>game tree </a:t>
            </a:r>
            <a:r>
              <a:rPr lang="en-US"/>
              <a:t>for the game—a tree where the nodes are game states and the edges are moves.</a:t>
            </a:r>
            <a:endParaRPr/>
          </a:p>
        </p:txBody>
      </p:sp>
      <p:sp>
        <p:nvSpPr>
          <p:cNvPr id="190" name="Google Shape;190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91" name="Google Shape;191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Game Tree</a:t>
            </a:r>
            <a:endParaRPr/>
          </a:p>
        </p:txBody>
      </p:sp>
      <p:sp>
        <p:nvSpPr>
          <p:cNvPr id="197" name="Google Shape;19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98" name="Google Shape;19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99" name="Google Shape;199;p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020508" y="1438708"/>
            <a:ext cx="6433560" cy="4917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The minimax algorithm</a:t>
            </a:r>
            <a:endParaRPr/>
          </a:p>
        </p:txBody>
      </p:sp>
      <p:sp>
        <p:nvSpPr>
          <p:cNvPr id="205" name="Google Shape;20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206" name="Google Shape;20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07" name="Google Shape;207;p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802562" y="1825625"/>
            <a:ext cx="8869451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The minimax algorithm</a:t>
            </a:r>
            <a:endParaRPr/>
          </a:p>
        </p:txBody>
      </p:sp>
      <p:sp>
        <p:nvSpPr>
          <p:cNvPr id="213" name="Google Shape;21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214" name="Google Shape;21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15" name="Google Shape;215;p10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502521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ct val="100000"/>
              <a:buChar char="•"/>
            </a:pPr>
            <a:r>
              <a:rPr lang="en-US" dirty="0"/>
              <a:t>Given a game tree, the optimal strategy can be determined from the </a:t>
            </a:r>
            <a:r>
              <a:rPr lang="en-US" dirty="0" err="1"/>
              <a:t>minimax</a:t>
            </a:r>
            <a:r>
              <a:rPr lang="en-US" dirty="0"/>
              <a:t> value of each node, which we write as MINIMAX(n).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ct val="100000"/>
              <a:buChar char="•"/>
            </a:pPr>
            <a:r>
              <a:rPr lang="en-US" dirty="0"/>
              <a:t>The </a:t>
            </a:r>
            <a:r>
              <a:rPr lang="en-US" dirty="0" err="1"/>
              <a:t>minimax</a:t>
            </a:r>
            <a:r>
              <a:rPr lang="en-US" dirty="0"/>
              <a:t> value of a node is the utility (for MAX) of being in the corresponding state, assuming that both players play optimally from there to the end of the game.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ct val="100000"/>
              <a:buChar char="•"/>
            </a:pPr>
            <a:r>
              <a:rPr lang="en-US" dirty="0"/>
              <a:t>Obviously, the </a:t>
            </a:r>
            <a:r>
              <a:rPr lang="en-US" dirty="0" err="1"/>
              <a:t>minimax</a:t>
            </a:r>
            <a:r>
              <a:rPr lang="en-US" dirty="0"/>
              <a:t> value of a terminal state is just its utility.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ct val="100000"/>
              <a:buChar char="•"/>
            </a:pPr>
            <a:r>
              <a:rPr lang="en-US" dirty="0"/>
              <a:t>Furthermore, given a choice, MAX prefers to move to a state of maximum value, whereas MIN prefers a state of minimum value.</a:t>
            </a:r>
            <a:endParaRPr dirty="0"/>
          </a:p>
        </p:txBody>
      </p:sp>
      <p:pic>
        <p:nvPicPr>
          <p:cNvPr id="216" name="Google Shape;216;p10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206991" y="5021826"/>
            <a:ext cx="5151991" cy="1018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10"/>
          <p:cNvPicPr preferRelativeResize="0"/>
          <p:nvPr/>
        </p:nvPicPr>
        <p:blipFill rotWithShape="1">
          <a:blip r:embed="rId4">
            <a:alphaModFix/>
          </a:blip>
          <a:srcRect t="1844" r="27571" b="31391"/>
          <a:stretch/>
        </p:blipFill>
        <p:spPr>
          <a:xfrm>
            <a:off x="6206992" y="1345224"/>
            <a:ext cx="5146808" cy="34972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sp>
        <p:nvSpPr>
          <p:cNvPr id="5" name="AutoShape 2" descr="data:image/png;base64,iVBORw0KGgoAAAANSUhEUgAAAbgAAAE+CAIAAABwQZIhAAAQAElEQVR4Aey9BYBdRZY+fk7d+6zd0hJ3d3d3iEGIY8F1GN+d3dn/7m93nBkG90BCSCACCcTd3T0d7aS70+7y5N6q/3ffTZoMEhJIICGv+F71uXVP2amq756qYgahQiFkgZAFQhYIWeCbLVBWViYoFEIWCFkgZIGQBb7ZAh6PJ0SU32ye0JuQBUIWCFkgaIGbgiiDLbkdI0XqMpC63AZ4sIFEW7DiS+qWrvWMl0HYMmLrCX8ASwr9Qhb4kgUwM4DLEi9NKWsq0hfzCkq3Fy63Q1D+wkbMHCLKL8zxw0tSmabySTIkmSZJa2LiJ0kFgfYoBCkxfZXCe9N6QSYBeLQgpZJSmgoZCGqmsgpBOdYzSkIJIYQs8IUFMEcUKaWkaWLaSMLcAjD3DEMZpgyY6rYEOi4DUll2kNZKNIOWUbZpsM78fn+IKL+YRT+8xCSDMJXC3JWYqqA6EKFiUoxhwrzGtLbbJUjg5o2UZCURA0oiFyICJSqJgPGlYJZgDqQG/4aikAUuWQBe40XRmmKkzID0+0xvpb+iIlBeESir8BZXeEsuATJgP0IAviojBekABAACAAGAYAMycGUZb6EDQAAgABAACDYgA1eW8RY6AAQAAgABgGADMvCFXO4tK/dWWLG/vNworzQqvKbXVFiLKri2yOfzhYjy4sShH+MvKyFMXUhdU5qDdY0F5q/J0mDpZ9Mn/YY0AobhDxg+v1HpMwzQJwuDdYP0AOkmayQ0Zk0SMloykUA/BCkAZAs5hJAFvrAAK+xOmKTANGGF2eUPeL3e8jJvaYW3tNxbWuYtuw2Bvld4yyp8ZRWVpeUVJeWVpRXecr+/UiqDWTETM8NgX5gxJP3gFtCJnaQ0gp+oFJMCwSlpVFQUn8s4tefAju1bN61btWLF0sXr1q7eu2fPsaPHs7JyfT4/1CWmvDXtSRLj24fdu1RCWURpjSmTZMLrH7xDoQpvagsoRdbXVrFpqoAvUOH1l3v9lQHDCximP0AB4xIgA/YjBOCrMlKQDkAAIAAQAAg2IANXlvEWOgAEAAIAAYBgAzJwZRlvoQNAACAAEAAINiADl8t4lOQ3pR8WMGTQLQlUVPrL/YaXWCohMaTWosKfEH4UC4DJDEUmc8A0iwoL006e2LFh7dwZ017+6x9e+dP/Tvvn828+/8d3X/rre6/+490X//La8//30t/+9x9//t9XX3h+3qxZ+3fsuHDuXFlJsTIMjVkTgphR4MWOQFLBjcPF59CfkAUUMYygiKxT7IAZ8PoqwJUm+ViYrJlKM0lIJUwbkIEry3gLHQACAAGAAECwARm4soy30AEgABAACAAEG5CBK8t4Cx0AAgABgABAsAEZuFy2HuFssEHCIMRYjjLg91f4A+WG8hGbsJrAL4QfzAIyGAKBAP76/f6AkhVkZhbkbd+17aMPp7/9yj8+fueN/etXV55Pq+V2dW1Qf0jX1ncP6j7pzr53D+7Rv1Pz1nUT43Vf3umD25Z/+vE7L73/+j8+/ejDvTu3lBYVgC5JKVMqiVUgIYIlsSR+sJ6FKrqFLMBKKX/AZ0iDrG0H5ok1aXCug21IFXB1aOPylCoZUwzAJsjWMaRpYOqRshXsRFv+2hgKyP7FK8KVycW8XySytS2yH219JUBa36Jp619DDBOwkvh4wHlEDLAEjUo2vX5fRUWZxGUBUYgof9D5jcMO2B0xoOu6L+BNO39y9uz3Xnv5+VVLPvEX53RsWndk3+73jxx+353DxvTrObx318E9Owzo0npw93Z39OkMuhw3rPeUkQPGDOzarGZsSebpJfM+fOX5Py//fEHWhfPSxPEmpi5hGZgBA/EP2rdQZTe7BbDhYLJO21gp8AEiUowUxGi6ws/SUHQxJssBZcTBFDCFJoT1SKAWTC4FmZTFIIJxvq7peIvS8AbMoqy3F8sJZv+SLMjaA1klSHAaaUIg5Us6lz9qQgCgYmQJaqrL334v2eoOWc2FwJYgvxCUCQrFI1ndDP4NRT+IBTCLOBh8Ph9O0TeuXfX2P/+2Yu6s5HDtwbuGPzZh9LDenTo0q1snKTo2whHlEWFO8mjKJaRHk1FOFRemJ8e4G1aP79Kq0ahBPR6eOOae4f2To1wfz3j37VdeOnJwf0W59QGUUukOh4KX8IN0KlTJrWMBUIqmyDrLxuwAqloOpmDFbJEaYgtCcRCCg+lgDGUogmtnKpaskS4s4FCdrUQpSAqWKBqvNI0dGmmsbM61SvuqLPEpN6HAFhuhTPX1ahxMhxtpBiRJlK+RYjSGlZWXrbcQADs7YsgABAACAAGAYAMycJls0yDT14WLqeLr3oXSbqAFmC3TFxcXL1myZM7772OXPX5Av4fHjOjdpnmNuLAot3BqBgm/FP6A8hvKNK3vumZFShl+r6akwKwxfJEeZ+2kmL5d2k6dOLZX5/anjh1+4+WXVixbVl5ezsxSEovvOLg3sPOhon9kCwRdJhJSWTOErFklQDhEFIzxFuxWBVChg5X1SFJjadEfkyYU0nVN6EoySaGRQ2MHS/AdqEcXoEh2CBKkBCs9CI0V8GVZgGeD6QIFWprQAb6sxpaORpJRi85OzH1LJsc3lPyNJQT1v6FwYgoCRrgErB0kElnphIBnxCHcIAvAg5TY5RB4S0LGp5cMKfMLC5cvXfzpx7PrxEePG9hvzIDe9arFOZTPKRQrn5Q+qQxMOnySSTgV6aY1WpoQuqY7WAjsdDBsQklNqUi3nhQXMXxA71FD+5nekkWfzFm5bHFpcbGUFlPavVLBYMuh+Ca3AMYKLURcBTx+E6p0qgRo2nKVgMcqmZSyKBHPFyU8IwWMwKyYFDNdDkuPLqaQETAz0jMz0y/k5eRXVnjNAKgRykKaqqy0PDsrJ/18BuLy0goliSTmr1VgsEyQJqMcgK3SLj0q8lb6igqLUZqlFnxHwYBy8ZfxCwKCAE/CffAF8vMLSovLoE/BopiCpSlCNwh6BMES8QMIwUoMvlaWJpNg6F3sKaSqqoKtRcJFBA1EVnGIAKw4xCHcEAtgqCT5CawH2jIIH8OAEtmlpfM/++ST2R+kOHncgF6dWzUK00wh/PhCB1QAN+BCONyayyk1p8RnEwPJ1rQjNo0AgW0BTG9iSRg7AUJ0sFEzzt2nbcN77+wdI8o+/3j67p1b/AYOKcG7F/tlr5aLD6E/N7EFMFIYUxvf2kwoA7aaaZrIZRj4EAeniFKQ8RaJNmw1tv6YJEzWDSXwCQalIUkIOG7EjGmF+5KLkMwowCA2pTIzL5yfN2fOX//0lzdff+P0iVOYWzrIS5K/0rdr+87XX3n1D3/4w/xP5p46fUIRTsj9OLOEYMoAYJh+ZmVK699hI6EMGVAkyyvLjxw7/P6M93bv3eU3fIqlYlNxQFIAAmtSsoFHNBUC5nulryL15PEZH0zfuHmD119pmAETJZGJ0lAm1BQbkgMQGMdOjEIMQ/lNFZCM9iv0DUBXGSawuomOA5YF0EtSVqr1g4SPBixgeTV4a5C1yCQWG/KGcOMsIKTCDGBMQsLE8fs2r1u7cM5HidGeu+8YWDMx1qlrmkaM+vEDCKxoDZFUpDBNlFbmN7MLS7LyikoqfIZEGUJKaFtZlLLGjxHLQJTH1bRB3THDh2qmsWjBp+fS0swALtWlUgrazIyFBOGWwe3aUIyUlNaoYecAG2D45DcHKFTpe73e8+fPZ2dnl5eXG4aB4cbEQnaUAx0AsjWlyJo5wYl2uUR0WTIFA/SlxCecITBTdHR0tYRqJ06cWLRo0dKlS4uKigwQkVJlZWW7d+/+fNGi1OOp9erVq169OjOjUrxFAwA8OhwOdAkyCkZvICCGfOHChf3796enp6O1yEQKupqug+cogA+9Ik1zBAKmaYCy8YrRO+inpqYGAgFUoes6UhGjt4ZhSknMmsKq8RuWB8pC152aphNZXiT6ghpRr2EaEL4C/lKK/WzHAuFLr0OP19cCTAIjh6lGjFlqZp0/t2nVMg8HhvXt3qx+TY8L4ygw2HhpzRLCd4sVWcC3Fd/T3OKKtVt2vTNj1uvTZq7euDW3qMyEjrX5ZmSRJoiSQbMqIJVhOFg0aVC/W8cOeZnpSz6ZX5SXw6gVzIsZRKFwa1hAKYVVaVMJVvWVGw1lADrQrKioWLBgwauvvor46NGjxcXFhmHgFRTw1hYQXz2qMiILmgSibNW6VZcuXTwez4YNGw4ePOjz+ZAO8jJN0+N2JycnNW/ePCoqChlBZGVlZWgSBDxCs6y0tKK8XJqmktJbWYnFAPasW6fOmNGj27RurQmtorzSW+n3e3EOb3gr/KZfKZPLyypNQ0qTfD4/PIqaNWqMHjWqa5cuTjCvlJWVleVlZZUVFQF/QBpKGhSEMgOowu+t9EPwewO+ykDAQCnS6/UahsFwbpVCp64JWJnXpB9SvgYLWDzFjI+bNS6CyooLd2xcm3fu1JAenbu1burRAsr0YjpIApPhBAUUyEQWFMH1Z0OJ9OzCBUtXf7xw5UcL1nyyaMXRU2nlPuwF8JFkECVOyzF+IEqHJlxCOEhGuJxdOrSpXyNl1eLPdm7e7PVWEmFOKsSY04hDuMktgJVcUlICmkNcFgyl3xzw3lYrKirKz88/fPjwrFmzXnjhhb///e9z586F84VyJCZXcA4wW1Pr6ruPCQNnjRm5MEEl+C42NrZHjx7du3dHseDKwsJCCFlZWTFWiHVawR3wGydOnFyzeu2qVatXrlyVmnqyqKj40MHDSxYv/fyzRfv27j9y5Oia1Wv37N6blZmVl5fv9weKi0pwUrl/78HPP1u8csXqgwcOb9q0ddGiJYcOHj1zKm3JouXLlq44ezqtpLi0qKjY5/VXVFTCq8jPzV+zas3y5Ss/mf/pnI/nIktJcZlpqNTUU6tXrV2+bOW+vQeKi0rT0y+sWL5yyeIlqHfLli0rV64EszNbnbp6U7jdbiy0q9cPaV6zBZQkgs8nWCqjoDD38L5d9ZPie7Ru7mHsDvwCZGjxmEIgAkcyW+6kUKSZSuBO5+S59HOZucm1aselJJxOzzly4mxRudfErhxqihw6GJMUVgImiBkQ0hDSXyMutluHNk4Z2Lh2ZW5ODtYJZjwFlwriEK7FAj+C7vLly//2t7/9+c9//stf/vKnP/3pj3/845+uGHAy+Mc//hFZ4Evu27cPzHXq1KklS5Y8//zzv//971977bXNmzeXlpZiGgTnmPXJvPpeIZdpmpg/zGznSkpKGjx4cNOmzfbs2Xv69OmzZ89CITExETpSKvgEXq//5InTR48eKy+r2L5t5/x5n+TnFTqdrjNnzkLevm1HQV6hNFW4J9zlcBXmFc77eN7WLduMgGEacv26jXPnzD9+7EROdu6Sxcvem/Y+iiouKgGBrlqxurSkrLS49JN5nyxbshzEevrUmb179p1PO7d61ZoPZswEk0rJO3fsee/dGXv3HCgpLl+5fPWWLdsry32HDx/F92PHju3bAkF2IwAAEABJREFUtm2bM2fOmTNnlLo2O+CDESJKewLcqFgwtt6KmH1+b2bmuYy0M3VTkpNjot0Ojc0A63hPmGQa4zQd5Ac+w5RkbJmUJgpKSg4fPeYNBNp37NyseSufSUdPnCooLPH6DQx0cBej8KFHVhaYx0oX1r804dTMOtUTmzSok552Ku3sGcxjQqnKOv6BEMJNboFDhw59+umnH3/88ezZs7G8P/q2MG/evNmzZ8N/RC5QgBEMGHT4TVu3bv3www/feustEAR2qcyYJNfWe2ZMrosUARmZ/X5/3bp1e/Xq6fV6N27ceOzYMXhb2G6DSvAWOnjESWXbtu3q1KkLHfibyFK7dp1+ffsnJybt3L4j7fSZ9m3bNWzQMDYmtlHDRn6v31fpdTtc9evWj4+NNwNGSlJy+zbtwt1h3vLK5MTkTh06eVzu9HPnlWE2qt8Ix1IVpWXwO2Kioju0a1+rRi1fRWXD+g1QIxPv3Llzz+49FeUVbqe7sKAo7czZiIjIpMQk05RxcXHwhTt37gzhWokS+hetgE6GcP0toMi6mrFu48xKn/fAwf1lpUX1a9aIdLlxQs6asA5srFoVWzE20/jL+DCaJpmsn8vI2Lt3t1PX2iN06KA73afOnMu4kG1IhflrHWORCtYgETNJwZLJFGQmJcS0a9PcNLzHjh7FCsEwA1YNod9NbwF4Z02bNm3QoEGTqwsNGzZsHAz169fHDtj66GoaiBIngNWqVUNRSAeRYQIAxJhgV2sCSz+oC+7FX5QM4sOZIw4rO3XqVLNmDey+09LS4GO63W7UKE0JTSiAr8+dOwcB7IlCpJQul6tlyxZ9evcpKijcvGlzcWER+M6pO0B2YR4PyBHNEgQ30x0bHR0fGxsVGeFxu8I87sjwsLiY6DC3GwoO3eF2ucLDwuEdwL+oV6cucPb0GaQPHzo0OSmxtLQ4I+N8WXkJYw3IQLv2bRo2ahAW5nY6HVgsCQnV2rVrN2HChHr16qNh6NHVgxlFXr16SPPaLaAM7Ecwyqq4tPTM2dOYAcnYp1jlCCk0hQtvImsnbaUEf3jAsGhaUWnp3v0HM9Kz6teuUT0pqWmTxjgsv5Cdc+jo0cLiUgOzT5Fp+ZOkGFAK1EtSKjijpqbJJo3qxEVHnk8/h22XUgqzPFh6KLrZLYCN7X/9139h3/3nP/8Ze+o//elPiK8AaD7//PP/93//97vf/a5169agJKfTWbt27VGjRv36179G4rPPPtu1a9ewsDBMK0zEa+0/Jo+dBZfpaWfTDh48mJubm5yc3KtXLxBxSkoKeLOgoKCioqKgsDAj4wKwevXa48dPeDzhzFpZWUV5Oa5bvOfS0uNi43v06JWfXzh9+gcHDx4uLS3Pzs7FxPX5An6/4fN5CwryAgGfYfgLC/MBpUw85ufnlpWVwC2FWkFBEeJKOB1eP0peu3b99u0727ZtX716zT27dhYX5NevUzsxPs4F36JN6z49e7Rs1lQoWVlW6vf5iouL0JeEhATGelFwLexuXVWM3omrUgwpfVcLMGNYiASXVZRl5+ZguxEZEWEaknVHQILgBGjOLpuJLLDGJIhFRmbmnr37NcKDPHPmZPr5c1gDuLs7evR4bn6+HyVAUxMYcEmWJ4nCiJUpDWapyIyNjYmKjMABPz7sUkpMESklhcJNb4EaNWq0atWqdTC0bNmyzbcF6EAfaN68ec2aNeE/Dhky5LnnnvvFL34xduzYtm3bxsbGotO6HjzOxnTBw7UAMwfuGGKw4f4DB0CUe/bsAWl26Nhh5MiRbdq0vnAhExvwiIhwh8OBc8CiokJsvTHrjh49CspG+okTJ3bt2rV6zaq0c2nVq6fAAz2bdnb16tW7du3cu2+vrmuGaeBc9djxY8UlRfDcTp85dfjIIcxkr78y9cTxQ4cP4tgqYASgAH03vEqXE8ejJ0+eSE1N1TSRn5+3etWqffv3utzO/gP69evfN78gb9nypTt37SivKMvITM/OyXI4dTQS/i88X7TzWgxg6WLtCOtv6HdjLIBpqTQ2iUxTGf5ASUGBx+3E0JrWhpyYsUUiUroiXYLkSMErtI40icCDp06lnTx9ocQbOHry9Ly5n8z9eP7Zs+llXvNkxoUDqSdLvH5JukWJZCpmgx0Bdhmsw3PEJ1TH9XeYW3doxcXFmLLMfGP6Fyr1+lsAI6hpmh2DaDRNA8d9E6DGbA0uFLD/xRkc+BFe5Pjx47Fxx04c6bYOBwNZutfQZvBjMJ8VwXMcOHjAlPsnt2nfOjImon7DegMG92/QuEGN2jWGDB/8b//xb//xn//Wu3f3uvVqjRw1/N77Jnbv0Xny5HFPPvlYl64dGjSo06Nnt87dO3br2eWxJx/+1W9/OeSOQQ0a1+/Rq+vTzz01ccr4eg3rNG7a6JHHHn70iUdQfrsObZ98+omHH32oXce2nbp2fPypxx98+P6mLRq369DmmeeeeuLpx+o3qlOvUZ0p90/6+a+fG3X3iAFD+o++a1TturUaNWk4cfKEBx96oFefnh07d6hRKyWlRtKIUSN+/etfDhk6OKV6IsGpYKw0iYV3DYYg+CvXpB5SviYLYEgE3EZiIRS+Zf4AYsIeWZA0TfxVJorTFOFzxQrKSuHjaUozOyd75+492HHUr5vSu1eP/n369O/dZ8jAQY0a18/OL9qybeeFrFzTomElCH+EZN1kB5GmC02Q1Ih1TejBf9cMH0NmRjXMVgwhhJvfApqmMTPiKzdVCFHlH8XHxw8LBpxLRkZGIh0lIDt0bAHxd5gByIVCmDkyMqJV6xbtO7Rt2Kh+RGSY06VHx+Cw3ZFQLa5Fy2Zdunbq3KVjy1bNU1ISa9ZMad26RePGDRo3adiqdXMI9RvUaduuVbPmTeo2qNOyTYuOndu1atOiTv1aTVs06di5PeTqtZLr1K/dpn2b1m1bN2jUoGGThm07tG3XoZ0lN27YrkPbVm1a1q1fu0nzRm07tGnTvnWN2tWTUhLbtG/VviPU2nbo1K5lqxYRkeHwHKvXSGndphVQp27tiMiIaonVWrVu0aFjuxYtmlarhn03yF9eK0vCAliiiEO4IRbAvBTWuCiHEC6Hhqns83mNgAEiE0xCkEOD/RUYkuyhY9KdTqnMgty8C+fTI8Ncg3p3HD9yyL1jR0y++46Jd93Rt2uHhMjwvOzM/NxsZQSQmSUJSRqgQJok4JFKwtllaWklzn2ioqJdLpdATagghJ+cBfAVBGwug/MYGYlznQgMt1IKfbVjCNcLKBm1gL7tGlEsBBt4BSAFlQIQkA6hCnYKEm3gES1HbOeqkvEWiYiRjhgyAOFLQCJKthPRHigjRiGGYSAdMtqJt5ChiUcoAEixgcRrBdbatWYJ6V+1BazpSiwlk/S43YnVEkrLyvyBgBAaHEHTAKHBpcTboB64kuFlSmVK3PQN7N9n/N139urUul5SVJxbxXm4Rnx4/54d7x1/56B+PRJio1hJoUgQMwUpUhGbShmSWGN2FJd5yysCkZGRmDEqGJjB21fd8pDirWABZmtMMbzMjBhMAUBG2/EorvcH0i7zq8XaNaJq1KsFAwQoI/2bgEK+BGjaKchrC4iRCEAAIFQBj6gHMQB91AVARiJ0ICMRAlIAW8ajDTx+B4jvkCeU5eotgPmrayxIRUZFVq9Zq7iktKCoCBd7YEcUwkyMP6BIK2apcHrCLqeekpx416gR94we2bZZg2gnucnnIX+UQ7Zv1nDi2JH3jB7RsH5dp0MDRSK7IGKwJKiXEJCg+wxKz87PyS9KTqkeEfGFi4HXIfzELGCTAmIANGHzgt1Hm7ls+brEVQWiLhSI2AbSAaQAdgoEZkxF/P0C9quqmNlSwCM0OEj0EPCIohDbgAzYslL/8tc04WQgx9fDLhB5AciIbdhFfH2eK6ZilV3xfejldbAACJAio6PrN2winGGnzmaYrJHQDVPpQrcmS7AKi+tIYFDxBK4Md+vx0eERLoeDpCb9mvI5KOASRqTbGRcdGe5ykgrmgDaBbYP7d8wCxkZcLyn3b99zuMKkFi1awqlEMkCh8FO0AJjR5kd75iC2gXTguvS4avKgZFtGyZAR24BcBbvGqscrCHZRtj5kaEJGjDIRA/bj5QJkG/YrO65KwSPKQWwD6baA2C4TAoB0AMI1QVyTdkj5mi0Ar49IKiEcnvqNmiXVqHPqfGZ+cVlAssPtwYVM8D0RgzD5UiBBEtDItNKRivdEAnttwi7bFCSRBuCtIsuTtDxR6Gg4qySlayfPZ+w5dKxGnfr16jfAFCGCIlMo/OQsgDkAoFuIbUCuwldTql5djfCl7F96vLwE+9WX4ssVrkZGdlvtcgGyDftVVfy1iVVvq4QqNVtAXPXqmgTwb4gor8li164MJmOhiCXr1arXatCs5dmMrNQz5ysC0muyAUeQZLBQVth9MOgMP7Ahzh9N3JQr0kzWJTxQkCdeEiESVgR+5GCxpJgkWzEJDkizoLT0cOrJnOKyVu061KhZwwzuUJiRj0IhZIGQBb6DBeBtiEvZQn9viAVwMqKsfz3SIrWomNgefQaERcYvXrb6zLlMJRySFGq9xGH4a6lZScriSrwySDMIauBKlqQRQYFkMFbEJiERbidZXEnKIOmXat+hI/uPHuvQvUf/ocM9YeHMjDYgxleRQiFkgZAFrt0CHo8nRJTXbrZrycHCuuBWiqQE+XGDRg16DuibV1Kycv2m0+BKpZFUpECYppLWv1lJlipSLFoDcRK8URYmC8kamJFJsGKhFF4xm0ymYAkolKDpFQafTM/esH1vWEy1sRMm1KhRA0eemgZ6JWZWSlEo3PYWsKaBIswiDs4lkoRgTThrImIukqLbD/A32FSIra4H+y9BjKwsO4mghQjPMFQIN8YCQT4DSenEDkEaK09kWJd+vTr377v/+KklKzcVFVdKabEkSckgO2XFyGSNEMaLwY5SU5LgFFqjBk2pmaZuGroKUqTyO9h0KFMa2MQ7zueWL16/52x+ZZfeA9u0bevUUS1Ztes6Ypsxb0w/Q6XeIhbA3Aq2VBOaS7h1fKcxQRSSMMlMZbMmnm4vKIW1JwwlsEODSBrpggEHsSYcDhPvmW8uovypDZAii9+IgkeIcAMVM9WuU/e+qQ+1aNtu49Ydy9ZsOpWR62NXANtw4ZSsY6ykpS8FY8yUBkIkeI6SMYkZ3oAhBGs6NuP4/AlTOH2m8JPDp7Rjp8/PWbBo0/ad7Tp2GTh4cFREpK5RKIQs8DUWsFY9a2ABobMSSgW/ycFEwlS1nCfQwu0Ea11iz8VkmQLWILasQbru1HQdz/BmYA4KhRtpAYvvQHGYjxgHZvb7jUq/wU5PdlHp56s3zP581YbdhzMKvT7h9rNmsk5CY4H7HyKJzTgo0iJKsvbkxAL32rixUSYJgzS/cJdz2PmCytVbds/7fBm28wUlZbrL5fX6jIABJ4FvZMdCZd96FlDECIgU65ruxD9CZ8L5D5I0hHYAABAASURBVOFDTDgYt2DNU1K3TyzsjrPSLJD18SDJmnC4HS6XcGmse73eEFHSjQyKQFdkELxChW01+f3+PXv3vzPt/ZVrN2ju8FqNW2SW+OcuXrNk3ZbDpzMKKgw/6YYAXeJEkkyFpl384Y8khssZIN3UnMrhLjcoo7BiT+q5z9duWbl5Z5kpmrRqS7pr8dJlCxYuOJ9+TinUixJCCFmgygIMkgw+gAg0t8vjcYe5dLfODo0AXSgWCl9pG5CBK8t4Cx0AAgABgABAsAEZuLKMt9ABIAAQAAgABBuQgSvLeAsdAAIAAYAAQLABGbgoM/pLmkZOQQ7BDkE6mNGhOcJc4S6HS5ClFvIo6WvC90uCTbFDtkFMxCaRYiYBsgwYB/YffPfdaR/MnB2QfM+ke3/2m/948MlfVG/cYv3OA29Mn7Vg+Zp9x05mFZSWBaRP6VJ3+EgEGNTp8LHuJ4dXaeUGF/tkRn7ptn2HP/xk8cvvzlq1dXfrLr0f+9kv//2//mfshIm5+QXvvf/+m2+8ceLEiUAw2P+GEBpGoRCyACyA6UjMrDl1l8cRBkYIc0WEOcPcusflANwuhw3IwJVlvIUOAAGAAEAAINiADFxZxlvoABAACAAEAIINyMCVZbyFDgABgABAACDYgAx8IbvBinqYC7EFpIdFuCPDnB6HBncbLgpsxVi/sFwI180CoEi7LAjgJikVrmBMU+YXFKxevfbtN9/ZunV7zdq173tw6pQHHqjfpGnX3r2f/Nmv73348ejkmuu37/1g/mezFyz9bOXGjbsPbz948vCZrNT03NSM/GNp2QdPZew4mLpx5/7PVq6bMW/h3MUrT5zPatau06NPPzf5wYeatenQqHmriVPumzh5ckRkxKcLPnnp5Zd27NhRWVmJcfb5fGiP3bBQfPtaAMsdH28iTAlmIUhzCleYIyzCExnpiYkOj4mJiI2NiLMRExELxAYfY75Bjo2Ii/mGV3Y64tgIq8CY76cWG/EtFUHBRsw1VhSHksPjosNioz0WYsJio8Ki3Lpbg8+thBWTgLlgOQqF62gB2PSy0phYw410ekbmwoWfv/HGm9u2bevSufPPf/7zMaPHVE9Jwc4cXn9i9epD7xj1zM9//egzz+HCWoXFHj6btXrH/sUbds5dtn7mwpXT5y/+cOGKOUtWL16/bfO+I6npOXpk7JCRY5/+xW+eee65O0aMio6rRiw03VGjZq3xEyaAKxs0bLh+/frXX3998+bNxcXFHAyXNSwk3o4WgHcEBHvOmJrY6hBBEDo5sPvWGbtOTbCwobEGXFnGW+gAEAAIAAQAgg3IwJVlvIUOAAGAAEAAINiADFxZxlvoABAACAAEAIINyMAXMglBglkDBKP7miAcVgpWVSA4GSGipOsbhBAwK8DMlsycevI09tov/PPFI0eO9OrV65FHHhk+dFhSUjVsyZ06ToUIVz2eME+jps36DRo2aeqjjz/3m0ee++2dE+7vfcfdnQeObNVjULPOfdv3HtJ72JghYyaMu//Rp375O2DUuEmdunZPrl5Ddzo0TGmcpZAiJrir94wb/+TTz7Zu3Xbjxo2vvvrqsmXLKioq0KTr29NQabe4BZgwXRSuMjS6eI+hMTjidkOQIjXSAFBkEILpIohEENYfCoXraAGbj8CSEMrLyw8fO/7Oe+9/NGcOsXb33fc89eRTHTt0ALPhKyalQSQhaBrjGFEqdrrDwqNiYxOr12/WumvfwYNHjR1+98SR4+8be+/UMRPvGzbqnv5DRnTo2rNug8bxiSlhUTEOl0tjwZZfKpmJWRCzU3fExsb27dvn0cce6z9gAE4qX3rppQ8//PDs2bPXsZuhon4CFrCmDGYMMfqiiIKHRKTM2wsS/ZUKfSdJgCUoyyDwOizANEGIYByKvqMFlFIWx+EkEtJlQCJYcuvWre+8/dbqVSuioyLuv//eBx64r1nzZk6XS2g6kdA0B7MQ1k84HLquCcHEzJoQDl1zO51OXQ9zuaIiwmOioiLCwtxuZHU4nQ5N16Fm6wbVNcEaHjGWGgu8wuvI8PBuXTo/+uijvXv3xtb7vffemzNnzqlTp+BaSilxx2M3FjIEdB4CACGE28sCTFQFzB0h+DaDCAZmqgIxbMIk2BLIClgjWFyWFPp9NwswM+wMigEzwpooxDAMJF64cGHx4sUvv/zykkWLmjRq+MTjj0+aOLFRo0a6zXFBOkNGaFogYoAJssasCcaoaBCYMVgaEx6DAh6ZiS6CLwYkMF2UNSGgrAVjj9vdvl27xx9/fMKECWgViBJ+5d69e+2LHbQWQMsBCHZ++tcQevqJWYCJAKoKeAjCHn3E1utgyu0lEPHX9hqrLggsECwrCoXvbAFYEESDI0KAmSGDozIyMmbPnv3CCy8cPHiwW7duTzzxxOjRo1NSUlAL+BTxDwbwcqtWrdAAXB/Fx8fDr3zllVe2bNlicyWagdai2RCAKgFyCCELhCxwuQVCRHm5Nb67DIoEaWJLe/r06blz586bN6+goGDEiBGPPfZYly5d3G43fDowEYjpu9fxnXKCK0GRgwcPfuihh2rUqIHTgDfeeGPVqlXYj6PNaBKAltv4TjWEMoUs8NO3QIgov+MYVzELuA8ySikrK8PG9u23354xYwYe77nnHrBkp06dwuz/9jzDuSdbE29/MDBbN0VJSUngSriWHTt23L1797vvvrtixYq8vDwwO1pS1SoIVUD6TYFQI0IW+LEtgEUUIsprGwTwCBwxxDaQ2TRNeItw0JYvX/6Pf/xj/vz58OBwMgiWbNCggQtXNwL3NriA0UUwIMsPA4yufSDgcDhQc1xc3MiRI3/xi1/ceeeduAF//fXXP/jggzNnzvj9/qoemaYJGc1D7xCHELJAyAK2BUJEadvhGmIQELQRAzatwJdctGjRm2++uW/fvtatWz/zzDOgJOxzwVC2AvR/dKC18G3btm371FNPjR8/Pj8/f9q0aa+++mpqaioaCYAcwadQg/CjtzbUgJAFbioLhIjymocDPALA+UIMXzI9PR0nkiCd8+fP9+zZEyzZr18/OJXw5sA+4J1rruDGZEBrwYPg7rp1606ePBn3Sx6PZ+XKlbjh2b9/P6537GrRLwhoNhoPIYSgBULR7W6BEFFe2wwA3SADeAQ8WF5eDop56aWXcD1SWlp69913P/nkk7169YLjZtONrQz9mwSgddztALVr18bdDg4HIMAXfu2117Zt2wYfEw1Gv8CnaDBkxCGELBCyANZ7iCi/ZRqALy4HTIYMuAOprKzcuHEjttuff/45qOfee+998MEHse+GAh4RQw2kg/jmAdoDPxExqLBWrVrYgGMb3rlz582bN7/44otgzNzcXHQWLA+gC5BtoAsQEIcQssDtaYEQUV7VuIMmQDE2IJeUlKxZswaOJCimcePGuLoZO3ZsnTp1QJEAKAZkhBh8hPiqKrjxSmgJ2oOGoSoIaGdUVBT83/vuuw/xsWPH0J2FCxdmZmZCAX2sAvxQdByJIfy4FgjV/mNZAGshRJTfYnzwCzRgKQhgGbhaFy5cgBf5yiuvYN/dsmXLJ554AiyZnJyM4z9o3kJAp2JiYnr06DF16tQuXboUFBTgpHXOnDm4E0cvQKY2P4JS0XcAiSGELHB7WiBElN8y7mATaIAmgIqKikOHDr3//vs4l8zIyLjnnnuefvrpgQMHRkREgFagiRjKtwrQWrTZ5XJh9/2b3/wG11Do40cffQTXEkeW6CwewZU24FfeKv0KtTNkgetrASyEEFF+i0lBJWAKKOFQEi7kBx98MH/+fJALDvhwKAmKqXIkoQZ/E5q3CtA1NBV0iS40bdoUPZoyZUpkZCT8ZZy9btiwoaioCE60rQM1CCHc7ha4XfsfIsovjzzIDgxisx4EvEZcVlYG4oCrBRKB/4gr48mTJ+N0EoxpUwl0INxabILvJGC3GfvrxMTEMWPGPPDAA3FxcevXr8c2fOvWreg4LABroIOXx7AS0kMIWeA2sUCIKL880CAOkILNIKADIDs7+7PPPvvHP/6xdu3aZs2a2Vc3NWvWhCNmZ0YWsKSdBbGdePPHaCqAdiJGFyDgpHVk8H+9g4PLvXv3vv766/gw5OXlwSCwAxQgAGBMWx8pIYQscDtYIESUXx5lmwUQgxqAtLQ03G+8/fbbWVlZOI589NFHBw0ahDsQkAvegjW+nP8Wfw4LCxs6dOjTTz89atQofCHeeeed6dOnp6amolvoLGBTJOyDlBBCFvgxLPAj1Bkiyq8xOljAJsFjx46BKXB7A8oYPXr0k08+2b9///j4eCjYfAFH8mvy35pJ6JTdcHAlzl7vv/9+fBjQcRAlLABT2DaBGj4Sdvdt/VAcssBP3gIhovzyEIMCwAV+v3/jxo3//Oc/586d63a7p06disO71q1bg0SggDzwrX5KLIke2fRnnyfgyLJ58+YPP/zwhAkT0P1PP/0UdInNOHoNQNmOIYQQssDtYIEQURJo0QgGeEyQQQE5OTk4jnzppZfAlXXr1oVvNWnSJBxKghnxFtMCXAlA+CmhqkdgTACdrVOnDvr+2GOPNWjQYNWqVa+99hputIqLi20jILZhGw3yT8kaob6ELHC5Bb5KlJe/vS1krHOQAmgCSx2O5IULFxYuXIh7DGw2u3Tp8tRTT2HTXb16dThZUABAIjZgHQiIfxpAXy4Heoou16hRY+zYsTBCw4YNt2/f/vLLL8M4+JDgowIFANb7aXQ/1IuQBa5ggRBRElgSyx4+JWji+PHjOJR88803T5w4cccddzzzzDPDhg3DXTAYAQBxQOcK1vwpvUJ/AfQXN1e9e/fG+Wy3bt3279//1ltvffbZZ7jagtHQX3xggBBdwhQh/IQtECJKa3Cx1LHsjx49itvt2bNnQx4+fPh9993Xtm1bl8sFDSgAEG4f2P2FKUCXERERYMknnnhi8ODBhYWFM2fOnDt3bmZmJhxwvA2x5O0zK27bnt6kRHnjxgMLG7DLhwCAC4qKitavX//KK6/gULJatWr2wVyzZs1wswEFWxkxGAEeFoTbAegs+g66RIz+4oPRpk0b7MFhHK/X+/HHH8PvhoNZUVEBTdss0ASgjBiAEELIAj8BC2CG33ZEiWHDLhs9Bz9iMSPOzc1dsmTJq6++umLFiqZNmz7++ONTpkyBgC05aMIGiACAjBgl3A5A923gwAEC+g4BHw/c/o8bN87j8YArcb2zc+fOQCAAk8KYsCpiG7eDiUJ9vE0sgJl/OxIlum0vacSnT5+eNm3aP//5z7179+LqBidxI0eOhFMJArUnAZa9LdzmMeyAjwSQmJj44IMP4iq8bt26cMNxvbN48WL4lbAPyBRqANTwGELIAj8NCzidztuRKG33B/GJEyfgFs2fP7+8vByXNg8//HCHDh3Cgv/RRMuHEgJMCvw0Bvu69AJUiHJiY2Nx0/Xss8+2b9/+0KFDs2bNWrlyJa53YFK8BVHeLyf1AAAQAElEQVTCaIghhxCywE/AAvjw345ECY+ysrJyy5YtuLpZsGABmHH8+PE4fevRowd2lFjhNjDA4AUwJoQQMFds+oNBYBZc7wwaNOi5557DhfixY8dwcIHrndTgf6cMbwHoh4wWssBPwwKYzLcRUdr0h9Wek5Pz+eefv/DCC3AnsZF8+umn4Uu2atUKBAqLgAgQ20vdzvLTGOzv3wtYBmaBAWEWlIb9SKdOnZ555pkJEybApG+88caMGTOOHz9e9d8pgxqUAQjQDyFkgVvXAj99osRCxW0D1iqOHQFccH/66afvvfce/KCWLVviaqJfv36gS1AAgIGsYknISAEg/Hi4WWqGWWzYdAkZArgSt15jx47FVXh0dDQ+P9OnT9+3bx+4Ega3zY4OwOwYBQghhCxwi1rgp0+UWNIA1i1O0NLT07HXhuNz9uxZXN387Gc/GzJkCK5u4EvaK9nWvEXH8gduNugPVnU4HI0aNZoyZQpueJKSksCVb7311rZt2/BBgjHRJOiAUm0ZjyGELHArWuCnT5RYqACua7Zv347tNm5p4encd999v/jFL+BLRkZGYtiggJUMQACQEsKVLQBb4etiu9vgypSUlDFjxuAQo3nz5uvWrYOd4bYXFhbi82PzKeIrFxh6G7LATWsBzPafPlHC+vAl165da1/d4LoGvg+IslmzZvB0bFrEgoctbBkCsoRwuQW+KsNW4D7EMBfYEEJ8fPyAAQNwZDl06NAjR468++67n3zyCc4ubSPDwl8tJJQSssCtYoGfCFFioWK5AhBsYBn7/X44j/n5+atXr8bZGfaDDRs2xAX3XXfdBQ8IfhB8oi+NE5Y98KXE0ONXLQArgfsACAAEmB3HlLjeefTRR8GVxcXFH3744UcffZSWloYPFXSggEGxxwjCV8sMpYQscNNa4KdAlPbaqzIxHgE8YmXCo5k/f/5LL720f//+tm3b/vKXv5w8eTJ8H1AkPB2sXjuGAGC1I0bGEK7GArAVAE3ENmDw8PBwXJGBK3EVXlpaOm3aNNybHThwoLKyEoMCCyMGS0JAxhBCFrhVLPBTIErYGksUMZYrYnsRwpc8ePDg3//+d+y4s7OzR48e/dxzz/Xv3z8mJgYsCR1b2c6IXCF8TwvAnjAmeBDl4FgD9+BTp06F544PFYYA7nxJSQkoEm/xcbLVIF8DQqohC/x4FviJECVWqW1De62CJffu3YtjMlzCQh4xYsQDDzzQvn17bLdBkVWathCKr5cFMAoASoORk5OTx40b9+STT9auXXv9+vWvv/76xo0b4VfaCnYMzRBCFrglLHBrEaUikl9ASUKCIsHCBh6VKXHBvW3rtrffenvVylXwHx966KGHH364adOmTqcTQ/IlXwZLOrRoYZbvjy/MyIxh0XQdRxyDBg164oknWrRosW/fPviVixcvKiwoMAJ+ZY0dhk+RAiAAEGxAll8d5aoWonCg6jEkXIMFYLjL8dWcl7+9feSv2uFSim0DPN0aRGkGpDSkkoZp+Elhmfml6VMKOzlDGqYEOZaV5+Xm5WbnHD50ePbMWX/9y1/XrVnbrk3bf//Nv02eNLlWrVrY7mElS6mwgNHtKlQZoiolJFyNBWA3m8wgED5Q+ICB+yAxkxCS2ZQK3y+PxzN48OCf//y5Pr17njyZ+re//uWDGe8fPLAv+0J6bk52SXGhz1thmoaUppIBG0bAJ2VAKgPjK01DSZMoCKt8qUiCR1EpQD9CuJWrhMnsMbPji49KSamsgCGwIa0UJFqDghT7EQLwVRkpSAcgABAACAAEG5CBK8t4Cx0AAgABgABAsAEZuLKMt9ABIAAQAAgABBuQgctk05TglyCUMi1jYCYT5vRFYNRvDaKEx4gFSMxCE4pYKSZiwzD9Pt/59MwtW3d8vmTZ7Dnz35r2/j9fee3t96bvOXDI4Qmv27BxXGKyLyADAcM0YQupacJyYVCWDSJrjSMO4dotoKqyKEUWiynBxGQxGWIWDJN7ff6s7NyAIavXrBMVE3/mXMb7H8x+/p+vvPLGu+9O/3DOJ58tXrZy5559GMTySp9hSFMqoenM1rREoSwgMoEev6gMteIBgBDCNVpABe0Gj5+VVKapDEmmJMSAqfh2hTCZ8V1nBBhIWh9mfExsY1kWRro1Iy3x5v4ptJnZNJTlTpCG2JB8Lj0T6+zFV1/7v7/9/Y33Pvh8xepdB48VVPhjk2vVa9LSHZ2wdsuOl99+741p7y9bsbKouATLLYC1KKW1jEliqjCZWIWMwm/u7t/UrcPMCraPlVSmAcbUYFZDlpVX7ty97+N5n77w8qsvvPL66g1blMPTuFWHxNoNygxxLC1r0+6Dsz5Z9Pwrb/3fX1746z9fmT3nk+Mnz4ItsXAVsVKM8VKKAGKMWLCOy6KvSbrsbUj8GgvAqJpSQio2TTYM5fcalRX+8opARUUgGEP2lVf4yi4BMmA/QgC+KiMF6QAEAAIAAYBgAzJwZRlvoQNAACAAEAAINiADV5bxFjoABAACAAGAYAMy8IXs9VV4A96A4TOVocAMF20HdwwgzDRmvjWIErstYmIhSDgqfIH07Px5C5f84a8v/PPVt/YePp5cu2H/4XeNnfLQuPsenfLQU48/99unfvW7B594rt+wMaYesXzt5pdff+sfL72yYfO2ktJyAwsRhlD4WR8NImzrrAc8h/C9LBD0/syAv6igYM+ePR/O+ujvL77yxjvvHzx2AgM0ZOTY+x955rFnf/PQ07+695Gfjbv/0bH3PnL35IcG3jk2JrnOybSst97/8H/++De4mTv37M/NL8acVayTwMoOOv3M36ttP63M3603mOWS8Snze6W3zF9a6i0uqSwqqiwsriwsqrBQWF5YWFFQdDuiuKyytLS8tLyyzB/wmth9Wx9osKQNy963BlFimZimaZiqrMK7c8+Bt6fNWLBoucGOAcPvvPfhx8ZMvLdLrwENmrVNqt0goUa9+JQ6Neo2bdOpx4Bhoyfc9/B9Dz3WpWef0+cyp3/40TvvTT9w6LDfH1Bwf6xTGKkk6NIyROh3bRbAslOYTbCfVJbXR0qqygrv/gOHPvzoo9ffeGvztp3Va9cbO3Hyg488ede4ST37DW7etlPtRs0Ta9SPS6kTn1y3Zv1mcDB7DRx+z6QHpkx9dPykB2MTkzdv2/3KG++8+/7MI6knyyq9+KhJEspyML9oHWObH6zxi6SQdFUWwBAZXrOi3Fda5i0p95cHcNwvDLCnEoYFzSDNVJq8BMiA/QgB+KqMFKQDEAAIAAQAgg3IwJVlvIUOAAGAAEAAINiADFxZxlvoABAACAAEAIINyMAXshSG3/R5jfJyf1k5vEt/pSmxN8K8Bi7yw61BlGQdU3FJWfn6TVvenzFr596DjZq3vmP0PX0GDWvQrFVkbDXdE0YOF+lOkzVT6FIDHEisVr1m8zYd+g2+o9+g4VHx1ZasWDNt+swDh4/4fAEppQKsGaasKPS7RgswXD3LcgoRzhYrvP5tO3e//u70BYtXRMRV6zNg6JA7R3Xt2b9eo+ZhUXGaK4J0N+kuqTmlcEBQwkkONzvckXHVatdv0qFrjzvHjBs0bERkTOKq9Zumz5i5e+8+b8A0iRS+69hQWEBVShHmLoRrbG5IHZYkiT2mz/BK7DFZkoCbgI+RBZOsWOHAg011EdikA/YjBOCrMlKQDkAAIAAQAAg2IANXlvEWOgAEAAIAAYBgAzJwZRlvoQNAACAAEAAINiADX8iSAgYFTDYNZXiNigpfmd/0E4EdMNMI8w9z59YgSqWU1+9dt2Hja6+/lZmVP3DoyG69+lerWZdcEabuUppO8Dm/AUroekRskzYdhoy4q0uvfqln09/7YPahYycNiQWHux3GyoMhQrhGCyhMIHClwB23VIGA3Lhl+5vvfXAhv6TnwGF33DWxSev2MfHVWQ+TjK+X01RCkkYWMOWCAsP4kAFNsqa7w2Pikxo2azXirnG9Bw7bf/jYq6+/uW3Hzkqvz4QLyRfnK2HQrIYqAk1bQuh3DRYwpB8ncdL6FwmIQJS2DRnGJMueMPLV46ekKYg08CbYE4B1rO8H5jcYBXah4JSDSlC+qSMVMI2jx45+vmiRw+kefdc97Tt2iYhJYN0tXGF+xQa6BrbDcvpasMAm3a8c0QkpA4be0X/wsKOpp+YvXJhxIQe3sYqYLFAoXKsF2JpAkpSsrPRu3rZ9+qw5+WX+IaPu6dx7kCehBrmiTOE0SFPCoViTMLI17xRyCTIFSaGkIDwqwislDNAh6w5PRERMtS7de98xYlRxcdmrr72xZu26gGFKSSa+lhLKFArf2QKGIaWhVNCMbNueYH26GGDd2xPovzUdpWIT20wlpYmzXCSCVYhUML4FiFKRysjI+GzhZxUVlQMGDmrStJnuCFOsG0pga0ZwGDUd3eHgqvtqLJXym6S5wryG8kTEtGzbvnmrNvsPHlm6fFVZWQUuiJjBlbBKCNdgActkSknD9AcCO3ftwYFGYUl5v8HDmrVur4dFe00cd+kS/qNwSBLEwYseRfDeg5CsqqAwdhhiU5E1T5UIKI6Iim3Vuu3AIUPLK7zz5s0/cOAgalHB+UrqsoV9De0NqV60gCCMh7BYMmhIJgwKsyKhWBDzjwuFlnwDbljDKBgUTMBBCdPQ+ihjPqI1BD6xU4X952aLTdOUl0IgYK7ZsG3rzgNYhC3adHCERUpNQEET5HHomgIT4kfEmknwLklZ/osgZsI/TFijDsFSGkLoCkdl0dW69O7njohZvGzVyTNp/oCJ/BQMqPDiagw+hqIrW0BZE0nLuJD72dIVJ89l9B48rF2nbkJ36pqOrbWQhobJp2Be+DCKhfVACl6kFDKgscksASktAYtV04TQGCm6Lvym4YlJ7NhjQP+hd+aXVi5buTonN8/iU6UwRhhVUlduWujtly2grICZjo+RJAYLWFsBxhBiEC8DKTDDN0JhnG4YglVrpLDNACAAEAAIwNe26jokcrDLDE5RwppaKJKUSVKSDBqRrUQiEXy4uSKMaVWDQIgnT51esWqjcEU1bNbWFR5FugvNxsJjDLNp6srqHzjRkKZihn+pCC9gdqvbWFckDZ2VUEoTGs4lWXdVr9WwdfsuuYVFn3y6MC+vAHVBDYAQwtVbQJDm9Rpbtu46dOJUp179mrZq5wgLE2A703SS1DDPVIDItIaBlVRSCKFZ3zXwZkDJgGF4DcOvyDAMH1v/kpahpF8pg1kKTRjkFJ6oVu27tmzbcc/+g3v27g34cb6O+YoZa89dvvqmhjQvWUApkooUEVgAMcGIQVgmZUJMTF8PwrLCyvxX0GXhX99YT5e9vAoRq5fQAMwXAAIAAYBA39Sq759OxOBKxlebBFu0gidFDBvBVkSEt5hyZP3o5guM5ilYjisqKjZt2nzqzJkmzZrVrl0bXGiNAKP5DCE4dlIGAjphZZoalpkMmAGvkAGAkchKQJkUhjnYxltsaQAAEABJREFUS1iBSYjWbdo2aNho0+YtR44cMQyTggGV4q9VLP6E8C0WYLzPys7aun1bZGRUx06do2NihNDxvREIeKlgcyIIZAWGJ6Kk4QcnSmkauVmZqUcP7d+948j+vWdPppaXFrM1RmRKaxlLKYVg0zAjIiNbt24jTblt+478giJixtgpE5OaKRS+gwW+wWxIBr61POhcjq/qX/ntV/X/JYUVsfkNAK3/i+51fECbURpbcwt/g+Bg/EVkPd+8RIl2YsFkZWVt37E9oVpiy1ZtnG6P5TBazVZ4i5WllLSWjTTKi/OLc7OKsjMLss6X5ed4SwtVoFKoANxJhXPZoLqVhZAZzCni4hM6duoC2t2z9wDuIpgZqxsKyl7ekEK4ogXgleCU8Vz6+ZOnTtWv3yg5ubqULMFydNGSZPksXxTB+K5JQxPkrSzfv2f33I9nz3zv7Y8+eG/m+2/P/WjW6hXLS4oKlZWfiTUS2CeAEgULLSk5pWbduqmo5sxZKck0DFLBZfPFmH5RS0i6kRbgLwWBZyK+BOsRKZdgPV56VaVzBSE4YTCy34QfebwFfWP40V7A1Nhx2/GZM2dOnz5Tr2EjwGdITXcapiTWgmYDrSksm5KiggXz5vz1j//7tz/+z9//8P/9829/+GDaW7u3bykuyEP3NKxOi1MvdgcZWQgltMbNmqXUqJl68mR+QYFhGChLSon4ol7oz7dZoNLr3X/wIAajXsPGusOlaTiddBAxjElWwKKw/gR/SkkTY2EaxqYNG9595+1Vy5eUFuXXq12jekqy31eZmno8Pz8fOwhNcyiGolDWF4sx1g6Xp3HTFsVlldt37SkuKWW8FUJKgzCmwaJD0Q9kAQWX419gfbAU0yWYxr+8xWPVq6sQrqYTmFHfhKvJ/r10MCm/V/4bkRmLRAirYX6/Py0tTUpVt35Dd1g4VlHAlEJzEFsBlKdpuMuRpSXFB/bu2r1jy6ljhwrzss6dSl215PO5sz/cv2+v1+dV8EOIYGB7aSkSkuH7UERkTIPGTUvKK3Jz81CctNU4qEih8O0WyMnNSUs/F5sQn5CYxOwgpUkpmAQzvEdFiOmiMbGYBLbe0sjNydq9c/up40cbNah/xx13jBg16q677h41anTv3n0io2MI3z8mkCNbZbCVG+W6PYnJ1WPjE/YfPJSVlS204DtGefTTCJh4XwLmP1IQfxVIt2G/smXTNPPy8goKCiorKwOBgJ0IhSrBMCw/gCyD0tUHlABU6UPOzMjYsmXL2jVrdu7YUVlRgRHSNN0IGKZh7t+3f/26dStXrDh27FhJcTG8m927d+dk5xCxEJo0JZRJEREzCzx6K70HDxxErvKyciXBtQwFVIHvI7pjx8gohHVty8zY9h0/nrp//4GSklIpURCWsIIAmKYkEkQUzK6QHTKySCntlKoY6TIYIFwTUIJVwTXl+QGU0UkbIErMAJfbFRsXT6xLFoqYmNEG5mBMwViaPm+FMo0ObVtPvXfKXSPvDHM7jxw8cOrUqYrycuIg6SIPTBlUV4R7CA2Em1y9esCQhUXFMC4HQ1ArFH27BRRRflE+VmdkVIzb49F0h8LoKBhRCGIwI4rAE2ILiizDK5l+/uzJ40fDXI7OnTp37Ny9dr2Gdeo3aNG6bcs2baOio4XQiAQC5qVSIF1BQkOxEVHRkTFxmReyC4tLmKyimPGXfhohuHIlXwp2p/BkC1+KVTDYbyHab71e7/bt22fPnr1mzZrTp0/jWB+vUCxiADq6riO2ZQjXCrs65LpwIWv5shX/939/ePnlV/fu3eet9IEimcSFzKyZH3z4//3X/8yYPvPUiVM52bmrV62Z9s60w4eOsGLDbwiBBghoKqkQC9YyM7PmzZ3/wQcfguGZtYAfVI7vq5BSEWEK6Eg0DDAdE2lKifLyyiVLlk6b9l5mxgVNc/i8fiVJEzpKBrB+7Y8BcgKQ8cGAQFjyIF0iyOg+1DRNQ3eklHh19UCB4uq1f0hN9ArV+Xy+vLy8ME9YTFwCabqJfTZZXxKFd0EwETpgShNfE5Kmx+1OiI+Ljgx3OR0ut9vpdBmSQIjQhRpiQBEFDEOhHKL4akmVvkBJWSmqgymv1Xwo7XZGcWlpXmF+dFycw+kOSLgLsLHFkFxlFAXp4pNUppJmfm5ubnZWeJi7WkpyZFyS0t1KczvDojwRMbrTY40v1oQI7ruVYjurosjo2OiY2Mys7PyCQlRDWCLWHxT+UwAHg5QSqxH9wZNSyn7Eav8SkA74fD6wIfxHO4aAO8k33njjv//7v//0pz/NnDkT3hwcTBU0JtgBxX5/oGFNGjft2L5D7Zq1jx4+snTx0rzcPGnIgD9QWFBYkF9QkJ9frVq1li1a1qpZq379Bh07dExOTjENk4k1fERN68uHWaDAflJFRUS2btW6fdt2Ybh4IHboTglFJQTrgh2myYilSRBIwQMVLqenUcPGbVq3DQ+PgA+LpS2E5vP5UTvmglKkaeBigrmYWdM0EZxF6DsE9B22RToAAWaBgMSrB4rF5L56/R9IEz2xa0I//X4/MTtdLmlRIssgVypsn20NGCl4aaDpujKMHTu2T58+fc6cORcuXKhes1aNmrVc4REmrGjpqIs5iITQNM3BrHnCwlGg1+uVwYDUa7VgVZm3nyArcC9TUQ530jqgtFwGJgIwoxBbAxN8JCuwQpKSphHwg+asWSx0U3OCKKXuMiGTCEhrBWGQZPBrL4RFl2x9z1h3unSXp6LS6/P7oWUV+FP5YapjyqGziDH9SktLsQ06fPhwamrqwYMHN2zYACdx7WVh1apVixcvnjdvHvxH4KNgmDt37p49e/ANQq6lS5e++OKL//u//ztjxgy4mTk5OagCQPnf32bhbk+d2rX79+vXuGGj48eOnUg9oaTEpq0wvyAyPMLtciMODwuTpkxJSm7frn1cTExlecW5tHNHDh8Bk+Zm52BLfiEjwwgEBHHDBg2aN2uua1pxUdHJ1JOpqScyM7Ozs/MPHz6ek5VXXFx24ULOidRTWVl5gYDp9wdq167dqlUrj8djmiZOtFNTcb9w8vjx1MOHj5SWlCERdIb8J06cwKuioiKfz3f+/PlDhw6lp6fDOPC1CwsLYQrgO1hDfH/z3YgS0Bkbuq5L07QWjzKtZaiU3UnGkrpUsVIEBXxHYJqcvNyKykoWorCoCF88DAkyK2u9BZcuJLIPzxj+CwYAHj+qQEmozo5RFIQQvs0C7NCw8bE2MkpJhYBtThAyGCvE2EsRBseyPNhP052xMbGeMA+Ot0pKS0zDULA1JjgEpcCJYAoMLkoCmAW+YcSMZihFGEShCWZ8KfEEvxXF481PAegU+gvA2YFj+Oc///mZZ555+OGHn3322d/97nf/+Z//+R+Xhd///vdwG//4xz/+LRief/55/AUzrlu3zv7ew8fMzMzcuHHjm2++iVdIB2WgcFiaLVt+F4shezAbY+uma47GjZoMGDCwrLT88KHDRYXFhQVFXq8vOjrG5XQxsWnggCX9s4WfvfTiSxvWb0xPz/j4o4//8fd/IGXDho3T3n1v+vsz0s6eA8Fht/7aq6+lHj9x6uRpcP2f/vCXj2bN2bB+0wfTP5j+/vStW7avXb3+7bfenTN7DvQzM7IWLFj4yiuvHjlytKioZN26DXPmzHv//Rl///vf3313GgqprPAeP35i0eeLP/547rx5n2zYsAlEumTJsuf/9vf33puO78d77723adMmw8A5gPUNDvboaiNmvkmJEuOKTrhcrvDwcEWqsryITJ9DKE0oAffQuvTEe6xAJtKZGGtIEnfu1mPqQ4899sRTPXv1yc7M2L5lQ8bpY2R64chLeCjQIoE8GmsS9mJVXlHmcOhh4eFWWVjYSnEw2I9fxCHpKxaAzWPDohMi47xlFQGfT9M1xWQKG2wy3mNA8G1TxMjsIOFQ7EhMqZlUs2apr+LQ/j3pqQf9hVlUWZx3/kzm2ZOBijK4DcLSFkTCJM1AAUJYRBrwl5eWRIaHx0RH2R9Iu1CU+xMApjozPikKcUlJCbwh+JLHjh2DkJWVlZOTA2/ockAHNsHX3eFw4NOCGDJWil2OELAeRURE1KxZs2HDhlFRUSgWANkpdW3WQi7gsjzMxKgLS7JHjx7NmzeHG7tjx46TJ0/GxcWhRikVNmpKcY0ataKiYkBbubn5MTFx8fHVTp48ffTocQgOh2vjxs14TEpKMQwJHRw+1qxZG1lOnzx18nhqjeTqSQmJG9au37tzd7MmTRJi49esWp165FhKYopTcx8/klqYV+SvDHicnnat2yXEJhTkFlWLq1Y9uUZedtHsD+Zu2bgzISZZJ/eyRatOHjtbp0aD7MyCE0dPx8bER0dHw+UM2sEyNV1LQC7LrNeS5QfStcfb6XTGx8fDASkqyHdowjT8gtEA6+QbfwisR6yY4EsyMuiOqJjYeg0adujcpWHjJmDEooLCstIyuC3EULd++ANIZQpWht+Xn5fjcuqREZGapiEdUBhn/kITKSF8kwWio2LiYmKLCgpMI2CaAcIHjLAWAbIMblkxKJM1x0B6JLSUGjW6du+ZkFx96/Zt099/78MPP5z78UezZ324ZPHi3OxsHWyLAZCXxjdIH0SqtLgIfkuNlBQse7JGKuhR2mXTLR8wc6XEdxx/RZ06dcaMGTN16lR4lIgfe+yxp59+Gg5mFZ5++umf/exnv/zlL3/729/+27/922+CAb7nwIEDwVbMHBYW1rp16/vuu+/f//3fkd63b9/Y2FgQK0qHpWBdxN8VCi5LaVkJC0qpnty9R/f8grzZH826kJWZUC3e5XY6HLphGE6nE21ISkpCjWgPHiFj4GrVwsFlfSxnr9fr9/vR2piYGHAlmNeNq4WEBMTQrF+vHige7UxISGjcqHH1lBTIQGRkBPI6nS6HwwnK69ixU2Rk1L59+1HOkCFD4c/ig4I78dJSuD7OpKTkNm3aVquWCAGvoqKiW7RoMX78+J49e7pcLlgbBV6rEaxJfK15fjB99Co5Obm8vDw7KwurUcDwhD5Kaw1+0QhWxIapzECgsKgk7fz546knzqalGZIjY+PCIiIlqJSwchVZQYJANSZpGso0Tp04HuZ24f4Hg4qXVvH4E8LVWSA+IS4pOSk3J7u8rEQoA0YNImhuqwSMkg3rQQRFT1hE1649hg4bXqdeg/PnM5evWLlo0ZJTp884nU6H0wmaNU1D1wQGQilrpOBoaaTy87Lzcy40bdIoPi7ONCUGki2/CSVaJd/SP/QUUEoJYfW6du3aU6ZMARX+4he/ADmCKMGYD/1rAAlizY8ePXrUqFF33303iBVChw4doqKimjRpMmnSpF//+tdPPPEESKFGjRowLMqHH4AYtXw/W6lKrxcnWiWlpRiCxk0aV0tKOp+eHhEVBafRB2/NDJSUl3j9XkMauIYJmLjhk6Yyi0qKIEfFRClWEFhjxL6AD4+sKShLkj6/l8VjqxYAABAASURBVJTE/atSWMc+0ww4HJrf7/X7fRA0jQ0jgFzIUuGrQJZKX+WGTRuKS4u79ejm9DjzCvJQiCfcExsf27pt6159eg0dPrRVm1bQRAMoSHJg6mrVqsHOoGZY41pNESzjWjPdeH30B5U4HA5MHXxAzqedhffn1FlJg7ESMVAANAirhQVr4VGx7oio3fv2v/3uey+98trufQcbt2jZo1fv5Bq1WFz0FlkFtUmCKx2Ci4vyz548lRAbEx8Xq2mWDsynlEJsFXzT/W6uBsHuUVFRTZs08Xsrz589IwM+jQxMe2H9r7al1VbL2tCyRElgAtAgKcG16tQdMmzElHsfmDhlyviJk+4ZPwHxwEGDExISJbQwmIxc1hjpAnd2hun3njt90ldR0a5Nq6TEag5dZ4YCW2NplX1r/zDfpES/se2RpmnCq4LflJKSgiUNFyEuLi7mXwPcQyRERkZiqwt4ggGJtiv6P//zP2DJYcOGVa9eHWsHiwiAgVALoOGBv9d6z8q5sO/Avu07t59LP4dvZNduXeBXNmhQPzcvF/feigTuWI4dP3bm7JmcnJzwiPCi4qILWRfyC/KFJtIz0s+dP5eXn6c7dKSknUsrKy9zud3ZOdmFRYXZuTkkqKKywtIpyBMag16hU1pW7PP7UEhm9oWS0mK3x5Wfn5eXn7t9x7Y9e3cnpyTFxEZv27b18JFDkPv266PpYv+BfReyMqGTeSEDWdDjgsL8zAsXKisrYQBYQ0rJzBCuCd/LcNdU09UrY1AxaQB0rF69em3atDl25HDq0UMBX6VQUhfopMSODAUqRcQcm5A4aOjwifc+OGTYnZ269uzRp//4SVMeeuzxbj16R8bEse6EEvSVRbKSsVrJ9HnLD+zeVVac17ZN82icfLEViFAYCqdQ+FYLwPDYKTdq1CAyIuzs6RMVJUVCGkLh+21iSsGISsHSdjESByRSmiSYNV13eaolprRp13HQkOHDho8YOHho565dq9eo5fS4MQYYcYl5rKALKGn6yosLz505Wb929dYtm7ucDqVQs8DPLvonEKNH6DU6omkaLAChKobwJUAZgD4AAW8hIO7cuTN25diAg2FRDgpBDAUbUECKKSX2zhC+MwzDaNq0Se3ateDfecLcgwYNnDhpQp26taUyu3Xr8tTTTwwbPiwcJ/5M8DcfeOCB9u3bE1OzZs0mTZ7Uuk1rUGSPHj0mTppYt15d3Av16NnjvvvvxVfBH/DXr1//gQcf6Ni5g+7UmjRtPOW+KSgBvmerNq3HTbinbv06ld6Klq1a3HvflLr16oD7qtdIGXvP3YOHDAoL9yQmVUMbqlVLGHPX6PETxlVLTPD6KqOiI8GhiEeNHgnnOyzMg/2+bQcprS/TtRoBs/pas/wQ+ugSgJrwtezSqaPhqzh8YH9RYQEpCa9Su7gQGT1mTUTFxODTNnzEyLHjxo0dN37k6Lv69h/UolW7hOQUlyccMyaoTsxYeyTg2ZhmXnbW3j07Y6Mi2rRo5nY5mRkTjojsGEII32oB2Kp6cnLTJo3Tz509ezrV9JZrynBoLE0TbMbERFWzS7Fgy68kDBkrfLvcEe7wyHBM5OgYjydcdzqVBLMKOyMTLk8DygTzqvS0UxlnT7ds1rhW9WRdE1LKIEvytzbvllDAxMP8BGBMAG1GXAW8BZBYBfuV/WjLUIDziBO9atWqQbCLQox0W8GWg4/f12iNmzYZOGjQkGFDW7RsGRUdVb1GjWbNm0XHxNSpW6dP375j7hozavSotu3b1G9Qr1fvXqPGjOrVpxdYr2fvHnfceUe//v1atW7Zp19vqMEPbduu7aDBg6DfqUsnZO/Rq8eI0SMGDBrQvFXz3n17jRg1onffni1aN+vWs+vou0d37dGtabPGfZA+8s6evXrUql2zQ8f2I0beMWTo4F69ew4cNKBRk4YujxMnp126du7dp2fnrp3q1a8Dn7dd+zZ3jhg+/M7hLVo0hwMOuymFGycNwrWiaipfa8YbqI8BxuiiAghut7tTp05t27U5eSI1Mz1dmkbA8IEf8dZaidbQi4ApnW5PXEJiXLUkeJfx1ZJi4uKcnnAsSFMJwocJalLpmo7sgLei/OCBfbnZmQP792lYr46ufRfDWQ24/X5VPYZFSamEhPg+PXvAl9y2aUNJYb4Z8FvpjNkINgOq1MkaLPyYJQuTNEkavEYLLECiwdfBrEGJlHToGplmfk7W3l07khJienTrHBMTRcpkZgKIKRR+YAsw4bjQE+aKiAhzuR1SmQ6npulCaOR0OaJjIiMjw/HK7XZpmvB4XDg2CA/3QEYK0j0el9PpiIgIhxrSnU4dcWxsdFgYdhLK7XbGxERGRHo8uM8Oc0XHREREhrlcDjxGR0d4wpxCo7Bwd0xspNvjEJpyODUoxMRGReGtx+lwCKdTg054hDsa5USECcuZMpwuPTIqHJph4WG6rqtgYL7mySMQ6OYL6A723cxWf5gZzvmUCROSEhN2bNucnXUBqeJf28zCIXQ36w5DYhEyFp6hBMNUmk5CM4iklBhRLD9s/uDZHDt6eOe2ra1btBx55/CoyHC8/9fyQk9XZQEME+isXbu2ffv0OnH82NJFn2VlppMMwMgMIpNEinATju3eJeCJFQlFIEqWZMuWllWfQCYmgk8pFUnD58u6kLFqxbKzp04M6t+vWeNGuoZhV0JYXqe6lMnKGPr9UBbAiGNIAcKyFAJ7ectlwcdPKcgB0yQsO3zhBCvGWCvsIapSIAtdM5UE8JY1gdjAE/jX5cSjgTIwrJgGgk0loQ8gO14R44UiZkVkSslCOJwOPEqFqaKgoOm6IU1s52EJoWnEpDt0QjMwn6wspmkYUkq0Hw1HDEDz6oFZh8l39fo/nCb6A0gpUSUztWzR/M7hw7IzL6xfu6YgL1fhwMsyHRYVKWbWLAvCZkLDV8Wh2Drvl8RIMSR0YV6SpoQllZTpaec2b9oQGxM9ZvSI2rVqOnQdqxO1hHCNFmCC5Zmjo8KHDh54x7Chp0+e2Lh+/YXMjAAuNJUUWDPQQKGW+fGHiJViUoSMgnDfafmSGDihCI/MSMZLQIEGZUb6+XVrVu/eub1z5w69e/fCDQay4g1KwbAqCoXvZAGYNsgdVZlhySpUJX6TwMygDE3TIEgpoQbGsYVgukAKABm4XLBlO8YrZL8cSAfAkEEmtJrDmAyMjyIjRVnbCCVArISRl8KqHNWahE8t2BgzyI6hDx5gZZhg7IBh+OliusRU1Bw6yrKBzABqtIH6IMAwtgCZvpCsJyKFjBf7ZifcJLHVLHSOGe1hjA1TbIR7UK+urZvW379j0/aNa0oKc8j0w1IKdlEqgCsERaZigzS/RCyk0PEoiWF9Cwp6ARXwZaWf2bBuOS7Bhgzs1bVLR4/HjWH+sllQawjfbgFFID5lwrz169ebOGF8p04dDx8+sGH92kLcYMoA5iI0iARLixGFwpxna7YxHA0sMsTwL4Sp4CEyalPSJGUoA7fngZL8rI0rFh7fu7Vfj86Txo+tWbMmaxqhKGuVkC5YMCNLCNdoAZAKzKiT9ZVirAnFFvUoi4CsbxDG6wog2J8EQdtUiHX4h0IXrAmMBlmDy9grSAyjqVAqhv9SHHRQFINvgikUfAUdgMn6/NkKpFgBUiHdkiUeoUsSgmQULsiqRZBGSkgTaiiRSbKUShqSTMJMYzAqCV1zMGlMglGtZLKKRVFs1Y9C0GBMSeJLnQ2WwaYkvEdZkhRKJrSNCUGhBoEA8eYEM6N5iJkJ34Oa1RPHjbmzW8c22zauXrHo0wvnTwe8ZYa/0qFrmsD4oXOwBboiZLCzuoY9ALE0NRje8Etf+ZmTRz6d++Hh/TuHD+43oH/v8DA3ERPyIqZQuFYLKIEpxCSs0RG1aiXdf++Etq1b7Nm5ddGCuWknj1SUlRiBgDINBwsHhtAwGVszU7KSgiSmuTKlJoQgImkiUcNzoBJjeuzQ/s8/mXPu+IG+Xds9+ciDzRo3ZiwQEiSC52FEzMQUCtdmAWYmFoACncF+zLAoaMR6EoQEsoxM3xqsUpgRW5ogNiLIABEEhckgmEXw2eInIsjiUopgYkvNTrTiSzpWFrxhpGF7yBoRs5WGHJqAABCzzX2EByFYE6Qx9PFImmBNCI0I5RGRIGXpMCG7wCtGOkGPhUBXISGB6bIA7pBsKpZEEGEInO+wIGHlA52SYsbjZRluWlFKrC7RqnWrhx58cOjgQRlpZxYvnL9n28ayvAu+klzylzuFcjIgHWw6yMQjG14h/RTw+soKM88cX79y6dIF86S/YtK4saNG3JGclKjBUbep9abt9k3cMEwoTB/MPHyFWSmHptWskfLYQw+MHzOiojj/8/kfL/t83smje0sLs73lBcpf4RTSLcjF5FAKnOgk5QGDmn5N+jXlN7xlBTkXjh3cv3zJ50s++7Q4P2fSxImTJ0/G8bRpmhqGivkmNsYt0zQm/KNIgREsTmA03BpI6xd8BvPddrBMQsRKEFxJi2E1TWjMGsEilmEYk5z51iBKJrRbwEXUGzVsMGXiuHvuGuFkY+OqpZ/Mmr5rw8qMU0cKs85XFudSoMxJPmFWSm+Jv6ygKCf91LH9W9YuX/TJ7EN7ttWtkfj0o1NH3zm0VkoiwYthFEuYFwQBVgnh2iwA6zGRQCZwGSvl1kWDWsnjRt3x1CP3N29QK+PMsc8/nf35/Fn7dm06f/poYU5GWVFeoLKUTZ8mA/iM+csKvaV55YXZ6WdSD+7etmLxwuWff3r62OHG9Wo9eO/kEXcOb9CggaZpum79d3iUwpxFVTcPbr2WMBGM6dCwX8aeFNRASGEVFJTCCJK69Tp1XVrMhK04vEgLTJoQum5t3uGfwiqYehYE3QKBpYJbjJiYqXpy8p1DB//8yceG9O0h/KVrlnz6/luvzJs1fenCeRtXLdu+Yc2WtSvWr1i86JOPp7/16gfvvLFh5ZIoJ0+5Z9Qzj03t1rFtUnwMSenQ4JYTDCTxdb1d58f3HnkByzEzlh/mFJkBly4SE2J6dGr39KMPPv3oA22a1SvJO//Z3A/feuWFeR++hwFau2zR5rWrtqzDGK3asmb50k/nvP/mK2+/8sL8jz4AX3Zs1/Lnzzz+7JOP9u/TA7dtQuAURSKgCuB7tzZUADmFw6E5NNYx8y0oLAGAmcADgDWMdLsFBddRCKWz1FlpGuFLosNKHHQi4WXKoP8tbgmzaJrGWDdB6BpHhLlbNm889f4p//nvv75/8oS2zRvj+H/r+tWvv/j35//4/57/0/+b9uYr2zeuDXNQn+6dnnxk6m9+8TNst+vUruFyaviYojCGGfAjcmj6LWGBm7aRsCJba440TRDh2JFcLj0lJbFX944/e+qR3/7q2SkT7+7cvpW/ovjo/t2LFsx55R9/ffnvf3nx+T+CIo/t36VLf6+uHe8bP/ZXzz3zxMMP9ujSISUxwYGSiJhZCwYhgs8UCt/fAhwVGNRxAAAQAElEQVTmCg9zeZyaUyiNcBUnNf4CgqwdqIZhDEIQTryk/fhNMt5+0ys7HTF0AAgABAACAAGAYAMy8E3yFV5dnuVb1aAMHQACoJGyLCCUrrPDpXvC3BHh7khdOIgwAYVg/CMsiW6JgJaytRz5YlDoQZjHVb9e3bFj7/rFz39278RxrZo3VgGvv6JMJ0mmv1mj+hPH3vXME4+OGjG8XoMGDqeTiZhYEOO0llky45DtIigUrtUCDFsGEcwYfGKybHsx1oQWHxPdtmWL+ydP/PUvnv35s09NmnB34wZ1fRUllWWF/soSt84D+/XBAD37xONTJk3o0KZVfFwMXBpBphYcJKJgcXwxUCh8xQLXmiBYcwi324GLzMjIsJhwT5THGW4jzBke5owAwp3hNiADV5bxFjoABAACAAGAYAMycGUZb6EDQAAgABAACDYgA1eW8RY6AAQAAgABgGADMvCF7AgPd0VEeCIjPFHhrnC3ww2/G4aii7PPYklMQUG3YMB2mVmw0BxOl8vlriwvO3Lo4MH9e2OiIgb27zN08ACnJvbv3Q1UlpU6HdbHAVlI6MSCBLqMxWx323K7bSkUf2cLKOuYSyic8xBsqxEHQeQQOjxCp9OREB8XEe5OSzt1IvVw9eoJ3bp1qFs7pbS4IPXo4YC3MjYmwuNyCiYmKTCq2AYp9Z0bE8r4TRaAgVlpQukO4faAHdyRkZ6YyPAgwmLAm1FhsdGe2w9hsVGeqAjLkQxzOz0O+NpCs2xFLC/CsqiwolvnhwUEsNBMqUxJvoCxe8++d955Z87Hs4sKCsbefddvf/vrf/+33z7+2CMul2Pu3I9fffXlHTt3lnv9pGlSsalwe4PeMn5EKCn4NxRduwVgQRtVWRVZLrrBbBCbBN7TJEZIsmmYu3fveuutN2d/OLO8vHjSxHv+6/f/9stfPNemdat1a1a/+upLK5cvLysr1XWdiHEiKRUo9xablnSLBMtdkEwK50+6ULogXSOHBXZq7NTJoStdUw4bkIEry3gLHQACAAGAAECwARm4soy30AEgABAACAAEG5CBK8t4Cx0AAgABgABAsAEZuFyGBQQJWINJI4ULHAoGJgLIDrfIjFQWw6lgQLulsliurKJ8/4GDM2bMXLRoUVxs7H333XvffVNatmxRr17diRMmPDR1alJi4uefffbuu+9u2LS5MPifWiRmAIURWebAvAnKFArf3wKwJGB9iPAHw0XwMbWi4uLt23fM+nD2mtVrqiVWmzp16j1jx7Zv13748GFPPPVExy4djxw9+u60acuWLs3NyzMMk5ALg3upNcEBv+z5Unro73ezQHD6E5P1VynE1veMCQ4UBCYr3RLYEuy3VY8QACQCEAAIQVgfxapHCMDl6V96vPzV5fK3qkEZOgAEAAIAAYAAQLABGfgm+WteoeOEXjALZiYArAhAoKqA5yr55hXgaBiGwaBHSKbJJHNyslevXPnayy+tX7emVq1aUx96+P4HHqxXv6GG7bjTnZSccvfYex5+5NHWbdpu2LD+7TdeW7p0SUZGOin4K8owTNxkKSVMfF1Jw4y5eXt+K7QM4wKQlGYgIJT1CWIlA4FAXn7B2nUbXn3tjZWr1jRu3OyRhx+7d/IDtWvV1YQjOjqu34D+Ux9+uHPXLkdTj7/5ztsLFi7IyMxkhlOpTNNmSGX33n6w5VD8fSwAr8kG7CywwWSNLVj8wEwMMhAMxrjdwELADkTB/jNkZiLAeiYrlS7FEG5qMLMIHl2BJ9HQ3Nzcjz/++IV//GPJkiWdO3f61a9+NWbMGOt/6MaMRWWapqZpcXFxw4YN+/Wvfz106NATJ1L/8ffnP/xwZmZmpt/vdzgcKI+IoYaYQuF6WICZMN+sb5kJx5Dy8nLfe++9P/3pTzt27OjSpcvPfvazUaNGp6SkaJq1xSaisLCwfv36/ey55wYMGHDu3LlXXnll1qxZEDCCGGsoQEAMYNCrZDyGcAMtwES3Iegbg20MvAZpIr7ZAe7D4kHMzFhLn376KYiyoKBg+PDhDzzwQOfOnaOjo/EK3YCafulfUQ4PD2/fvv0TTzwxfvx4LDZkefvtt48cOVJZWYlHILT8YLHrBdgTHx6MEQo8derU3LlzP/nkk+LiYvDgfffdhzGKiIiAwQEoIIYmhqxJkyaPPPLIuHHjDMPAsM6bNw/jC28UrwBoAhjTKhmPIYQs8BUL3PCEW4MosQKxDisqKo4ePTpjxgy4KlhXo0aNevrppzt16hQZGWkvJMRQA7AIsboAZGzQoMH9999/7733JiQkgCv/+c9/wscpKSnBK1gXmohD+P4WgPFhTHyEUlNTp0+fPmfOHIzR6NGjn3zyya5duzqdTijYtUANYwQZQ+B2u5s2bYqvHcYI44WRRd5Dhw5hrG0dxGBVKIcQssCPaIGblCixNgDYBTGA1VJWVrZx48a//e1vM2fOxN4ZS+vRRx9t27YtZFsN6xArDWsPwLK0EyHDwaxdu/bkyZPhWjZq1Gj79u1///vfP//885ycHKxYZIEmgCpQkQ08hvCtFoCtYEDENqBfVFS0efPm559/Hizp8Xgee+yxZ555pkWLFmBD6EAB1raBQcF4ITtiDBY+ZhMnTsTHLCoqav78+S+//PKePXvKy8sxKMgFILsNpEBASgghC/yQFrgZiRIrAYAVsJDshQGW3LBhAzbOiOvUqfP444+PGDEC9AceBKCJ5Ye4Clh+gP0KAtLhTvbv3x9HltitY2Non4ilpaWhCjg+iKGGGNVBOYRvtQAGCHaD0WxNmA677FWrVsGwiBs3bgwPEWOEQ0lwInQwFvYYIQsEO7ZfQQaqV6+Og2Z8zOrWrYtRfv311zdt2oQDZeRFXVCAAEDAGAGQQwhZ4AezwNUQ5Q/WmIsVYWHYwDOEvLy8xYsXv/POO8ePH4d7gu02VmCNGjXst4ivDJSAdYXFCW8Fe8AHH3wQp2ZerxdXByjz2LFjeIt1jhg6WIdXLi30tsoC4D7YFnQJ4Lx4+fLlM2fOxNlIq1atwHd33nlnUlISlGFYxN8KGB/6I0eOhB/arFmzvXv3fvDBB1u2bMnPz8crVASgIsShMfpWY4YUrrsFbkairOok+AsLb8aMGdiLHT582L7FHjRoEK4FsEoBLCEsG8RVWb4q4C10sMAgwIVp3rw5Ts2wE4e8YMGCl156CavR5/NVZYRmlRwSrmABMCBMihgfm3fffffFF1+Eh45Dyd/85jc9evSwr9egADujkKu0Kj5muAr/+c9/3rp1623btuFAedGiReBK1IJBtMuBAEAOIWSBH8wCNyNRYhkAcPp279791ltvgSgDgcA999zz8MMPd+nSJSwsDMvPXnhYP4Atf5PJ8BY6KBAKiPGIk0psDJ999lmsxq1bt4IrFy5ciCNLWw060AzhWy0AQ+HKBWe+GCP4knD3cHmNK2y47eA7vLWBrx1w5dIwKNCBPgR8BXv27PnUU09h33Dw4ME33ngDJ56gYMwBfBqhg6KghjiEkAV+MAvcFEQJhgIw+21Ahou3b98+7I6XLVuGa4F7770XtzcgOFzdQMdeLYjBmACEK9sLC8xWg6bt4MTHxw8ePBi7eFyaHzlyBCdi8+bNS09Px3JFUYhRC5phC0gJAQYBbINAADBGuHLBPfWKFStwXTNlypSxY8c2bNgQY3S5uWB52/6XJ35Jhg7GBaNjA9c7uKZ76KGH7rrrrtLSUkyDJUuWZGdng4uhgHFB7YgBtAfA45cKDD2GLHB9LXBTEKXdJcx7rATEuBbAcT62ckuXLq1Xr97UqVNxH4qLUawlrCgsFehXxbaAlG8CFJALbxFDhoAqUFRsbGzHjh1xZAn/BYsQ55VY87jngecCNehAEwgtQhjBBkwByyAGNxUWFuLIAkZbu3ZtrVq1cJoxadIk3OFA4Wthl3CFGLkwQIAtREZG4jwaowPyzc3NnT59Oujy9OnTYGcoANC0ARlNukLJoVchC3x/C9wURIm5XoWzZ89+9NFHf/nLX7Dv7tat2y9+8QssFRx4YXGit1D7/qsCDg6KAim7XC5wJarARg8rc+7cudhFrlu3DkxtV4QYgHIIsABMAcD+J0+exHb4f//3f3fu3Nm/f//nnnsOY4TtNl7ZahAAyN8ZGG7wIG51cN4CugwPD8dnDI7/jh07cCaDYvElwycNMZqExxBCFrihFrgpiNJeVFgbYEmw1fvvv5+VlYW7aZwk4logJiYGawY+IAwBHVsZ8vcBCgFdYo1hX48d/fjx43HZCqcVO/033ngDF7g4srTLh6YtWPFt//P7/WfOnAFLYowyMzPhjIPF+vTpAyLDjhsmxUiBvGAn2BbxdwaKsi1fs2bNCRMmYF+PabB48WJ8RA8cOFBZWYmSURfiEEIW+AEs8KMRJZZBFbCo4B2kpqZ++OGHs2fPLi8vHzVq1DPPPIN1CCKz1WALsCTWBpSRgsfvA5RgF4VVDQpOSEgYOXIk/Ers9HHuNm3aNFzv5OXlQe1L1SHl+9R7a+VFZy8HWBJHEx9//LE9RmPGjMHVDQ55cb2GfsGeMCaEL1kMKd8NKAdlIi+29rjYeeKJJzA6q1evxn5/165dZWVlUMBboKqRkAE8Ig4hZIHraIEfhyixomxgTkPAgT0uT//617/CXwAz4hQf/h22XaAwLAbE8C8A+CxYOTa+swlQIEpAaRAAW0AV2HrDM8L1ztChQ3Gr8+abb4K1cSgGdgBBo5FoKiq1Ywg/eaDXNtBTdL+kpASfkBdeeOGDDz6ArXC39uyzz+LKBYMCBZgUMYwJAYAA2yLlOwPZUQ6AogBcvt1zzz04JGnevPmqVaswVdavX19QUHD5cKCRaDDiyxO/cwNCGUMWuNwCPw5RogVYCQAEHNXj2vSVV17ZtGkTXIZHH30USwIbLiwSKCDGYeINnfooHBVhgeHIsnfv3vArJ06ciBM33B7gUGzr1q04soQOFiFiAG3+UfEDVY6ewiwALIMxwr3zP/7xj5UrV9apUwcmuvvuu6tXrw4KQ2swRtCBcOOAinCx3rVrV/iwGCMckmJoPvnkE9zCoWrAbi1itAFtRhxCyALX0QI/DlFiQtvACgRLvvrqq7i6wXEkfElssrACsfZsBcSQr2OHv1oUGBCJdi1YjfBkcYGL41HcIIEd0DZc7OI0AMsPCxKA8u0AeNnoMuyfn5+Po1scR+DqpkuXLrhdueOOO2rUqIFXsANiwLYeHm8QUAWGCV8vnMZgkuD8GocAcPmXLl2akZGBSqGA1qIZiKGJlBBCFriOFvhxiBIdgJ947ty5d999F67B+fPn+/Xrh23vkCFDcFxokxFmPPwILAAo31CAEVBjVUWoF44tDkmxIHHPA48SjcSRJe6XoAPlG9qYm6pwHBzjFGLmzJkYI/ARxggX3Bij2NhYtBPWgK3sMYKMlBsKWB7DhFsj+JU/+9nPRo8eja/s22+/jaMAtA2v0AZQJJoEuryhaQu0XwAAEABJREFULQkVfhta4PoQpfVfv7X/38OlJKlIEpkKUBCtvxCtNLxBCiY0ViBcyDfffGvWR3MqvYFx4yY8/vjj7dq1g0MHHSF0THcJVVJCELMiAm7U6GCNoTqsLsQ2UBOcF/hNuFAaPnx4Vlbm66+9MnfOx8ePHvH7KpU0CN1UJoRLkKRMCjY42FS0FkAxPybQAhsXm2S1EI38ApLMIAxFBgWhyDSVIdEZpcorKvbt24ez2unTp3u93jFjxjzz9NMd2newr250XYPF7O5VGc1+vBEx5gyKRY2ApomGDetPffD+yZMn4AQZN0vvvz/j0KGjpinREtM0EGMWYQ5+AaVMiTSSSgHK+msqGISsGIKdjAG0gbpCCFngcguIyx++jxxcf1hikkAimKFYfdJacKbEfFR+U5ZV+PILCi9cyDxz+uSWzRtnzpgx/5N5uBa4e/z4yffdhw2vpmmKhAIvMiFmIZiJSQbxfZr2LXlRL5YfXwpSSohIAVd279794YcfGjN6NJh9zscfvfXmm7t37SwvK5MyIE1DSUOZIE2r60rKi1DyIjF9S7U/5GtFF1uFttmwKBQjYxLoQyplGKY/EPCSJQTQt8Kykq07toMiP/30UzhxOJG8H2PUtBncOg2mwbgwWX9hKcZAQcRgMd2wgHpRFUYKMWQhqF79OuPGjb3rrrsSqiXP/2TBe+9P37t3f8DvV9IsKy3NzctPz8hKO3f+fPp5fOeKigoCAR+GTGI6KiWVMsmUhDkKdg1IfPkIDEmWUYKDd8P6ESr4VrXAdSJKe4oREwvLCRSkrP/Wo2JSOlNpXv7Z40dXL/181vS3X3vhb3/+n98//4f/WbJwrr+sqG2Lxp1aN6uZGOd2asykCeQgOKMoj6wpy0RoIYCnHwhKKWZGZVJKcET79h0mTL5v8n0PStbnfrLg5dfeXLd+Y8BUUjGxzpqTdCcJPQiNhEas0Q/eZrT2q2DCeFggBMaTIELbAAiARuxg5SDlEOTS2KlrLlJCZ91f4du6adtLL726bPnK6jVqPfXM0w8/+ki9Bg3cYR6hCWKyQD9qYGEy1W/U5MGHHn7qyafiYmKWLVky7a03Nq1bs3fH1uWLF8x8+/U3XvjLC3/6n1f//ud3X39x7qz31yxffCr1qOGrJANfOHwLdWJNYcA0hxA6Ed8M3aJQuFktIK5LwzDJhMS8Y8UsmUyWUpOGCmRnnt+0auW0V17663//x7sv/XXDkgXpJw4YJTkJYaJT8/rNaiWe2Lvto2mvTX/rlbWrlmdnpldWluOzrwcbBa5UhAIFMYAarktLv70QOCzgSgCqUipJomadeuMnTn7o0Sdatmm/dfvO1996d+nylbn5hYZU4HST2GTrv9EK/8SQQQ+NSF0GlPMjAa2QRADaw4pYBqFI2LKSrBRJk3zeQHlxWVlhcUleQeaZcx/PmPHy3/62Z+eOFq1bPvH0UwMHDU5ITGQdtEIGXOlggT9Sj6xqFZFJgjW3JJEQnzB48MAH759SLSZizdLPX/jLH/ANnv7ai3s2Ls9K3VeZczbv7JHUvVuWzp/10p//3yt/+9OH77xxaNf2ovx8v99QShgmBSSjNEWwj1V46BeywNdaQHxt6rUn2mSG2caYgH4ZyMzK3LB+1QfvvT172ttnDu6rkxA1ckDPB8eNfHTy3U89MPG5h+/95eMPPvfIvZNGDamXGHNw19Y5H7z3wbS3t2xYU1SQawQMuwGKsCitMhX9cETJbNXFzEIIxCyYhIhLiB0yfNhzv/hF334Dzp479+rLr8yc+cGpkyfLykrLyyp9PnQa3wiAbqIAFlQyuKe0bCiZL4diwka1MC//6KGD61et+Gz+3NnvT5vx9uvT3njx4xnvnDiwOybc1bRxgzq1qguW0vCT9VGQdu8UqAol2w8/Qsymib2zkIowOMUFubo0qkWF1a1eLSHC1aZJ/bvvGDh17J1P3jv22amTnrhv3EPjRz80cczIwX3CtcC2dSvee+Olj2ZO37V9a0lRscAoM4abJSFGTxQrC5BCCFngcgtcH6LELANwACSlqZSRm3Ph84Xz33njlTNH9zevmzJlzJ0P3D3i7mEDenVs3bJBrSa1kxrVrNasbkqXNk3vHNBryl13TLnrzjZN6u3btmHmtDeXLPykMC9bmqYFKXF4BvHyFt9oWQbPKFGLYRgqSAcaeEaqxLiYDm1bDx7Yt37tGvv37Hj/7Tdee/Hvc2d9sHHd6l3bt5wFaRaXKCPAyIIiTFNJiUJ+VChCSyyA2UCYCo0yzeCzaRYXFOzZvuXD999885W/zZrx+uql8w7t3XjuxN7S3LNN6ib06ty8XnLM6eMHP3jvzVkzpu3fvdNXXqpMg+GbKisQiPYH7BsajdoQm6ZlWLRAYJ75jVPHj8+bNXPF558mRXvuHzfm8QcmTbrrzjsH9urapjEmWP2kmKa1k9s3a9C1dbPRg/tOuWvEXcMGpMSGb123avo7b2zdsDY/J5ckCiOMlbU5gHdt2elHHzj0NYSbyAKGYVwfosRCtD7vAod2KuPMqY+mT1v66ZwasRETRg0bM6x/q0a1qkV73Gw4pM8p/TpiCrjYdLMZrqlqkZ7m9Wrc2b/nY/dPbFgzaeGcD+FaZpw9hZYJYk0ISVieqOGHMxxWIyrTNA1riM2ACHhz0tNWLl7w3uv/XPjRjNLscyCRpEjnqYO7ln86e8br/3jhD//1//32udde+MuaZYsyzp81Az4BbiUF1xh0j6J+PCi2AuHmAkTAbO0wpd9/6viRd1974Z9/+t2uDYuqeYwBXVtOnXjnQ5NG3j9hxENTxjz2wD3PPDr5549NGdK9g8tfumHpwhf//P9mv//u+dOpuBUnaygsV+wH7hRYEjXCzSdmjQWZgaMH9rz9ygsbli/q3KrRQxPGDurRsVmdlPhwl1MFHNJwKsMBSL9D+iMcFOPR6yTFdW3bfOzwwZNHDXMFKme9+9bKRQvLS4pZmZoggnFYQ6yCPaSrDSG9n74FfD4fJsh16aflR5mmkZedtXHViu2rV3Vr2XziiOFgwNhwTRdejUHJJmY3KykAiTNMU1NSF8qpUbhTi3FTkzrJo4f0b92s4Zb1q1YtX5KfC7/SEEwa0w8ZsCCZrSrBkqbleeXu2rTmvdf+Mf31F3dtXBXrNIf07vjsQ1OefXjyUw+Of2DsHSP6d+/Zpkm0Fti9adXbr/xj5juvb163Kjsz3fD7NI0RfsjGf7kuZmJWipgII20ahq+yLPXQ3o+nv7NzwyrQ/YQ7Bt539x3D+nRuUbd63cSY2tViqsdF1kqMa1SnRpvG9Yb37PjohLsmjRgS79bWLP4Me/Pjhw76KyqU5YXxl+u6kc/M2P/j5MCKlcTZqpF+5uTyzz7JOHWsX9cOQ3t3a1o3JdLJTgWK9DtJ2Y1DLEgJnN8YAU0GhOFzs0yOi2zXuN7Yof3iPdpnc2etW7msvKRUoVB8kK1acBmp3ciuhMq+9SwATsDyuQ7tVjhMFKrSX7525fI1ixe1ql93RN/ejasnusnvYJ8QOOHCrs1yZ1AfQMokLF/CxxtTVLHpxxSPdnFKfOSgPt0b16u1bNHCFUsWl5UUQw1ceR2aeNVFiGCAumEYhw4exB7to/fezD9/uleHFvfeNfypBydOGjl4UPd2Pdo26dG6cbfWjfp3aTVx5ICfPTrlwQmju3doceLQ3g/fe2fOrJmpRw4F/F60H0X9eGBl2ZmYwR0K3hN4AScG504eHtq3+9RxY3u1b5sQ5nFL6WHlUgC5SHOycCj2kKzm5pQIR+8OrR6aeE/39m2OHTgw7c23Nq7bEPD5f+BBQS8uOvigTKbSonxsWY4d2DWoT9cRg/smx4a7KKCZPgcZmjJYGdK6WdQkkYI+ERhTY3ihkqUJhTi3aFE3Bcc+0W4Hzis3rVvr9/qgYxJuqxQxRAqFkAWqLCAQqh6+p+A3/Nu3b/t0/tz4yLAxgwfWT05kX0WYUzNNn6KAUpiEqMGagtZMZMxbzEf7kZikMnzC9DnJbF6/9h0D+8aFu+d9NGPLxnV+b6XCrh5ZbxxAJRasChQikIpUXq939coVb7z68tb1axrWqjb57jtwRdCnS9s6iTHx4c4Ih4p2Ej4DEbqMc3OMm2snRHdv1+ru4YMevX9Sm5ZNdmzd+OILz+/cusVvcSWhWBsonlAXEqzYerqhP6tS+F+wr5RlpWUrly3GsQY4ZewdQ4b06V4rId5F5GbhxnAYSkgGGH6boQmTddN0BLweCsS4RaNaySMG97tn5B2FuTnvv/POru27Ksu9VS1X4KMgqlLQPwtfPF8fCQ4+ZmxRYdGqZUs2rVvVqFaNvt07V4vGIBgs/RpJwcqUhiSWpJmkS9Yl4bJeIxamYZA0dSF13HIblbHhzjbNGo4bOSxQVvLp3I/TzpyBgjUdrd/1ae0PWcp1q0sFB/L2jK9oRHHFt1d6CYcLHmkVcrOyVyxZUllSOKB315rJMQ7hc+jSVCZpDqW5dYHJ6zeVESA2IBJuYwNC+YgCArNaCNadRMKphMcwWtRMHNmvE5XlbFq9tDi/0DQwbldqyfd6B8JCowwDHTFMa5H5TfJ6K4/u3bP4o1lGXtaEYYOG9+7ZvE7NeKfmNvxhynDB/5WGMKVGAo6akjhSUJr0eaQvwcXNqscP7dJ2aLd2ZnHWrHde2rJ2hbeiPICSidB/i/OVxIolhQArfK+2Xzmzgp0VoVNSKtNXefLw/uWfzo138/jhAzo2qRvnlDp5NQ2XIz4CxzAp8CSxaRpCmQ6Cs0+mDs+S2QxoRnlSuOjSos7owT2d5P1swdxTJ04YAWkYICaF3vlNw4RIUqF36srt+va3KECSZRyrEdZfyURKSiE0I2CmZ1xYvXx5hE79enaJjvBocByFqTQCvfuUMDRnpXKUGVzkkwUVstQnir0UIFdAYR46DKVMNBJkqQLRHkfbBnXGDu5TmpW2a8taX0Uhq4DD8jtR/7c38lbUQOctXDIuLEFSkpUEq5iwsJIYwNsOMIKSRpUdyFqlF4cXUwHAg8DvO0ApKzsz20Ig4D+4d8+ebVubNarfsmkjl45lZ2pYhQrswH4pAgrOiqY0pwSEw2RNsqZYaEJjAaYkwqNijYROFO4Q7Zo37tW1Q0ba6dTjR7GU6YYGZsJ0QRUQWEnTOHn8+IJ5c7zFeSMG9unRqU1ifLRTgBZNoQy8h5Z1dUwgd5cSDuFww7CwBzrtIKkrIyk2on/PziMG9yvKyZj74fSD+/Yo0wCRsGUuVANY1sOfGwo0SSl2OHBkJ4sK8jesWeUtLRrSv3eD2jXCHOzADYZleNNiHywW1kxQjtA06AthKGkwRk3zGQrN1lk52ESu9i2bwCTnT6fiELmivFwqkxmcCgoTxIIIhAbQdQ0oECBmwUylpWXr161LTzvTrmXzerWqu5yoVComUyqvYZqas7jCf/zU2c07dq5Ys3bV2g2r1m/as/9IWkZmZQA9EUTCiiYAABAASURBVMQspbTXBCkz0uOy/kWM2tX37tp29swJIokqrmvjb67CGAYQVpPwBZIKk15CCEIqazJUMSjmJ3D54zfJ36qGjNABIAAQAAgABACCDcjAN8lXeHV5lm9VgzJ0AAgABEUsYRnLLvhhrrHCTCDMazwGoZQKmi348J0jZi4tLtq/c1uES/Tt0SXC43Q4NKmUiZlIgnRnpcG55WZ+pSqqlJjHpV7DJzU/O3xKh/uG4SKymkaXAprl8bh79+oV7nHv3L4Te8ZLb27EXyYYSbPsYJjWnCnIy5r9wbTUI3uH9O/ZvWNrl66I4cd4JUmlcQCdAqcIl0+KMj95pe412WA9oDS/hG+lNCxnaUa4nF07ths5bHB5Uf7ihZ+cO3vWDGBUiPgSyAr/0m0r4Xr+mFkIAV4I+Ly7d+w4sHdX397d27Ro7nLquqahs0y6hHtv7U+FX4qSikBBWWVBmTevrKywwlthmIYSrLtIaCY8YsNgJo9T79S2ZZ3k+H07Nu3Zuc3iJ8sqeGOByO4efc+AUi6VAAvhiQ3DlFIqU17IzNiycUNSfOyAXt3D3brhrYSrScysOQNSpJ4+O/fTRW9Pe3/69BkLFy6c/8kn8z75ZNr06UuXrUzPvIBeMDH6LgSjfNPADJUJcXHt27U9n3b2yKFDpDDWeKPw+0kC85uYWCgWxDAtSWkNoSlBmgBjlwQYUrMBGbiyjLfQAQxp5YIAIBGAYAMycGUZb6EDQAAgABAACDYgA1eW8RY6AAQAAgABgGADMnCZzFKRtD4VsAnTJTbCNAAIAetI4M93AzIrpZjZNM3crAvnT6e2atKgXs0Up1Ay4NcE0jkgRWFp5ar1W977eMHr0+e8+u6Mdz+YvWDx8m37DmcWlPuFW+pukzWCV4L2We1AyxSeHJqIj4upUT35yKEDOVkXLiN3S+l6/phM1KfpqFXXqKQod/GCuXu2b+jUpkmn1k0inNLtYE0nxtmBhu8ONnFUaajCcl9WYXlmQVlGfsmFvOKsvKKScq8hLxKTSxeaMiNcWpd2rfr17Hr21PFdW7cIBTupyztyscfXszP/WhZb489MBfm5Sz77RPor27dqHhnu0TURMEyh6UyClVCg+AAdPH5y5pxP35o+6433Z7727vQ33p++cOmKzKxcElpAKtYdmhAOjTRlJMaE9+jU2qgo/GzB/OwL6aQkOqKUVApjR0SIq4DH7wiMCRAszSpR01E/GUbg5LGj+TmZrZs3SoiJdLDEmQ6GxZTKZD6fmT3/s6WzP1l0JiOradMmI0eOnDhp0ugxYzt27uJwuQ1DoY2GaUjTVEoJDKmmYZbCBHVqwjPVDuzbV1SEy0M0GB1C/BOEVNIkw1SmYfp9AW+lr6LCW45vYjAuL/OWllQWlXhvM1QWlXpLKnwVuE4ImPB2DAXSJMxmaxpjEmI2uFwu8Z2nAzNKsHIbhpGXm1tRnNeqacMwp85KYQLiBephoYNBVm/YPGPO53MXLV++ZsOyFWvmfrLg7fc+mPfZsmNn0isDmL1YCdBF0xhOFwoFNCaXQ6+enFheWpyeloYBxuSuAgq/XkDFCif9zIYyic2jh/dvWLO8emJMj07tYiMcDvIp06vQRmVihUmYTXNk5hV88PH8P//z1T+/+OrfXnr97y+/9vLrb69YvSY7L19KpWPlSYNMnzB9cZGeTm1aeDS1bdO6zIx0ZWI5BxuuGN8GS2IrukE/dI2IfT7foYP7jxzc17BuzZpJ8RphmZi6riuhSVMKoSsSFb7Ajt0HZ837bM7CpYtXr1u9eSuwc/fe3PwCQyoffgTOVTJgOFg6KNCkTkrTejX3796RevQwuqtMQzALVEZE6BE+yyTp+wW2SpAKkyJIloqsQgMBX3raaU2ZTRrWd2hKx8SRARyU6rqj0us/eCx1w9bdBWVm2w5dBgwY2KFjx/YdOwEDBg/t0btPbFw8sXDoDk3TWODbjAYrq82mER0ZnlwtISM9LT8vz5SmxBr5fo2/OXNbxmS4kNJvghUqyirLSivLyr2lNsCSQZQE49JgDBm4soy30AEgABAACAAEG5CBK8t4Cx0AAgABgABAsAEZuLKMt9ABIAAQAAgABBuQgS/kUssIJeW+Mm+g0m/6DWliyWPeqWDAHNQ0DVPlOw6rlFIIwYxtkZGWdjbc40qMj/U4NQeKBFMQwWeRBO7jvILC8kAgpVa9QYOHjLhzWKtWLQuKy0CUC5esTs/JM6S0iCi4wsiKFbMFj8uZmJDA0jx75qThDxCRxCgTmq0gX0eYkrAiBYvK8vLtmzdfOJ/Wp1unmklxbk2BSxx4odAsRl/RJyhXeANrN25dvXH7jn2HT6VfuJCbl1NQmJtXWFHpRTnWKlPSWoykNDYTYsJwu5p28tieHdvMgN96i8KuY+uvWJRkriiv2LxhQ4Tb2aoZPmPsYFPDpwztQKcEoVeGVAHFpV5fQbHXHRHdrVffiZMfGDduUv/+A+PiYqSUTt2BSqCpCQLPUsCXGBPZvGHdsuL8gwf3mgGfgGkUQ+cLMEqXXzxes4S8ys6EPwCDOE1ZUVqSfSGjdvWkxLgYF0xs2VljgS2f9AWMI0eOZ+UWR8fGNm3eKjExMe1s2ubNWzdv277vwOHCknKnO8xUMD2oQmIO2YWTMh06h7kd2LtUlJedTTtLUKGfbFAkTRko91r8GJA+U/klmZIMeTE2FEvF5iVABuxHCMBXZaQgHYAAQAAgABBsQAauLOMtdAAIAAQAAgDBBmTgyjLeQgeAAEAAIAAQbEAGvpAlY2X6Ko2KoGXKvP4KqQwwTRAXI/HdJgUHA1YRspummZ+fF+7xREdG6DorGWB86glLB9MdUIR/JCXEx3Xv1P6uO4dOvGfMiDvvgEezct2mgwePeisrGesWBV0G00BDJXbfrMzszEyJHcNlb6+vqAmrvUqpgtzsU8ePNKhVo2WTxnFRkdacUVIQCwkIhqiEhFFNWJHZobfp2Omhx5741W9+++wzPxs0ZEi1xGqMooIrDbRhI8Kpt2pSPyrMuXnj2uKiQkYqFKw42AkVjG9MBKOi+PT08yeOH0uuFtOwTg1cNGnKYMKgSEUgM4wMBCgiSSONY+LimzVr2a9v/wH9B3Tq2D45sRo+pYIZQ4yWM1pOCuOLz2G9OjVTkuJPpR7Nz80WSLeLszrCF2eWJX+fn2K0LliWCsYo119ZWV5enBgfExURhkSUjtiCIq/PX1JWbpjKExEeFx8fMAL79+1ftHjxtPem//Ol15YuW5WZlY17LcxYlEP4FCMbERMGVYa7XfGxURXl5Xm5uUTEbKnQTzAoP3zJQLnP8JqEA1pDspQkrZhNydhRKfqpdv0Ko2l1GdtJw1B+v/LBOD5/pUU41rJQwamH9ULiCiVc+RVzsAZlhYKCfF3THE4HM2wvsbTwzp6FTJjx0qExzi7DnVwtygUm6t61c+06dXPyCk6npRUVFlrNsiq72BhkEUxM0u3QiWRRYT6+g3iPwhGjPsTXESAMC1LmZWeXFBY1ql8vPjZO4ZPDaI8gyUIJAe9QaQSAToTGQjMVFhk73O7wsLC42NjEatXCPGFCaHbDbAMTMStZvVp8zeSk0ydOZF7IVNIyOtLJCoqt+Mb+MjLSi4sKGtWrGxMepilc3Es0yaqSUbkilmiEZIJkKhCiNEE2hsmG1JVysNJZog+aYARYXgjGPyRNkFWjhvUK8nLzcnPINK0CUKjC7zrhYlFopFUgJi2qltLwlZdFRXh0XbOaTVazFTGx0HVdIFGREQiYRqBafEKXrl2GDB1Wp2694jJ/Vk5OUUlpwAQdoLTgELBVACsr1gVFhoUZAX9pSYlEJ6HyE4VU0h/wYebCZoTZbfXfVIw5IDETLPxEO/4t3bJmEBHWLkupDEMaARlQSmF+MX6YZWRZ61sK+drXwVK+eFNZ6cM0ZYsmGGOAGlhJvGYiMI1QkqWpyUCYrrBY3bqKCA8Lj4gA/5SWlnoryy8uM2QItgleCzNrjJFUTl0z/D7TNPESiYivL5gIEFhgXv+F8+nKMOvWqh3hCSNJgmE5jaXQcPAoNVaAEKRpmi6JK/1y/8GjH3388bvvvDt//tyTJ06YAQMtJ8uyKJIVWzEpM9ztaNygntdbkXo8FUuVrArxim54QCWCcnNzMe61aqQ4LYMagkxBiqw2IEI/rHViPUGZKP185rLFS1558aW333h9zcqVBbnZLDFt/OgXemcqqRRrsIdSLqczJSWpvLykuLAAlmIhmINF0A0KmCPKNAyftxJnMqhK4vsFkCC2QnhEePWUlKhId0lJWUZ6uhEINGrUqHOXLjVq1nS6rPHyG6YpJQYPoEstxTeAFaHtTqdTMHm9XgODeIN6cDMUi+E0A4pMYmXFQhKmPkuyoNBAWIOVZZXbKUa/lSTJTIBizHLTsKwk8cJazZZhMM+CT1cXfaEFopTSKgixEMKaZ5qLhUORYExfvCY28eXCKZ9ySHIiHfzCuDVFrZICPjPglwocxE5pMktBSkObGENIBpYlSyZySKSzhqXJjEeyA/MXsp3yPeNgYxVYoLCkNDoyPCYqXCg/UyAgTUPTTF0zWYLpYUELSgX8hjRNl4M0NstLi4rzsgpzMivKCk3Tb5qYhdJqj8LCZlasM7sdWp1aKWT4T584RiRJmYSxAAiTFeaw1G/ED2YCCgsL/AFvZBRupmBh1IMaATRSWe1AAmnEuknClASfyx8IlJbB/SooLi3w+/yaQA901hySNUW6NImJBZHH7cTphN/rKy8vV0paJKTQHas464caAEv6rj8UZoHA6sGSYC8lpUT1xLAt6UoTitESkiYrw6Vxx7at2rduYlQUb9iwbsXGLcfPZWTnF6Anht9kaepMutAUjk0MRTh+UALFwpWy2mdI6Q9oCoQpSGgoH6+s9J/QD4NjQUoFEyippAnQJQvDyBfxL12GoVlJUhIGZ6VYIp9CZkuXiG3AVqZUxBgKxp9vhCKFIhi5SAYDBQPE4F9lvbdG2ypcXRLwCjJ0bOCRrXrx98tQdKXav6z9r8+omyQ6aFeNdSENJU1Cr5CCFjPU0T3E1wyBzahVvJVR07SoqGi4fX6/YRhSCA3dVGTVg2UVQAt0d4A0rxRekwNSq/CaJ0+dycrJ87jD4+ISPO4IHSR7kSgxJtJqGutGgP1+5fUFIqKiHA6UadWFH4N/LlWNx+8PDDFrBNOUlJU6nI6ocJcgn8Z+xdIQ7Md+VAQkaIQvrlJdwzZPOAQ1a9xw/F1jHn3owXvuGtOofn2HLjSNYVQbAgtPkQAER0dFwvIF+TlK4lbKhG0I04ZIfv/Wf3MJMBKGOgDCV8oT5lFwiKHMpDCjyBofZkhwKqypTyQ0Ta9RI2XQ4AEPPfLAQw/f179/39jYOCmFVLgtEYodLBzEwvqHsCUXTt1BYBifD6POmsCwSUYF1w9oIxAsj61ms9PtioiIKC4uNvwBoRSb0sGkmYZDYb9iNGtQZ+RBPGi7AAAQAElEQVSQ/j06tyoqyp+3aMnbM2a+O2PGyRPH4qJdKdViw7E3IYVBYdIFbEFCkZCCFZOJDnh9Ls0RFRmlO/Xr3Au6eQKYCp1Dj2FW8BJhFjDBtILh31wEWZYm6OCtkvgyQYSuJMIbFsSs4YiDyJAmuBYxMbOwEFQJlsdfG6NAaRoBJU3BVmVMCgJipKAGvCZWXwLmqtCgTSysLNA0DD9KIXWxI8gOWHmJiL+2XiYrWN2A5leBlyhbYxzAaERWB1EpJoqVAe+ICYn2z3r8rj8hBLJGRUVVIpRXSCmRYg2IaWiE5UQaSU2Z6L9XBkr8lZkF+Vv37f5s+ZLs3At1cVpZK9kT4YYSk91zKTBIjCLxUz6vFyaIi49DmUhCsYivO1ATgVEU+Sp8goXT6XYIDTUGRxH1EzET06WAL6ypMbNUUeFh9erWbdiwad0GjaJj43TdyUJXbI021BkdsfOwcLk9EMvLKwLWzg4v6WKBQZFuWEDxYWEeYuHz+U1DYRpKEupi3SQwdEoyS42UNUam4dI5OSG2Ub06DevVrVkjJSIyXJGplKFpHKQUlABLSRIohHDLz0JzudxC1zHuQUvdmJ5gGSkUr9xutyciIje/wOsPIEFKk5QS6B6RQ1B0uKdbl473T5k4YujABrVTHOSXvor6taoPHtCzR5eO1RLioBxsHxNjUUusB8kECau9qLiEhYiJjWGGFsoOKt5GEdOlWUGXBWbWNE0IAYEJFhLBgbY0mNmhOyzJGhklTakUbGmStSmEANgyYsiAQjk2kFdK6Ct8xSGjEP46k+OVlNIwDAgUVICAw2hN0xRmIrL9C1CFDdQIXCZ/bemX8vJF4dJfPF4m4onIehb0XQMabWdF52vWrInznYLCImLLg0XBGjNJU1OGk6WTcQ9uHjlxbOacj/7x6ivTZs44dPhgndrJvXp0atSoTnikW5EhyGRC92APywbBXnJeQQHsUqtWTZjGrouIvs5GVS+vXbAqJFhSKNaETlg9VgpoAbDS0RciK7J+imAvUDkZAQiVJYVnT588cuLk8dPnzl3IKfX6DIw+XQyMsoiUVQYFDJNY4LaLGflsBWW9tMUbEzOjbhUVHeNyuvMKiv2Yyjj6ICYLhGA1RRo6SQcFMEaRLhXhJI+uwhzscQgnvq8MNjHBigKCMojRC4yOAjlV+HxFJeVOT7gnIpKEhgmNrgoUep27heKIYUqpWAinOyw6NuFCTm5JWQUeSbCBw2smJikUNtcy3OVo2bTR3SOHPfngpJ898sDPn5j6yAOTJtw1ulP7dknV4nUhiBnTlUkxGJKVZDIFVZjmhdy88MjImjWrKysN3QjBsgCGtRJ3COXl8IK8lZVgQ4emm/jYS6ULDX5MRVm5t6KysrwCh8IctCqTZVTYNShABoJLW6EwLA+F+wbwI2I8MzOq0S4RHx6qIE1TEwLAhwvwB7eryAUgix1DuATFfLGiS/ValV6SJZE1kS4pf5e/4rtkQrUKLUOnLuYGUbKm4wobXoYkJiFYsIbvkDTiIjx9u3ca3Ld7swZ1yTDLy8prV69xx+B+E0YP79+lXc2EmAiXU1NYepixiklJAl+yqVSl15eRmeEJC2vYsBFrWLWk1PftLX1dYIUWs8ZaZESEYSpvJWhNKZywWq1Cw+xuWkMqSAml3LqeUi02OS4yO+PciiWLPvhgJrB6zbqsnNyAiebb+hdrUsyG5KKSMslaTEycw+lUF98QaqUbGWAt1JWSkuJ0eU6ePuvzS7RBESyJQbcaaRpSY0wwU2OzTYsGQ/t379S6eY1qsS5sTaXB6L4ArcDbNqQZUAoeqUWUJlFAUnF55elzGdFx1eLiE7AEMNfZKhL9QZ0XJTx8D6AQZob9FaFIIsHYentq16tfXOE7m55ZWukVupOgEXxFJHUml8aaacSFuesmxjSqmdi8Xq2m9WrDqYyJCnPqGnSlkgpTjCX0rR+xwVphaVlGdnZCUmKdurWlDDB/j1b/5LIW5Bds27Zt7ty58+d/cubMGaVgHcEsKiq8R48e//zzRR9/PHfLlm15efmmianxjf1nQZqmC6Ej7/nzGRs2bDx16mJpdpmEkv8FwjCkkqxpjgsXstev33DkyDETq5IEkXA4XER8GeiKITiBrqjxrS9R67fqfKOCQhcZPdESk1JiEhIPHU0tKC6X7MD3Rln9IZwGRYU7hvTr9dD4ux6fPOnhyZMfvvf+e8dNGD9yRL9O7ZvUSIxxOhyK4K9I02QGp1iL2ZAUIIGVcC4zKz4pOTE5Ca/QCCGs1toyHq8XsBAVEQoPj4z2+s3S8gp0C+1X0hQc3GtYq5VRHbhDJxUXFTFm5B2T7hkzfGDfTm1btW7VolnTJrVqVHfC+9WsFkIzCFYECFNxfmGx5nAkJiVh1ImsoigYvpCCj9c3QuGwVa2atXAQfDz1ZFFxmaGEJA1dk/gQmei31RSNlMeptWnRZMqEu0ffMbhOzSQdHccMVdauG03CsmCWmoa+SIEOCi0gObew5PCJ0/GJyYlJ1QV8TuhDFbBqDf7hy02BlGuCIGRnlGXlEkRCsGmaQtNq123g8EQePJZaETD9phIWV+LjBUMzK/iV0sGETYxHo3CdwzQFQaiAzlJY5KgUWdt1JkWEyYsMmk9yXnFFdkFh/caNsbPX0BeoWNX+OD8ZDGgc+gsRwrcCarYyBMDWh/ClRLJGm64pMDO8vwsXLsyaNfvNN9/ctmVbYUGhsEZDKyst27B+w1uvvzv7w49OnzqNjy4WCz6qOrYXpoQgDetgxPow4dGyN0ZQokAp1bFjxxYsWIgYfiLag3biQ4vslrKEKjNhX68rK6PCWKWfT1+8eMnOnTtxc4hFBn30EeUo6FqdYmmCUpWAjBdWLiKpUJoEs0psElGJNd5SSkh2DOGaIK5Ju0qZmatkdDI6JqZZy7bns/P2HUkt8xmgORMUo9BE+CwqKTa6Vb1anRrXb9+0SdtmLZrXb1AvKTE5whPj0DxMmtX4YDeICE44DryEo9KkQ6mncgpKWrZtHxWbQCz4XwN0rxuwMKTp8LjiqiUWWc5Frt+QYBJ8AUwzoOsaETN+ihDrghNionp26TRq2ODxo0ePHzNy7Kg77x55R6/unZOrxQtlBhchBheAOkkWlX7j5Jkzuu5s3LSp0KyOEFsBpreV6cYFRYmJSW3atissKktLv0DCwfikkyZYV0oRziuVYCJdUGSYq16tlAZ1a8RGhjt0sAXaT6TQQKupVgMVMehICsPkgMk4aiivDNSq2yAiNo4wOpYGFCxYIrMVf58fSuCqQIyGEOsOV8069Rs3a3nk5Nljp8/6WfcploxPkVUTQ0tJ8D6IU9gCKU2QjheEfirCaECdpWkENKEp1k3Wy7zy0PFTTk90i1btcDyNiagL1EY/VsC42GDmb20DNLHsEZ89e/b8+fMgNTsLEgHIHAxCoEuMFGgi8eqBpY0dSevWrZs0aVxRUbFu3brz5877fD7TMCvKK+BsFhUXRUSEt2rZKjkpWROaYUhskbF4hNCJBBYWCFRKUkGYpoQgpapRvWbXrt3q1Knr0J2YhgIZAwbSMd/Ymkv45BFO1ZmwBPHVlonVErt06tKsaXN8yYwAdvmGYGtVGobp9wcQY3GhZNSuLCoWJlwtEihN15xKKhOeLgY/2G2HwzpXVag1+Hj1kbh61S9pMrOdIoTwhEe07dItLrHmph17zmbk+AlT0EECnbHWlsv6vJsRThnu0txOhybIoZFTSJ0sr0aCUllXAs4O+yV7TRFgR9qFnCUr1zkjojp07e4Kj6AbGBTZzgZxco3qYdHRh0+cqIDJBcZCN2Dji92EoeCzKGWtMl+YQ4uNjIiLDouNcMeE6fGRrvhIT6RbdwglyLQWNRGGRpLwG7KktPxs2vmExKQmTZob8vIhUjewW3bRSuGypU3b9rrLc+zE6Qpwtkk4HxCapoEpSDdJIxa6Jpy6cOgkWAlQCSlmDK6mSCco4ElZ045JA0sK4cwuKNqz/3B8UkqbDp103WF3iYmAYARbAcEn+s4BJVhAKQApTBDBQktMTuk/aCg73Ks2bsvILTBID5DOmkOinVb9VrstfUsOVq2sGAUxSRuCJPpumtIwVcDgk2cydu453K5T9xat22sOp5T/MkJW5h/8p2kas9UJZiu+Qv3MlgIOEJcuXfrKK698+umnR44cyc/Pl1KKYFBKGYZhYhpjQtrjdIXivvIK5ei6Hh0d3TcYLmRe2LN7DxjTW+ktKS6JCAdJhsGY4WHhgkVRQcmZ0+dOnjh98sSZ7Kx806CC/OLjx04eOXz8/LmMwvzis2fS0tMzjIAZFRXdonnLhPhqRJyZceHwoSOnT5/Nzck7ezYt9fiJC5lZOTm5586eO3XydGF+oTSkxx3WtEnTlJTqSpJpKigcPnzkyOGjBw8cykjP9OFqz29UlvvSzpw/ffLshYwcI6BKisqPHklNPXaysKAkI/3CmTNnvV6vlBLfEg4GusaAKXSNOYLqGAD8RY2IAaHp9Rs27dlvcEFJxbrN23IKig3FinVFmJaKlNTZ0DnAmql0GbwFNwMqYIHIr+l+1rAYSdOlcEjNgQWwZsPW7KKSzj1716xbT3M4qGre0/UOTNZSEmwyxSZWq1G7zonTp8+cP+81A9g5wNcKGGDzoJWU1QiNlFMTcFIEmTpho2eGa8pFhpA+YfqExNGetSCDrWTJQrE4l56en1/YvHnL+GrxlsUwtwFbIxjfuIgVuVyuZs1btGvfIfXkqfMZWRK9EBqpYJ3MBMvjW0bMTEIAGCx7bOGDaEQsMYKAwnvGIwbUb9CBg8czs/J79R3QpEkziVcMZbxVWIxB0PULX5TJjCpY053tO3bs0KX7qXMZ2/bsLw9gPQq/CRa0TK3I0kEjL8HqAhKV3SCYwxKUxkITOintbFrG0hXrAtLRvVf/mNhqSmlO3YUiLK0f6QcaysnJyc7ORpz7bQFqecFw6tSp+fPn/yMYZs2atWXLFrzy+/3ohKZpHPzEIwaQck3AhEAJSUlJ/fv3j4uJ27l9Z1ZGVllJWUFeQVREVLgnXBe6MpW3wpt6LHXjuk1bN2377NPPVy5bkZ+Tn52Zs2r5qrffeGfRZ0vSzqaBxNEqdBACDj03b95cVFSUkZG5YMGCadOm7duz5/jRows++XThp58ePXx4/7598+fN27RxY2VFxbmzZ9G7VatWl5SUZGRkoHdbt26dPfsjfBtWrVqF/XhGxoXPFy5auXzNlk3bUNemDZszzmdu2bj1/Wkztm7eDmHR54vT0tIws2EB4JosYCsHKcAWrz3GRwuZwNNKUUR01B2jRnft2XvLrr079x0qqfT74W8LITHvWBGZkgxTGgaZCrMXTAN/UpChkQGSstao7jelZK2kwr9+844tO/Z06Nx94JDh2A1JhSJQzw0DihfW/WlsbGz7Tp3Q7M3bd+YXlZhE6CCjbahZoR8WQARKSXSHsTaVZIlOjSTjewAAEABJREFUghwNTBYcyOqMzkEN/SUoAWWVvv1HU5Xm6Nmnj8vtVrAUSgMsFfz5PriavIpZVEtMGj5ipMMdtnHrttyiEsVC2s2wWFJIqaQ0FWCaErAkJQljxkRYYVZMRIIEkyZJ5BQU7dx/MDIufuSoMbEJCZou/AHj0uRTsA9d52CVyUz4I5UVx8XHj7x7bIMmLTZu23X4+CmDdYM0RUKhtURMkkmZpJmkKxaEnFYmFWyYFaMM61pKadl5hSvXbth38HDvfv1btbXcSQy3aZrMTD9e2LRp0+uvv/7iiy+CBcB7L1wxQA14+eWXDxw4UFhYeOzYsYULF7700kt/+MMf3n//fbAJvEv4UOgXJt536BUzGwZOn6yDmqZNm7Zt2wb3OevXrwfpgO+wXqBglcyMKhKwaUpKiYurduLE6U2btubnFyUnV2/QoElubsGG9ZtOnDjVsGGjBg0aRkRERkVFnz2bBgihwV0tLCyCh2iaqk7tupkZmTu273S7PA0bNDqXdn73rj1GwIRHmZ2Vc/LkyfLyCiIOD4+Ii4tPTU3F1wSyw+FcvXr1jBkfpqae9PmMHTt2Ll60tLS0wuv179t3oLioND6+GoYV7aRggAAExWuIxDXofoOqEIKtQVBJNZLvHDe+erMWn2/dsfX46XyDKkwhg8dEJrkMOF5SOAzC9kY3pSY1nR2aZN00HSTRdMWOUp9au23ful2H6rfsNPnBR+rWa+DQoSbJmuvfUP33TQYjEDE5nZrTobdv37FH38Gbdh86lJpeUm4QawSXxQiQNFkZUgYIrqeQklmxZrIjwC4/RwREuCHcJmG5EohTKqkEKY0rTPN4TvmuMwVtew5o0Kix2wEiVUSCSLsEphsWwBeClVWf29OgZfvW3ftvO3hy897DpT50CQaVkgyyvlNSI6krCRdLJ4taCMuD2aSAYJ8m/EIGNAyPtI4mCysqN+7fe7Ykv33/3g0a1tVIoQM4TZEozOoIngBLun4/FGgBk0wT5NDYqestWrUZOnqsIzJuybotB06cKzPJT9BBL3wOs1xTlaZgKdhUGK8AKZ/AeYPpF5pAok9p5cqRVli+fOvOjfsOdh88dPg997gjIllDDaQJQVZfYDb6UcLu3bs//PDDWbNmTZ8+ffbs2TNnzsTjN2HmzJkzZsyYO3fuwYMHDcNQSoEW4bXh3uPdd9/961//unz5cnhhF2mCYaKr75NiTB5lCoEDikrD9IWFu+DKezyuFSuWAdWrJ0OWEpXCwTFgtoqK8tzcnKKiQpfL4fN5UVtMTHTPnt0HDRqAV9u2bsOnLCIs3O1wRoVHREdE6oyyKdwTFhMZhceaNWrAb42KioqIiEhOToYcHh6O5qJT0dHRsTExyK4RJyZUa92y5YljxwNe3+ABA/v16VtRWpZ69Fh6+rnS0qL8/OxatWrWq1cnIsKNktCSuLiYzp073HvvlJo1rX/LkPmajID6LwKL9qJ0TX84GJAl+BcRZhj6zfUaNBw36d6YxJTFq9at3rQ9p6jcJ4VfYcpqTEJjTYOuKYVFIxgIScG9qiJRGaDswrL1W3ev2bSteu36d4+fUKd+fQHzk+TgaqQbFtAiQSyImDm5evUhd9yZWL3Oui07T53PqvAr0LdCMwQTWiPAkSYRVpEkJQUBFiUyEgBiTC4plXA4vYb0KXEyLQN2CI+J79qjV3xCAhHpGgrCUAliQQQBoBsUmAkmRoymxSZU691/YFKtuujXnkPHC8v9pvUfKNKlYikJioI1gdYTIxBiUlgmZJqkiDUdhyY+5sLKyvU7dq3buq1V+869+g104tuC3ihkYwTkugS6foGJLKD8yyGE1rZ9p1F3jcsuKP5o/oK9h45lF5XB4AHSpeY08RU2FQaCTPiZrBFORJRg3TDQJ6df6udyi5at27LjwNF2XXtMuO++pJQU0oPFE8ZWKvjTEH4kJCQkNGzYsAFcr2AM4QpoFAx16tQBlQghlFJotcvlQiHNmjXr0KFDrVq1dF1HOt7iFQUVLOEqfsgFQDErKysjI72ioqxO3drt2rfNzcs1pZGYlGiYoGU/4kpvZVbWhcWLF23ZsgUtAdPhBYC9v5QSzevSpUta2tkNG9anp5/3+b1SSeQKGP5AwC+lgey6Q2OmgBEIIEWBeU2oIQWQyjTMgJTWujOtWJ45c3rXrp2NmzTq2bNHSUlRWXlpdEx0bFx0zVrVhw0fNuXeSXfeOTw6JkoqQ5FUZLo9LnigaBUz45uBHn0HiO+Q52uzoCeC2eFwdOjYccq9D0ZGJ6xev/XTJSsPnTpfWGkGSLB15SrQXZNYsuYLGF6sVhxKkigs9R4+lT530QqwJBbzPZMmt+/Yye32oFcK65iwVL62zuuUaM0eqRTGR2kOJ64+Bt8xMrekYtOuA2ezi3zkUJrTIC1gKhVsCJMUZAoyhIKrFdARU0Ajk0lhYRqseSUZmut8TsGydZuOnzzdo0ePNm3awDKoQlrduU7NvopiBJOAbyWVw+ls2KTpXeMmRMRW+3TpynVb9+SU+n1SMzWHoTSTdKE5mTWrf4pYEaaFpljTnP6A9Erh110ncwpWbd+1eM2GxBr1Ro8eV692Q4fuEEJQMAhUw1bu4NMNj6RUMXHx3Xv3Hn3XPZ7I2PmfL1+yZvPJjPxCnyiTbh97dM2jEY62dSIXsYuFh0WY33BcyC3duuPgwqVrN+3a17ZLj4n3PtioSTOh61bzCeOjEN3w1l+xgkGDBv3mN7/5/e9//5//+Z//HQz/3zeH3//+91D53e9+17VrV/BjWFhY9erV+/TpM3Xq1J///OdPPfVUt27dYmJi0DHUycwEQLpqSCnBkocOHdq3b9+2bdt0h2PgoEG9evdq3batP+A/d/687nSUlZcfOHjgQnaWJFlWUZadkx0wA/jMpp5MPXDowMbNGzMuZLRo1SIqJmrdhvVr1q45cvRo6skTyFVYXJx+ITM3L6+4pLiishLyyVMn84sKS8vK0s6fO5uWll+Ig9B81HLm7NmikuKSstKs7Kzz6em7du/GY3hExPETqWvXrav0env17tWlW7f8goJ9+/dBwev3FRUXX8jK8vl9h44cOX32jMW/Utp2uOre/4siVsS/PH+3B8v+SpqmIVhEhEd37tL957/93eCRdx1Nu/DSe7NmLFi2Zf/xE5k5eRVmpXT6hcfPHp/wlEvtdHb++p37p8/97NUP5uw5drptt96PPv1cp249wiMjia22MGJlWNKN+sF6EstDE6xpQtN0zeEaPmrssDHjdx859cmydehCpcHsDDOEw2RNCSHJapqw6FIKMsVFlrQoULJGrrAyQxw+dX7Wp4t3HjzeZ+DAESNG4DSHCJx1fayNoq4OCp9mIqUJ1MvusLCuPfs88tTP4ms1WLx+65zFq46dzarEHZszwiSX12C/RNc0NNMqXMHT1JR0sjOiVPLeU2kfr1g1Z+W6ph26PfjYs61adnRqHqUsxR/tJ0R8QuKoe8Y/9szPm3Xotv3gib+//eHsZRu2H884k+8trjD9pCtHuJ+dpX6RV24cTcteuWXPO7M/e2/O5xkFFXdPnnrP5KkNmrbUHA627APX2RpWDoYfrVNEderUCd4w9+3Xr1/Pnj17f1uATvfu3WvXrt24ceM777zzf4IBFAm6jI+P1zQN8xsfafRIYn+AP1cNWAK6cEibNGmCmxw4r+GRYa3atLr/gfv79O3jDvO079D+V7/51VPPPA2heo3q94wbO/WhB9u0az1+wripD01t0LB+TGwMHM9GjRu2bdcGKVPuvbdho4Yutwu+8n333zd02NCEhPj4hPjRY0Y/9PBDNWvVSEpJGj9h/IRJEyAkVEuYOGniXWPvDgsPS0pOGjd+3Nh7xiZXT46Kjures/svf/XLnr171axds137dnXr1W3fsf0TTz6Ocuo3qJ+YnJhSPSUmLqZXn15PPf1Ux04dUILQWNM09EUIy++GTdC1awKW0DXpf70y/D74U7qmMZGUyuFwp1SvM/ruCVMeebJei7a7jp1656MFb85aOGfp+iWbd6/ZcXjV9oNLN+35eOm6tz76bPqny/aeTK/TrO3Tv/rd5KmP1KhdV3c4SaAkYrSOmYCvr/b6pMJ2xMGiYD9FLLSIqNiBw+7s0rP/sTMX5i9euf/4mdxSb4VJWHuGwCmrZhCbLEwiRcjKkjhgQfcqPafEdzwt87MV6w6dSBs2euxd90yoVq2alBK12DH9oEFJJUkgVibGxe1u0rL1g4892aJDtx2HTsz7fMXaTTtOns8uLPdXmgKeo0/pfqkBPpN9JmXlFx8/m7Fi446Zny46np7TY9CwKVMfbdK0pa45sQeyrBUkS2aukn+AzikixvkjOibZ5Ylo0rLt5AceuWvi/Z646uu2H3z9g3kzPl28YPW65Zu2r9u9b/nmHZ+v3Thz4eK3Pvrkw0UrTuQUdhl8x9Snfo5vYUqtOprTZZiKmS4FJky8y57pBw/MVmswVfjqAhrocDg6duz49NNP//a3v73jjjtw6xIREYH5Bl5AGVCwR4cZywlP1wCUkJiYiC08WLtVq1YRkZFhYR5cycTFx+Lsr0PH9n379uk/oB+EhGrxDRo2AKu3adumQ4f2Xbp2btWqZYMG9dq0bQ0arVGzRseOHfr26w2Oq1uvDnizb/++nTt3rF4jBfzYq3fPHj27N27SuGbNGt27d+3Tpzf4tEHD+t17dMMjhCZNG0Pu2asHFMCDnbt07tO3d7fuXbt06Yzyo6IjQb61a9dCCmixXv162HcnJSXibd9+fbp261qjRnVYA0YwcWGkFBgTj9dghaDqNdsumOvLEcZD0x2IBQsN/7BwuT1RsQk9+w188rlf3vfok90Gj3TE1z54Lu+9+Uv/+Oq0/37hjQ8Xrz10Li8suWH7PsOnPvOrR556tluvfjEJiUJ3kDVViNgqC2US2890o4JVvvXTmIUgSJquJSal3DPpvqEj78or832ydNWiVRuOpWXmWHQp/OzwShzbufzk9JHDpxwVUlRIPbfMf+Bk2pI1G+d+vrzYa9w18d67J0yuV68BZhumMhoPAfEPBhCK0DR0SaFPAn8Fa7rudNVv3HTK1EfuvHuCdIat3LR99oJFcxcvX7t11/Z9hw+dTDt46ty+Y6d3Hk7Fq3mLl3+8YAleeWKTJt77MAxSu25DTXehC0JYBWLCMVujw8GA9B8GqE3ThKZbo6U5nEk1aw8ePuqZX/52ysNPdOo1wHSG7zl15oPPF//ptTf/+4WXX3x/xq5Tp8Or1+g3+q7HfvNv9z7xVLuu3T2R0YQimLHtRpvRB4Au/qw/SPxRoGlw6tE0DX28GmAInE7nwIEDQZE4zQRFYpoh0c4LAYBsxeK7dAjtcblcbgSPR9c1FqzpmlLS4XSAntwed3h4mO7QPWE43CCnW3O5sScTYeFuh0vTnRCQ2eFwap5wNzw7TROeMI/QhBsX22EeFKU7dJSDV06nA6XhLUfubX4AABAASURBVOAIJlqC04GKdIceGRUJAZooAZoQPB630+WEgCaJYKsgowSUjBRkgT6KDQvWIjQNRgBgAhX8ukO4Jnwn4321BmYCCKVZf5iIiVloTre7Zp06d4wa8+TPf/Wzf/uvO8dODouvnpZXkl5Q3rBVxwef+uXTv/6PJ3/5bwPvGFGvYRPhdGBJw3aMrFYJZAVGSYLYEm/MD0XbsIoXZFVlmpKZ69avO37y5Gd+/pvaTdts23/sw/lL3vtowZL123YeOZNeUHmh2JvvVXledSa/dP+pzGWb90ybu+j9eZ9v2ns0pV7TBx57evTYe1Kq19B0HJPRjxRYwZm0OmTVz0waOkqEcaldr964iZOe+fW/jZowOble47PZhfC/Zi9a8ZdX3/nzK+/86bV3//nuh8u27sqqCNRq1mriA488/eyvRowcW792I8EaPsuEgsmkHykEO0EYqYv1MwkhIqMjW7Rqffc9Y5/+2c9//pvfPf7z3zRo1eF8fkl6YUl2WWXN+o3xbXjoyad79O0fFZdgZSClWfsBJeBikEJpjHItCLoo0S0R7GUPfgSY0YEb2WrGAr0CJLENkxiwZcSQAQhXyHuDX31vq4jvXcI3FKAUBk1g0uEPK1B+ZGRkaXn52bRzhmFgz1rprYiOjoYP7/I4sCskJnxJcfBH0lC4+yFJFuiS/egGBUUXqwiWb1XKJB0amoNWGFERES3btp/04MP3Pf50o9btLxRXLlix/v25C//x5nt/ee1dcMqfX37nr6/PeG3m/HnLNmQUe5u07fbos7+c/ODDHTp3jo6OUdKU1tFlsOwfPELXJFlTG11EpwhXTQqHyDiQlUwqLCysVv2G/YaPuP/xp574xa/vf+KZtt37HUvP2Xb0xM5jZ86X+LoOHvHwL3417sGH+wwYVq9eUyc52FA6kVPHqOLgQaLYH7xPX1+hktiHg/2ImSLCPSkpKU5PVE5+SaVP1q5dP8wTtX79lrWr11WUlKH9QYAZJStTg00wQAqy3R1rshIhplslMLOmwcUDYSrIN7TZmFHfDKXoypDfnBdr8Mbi+5tFfP8iLpVwaXoF7aEw8TAFg2Qnlcmssi+c37Z5fVFBdtPG9VKSE9JOp2acP6MMP27sBZmsTKVMsCST1AQhxjqUxIDCk4VL9Vz/v2i5BeuHdkuTCY4GmmRVrrucSTVrd+nV976Hn/j1f/z3lKlPNGjeznBGnMrIW7x266K1W84XlNZs1GrUhPue+sW/3//oU1169K5Zp56mO+B54fMgWF3/9l5tiZb1iNjqF4EasJAI7dE19E8apoHPlzs8MjqhWuOWres2be7FfT074mvU88Sn4JNwrqDIER0Xm5jidHsECxSCYRGSMEZKGsToF0A/SmAC118GNI4xfUyJb7A0zYB59FDqiWOn42Oqjbpz9PAhd5QXFi+YN3/LuvVlRcWaJEEwirIKURhrgzDohI4RWb1Cx1AcXXv4EXIohW+EtAOqFwI9w99vhvrmV7f7m8tMc0m89NcyzbdZ1tK5mh/mlg2i/5+98wCQo7jyflV1z8zmvKscVjnnLCShhCSUQSKJHAw2NsbZPp99Pn+2zz7ngE0yGYQQiijnnHPOOWul1eadme6q79fT0rIkAZLAnFHz35rXFd57VfXq1atqnS/2602ZlLhKJS3JFV5R0cJ5czesX9e0SZMHH3yoc+fOJ46f2Lt3b3lZqa1UUFlKKmBZrGLL21yEJYRCORnjJz6zx+dPGpPAL1oQc0ipbBUICCFRBicRHwpl51Rt1KzF4BG3fPsHP/7m937UrE2H4ojrCDsxNatX35tG3npb6zbts7KrBIJxSnJDEgwGQ1L4PRD/qodBpEtCkPiaeISUiicQsOmqEPgLVVxaPnfewqnvzKhSrcadd425bdRtAdteMH/ByhWrysrDRkippMv+AQ8llGUpyxuiGFvxL3royLtgK9DaRTEBpeSBQweWLF505szpLl263Hb7nY985bGeN/Y9efLMSy+9vGbVKv9fimhttJGOa4R3O0En6Jvk5/8WmEcr9tg2y4guvF99Q5D3bh4dtIQGDJNQ3mAx+5otRhq2CM/U3637oZTBXj4KNAd+KQTwaVJooMTlmlPtswK9+9De+JmxQBhb0EZoTwMjpWGILMEIeZBGehWVl1yrPzheAgc8IwhZOBQoxzE7d+yaPHmy47jDho/sP+Dmjp27Cyu4atXqs2fz/Llk0UqJMlJISG8dQsUgpPAgPrPH5y89ISRSQEgllAUhpbIt7x8UeMYkhZQqGJfAdcuqNevXrNuYmpqelp6xffv26dOnnzhxwrD0XNeSSvIIJYG0aCL+RY8UggEFUkgPnmIqRpIqIaRnua52otGd23fMnDHr4IGDPbp3Hzl02N133jZ80IAzR4/NnDpt946dkUjYSKNsJSSN+FNC0C9vjsS/7JEips3FlK5IKbBwKcLRyO49u9atX121Ws6gwTfXa9igQZPG9zz4QJ8BN63btPHVN17fvHVzOBLRmL+0rEBIe4Nk0TbGSkj/R/y7PdJ/vHMF0yelkN5oSbppPO8gfIcqjUdAfwiohre7LIQUMbMXUnrwaVL/VVy2LfPxWQHNwUd1jSJ2Ce1dqjIUvKEtOgNLGAZExHIFoyY+o8dceo4ePTpx4sTdu3c3adKkW7duWVlZHTp0qFmz5oaNG/Ev0WhUSnlJBwgfFzN4uUh9Tj9SoIwHIaQHiUEZPL7Ssae8vHznzl3Tpk07fvw4nxpHjRrF3evy5ctnz559/vx5qgjhtRPeE2tf8eblfK5/FeIhYoL59RF7iyWWZRUWFi5btmzz5s01atTo17dfbm5u48aN77333nr16m3cuPGdd945e/YsM+lV91vLiz9ezhfjD/Wk9GJepdSFCxfWr19/7Nixdu3atW/fPhQKBYPBjh073nnnnS1atKDo7bffPnjwIPWZLBoCaPGvmybxeT4sf1a8lNqDIJgkoPFSLxAwRmrPm1ykef2SwJ8ArNoj+JFCykukvEh/lo4Sq8UK8Sysw3nz5mVmZvbp06dp06YYLl6yfv36BQUFGzZswLI9ra7x3zVjRxeA3xfcCl5jyZIleJAGDRrcfffdd9xxR69evfA148eP37RpE07/mgn+7BnRL8dxtm3btnjx4nA4fPPNN+NQ+MgTCARatWp16623cqCbOnXqihUriouLpZSfvUZXKIGOSFa+1q7rsiuvWrUqJSWlR48emBkTB0KhEE7z/vvvZ5NmpiZMmMA+5wujlOY+/e+eGuE5Sik8X2mEN5+kQIiLzhHiywmOJEr4EW1sXASjwmiJdx/G7N2Xa0thtWDLli2TJk3ClfTv3/+GG27AZLFpvnc3b948IyNj5syZ+/fv/+Jbqq8hTn/RokXoXK1atTFjxnTq1Al3CdG3b9/Tp0+PGzeOqJk45doO42fHjYk4deoUMeOhQ4duuumm4cOHp6WlIQ7fwWbWu3fvgQMH4iJfeukl9rnS0lKKvpigI0wQ29i5c+f8YJ9LcE4t5JCPETIpcXFxuE72NmyP883LL7987NgxiugRdUi/DMA3emPF+dIHh2GfuNR5LcSXEYZu4yh9MChSGslYCfylB290PitHiQlKKc+cOYNnwX3Url17xIgR7PDIJJ+YpU6dOrgbDkHr1q3DUgHWTEpDUqp9QYC2gMgL9fj6NGPGDJwLPgU/gtNn+RF8cayjOytXrpw7dy4Bsl+ZXtCXL0gvfDXoAlr5KURZWdnSpUuJ9xMTE4cNG9asWTM8C53FUULQo0GDBrVu3XrXrl3cL9P3SCRCq4rmPs8vSMqYM9oouWDBArrDloyx0RHUo0cAOj09fcCAAdghvSBSpia3JX4Fv1N+Ch8y/x3BpawVDIYk369cgyOQXFkKS3gxVMxHCCmBibmJL1NqCb5EBIT3DUcqaYXsYEJ8gmIoBE4z5i2FF4WLz+KxLEtKuXXrVg6q2OXQoUO5IeJYhyxesUUuwurWrcva42RXUlJCDkU+qOATX5yUZUbMSPCFWyeKxIOgPH1kadEpjnX+8uOmcvXq1XSK7riuywh8ofqCPgwpKgE8C4Ekfp9+cXFMF+Lj46lQATaztm3b4kAJwdauXcs9LHsA/aUtoIOw+oIAfbgl4FZkzpw5bL2YFpoHg0H6gsIoCQHY2KpXr3777bezyeXl5U2ZMoWbWU4J9AUOVAN+fYh/D9DrSh2RSlgBFQpYQUvYwlVSK6Wt96JyDjTwK0CAD9LkkA8gAASAABA+oMHlaUqpAyAABIAAED6gweVpSqkDIAAEgAAQPqDBu7TQ0nW00UJJK2AFA3bIVhZD58F8xo4S4yPyIsIinOQEN2TIED56YI6+Idq2nZ2dzeJMSkrCsnfu3OnnUwHlKk3tv55EJZTAleMEudvicDp48OCWLVuSj844UAgy6eONN97IBdlzzz2HM6X7dIQKlNL8iwA0AWiCYhC4FT5rcEdMIMmtCJd3FFUGdZgdQrDRo0dDs0ngK9kD6JTjODCpXPlfTqMVd8RoSDjZrl27Ro0aoWEFUI8KpJZl8UXxoYceYqvD6l588UVGgJtlavqdoqfUoea/I6Stggl2QnJcSmJccpwVb5uAZWwPOpYaW1XkxOiKVwjg1XxvPjnkAwgAASAAhA9ocHmaUuoACAABIACED2hweZpS6gAIAAEgAIQPaPAeWliWCgTsUHwoMSEuIS4UV3n2Y1GlUJWzriHNpSSehZNd1apViUo4B2GCFfyh2d65M+ILT35+PlEYH3YoJR+ThfhCgSMqocesWbNw/Xy64VgXFxdnV/qXa+jMJ+ORI0eyCKn51ltvHTlyxO8CRT7xRUh9Z4FKXDhy4ubmEe/AFzbO15ZlvU9Dfw/gHvnWW2/Fk7IH4Fg5IsCEovdV/te+YjZEu1gR993E+127dk1ISKhQEoXpMhqS+pnU4Sscl5g0ef7550kZB78C6b8rpODIrfCVcXZCYigpKS4lOSElxUNqSkJqcgwVBK/QAAJAAAgAASB8QIOPoi9TVLnJx1ajMnUABIAAEAACQPiABh9Ff2hRUkJKYnxSYkJSfFx8MBDywkkCSd8OpOBLlxDX1FFirz4wTb4Lc2VeVFTEVwLcB54FM0UeFUipEAgEatWqhbHyinPhNpMKvh2T8y8EGlYGmpw8eRIvydfh3NxcIhGWGfqTTwogqE93OO6xJdBTPiKzQ9B3inxQAcJPIT5XVBKGN0QHnAI9Itg/fPgw9yEE+0T3flRVqa6ga0wHk1KvXj18JVcNXMISU/O9GD7kw+p9qNz8s6YriyZ+x0XysRvF8JIcvSlFAXqKnvQCmpQeAYqYrDZt2txyyy10ijv0sWPHsrH5RdSkAum/JThdCs2aVwErEArGx4cSK5AQSogPJiQQUn0JEUyIDyXEB+JsBobhMVKQXrIAEyOuTUSJbfl2hsmy5FhLeBYONQ0bNsRREjZipj6wUawZ86WJbdv9+vXjCozPBSxel1Q0AAAQAElEQVRaOKAS+ZRC/AtBL1ADfUi5w6IjLKf4+Pi77rqLL90c7tCcXvhAT7qGznwrIPLiDE4Tvr1yAA+Hw7CiAims/JTXfwnQ0O8Rx2diKK4dmRd6xHbFpID3aUXvqE9P6R2HWQJPOs6dJveAfAqnO9Sngk/4KTmfDxCHaPwgQ0p32JOYI65c+QDFbXhKSgo60186BeGDV3rkgxxCTnrEVzhCZq7RmS+OC/CkAsw/n158/lIsSyrFSCgpLMVBXAaVh4Ai0MRHAGlbXz7YMhgUwQCQAa/73mjYUlpCSiCV5yS9P3EtHozMZ8NBlXgKz8LhGqtle8deK0r9OlJKCBYhF2R8NeZ7wvbt2zF3qknpFVH6L4RSSkqJMqzDffv2zZw5kxAMj8/tJNd271PMX1csMFpxAMf1cFlJ+OkfwOFABUppBUH6r4IvHX327NlDOIkT59s98RcuA5VQnvSDYBzITE5O5rISz8Jd7bhx43CyELCilV/BT6n5uQGJ2A/isC6uuXF2KENET/zrjzZFHwVmlub4U6LpBx98kPvZN998E1/JFx6/6KMa/hvls/DfBzrH0ntf5pfiVQpVASHoshQVDyQQXm5F3lURWCdLERBOzp8/nzujvn37cgtJwEgmRlyZO2YKyCcK48qPKzMuv7ispA6WSvovBFqhG2qwDokypk6dun79ehw6i6patWrkv083ukYmTchn0VKTgyo3s1wC4o/OnTtHKT4FttSkzr8QaMK88FmGaJezJ36foNLXhyKfqJzSKfJJUR4HxPdiWnHInT59OleWfk26BkEF0o/GNS7xVUI35OLx6Q7207x58549exL4k395eb6twoQ7B3YLzuBcqY8fP37BggXs1pdve730yzkCuM9r03EWDI6AQIMbujVr1nCRh/2xusjEIt8nwzdl7JVwhmNdTk4Oy4+vkBymPlj5fW0/61cUYPmRsnjw+HzBCAaDhMZNmzalL3jP9yng94UmlJISR3M8J/6C5vJr4cKFbAP0lFJ4vq/t5/zK8HKRh6OkR9wS8GmY7qCnr5ifVqhEv8ih1FceB8Ql7G233cbxlq9ARNn0izr0q6LJ50kgF/XQn+tFHBy3AXhJvhmSj8KX14ROUY3moHr16jfffDPB8okTJ15++WVm/LqvvPzofTlLr9xRYm0VYOywOXwlxzrusFiQGF/Hjh0xWepQ6qcQPshnjZGJvXLwad++PZEX10z4JviQ71f7PFOEAl9iJBKhL3xi4kru2LFjnTt37t27N8EvyxK1/ToVKQrTC9r6RaQcVOk+65awi4Pqjh07YMiY0IRS0s8TKOaDHh04cIAvbHgEXB7enO9O9Ahl0IpeUA26Av6rn+/TuFfGgeMt3cFRsh3iK6lPc9LPE0hkPIF/z0M4Wb9+fXZcTtMoTE8vr4zfHZhQGeD6R40ahblu2bLl9ddfhxv37JRSzcfluV0v/TKMwBU6SgyI0fFT36RI8Slc9PBlhm/Z3bp149BNHZxIRQrhg4a+ryQlVMFGqcbN1969eyny63xuKRJBZXEoc/bs2dmzZ3PV2KxZM4IvvniwoqjjpxA+eKWyn0JUgA/9I0eO5H6Wu1e8LR6TIqRQ02/4OaSIY1JIcSgQHLrpEbsRfoFvaKQ4PvRhCtANQFfWqiKfIgAfKqSlpeEocbJc2hJ/4Vlg7hdVbvtZ02iCSkjB2LgNx3FjQnzCpkco4xdR+j5UvPpdY5OgJuDChK2ay2X2j927d3O5zN6Gt4WVn1Y0vE58aUfgCh0l44UZYWQQPjj7cMzk9grHxzrEv2COGLRfepmUKIDbJU5A7OQsY66cLlP5syjCiQA4+9pCowPXXnSHnDvuuAOnz4Eamjr0mvQyoDk1WbHcz3L5wG6Be1q5ciWXEqy6yiN2GSbXpAg14EMKcGd8leLQjbvkqxSBIZcelH5ywATgXIjduIRlvhgf/18LwYRek35uQBzKMKTc8zBTXN3wAc2/b2WCwKfShE4xGpwAHnroIS6LOBLhK9nbkMJ8gU/F7Xrlf8sRuHJHyXBgSRglloQL4IaR6zxO0HxIxebwLJTiK0mxaSpXBq14pSEpZsrHYnwl525Ou3D4YH2qfXbwlYE/hK8tF6b0hW/xfO7gGw6XA+RTAXysbnTHr8OGgaPkA8j58+dfe+21TZs2wQTA5HMD84IsZoFR5SKPgJ2gCa0yMjJ8JSm9AhBRwoSTOz4FV+UfwK+AzxU3wXLoGp/a2IGI/bG3Fi1akAlDRvjKukZ3+Px433334XC5oOA7OJwxCfYY2F7Hl3wErtxRVpgjpsk65BacC8rc3Fw+IxJuYLXAH1xqYnA+7afk+ARtITjQtWrVKjExkSMPTFgDZH5uQBmAOJRENDHXlClT+NLdsmXLgQMH8v2ajlAB+NpS8zKACdVoQh38EZeVuBUuBydNmkRMRxH5nw/QBBeJLG7cCNWXLl1KX/D7DRs2JJ9Sij4VGBwGAeBKiOAYHJgQpbIHEIN/KlZXWRm5HLc3btzI0bt27dq9evWqUqWKv0Wh3hUwpxXNuVzu0qULH+KYvsmTJ+Mu8/LyroDb5ZpcL/u/OQJX7ijpLysHk2WREE4uX76cKJJ1yG0RNkcpxkeKzfkEdAXIhCYfQHD65lKPe0D2cC71OMXjUOAMIAAE1T4joEMFf05z3HnNnTsXoYSTxLmV+0JNcHk16BqgDjW5/OLijIXH2ZADOBe4LDw4M26k+K8KudS/esANtj6gYYgOOJTDhw/jpnHWnLjxKWjld4oKnxywAtQnhQMH8Lvvvpu9hGtK7lu4skSu3y8/5ZXK1wrwhBUp/SKFOabCoZtgln2odevWqOQPO11DQyp/csATUJ80OzubiwXMmHPA+PHj+b7PR3BfIkKpAKh5HV+2EbhyR4nF+BbJEXXq1KmsQxYhzgWv5+eTVsb7RpYiLBtAUMTd0A033FBeXs5NJQwxSoAIivwKEJ8dUANxHLIIJMeOHXvo0CHuJXErhLoIRQEqVKTkXB4VNWlFmMxlJQsP5kQoxN0sPCqAKwvrLi/6faV0igsNgqMlS5ZwvzF06FC+4aCVXw0dfOITpihMW0B9LmHxkvfccw9RKl+riMGJxHEo8KQaEweodq0AW/pC6gO2hJNsaXSHTqWnp/v56OYTVPjkQFVaUZ/mKI8psgfwzYqPkxgD7hjRdI1qEMwjNa/jyzYCV+4oGSkMyw/BONZx3Ma2OAdhTBR9KmCm2Dqnb8503KMdOXIEuyQT0ySFlZ9CfBaAOTojiyCCWJJTaqNGjQgr6BFxCvlXKRQ+HMA50xFO4lPoIDwJJ2GLaNJrC3gCRACGcc2aNbNmzYIg8mrTpg0BF+IoIr1KcKnHjSf3evgO9gCOFESv0AwmhgGukn/l5n6PyGHcUJ7byWXLlrEH0Cl04ChD0RUDhj7ggKNkD2jcuDEf8Tp06MBFEF3jbsGvgBr+AFLz/zKu6/6pR+CqHCVLgkM3lkQ0QTjJhTpGhjF9Wi1ogv2xjAlS8JJYJ6dvTBM+pADiswP86QgrnE9JRF4IwuOzAvGSKMbr1QDmdI2Fh+dt2rQpbovTHB6TBQlz/NfVMP/QtrD182F+5swZXD93o9xscAOQlJSEPn4paWWa108LBPGZiz2AieMbMV8/9uzZ4/MkBZ+W4WXqM0EVDPGV27ZtY2/mCpjth6gfTS7T9mOLKjeHBnh5jvMPPPAA48bH/eeff54DE+NJUYUaH8v2eoV/pxG4KkfJ5RdnLqyWu7x+/fpxv8PQXJkxYZocebB73AqHHU7fWCSAoZ9CfEaAP26LzwJ4fIJKbg9Y/FwgkEkR3blKuTDB53IA9/8nGLjRmzlzJtEQbCki/YzA3TFOmciLaJ2zZLt27egLnUIcBOlVAuXhhvcfPXo0H4iYtbfffpsBxKnBH1wl/8rNkeUDttgGF77Hjx/Hl7E3E9hWrnkFNLYH4FzRFho7xBqZMu4W2GzwlQcPHiRkRo2KateJL88IfFJHiX2wAAAEYIC4a+O0tWDBAg4+N910k/8PJzE4SrEzQJ1PDurjTYhNatasyfccIhQ28Irm8Kygr56gFwD+pADmfLXnUMydFx6fZc91HsqQD1DsaiTS3B+T1NRU7j2JVQkn/ZsvIiMcDWoghXiWFPpqZNEWnvQIPnDjppUVjufi8zTxPrelVAAUARQj5dUHrSq/+pkfm8IEP9WzZ08GLSEhgQFcvHgxewDcfMATwtfnY7ldpgJj6JfiqlauXLl27Vq8P0djvBg6UIQUX5ZPQPuoeKXOZeAz8SvQEIKGBOB83KdrBK1cX/Bth5MT+T78OtB+fV6v41ONwP+typ/UUWJJGIQP7B774EMnAQspsRJLBWPyrZma4NOOAgxpxRUncSVui48qZWVlfuanZfXJ69MdhLL28Ph8ksY5sjDw+Cx+mFAEIK4GiKA5DhFW+F/4N2jQgPsK/LJ/WUkpYOiuvrPIogtwg+DuGJ/FfSuHRz/YRwHykeJXICWHFJDvA/qTA519Dkw9X1T69OnDxBGV7969Gyl+EdwgqAlxlYAJSiKCyeIzC9PE7SQzRaYPzBIRiOMVBYD/SvpJQENATVKAOFLuFjhh3HbbbexkTBnnff9SiCKkUNlPIa7j33sEPqmjxOywCd96GBHWIbv6ihUrcG2YEYufIipQ5BM+zesnAWYHMHTCLq4p4+PjsUju13xWn4TDp62DOJqgJAtgx44dBAsc5YhQWO0cuimlCOk+Qc0rBkwYOprDEHdJ74YPH04cxB7DGZzgiyLCQFJkAYgrBrJoizg6xU7zzjvvcH7s378/QskH6IAI1AAQ5AAyAcSnAs0RREOfFQ6FS9j27dtjFRMmTOBOhiIqMKcQn4rzh1aGCRK5TGCyuOflKrx3797c/NJlgA6kgLbUBFQm9aVDA4o+OWjrc6MhFj5q1CjcJeHkG2+8wZVlaWnpNezaJ9fqes1/4Qh8UkeJxWCO2AfAjIiJpk6dir1yluSqiNM3+XSDaqRUIP3k8NvCHz7ceVWrVo1jI5dr5eXlMPF5QlwTVOjGSoAz/pFr1lWrVhHJDhkyhO/dqEEdiq6VOJ8VKRI5zeG5OM3R5cmTJ9NHVh35yEIomRBXDJ8Dghg9ljTfcPBcuH5OqbgMvAyxM0NKqA5Njg9aIZFWpJ8WFW3xyK1atWIAOeATm+OjT5w4gb+ma3D2q31a5u+rDx+2Z8JJpoxPbV27dqUXW7ZsYe7mzJmD/4LYunUrRxw6SNeYR4Bo8D5WH/uKLDjQEA7Q+Mr77ruPkUTcs88+y6wR2NK7j+VzvcIXfQQ+mX4Yw0VHaYTQlwDtQxjjgT9j/DVsjMFuTh4/MXnixG1bt3Tv2mXgTf1TkhONcaVSQkptjGu0VDLGwZAK/jz4f14OlDYGGB4R426MFtpxHTjUq1+vfoP64Uh48ZLF5/PzqYxEugPfWFXaucZ70SiHzlQAVPgoxKrBH3i6UA0lgHZ1JBLlfd4RewAAEABJREFUE8T8efMS4+MHDxrYr28f14lKIZSMqeW6SPTaUBsIbYyrAYTwuCEdXF4644b+xhgIRDPiHMAJKrmsYElzmtu/fx/CyKc0VlNT1xivj8ITRDd1LIfU8IiYQn6KaHKAQL2YRkrKosLCBfPnE5LzUfiGnj3TMjL27t+/bMXyyVOnvvTKK6+89urbEycuXrZ0557d5y8UlIej8EWulELCBTWNIceHLyWWemWGhxdSD1ow6dKgeWl5ed65/L37D5ZFnLSMrPP5heMnTHxt7LhFy5bvP3j4QmFRxHFdDUtjPN6uoF+GFPXp9IfD8AhBYmiiNdpFo1EC1TVr11qBYNUatbbu3PPXfzz3v3/485/+9vRf/v7Mn596+g9/+fvv/vTXvz393PiJU3bu3ltYVGKM0Rq5qAoMg+S9YBBI9uBlaEENRlsLo4V2jTY6Nu++i9dalJZHCotKpQrUrpMbl5C0afO2Z5795/gJkxctXr5t++7z+UXlEW8MNVUFjR2PD6JgZVwjQGwGKfIm7sM7+/nler1mWC8CNWNwDd32wNBcLPKUfW/lL1fOpSnxx4A3xZ8Psvxl76fC8GjDZGts2hUYgquNq4sLC9etXT1z+rS4gHXzTf3r1akdCtjSYHPCFUZLbZQ2pMDnSwprb5jh41Hw154FGQfu2nUwqZhf9daqEjlVcxo1bmQHg9u37zx06Ijjam2k0UJDuNp1aeS4IqqFo4XBDF1+PK6I+XBQiPE6wtsJPC0MWgrtkC1PnDg5d978s6dOtm/betiQwanJSXGhoDQ6BleilYG711RrJxItd3VU66hhLDweHkP68uFSL+UqpRgbIKUkT/IoWbdu7sCBg0iXLls6e86cCwUFrna0oYeO9gjH1VH0ddyIMRAowNABCASiuQ/4CcbC8AZpvGEyTuTg/v2LFi46eyaves06jrTGTpj4X7/81R+e+sczL7706lvjXxk3/rmXX/3D3/7+y//93VP/fHHusmWHj58sLC7WrjewTIgx3nx7nTRGVHJnCNGGnmtDvjDUYjcsLyk+eODgvIVL/vj35371h7++PmFqsavi07JOnit8a8qMP/z9uf/6n//9xwsvrVq/4eSZs2Xl5a5xXIdOMSF0B6U/EsiKTZYR3hS4gqFw3ZUrV+0/fCRq1OrN2//x4tiFKzeERXx2zQatOvVs0qZrlTqNyk3c4tWbn3tl3O//+vS02fMOHjnquo5koryOeCwxGkbQk0p/PAG4N9fxzIlxdhlzoV1l8MuCwkjUPXL81LKV6/75ythf/O8f5yxeIQLxYMOW3S++8tbv//rM//v1H/701HOz5y05fPREcXGJoLFTrt0oOjtOWNBZNyzEJc6e1C/Yn9HCuO8B3f6C6fh5qIMxgMtKetdRUo0XVjOA9iCliEG7xnhuQ0rb3rx1+9g3x+cXFnft1rPrDT0TElO8SsSQQlhSghgTTA2DjFkejCR/oOIHpahgbEkTD6w/4xre3IhroqZurfo5GTnnzuTPmz3/2KHjEMWFpSLWGt8lhBe7ehNqjMWLFJ/gkWgFYjWlpaSyxLlzeW9PGL9q1YoGTZqNuef+jOwqZ8/lHzhweN/+gwcOHTlx8kxRUanjGiMsY6RUyrZs6T/CyBjg9rHCjWeLWnkqS1ebopKyXXsPLlq28tS5C8kZ2SfPXpgwdcZLr4+dOn32itVrDx09XlhSijglLVe7sc7GJMQSIS7+iIuP0drEGAthjIC7KwoLiiZPnrJl6w6hbJhPn7VkzfpdOdUadOsxcOSo++9/6In7Hvj6rbc90KXbTenZdXfsOfTiK2/+4te/fXP8BBxQOBp1CabomsfNVe+VJoU03iOMkK6ry8ojGzdte/Ptyb/439+/9Nq4/YePZVev0/3G/vc++OjXvvmdx77+rbvue7h9l55J6TlrN277y9+e/v2f/jph8tTDh47RXCNFyoud+OgfRsDrMcoIXJ3ctGnTzNlz8/Ly0zOzcqrV7jdg6Fe+9k3EDR4+qu9NQ/oPGjr81jvuf/irX3viOzcPv7XcMa+/+dYvf/P7GbPmnjlzzmEe4aMdWwnPDIwnNZZ4hJJKC2+eYjlSSOU4zqHDR8a9NfF3f/zLP557Yf3WHSmZOTf06vvQV77+yFefuPv+h2+/5/6efW6qVjt3/9Fjr459639+8/s335pAsOm6UjBQQth2QEiP5lV8YR809GCJS5oaoY1wv3yIzfxlp0n5pQwUFGkFyGc9OI5mzy0uKWMNb962c/7CZZxrNm/bkZiS3rBJMzsUH6aCtLWRkj8gjMIiTSwow7wZd69AUG5iJorNS0EpBuVqojPjSmlcR5cWlR3Yc2DxwmVvj5u4dvW6cGmkrLgcR/nyC6+89MLLk6e8s3jJ8iNHj5USlbjsgTSimcdBwEFcvp/SFjhKmnj2gALGuOFw+ZKliydNmRiORpq3anfibMEb46c8/fyrf336hT/+7dm/Pf3i0y+8+tLr42fPX7pn36ELFwocB6fPkHgcYkOkldD0VBkvxyv4iD9F3GVMNBo9f/7CytVrX3vzrT8/9Y+//OPZOQuXFUdFkzYd4lIzl63e8NpbE/769PN//ts/3hw3Yd36jfkXCrTLmKGzFEYJE5P5AVFSCoBkhlwoK+q4m7Zum7dwcX5RcXp21Wq1ctt2unHE6AcHj7inyw0DW7Xv2bh55yYtu7br3Kdnv+GDR4wZMWpMlx69tRWaMHXmP19+fc26TZEo8ZfUbtT21o4RQgrvgfDguU7JdIoLRcX4+r89++K4KTOthNTuffoPu/WOoSNvu6H3Ta07du3YvVeH7r1ad+7ed9DQIbfePmL0nS3bdz6Zl//6WxOeef6Fnbv2uBq2mJvH+iP/MBfp1dFe3+TZ8+fHT5q6ffee3AaNRoy647Y77+l2Y5+6DZukZFVJSMsIJKYEE1PjktOga9Vr1LFbz1F33tOha8/zRWWvjH1r9vyFhUXF2ghjtNB0UAthLvZMxH69N1SShqBciHDU3bh569PP/nP8pMkXisvade42ZMToW+6494Z+N7fr1rP3wCE3Dry5S88bu/XpN2jkrSNG3dm+S/fSqJkyffYzz760fuO2srADv6ijpWTylS/K4y7+9Y/xei6wJh9CVOjFUGPLxnwZvSQrzYM/Nl7KqIj3PMawCC/mYCNaGi3xYsKzJG/MtMkvKGB5v/jKa7//099+/5e///4vT82Yu+B8cXlEqzWbtr346tgFS5cfPXmWUARXYgiCtLefShrHpkMIbQSeFsDUky+9fG1J4a06QiJXFxQUbty05cVX3/z17//0p7/94/W3Jm7fsz+zWq36TZqn5VTbc+jo0lVrn3/hZW6jnnr6uYlTph08dLS4pJz1Y1kKLySkjjkLbEB86CONuAiKPcW0MO7evbsnTZ6078B+zpgbt+964fVxE6fNXr1p28nzRRfKnRPnCtZv3f3W1Bl/eOqZ//ndH94cP2HP3gNl5VFaG3HRuKTxfCXdEWSJj3zYacrDkf0HDo17e8If//rUWxMms3rrNmre8YYbh95y+30Pf+2u+x7pd/OITjfcmFO9zpETZ94YN+EvTz39zrSZJ06ejkQZPc+ChfBT+T4xRhutvfEVUrpGHDtxcsq0GQePncyuXmvwiFtvvfOerr361shtlJCWZSekajteBBONnRCVQRFISEzLqVq7fusOXfsNGtqqQ+eVazc988+XV65ZV1hUpCQuCttgLisk0kkjpfdaXFq2aOnKF197c+v+Y+279x5yyx3NW3eoUbc+fsqOTxYcTkNJOhCvLU6pSfEpWXUaNOvSs8/AIcPr1m+4cs2G18aO37RtZziCvh438RGPZ0sC1yakss8VFM6ayx69IuKILjf06trtxsyc6nZcUsQobQW1CkIAbYVEIC4qlB1PIFujR5+bBg4ZIez418dNmL9wcX5+gZRMlxGGPY/uCIFZkCAlJsdTyLKLS8sx+Bdeem35qnX1GjXrN3DIDTf2r5HbMJiUHkpKF8EkEJea7gaCSIlPycipUadD5x6Dh49q2brj/oPH//ni64uXriwNR5RtYy0MZEyS4EEwNID+lwDRRgoNhNBCoI/2xoLhMNozIs+UuOOoTFe8QgC/CAL4NCk0gAAQAAJA+IAGl6cppQ6AABAAAkD4gAaXpymlDoAAEAACQPiABpVpLdi7tWEN+RDaxCCEN1oMmNYs9ouT5i0M13X4YYJLy8Knz56bNW/h//7+L//1i/+ZMHXGqXMFwcS0pq3bj7z97rvuf7j3gJsdaU+aPucPf3v6Z7/67WvjJh87cSoSobmAqTSYJNZn+JPCsJxh68nxMpgvSOM6TnFZ2ZZtO15+bewvf/+nN6dNPx/Vzbt0G3nPffc89vjD3/zWI9/+7sPf/PbtD33ljoe/Mvr+Bxo2a7lp+24W889/9bu3J7+z/8CRsvIwvIxh0rWJPR7fSwS0D5ajdhkZox3XGMdo9/TZMzNmzV66YpUWthVKCCant+rYbfQ9D975wFfufODhO+59COL+Rx+/876H23XrVVDmjJsw9Ze//t30WfOOnTgdieAu4UEwa4zrQvlSKlKNvQkR04JyzU3/wiXLf/OHP73y+puJqRm33Dbmnge+MvK2uzrf0Lt1p+71mrZq1KJdszaduvceOPL2MXfe+9DQkaNdYb/02tg//vnva9ZtLi2NaJchlXBlXoTnMStEGYlLk4Kx1kaHI+FFS5bPnb8oKS1r0LCRw0fdWaNOvUBCvLGFtkREuDLOJnVtw6ujjGuRZSWkZNTMbdx/4PBefQcdO3XupVfHrt+42XEcZEivF9JoeLvCG2SWligvj6zbuPnFV16/UBK+8/5HuvUekJpVNSEty1gBLZTnHTheSNuOSw7EJbrSsoIJjrTjE1IbNm45/Jbb+9w0aN2mbc+/+BqXG66LCSDKMbFHvPexlHJdBlmXhSMr1qybPH1mQmp6/8HD2nToxik4GJ9sLNtI2xUqirHZAS2tqBZGBVyjpB2y4hKY2fpNmjMUcckZxJXLV62Gn5B0he4YpNHBGKQlvI3bdU1ZJLp7/4FXxr65c/+hG/sPGDJyVG7DJiIQL4MJwgpFhVWGsgH8sgxr4UjLFZYIxAUSkuvUb9z/5mGDR44+djLvpdfHbdm+qxheWnL48UbNSMR5w+m9xMh/UWIERuRBC+1oN6IjUR2O6kgkhqiOOtoh9QEN3kNzNDJRxzggCq2jlFIHQAAIAAEgfECDy9OUUgeecAYQvJIJIHxAg8vTlFIHQAAIAAEgfECDynTU4LkiUXpkHNezeIfJEkLHDNMzFdd11aUpk+QqpRzHLSkLE1k89ezzb7w14fiZ82073zDqrvtGjblv2Kg7Bg69BYMgHTLyttFj7r/7wUc6detVEnGnzZ3/zEsvzVu0NL+gCGsVQsV8MYtM6JgAHTMRbfjPRRB/x0+emjx15l+e+eeytVtqNGw6Ysw9o+594Mabhzbr2OYFsCIAABAASURBVCW7br3M2rl1mrVIr1UnrUat6g0aNW/b8Wbu2B59fOitd4WS0ubMX/qPZ/+5dPnqgoIix3G09oUICJjHBFYkHsEyxzq8RWJMOBxZvHT59FlzHBlo16XXnfc8cufdD/RHbqu2hEWpGVVSs6qmZVWpUrNuizYdevcfePuYBwaPGG3FJY+bMOWvf392y/bdhUVlghVCH42kQ56A9/6hA1qRHjp8mM+jb06cGtbWkFtuGzpydNtOXdOyqqpggrYCRgWEHdIqaKwQCMSn1KhTv1P3XiNvH9O994BjZy78/dmXCC1PnjzjOsyWpAtA0A1vMMlBgmbhu66ORJ39Bw7PmDOXRUtfOnTpEUxM0Z4IbZSrpaNsrU1EQAvHKG+Ns39Ky9L8GCs+OaNz9150s6gkOmHiO/v3H46Eo0JwtYAIKbQxjmM00KvXrn1r/Nt2XEL/QYMbNW8dn5QqAyFtjNboI9DEJ9HHdcnUjuPNjlG2a2RSSnrnG3p16t7z8PFT3Fce8b60uFLSL0M1UfnxmEkZyzl45PCUmTMcyQCOGnrLbbmNmjkiENXeJiQkjYV2ufPUkOwabtTRRjtRx3HpuI2bzm3YFO9cHHbenjRl05atkXCEwTPIlDrG/lJilJDWnv2HJk5552x+Ua9+A7r37hdKSrHiEo3yRona2uCcbVIhpGJA8ToUCalVAB/KgLfu0KlHv5uKI9GX3xi7cetW16GRlEKJSw/dIov0Usbn/Ms6QKdoVIfLIyWlEW7UCotKCopKLhS9PyUTkA8gwIXCkguFRT7yC4vAhYLiC4Ue+GABLlChqORCDNQHPk0KDSAABIAAEADCw8dxq6gJAbwmRZ7aHo3omCYXYinK5BdeKiryVKIO8JuQQgMIUEDNwtLCovLConBhWbQkasIEm0a4RrxnripmEbNUkahbHo5y9HjtjXEbt+yo06BJ/yEj+gwa2qZTt5q5DdNzquGk7Lik+OT05PTsrKo1m7Roc0Ofm4aPuqNlu86bd+99+qWX3pk153wh90GwBRaGYIyUUknMxRiWDi9Y9pmzeVOmzX7trUllJti598B+Q0fBoUqtuqHkNG2HoiroWiHXIg26MdpKTA2mZFbPbeyFXsNubdux6/7DJ15+7Y0Zs+YUlZRGWRYa3tqYDzdCyyY8cYQUUdfds2//uLcn7j54pE3Hbrfcfm/3GwfWqt+IBa+lLZEorSjjJJSDBxEqITmtZh3Op92GjLytbsNm6zZvf/6FV9Zs2IjvMUYKaUlJN8X7Hsdx2HLy8/P5rjJ2whQVn9pnwJCuvfpWrVnX84zS0rSSisVtjDKMDC5JKC2Ij2xhx1ev3eDG/oNvHDBYBBPGvvn2kiXLI5GI67kpIWWFKHpqlJRaGzLPnj0/YdIUAt6evfv1H3BzTvXaEWMbKyAk1TR7o8A9eKhMuzzGqyHxO0lpWW07dmnRpv3mHbsXLF6Wd75QCByE1wapDK4x+vSpk+PfnsDXvO49erVq0z4uPkFaXvddIlDtKOFK7eBWbWUCSijjBqSnX8CyiWOUHdDKSknL7Ni1R90GTecvWjpz5syysjITeyzLquiYTyARb1ZSVrZ2/YZ9+/e3bt+hZdsO1WrXtUJJjiHctALSqJjQoCWAZVzjRKRx4oO2ZRnlXcoIhiYQn9isddtuPfrsPXh06ow55y8USsWsSXHp8SgpXWPyLxROmzFz4fLlzVq1a9flhpT0nIirWDSarohYLaOVdi2tGVRlBCkCjMBUdFTriOE+I6lV+04dunRdtXb9lKnT8s7lGxacqz1RxksuzYJPf/6p5yhdEw27pcXlhaXhovJoadgBZbEUAoTDTvklQAP/NRxxiD2jxGJR7cTAphR12OOM63hwIk4k7FAfXGzyYa+ViyrT4agbibrRqOvEEL3UtoIblaEBBIAAEMDTzfE0cWKpp0/kYi+oA6gDIHxAg0p0tLy0vLSkrLg0XBJ2yhkizVAxZTI28QY7YsVemi8tZMTRcxYs/sNfnjp9rqD3gEE39h9Ur3HzUFKGY8UTE2lpGektP6OCMhhnhRKlnZCQkl61Zp0uPW7sPWhIubSfe+W1cRMmncsvMDgRFVDSFoK1JIUn2EWUVOpMXt7EyVNnzV9co26jIaPHNGnbNSWjWlx8ipQBralsCaOEIWWBsX6AXeqw7OJFMMmKT8mpzjeKG/oNHHyhuPSp555bsGRpOBpVioaChQm01giqgBEGozZSSCWPnjgxdvz49Vt31GtAoDG0UbP2wk52XCmVRbEXhVi2ZNF6yluuEdoIYwe5c8ipWZfR6DNg8J6DR96e8M7Bw0cFTD3DV+LDnuLi4rlz574z7Z2U9Ow+g4bnNmmpggkylKCJRKQSUgrBj6CfvMRelZGKUgY2amwC2CatOw0cPio1NWPypKk7tu/0RNFG0FBUPFIK7Wop1KpVqxcuWtSiVcteffqmZWVrzqQqaISljLoMQnZAGAZHSss2/IUS8ZXNWraZNmvujt17w64rECAEqbLtkqLi6dOmr123vm37Ds1atg7FJ9LUcZxouLyk4HzBuTMFeaedsmLlOgZzdSMiGrZMtKQg//zZM6dPnCgpLtFaMtTZVWp079k7OS3jrfHj9+3bJ4TAX/vTB/0uDD2WZ0+fWbpseWaVqi3btI1LSi53jZaWtEOMgtQR6YaFEzbRcktHbeFaxgkQJ0bDIhpRRsPKCKml4pNj+85dGzdvtWrthp179tNTiirBY+Y47radO9+eOCmnWvUOXbslpmZGhIWTxQCUZcemyYWn8qS4RJWW9tynMsygVMpWAZtJc6RKycxo1a592w7tOemv28iGqpW0hEFEhUBTQX3+hDFuRJeFo6VRt9zRYSMdobRQrpd6XYL2uiSU+FAYqd8HLdwKiNhwfGjDT5IJH/a6Cgh5OU0+yJDmlfHBCh+VI5VhP6dfNMdTl4fLAWoYb9oMVuhPE0PiE6KktGz5ilWvvvo6DmLwsBGt2nYMJaRGjWWsoMZFKuIdy5XKNYyrZCuJRB1hecMs7WAwIalZm3ajx9xdtXbdqTNmzV+4qLi41HUQo6SRrCglpWTBSZGff2HmrLlTps2qXrf+TUNHZlWrY3AfLOyIFjFhtrClq5R+FxI6ECesYETLiFbGCiUkpbdq1/HW2++qUq3W+AmTli1fUcQnCFpobYyRUl7sUuzHGEG2UPLkmdOvv/nmirXr+g0YdPcDjzRu3gZHL+wEZQWoSEOgtfZpVq+UHp+IQ7AgVSA+OS2z2w039rix38GjxzmgHTl2kg4xjkYK+kkr6FjqiVu+fMXUd6bVqVtv6Ihbqteua4XiBZGyi1nBkwakfl2amlh7cqQWKsoFGkdmKyjtUPVa9QgQjZCvvzFu2/adjKFX1ZNHZa85CivLulBQuGr1mlB8Qo9efTJzqhgZkHbAeNow+JalOR8CqbS0tFLakjFY2jIxI5dEPQ5O0QhpZeVU69C5a0lZZNzbE48cPQ5/Y7QR2nGiu3bvmj13bt26uTf06JWUkoYIKb2CbZs3vvjcM3/63W/+8Zc/LVk0r6Qo3xL0gXbh4wf3T3zrjb/87jdP//1vCxfMu5Cfb9lBR6va9Rq2bd+pLByZM3ce9mChY2zYvS5d+pNas9kwjAcOHmrRonVKehZzoIU3RI5r3GjkzMljG9etXrdq+dFD+yNlxcYN4yvPnT6xecPqwwf3lZYUKTYBbaS3H8mU1PTO3XqUO+66jZv5GAWfmBzjpWjq6JMnT73zzvS4hMRu3XtkZleVVgjjjbpaKMvVrhAaI1bCtY1jeXAtgSHGLJvxMW7s0VHX1ZbKyM7p1LV7dpWqc+fOO3DgoMH+PDEiNss+9S9LGbkygqdwiZAu0CZqBB2NwbDuNXNtBMTHQgvhVfbTWCteP7bV5SpIZZTFeF9EjPPl6n9ATxSojE/e1muFZUnm2LgRJxKOlLvGRYGL80S5ECoaZX7dcDi8b+/+tydOcpXdf9Dw+k1aqWCSIgiyAkpIqV1bSlYUrFh8SmolMAmcj5DCSCHZNkPBtHr1W/Tue3NiSubMuQt27N5DfO76G7vrKKzNiZSVhZeu2jh55uKknHrtu/bLqlqbhkEhLDeKGEt5DA01keTxhwxbImqZSMB1leNYwuAsmNWoskwwsW6T1r0H3xpWiROmzDh65DDGilHSKSnVxR4KLYyW2IRxS0tLFy5ZOX/p2syajfoOHtWsTafE1HQtHSkjhkqGPlgWEZb0HmVZEhFCaiH5T7EfMI1WKJCQ3rJDt/pNW0+fM3/hkiVau1IKVpPnGARsHDTWWp89l7945dr8Mt2p18AauY2FChgjYyDskMJQEwiNrnTdVZJDbtRhC4qFKkYxoob1aclgfM1GzZt36rph565pM2fnX7iAkFhz3IhXQRvpaM33h0MnzzZo0T6ndiOCbqNs6iiXcdMOA2Bcp+zCiYM7z504ECkrQmGPvfD6JTXjSecspZTHWUlpWbXq5tZv3GjVunVrN2wIh8uN0Lj3smh4/ZYdx84WtunUq0qt+q6yowbhMlJWfvzAgXVLFq9dtGDl0vmzZ007efpkeSQCd7e0eN3yeQtnTFq7bMHqBTO3b1xTXlKojdbSclWwUZsO3Gis3bpz5+59hhH0xkIjywhhNH8CMy8qKcOQVCCxQeM2caE04x3oLSXcIOZSXrR21dIX//nMC889PWH8uBPHjxum34ns3Ln9hReemzN7xoX880II1DAwFVYwPrlq9Vp16jY4dPR4Xn6h11mNbWqvc8bbBrZt27Fj997W7bo0bNpaBeOlZSsV0MYbEcnjWaY0jIQ0pWVFRRfOFp0/XZJ/2inNV25ZiAnTxrICWoCQUQm16zZp1brTgUPHtm7fFXUcQYfYiVx8q8QkJe+fO1gahg44jutEpZASBYxQHgFdAUG+FJdejbCkUlh+bGbKy8qPHTu2d8/e/XsOHNx7aP/OA4f2HNq3a/+BvVwjHykpKYa/oHuCoZCCadR03MR4GWM0kB5ny3WZZNjaUiijpaUwV2opJ6rJiYSj5/LOnzp52nU1UySMVNKimpQWpUYLIZRSNq9GSypIobQWpcVlhw8cPbTv0IXzBU7E8SxKKCn47yIu/ggEfQiEENIIKYT3J92oiZZzAKcLxsSylRBCWZaltS4pKV20ePHhI8e6dOtJLEn8pAJxVDLaaCcSLSvV0bCUWmEtUa4pImSS44TL4QZ3KZV2LaXiGjVuwdadd6FwyfLlhUUlniBhuDTyDESzb5+ZNmNOuQl07zOwTsOmdjCeNgFp0M2rIAX6asZGSgNfBpodT4eFd8iKIMAbVymMEMxAxEgZTMCht2jTed+Bw6vXrMUVCkmXpKZ3ouLRUhj6cPTI0bnzFgTiUm7sO5gwVgTiHOxeaNti7A2jQAOtPU9nXC/1dJE8Cl2kYC6YF+VKKz2rWqduPa1gwqzZc4gXXO0aZGIXxhNLTX737N23efvuOg2a12rQnDV2u0Y0AAAQAElEQVTKxKIRDJWgnD8pYGY0sy008yltZYWCAVsKS+sAtYWRQirLNsLilrRZuw6pWdlz5i/YunWrG40aN6pRR3pVpFKRSIQ1HjGmftMWdnyyFgEhMSmB9VlCS0sJ4R46sPu1F595/eXnThw/HI6WeZkWGjEyUjDQxkghmFnXdYQSqWmprdu2c4xYu24dVqGNQ+cKy0r2Hj6SkpFTr2GzYCiZUi2EkFKSOI4ViSSHAonxwcMsn13by0pLhavPnz21beO6aFlR9SqZttTcAmnXYyVtyzEqvUrVtt1uKCyL7Nt/IFIeFt7DckQdj+LPxE4AGzdvy8yqmpNTS1ohI5QSUgmtBJt+8fGjh/bu3Lp788ZF8+asWLa0qKCgrLTkXN7pA/v3HD1yyIlyXymlZQlpCeUtzoTEpFq16xYUFJ84cVq7GgsDyDNClJaWbt2+3XF1k+Yt0zKrGmNRxNAwjtg7RDRCMBFlKHZs37po4YJJE8e/+soL06ZMWLZw3pH9e6KlRTaMXC1YBQaJgcSkjAaNmrnC2r5jB2NoGGEppVBSxKxJ/Oseemuk4j9PGbSJqcSvB+GpJ9BTSOFBCCGldKJRSym6sH/fvldeeWXKlKmzZ81+4fkXfvfr3730/EvzZs+fMmny2Dfe3LNnj2eWQlLTdVkL/Ar+lFI69qZisyCEsC1vtCgyRiilhCfEqxMXFxeJRAntJ06c9Oab444ePaaUBWhuWRZTRn3LsiG86XBcMil1mDZXU3nmtBl//tOf58yaU14Wse2AFFK89+H9oyElAyJ5BO2MRKb2VobgoRFKCu8PpQ8cPLhx685qtXObtWgdl5isaUIFArGigrUrls6ZMWXvzh3lpSVKGCdSvnvn9qmTJy5aOP/ChXxv5OEphB3wFl/ADrZo2bpuvfpLli1fuWYNfdNGu4yc1uVRZ/2GTdt37m7HxXzLlqFQyHEczZoXQlpKVHo8FY0uLS3esH7tzOnT9uzeGdsGGXfNoqUn1LXZwLVJTEhs1KhRVk7O0hUr9u47QL4wmsn3qmG73rtAh9LSso0bNx87frJ9x06NmzQJhkJ0mUKlGBIt8JjAjXoLsKTwQt7pssILbqRcuFFpXIaBmgIudFVIZdtVq1br2LHT4aPHZs+ZU1xcQgXg1ZFSSHn+Qv6qVWu0Fm3bt09MSDL4RK/M/2MBwsXwuI4TjYTdaJklCOeL3Wg4HClxddRxIkZoYxxLCiVNMBSXmZ3TvkOncDSybMWKCwUFQiikSCGA0SJcHt61a1cwGKxRo4b4wMPwOo577ty5NWtWb960OS/vLHIZHKO9GTbeEKGP34xJsC1lO66pU68e0dfBg4fz8s5RRWtz9mzeqVOn6+U2yKlShQZKWZLH4OtRwxua5OSkVi2aW1Js3rD+wrnTTrjsxIkT3ORm5VTJrVffDoSiUVfTbeM5ZUvJYCDYqFFjpdS+fftLy8ulpDe+GhfTcFnZvn17tdH16tULBYM0vVjg/cDEmzXLslKzMpxodPXyZYf275Wud0cptaM4+3vV3vMXCASqVqtWHi4/dOhQJBo1SEQmjkub4qLiw4cOpaWl1alTB5NwtSPZY1DV4E9dqd1QwCouOL9o3ty//vH3f/vD7155+eVJE8a/8Ow//vyH3z771F9WLF1UXHBOCUciWmrMXSpZtWrVrKzMEydO5uXlaa2FJw5571Hpi/+C5v7IQxQUFFSrVq1b1659+/ZNTkrevn17Wlp6//79e/bsWbt2bZZ4OBzRmq57O740lq2CwqhoxJXCZndzHSJNXISBlcfTsBV6AxIJh3mVUobLy23bjkQiTNCBAwcg/JpeA01AY7EGmWvbsgK2Dc0405AxZGarVa2KndDq8OHD2EyU+TXYKYXXDAptysvLV65aTRjYvE2H5Aw+BVg2l1z0RJiigvML5s6c8Obr27ZsKCspEcYtLy3atH7Nq/989p3Jk/LOnBJaoy5Kua6D3Rsp4xMSmjZrwbnpnWnTT505g6Z4Limtc+fzN27eklWlStOmTTFxYYRt2xKT1C5Ln2rvwmgWc3FR4ZJFi159+cXVK1dECRCkLwcJHoVBM8wIz86u0qpV2yPHTs1btJjFCBPq0TwGIaQSQnEttXrd+pS0dGIlOxB0HEczpRQIIdihtMskBCyBk5w7Y+rzT/9t2aL5xQXngzYL3zBPUgph6Ca1hZQqLjGxVeu2NWvVWbx0+dFjx7TG4TAA1DE4g1Onzmzetq1GzVpZWTnCspSCN6XSCGWkYPq01pFwOZvNxnWr886c0E6p1OHTp4+tWbNq+84t+YXnDetcaiEcwdJ3XTsQ17xlq5q16u7Ysev06bPoIaX0GAkDq2PHjh0/fjwrKys5OZkN2FOx0p+U1HHog4shG/48/6i1S46390uDSlRHPyMknF2NylZqSnqrVm24Jzl5kntYRf6ZM3hYt0bNmoJeGM/ilZRSaGGYO0PPg8FAbt262VnpB/ftOXJgX2lR/q6dO8vDkfoNGqZnZkrbpj9CSCEEzbwfI+LjEqpVr3Hq1KmSomLtBZsCPjFACHwZYUJCQkJOTrbkUcyjl+//wYEMS4l6ubm1a9U4dHD/hnWr88+flcYldpUaxfyKF1MYGG2Sk5OwulOnT0Ud19NDwEYa73v3hcLCouycKnEJiXTWtogoOSZrJWLQjnHC2zatn/L2uF0b1xEc16+f26Z165o1a5SXFq5ZtmjmO5P37NzqRkqlcaRxpaSv0g4G8MscSM+cPaN1TBzSLqrzf+nHsjzvxgDiDQcMGNCuffuaNWtib0qppKSk6tWrt27detCgQQ0a1A/aceUl4YL8ovLSiNGeiywqLAmXRSPlnEjD5aXh0pLSkuKSooJCJ+oUFxfzXaG8rEwKWVZaWlhQEI1GlZCpKSkDBwwcPmx4VmYm1UqLS8rKyiPhcFFRcUlJKQOHzUejTiQSKSgoLCkuxnW6USc5OaVu3brxcfHoyYSSUvPaQjEQJ06cWLNmDS6yVm5j3IDmUgAbMt6fLXS0rLis8Jwb8byk59icSLi0sKTgfElRQbi8TLuukagkA3YApS07YAVCtXPrVa9ea+OmLXv27MU0KcaDnDx5+sTJU3Xr1svMyrGsAP2hzzbjjRy/EvWE9wI/JYwbDZeWFBWeP1daUugQ3CkhWJmSCoyDFeWrB7GVkAnxiZyY4hJT5i1Y7PllKYznZ6nsQzquPnf+wr4DB6tWr85iUDYyLXw0xa7rkgZsy8WU3WiktGjz+jXzZryzY+uG4gvntBs1Gs+CRHgaHiGkkdIOhGrUqtWsRauTp8/s2r0Ht2sokEKgs6MPHTp8/MTJGrVrJ6elqdh+g0aUeVxQnP4qVZB/fuqkt198/tntWzeUl57Pzzs5d/aM559/Zt6Cefn557RwvTMcjlK4Qkr8XJUqVRs2anQ+P//k6VMRx4Gb6xrGzLLU4SPEfXnZ2dmMP+wpqkBMYREI2J5qKEdntHdoNkZLhTPRHgvy/WIpLcuORJGmrECgYaOmxgicPjzpHTGpEDIjLcOyKAy6Dr6A0TdCuzGPybCIGjVr1K5V+9ypk1s3bdi7c9v2HdsTk1OaNG2WkJQk8GoqVlEgzwgUkJKRqF6t2rlz+SUc1cn3gCgtJKlwXCc/Px/p6WnpQkp098ov/WlPd69a06aNe3TvlpQQv3HDeny0dsoDStiKFqLyo7UOhoJxoTjXdWHr4igN3QaMomTJRRwnNS2dwFyTbwRTRpkyQgltKVFScGHJogU7t26Kjwt07dLpzjvvuOe+e+++5+4mTRo5TvnOrRt3bttcVHBBCewoKqSMOlFkZWRmFrK+i4txvp4yEpaCUvF/5JGxB2VV7OHIglvEGTGYiYmJpCwi7AFkZmYGg6GjR44tWbJs+vSZK1euPnr0OFccixYunThxyvr1m1auXDNhwsRlS5dPmTz19dfHrlyxasP6TVMmv7N40VJuqZcsXjZp4pS1a9bn5xecy8uHDzh96uzpU2emTZsx4e2J27bu2LB+4+xZc1auWM3J+vy5/IULFs+cMWvC25MWLVxSWFjsuhodhRSojGLQEGh+DaEcxyFe3btvX7XqNXOqVddaSGUxtVJJ4bJDamW4zY8K17WkcTkqSq25r8RnuRGbOqwnoTAv9LN8j6PsjKyceg0bFxSV7Nt3oKzcO1iFI9E9+w+eLyhs1LhJMC7epQdSkiBIeL8sDu+HHOBRRttKscSxVKldVBGYNGXCGPQRQilLCOk9ys6uWqN6ndxDR4/t3bMvGo0aQ0DhwwjBknMPHDpSWFxau079UChOSGWkdLWWSvKQaCNIqclyFNrVrhMpL1dYPd2nBqvUmNiv1FQSIhqJxnPhVaduMC7hwOEj5eXsip5aCLtQeGHLtu2uFjVq1gnFJWqhYi2MYLigjDTGU5rdNO/0ySP7dhWeO1WYf3bunBmzZk6LRiOc15KSkyXXOnSB/npdlUIFuOis36gxHvrIkaNONCq0tiypXWG0uXDhQklJCXu7kELE/kTlRxrXdYQS2jAsrm0zaMSDytB96kuBRp5u0ELgwCzLco2Rws7OzolE3KLCItc1uJUL+Rz5RUJiQoB4POIqRb8syUgKfIMxShmhklJSm7VoroXeuH7N1EkTd+/aldugUc069VJSMqS0lLK0Nkaz8UghhaUspez4uMSS4tLysrAxxpOPCoIHWtDNgoKCYDAYFx+nJOLIfxfKsiKOVnYoPj6xZ68bCWqOHz26Zcvm/Lzzyhhm0MSedxvA3RiL/ttWUWGR47iaHMGEStd1w5EIlzOZWdmoBGcXPVHx3cbm1KkTRw7sc0qKqteo3rlLx1Zt27do3abbDTd06drVtu2yooKjRw6UFF8wroMErV1l20bJ5JSU8kiYbQDj0UbTK+/vXbbXgEJ5rbVz6eGVfpPjAxpUFsMwk1MZlUs/SFMT5f1UKW8WeKUa/EmN1hQpRdQS3b5t+z/+8fSyxcsDKrhk4dK5s+aGS8N5p/MmT5i8ecPmk8dOLl6w+OihIyeOHh/72huL5i8sKSzeunnLM39/Gto4eveOXW+PG79z2w5LqO1btk2dNOXgvgPkH9i7/7WXX507a064tHz1ilVvjR23b/fegvMXDu0/GLKDZ0+dmTJpyuYNm5xwFMWUwhEZS7GaJepdW6jS0tK9e/cabapUrRoIBoXC6BFhnCizbrN4ZMx88/PPHzq4f/fO7Yf27ynMOyOcsIVBCIMb8WpLNIOWRirtwapeuw6n7IOHD18oyKdCUXHJ7r37sfqsKlXtYEgI6T+euTJ7whifkfAy+FMxzlJoKfCSpF45VRAjBCbHq5QwEQyKCoYS6tZrCFucVGlpmW2pWB14eVXDkcixEyfjE5NS0tOFsoyQxiuhsZSwiFU1kl5LSE+ENJ504a0izTsVhaGMykJIIZUW+FmRlVM1K7vq2bzz5ewEsQqURiLOiZMn4+LiU9IzhM03UIv6IvYYI2iohZBS4O1qogAAEABJREFUWlK6kTB/5UWFW9aunTNjWristHu3bh07dExNz1DSxgKlZFC0Fsp4EkVaeoZt2XnnzkfCUSGE9B4clOD0UVZWhkOxFEMhRaVHSgOENPTrYja09NuSCiEFRUaimA+pvSylLDsYjFdWgLMzmggpy8P4MhEMhiQvUlqWzQoxgjdLK8vlKsqouITkqlVr4G6OHzu2ZdNGo0XtuvWyq1YT0tKOxuEapEkJpV0HWkoZCIRcV0fC3G2RQTG4SMCfZS8YNK0lcvij8CIk8bSwg0JaxN7pWdmdu3YjfNu4cdPhI4ejUW/N0NyvK2MPGwC/pBoPKQWKCx6JnQghVRkKGK93DKihzLIQGQPyPZSWlBYXFwmtU5KT0lLT45KSjbKTUlNT01IwQG3YUQrLI2GHGlIKyzJGa2ECQQxAlJWXO64rJVIZZCOZAnHNHnVp0isIYxAhKz9XKQxWcPBTCNd1vL3EdaGFlFoz/wpfsXLlirVr1hTw0UK7pcVF+/fucSKRqjnZ2nHSUlM6tGt7U79+rVu2yszIZAAIS1s2b1Gzes3Tp84mxie0aN68SnbO8aPHzuedS0tJzUhLj0b4FicoysnK5gYZonHDRqnJKdTRjlu1SpWO7Tvk1qnLmJ49fbqkqFgJTxOv7wKlvM0PWlzTR7HOjxw5Eh8fl52VSbcRAPxxMUKQI6TidmDN6tXjx43lxnDCW29u37rZRCNK6NgSw5KUEJIfD4JEaaFyqlTPqVr98JEjhYWF5DlaHz95KjklLTExiW3Iq08T4T30FtBMeDmQxuclY/ylMAiCg5DmIkTFQ2Uv19Eip2qN+ITkw0eORp2op3OsCg2EkOFo9MSpMwnJqUnJqSwTIWmFwjGWQsDTMN9SURlIXgy6SGjjOSmLDBoI70/wYIfkaCESklKS09LzC4pY5+RLKVkd3KeczcsLxSeEQnGR2I2pocx4ifC4SSG9WVRS2BY9c3fv2DZ39sy8k6datWzZs0fPatVrer7DCKUsQbDnWaNyhee/UlLT7ECooLDQMS7FzJHwmElXa+SqSwsGaR8A0oGmw9FIFCcFIVDW4G0MU0hZrAn6SAFToYS0pLIlGWhuyJL8UmR5/lFKqYAQgmHX0o5qCaxAXNQITiSctalcXFKcXbVqvfoNUlLSEIxHFBImWsHXsiRD4aktlVJC0AXjqST8B1oLqe1AICUlhW6Wl5Vrrf2yipTQTEvlMEQqIK1Aw8ZNO3ftnl9QsH3HLixNMnqXqsIBEg7AjS1vLFDZlhFMMSVed/w6CgcnvBEwnjFgD4CRJ0Klv1YgGBIyNndKEco60mZeGAFvMCylLGVZlpSWo+k9rdjkjFT0zjvQaKOFxxhxwnjJNftDc0C/HAdv7Llj+gN3P6XLlPJ6LSEl9haJRAil+fwC50g4jKCi4uLCwoJQkPu3cJs2rXv27JGenhoMBkKhAI6ybt06Q4cObdGipRSMilW9Wo2kpGTo+Li45OQU2wpyMiC8YByxMSGkFN6YC6GUsjLSM+vVq5+QkCgE449wc2D/wbVr158g+olLiAvFR7BqTUeNYmo0jtRlLsS1fjxHefbs2fiEhOSkRMN2IUiiqIswBl+gNHZjRFJyco1q1WvVqFklJzslMcGzCqHFuw99818kLYRUyampfBQ7dz4fR0xBNOqcyTvHWASCcbYVkAozleTzB4QgAcJ7Yr8kUuAisSsD4eW//y9WRSiypZRJqal2MHTy1Cl05pXM2NqjuXAcfebsuRCyuaoXSKKhqPxoYWmiHmlh2kZID1JCe5mC6OD99b35MJLxiYtPIJojhDEsXI+jdBznzNk8aan4hKRgKM6QaUyl9lIqYjFBDkfLSHnZLk4sW7ekp2d0aN+hfv2GxHGu576kEl41oZSQSlBdWtLCMu3S0lIaasdhIUpvXkxGRgZTgzdx8ALGEyg+8jGwEFI4rsPSklJJIalLGx9C8thSWq5rysrCjuMmJiR4TYTynAuRV2kZC53K2uuvlMpyjIhLSErPyklITotjL0rPbNO2XW6DBhnpGQ0bN6lVpy7+jlFKTEkJxYUCgYDjOtrzekZj2dpEwlHbDsTFxUkh0UTAnZ8YGQjYXESUlZflX8hXSqEZJT5QQHh+PBBm35M4LCszu0rnrt1q18nNyzvvbQbGWzN+ExaQ1lpZFkz4YsAmmJqaoqTlsxLIlTKBRajs0rJy1BJSaiO0rDAJSwvJ96iMjGwqnz2Xd/jYsYLiMnzl4WMn9uzdFw2Hg8FQlWrV4hMSjUEmBmO8oTUCy8cSEhITFOcY9PD09nsortWDPBjztXfr1q1EJI7jMLPk+KDj10qQzweGWDvi9u/fz8UInxEPHz4UjjnNern1atWq6TiRmjVrdOrUgdtbIfT583mlpcUnT50gPxQK4QQuXCgIhyNFRUXnz7OvFbJ8uMXFqnFB5eXh0tIyKvjEuXPniouL+YoYDocLCgrJLykpRfrp02f48rFs2TK4SakoolVe3rkTJ07AlkEouHCBJr7C1zBVMD1//ryUAleilLJsJYyWgqMDtuxiX4IPJonJ7dq1HzbylrvuvueWUaObtmhlpBKxhcqU4FpVbBMVvhlgEEYGQwnBUHy4PByJRLXRBD7FfLRSKhAIaiGiUfxBrLpX2WsW+xVelhHSzzD+D4YbWzo0o1hrY6AwZkO5IccoV8tQKD4hKSlcHgmXl7vcysHpErR2i4qLLMsKhYJ0hyaXSvilm7hGrRBFpEbPhQtLQCsypdExZcigMvA0YZCIxljhMIwSwUZZ/MIYSb5t2YkJidKIaCTiOo6lWJBGCi0NYlFbGE9/oxTRigkEAmnp6eylxYVcch3ia4AlTUBJWzK4wrg6YNnC8DDSngt2hbFDIUU0ZCmPqdGua9LT05OTk3Eo2o0KgQhPkidM0iUh8UpenpBCRcsje3ds37x2zcbVq/bt2sWJBtaoCoSgMv3XkmVOGzdaVJjPaSIxkQO4JYVMSkyRUmHJroi6xnG5HxWKmQgEA01atho66rYBQ0ekZVULxqe17dBt1J33jrr7ge69emdkVwnEJTRt2fKWUaNu6NEzJS1dSol+llK2orkuC5cG4/AzQRRGAykEMEIZwYSGqlWrWl5efvbsmahTbtBOaK+18aZe2oGsqtUbNW2eWaWKsALBpKRcgsqevZu07VCzYbNqtesFgkEjtRTa65lmoKJG6+LiAjjkVMm2Apb0RElK+UtMSAhaqrykRDsuZi1cVxmmjPGm3KBUVnZOvUZN4tKyTp48O3PmnDnTJs+eMumt119btWK5UFa12nXrN2rCNqEF/fOsRhlmUpWVlAY5oSckWErSOyHQxyBOVHqYAh17IN4Hst+X86GvruuuW7fut7/97d///vcVK1acO3cuEonQFiGWhfl5FgQda8uvRg3haUO/eK2M96lWucij6Rs/Z8+c2b5jW0lZcYPG9UvKi9esW8MEBYJWjx43jBlzZ0Jy/NoNa7bt3BaOhguKC84XnM/MyTx95uT2ndtcQah0OuqE6zfILSot3LFrm6uj0IXFBTt37xBKZ2SlnzufB83E1albu6Awf9eenY6O1qhZ7czZU+RbQVW9ZtWzeafjEoL16tc9efp4KD7YsnWLc/l5u/fu3LN3d3ZOtqudAwf3MQKxPgrPtk0sRfWrg2I0GQK4Sdt2RMwKmWvj4PssjyAHY7CtIJFDdkpmlcS0rGBSqhaWltxgSs8ijGtLLMAIiS78MT2WdoSlAmSxMAQmokQgFBRKOawxKRVrRQiqxoAZSSGll0EDYaQRSuL+TFQrLWxXBoTBdIUwQmvXGO1R0hW0ECwq6kq2GteJBoN8+w0ohQKi4pFSxoXiqOs4Dlblta0oE5J8qSNKh91wqRstd6NRQXewbDcSUC750jjvVkcDYWiiUUJr+NmBgESeZcWUUoFAMCczM1Je7oTDOhr1zs/aXx4mxsRISXVlpBJSWQGmuU3Ltm2i2t2yedO+PTvLiy8oHRFOREkGgSaIYs0JpJVFysujkfjkJGHZwvMyJHRc4SiTEhPZRV0nqpQQUhsPaCmFZHSMEtJSofS0rHB5eNbUya8889Q///7XGVOmcK0uHYZVevUEMySiOuq1NRHhhvft2hYKyrS0VEotK5CenuUafaEw39FhaQshvcdmYOPiqtWudUO/fl1790vLrhlMSE/PqdOhe78+Q29t0b6zHRcv7GCd3Ib9Btzcpl3H+IQUywpKWmMT2pVGnzl7Ojk9xY6zJby8fCmFZYTSUmIt9evnxsUFDx484DrcWDkKHbEUwbCIpKSUjl26jbn3/hZt28WlpERVIJCcdkP/m+966PEHv/79ngOGpKSnaibOG0atpEQoTM7lnRHCbdigrs3HFimk8KCESUlISIoLFeSdw+YCQlqaiYsoEQVSaCoF4xI6du3eqkOXYELavj37J77w7Et//d3CGVMK8/Myq1Rp2b5D3QaNE5KSMT6GlK8ZxpHClRfy8lPik1ISEr0uSabU6zZCRaXHGKM11uR1SmvNxkDUcvr06by8vDNnzpw9i186c5mHauDYsWNr16597rnnfvnLX7744osrV648fvx4SUlJNBo1lx5kQgpGTyLLB3kAjZQQFSDnw0FzmqampnTr3u2xxx/9xW/+3+Pf/GrPPj2ycjL5hFWrZs2bh9z86FcfHTRkUIdO7Wvn1qpVp+bgoTd//0ffu+3O2xo2acjMV62Zc/uY0T/57x+Pun1k6/atxtx/1w9/8oMRtw7t2KXdHWNu+/b3vzVwyIAOndvfcfcd3/vRdwePGNKmQ+sx9971vR99b9itwzt0af/gI/d/89vf6N2/V4/eNzz81YcGDR04ZPigR7/28LBbBsNt4OAB3//hd++7/95WrVomJsZLYaRg6t6FuLpHYTQsNtd1SsvKXCPwJcrCAypXYCNKcFRUthWKC8TFa6Fc1p0VsuMSQkkpgfgEaQWoIDwbiOnlq2KEMMJ1ohHvVBLksZQVCAYy09PIDEfKtRu1FBPj1aYzFT8Xaa81eUZIZVm2jY+zWEaKeSJXKQmkX9WQIWDE/JWWFJaVlKZnpCOOCl6BN0TeL1FeRkZ6eTiMFUrlVfdyL/5JIwULKf/8+Q0bNy1bvvL02bOBuPjE5GTkCh6j+Y/fS8w8Ek0sS7J3wZBjI12DiVcgDAu7Ro0a5eVlhQUXLPhKoZSnK5ryw+QJIRwOzkLgz7jhqlaz1rARI9q173D06LGZs2btiX1Vk5K6QirlEtpIoaQx2j1/Lg9VOGhbAVsIKSUdEUKY+vXr183NZVVxRcTwkiWFkTDghxehlB2sUavO4OEjbxo0pMeNvVu3ade0ecvc+g0Sk1OEV49KaCeoHrQtJxrWrlNUVLBp4/rExPhatWuxuKVUNWvWtCx17NgRxwlLgR8zPKhH41AolJKamp6RYQcCQkhl2YlJydk5VZJTUiw7oKVSwVBSWmZyWmYwFC+VRR0h4aHLiotOnZ3yv7EAABAASURBVDxZp07tjMxMZlV4T0xvjxCWJWpUr9a8aePzZ0+fOXVCaHpvtMZteduMsgJ16zbo0KFLjeq1LSuotdRGZWTmtG7Tvn3HLnXqNgglpCgraLQ0WgDh6pLCoiMHD+ZkZtSsVi0QwKIQY1BESck3GQb25InjpcWFbjRsKcYWTWIpNaTEfJs1b3nXPfcOGTmqXefudeo3qF6rVuNmLXrfNGj0XXf3u+nmmnVyJeKEFFIZ17WVLC0tOnbsaHp6WvXqNRgHT5jwivkT/hNLlVKWZUnpnRjoHUfa119/ndjwqaeeevrpp32C9KNAtb/97W+LFi3iDIuHXb9+/Z///Ocf//jHv//979955519+/aVll78t4eIQKAR3lxDXDE4vnDh2Lhxo/oN6jds1JDpS0xMwCOjPGuhbm7d5s2bV6teLS4+LiExAftp3LgxNTOzcKZ2XFyInEa0rV+fE3pubt0WLZrn1sslEqxXv16zZk2r16hetVrVhg0bNG7SuHbtWjk5OXXq1mnRskW9erlZWZmk0FTAWXPMR3ROlRwY1q1bNzs7i5wmTZo0b96MVpV7Jyu/XCmt/AfWkSinraJgICiEkpbFGpZWQCs7Pim1c/ee/QYNqd+oaSg+wREyPjm1Rev2g0eO7tG7f3p2FSNtIywtpPFNwPvRrIPSkqIL+ecy0tLi44JGCEuqKjnZnC4j3j8xZbq0EACisu7G50GWayTrrUXLVl2796hVu46wvOCUBlJaRsZaxepKj4nmMHrhXF40XFqzejXbii1FWAgh+U8IVkW1KtllxcVlpSUBpYTX2gge6VHen1QnTp7CT02YODm/qLhF67asgeSUVCGVsgPw8Gp7f7TxoImWjUtHSooKkhPiGTS8hkETaVKSk7mdKSkuIiCQwmHVCWEMLKT0WkIxTlBEcoyYtKxgXJ16DQYPG16rbu769RvnzJl79NhxI70HxSzLkrHIS+goyxhPX71a1bhgEMWlpL2HlJTkerl1iosLCZeUwTFwYDQI9YQI4QrOn1ZOjVoDBg8fdceYYbeMvuWOMXeMufvGvjdlZGULpahKTeoroZUwhMABJQ8f3Ld//+56devkZGdRakmZlZmRkZ526OCB83l5qGRcx5bCVkrGHuqwTkgBFkUem4Gm30oJSXjIpqtcyS4rHG2YRCWEE43s37u7pPBC/dw63OgLhki851GKeDZ5QL8+biS8Z+f2aHkpn7+kpNtSC7YQGihLoYIHCNsKerCDoWB8QkKykEFX21pYTKGtJNqeOHrk4L69TerVy05Pp5vvCpMyISGhVs2a+fl5p04es4S2lWWENEJo6cnSwnKMjEtMbt6q7eg773rsG088/NVvPPTo1x989PHb776//4Bh9Ro0iU9IEYKu20IK7USCtsk7c/L0qZOs/PTMDKkYWoNEKaWghnjP4xmPMcw1BNd/b7/99j//+c9nnnkGR/n8889DP//RD1HkK6+8QjhZXFwspYxEIqWlpdu2bRs/fvyzzz47adKkM2fOMBfIY4LQT35AOkWfHLZtIwWgLdxQmBSaHAi2TFIyeYUnKa80oQKv5EPwSibK+DkQ5JNDPjQVAEXkQJBJSgVyoEkBOZTyCqABmX4OEv3KvJJ5DQFDxRZRp06d0pLSM2c5mHjTyR/W7DLxdig+Ja1Lj96DR4xq1KRZXHyCwQDjEpu2aDP81tt79x+UkcUNkU1F6gvmwEghjDS4AX3m1PEzGEo1L7IQRuAuG9SrW1pSmH/+rDDaW6BG8JiYRUII1pX34/0ZKQXHuoTEjp27Dh9xS5v2HWw8eGxVGyE0NRHhVUSsxjJ1JHz44H7Opi2aNY2Li9OaWl6xEEYKExcK1qlVM1zmyTY6inpk+sWkRmDGKqdK1bbtOvTs3XvosJE3DxvRrEWreO7mhaAMTYzgkUIA/giqWX8y/xw3+2eyszLi4+NE7DHCBIN2wwb1q+RkHT92uLS40BLk0dpr6CtDN5Wy7FAwp2r1WnXrJ6dlhuK9FXhDrz5Va9Q4l3/hfOy228GjCEkzfF9AmYL8cwf27kpMCLEThIIB8imjl1KhoGzWpKk07v49uyLlJZZxCWkEQ4RoqYSymUfJ0TElI7MK4Ve9nOq1IVLSM+xgnCfB4yWUYEYMQTJXKJHy0q2bN0jjduzQLiU5SSmvVlJCfIP69fLOnN6za3s0XEY17XrHOq2ZDaOYGizUGK0vvkoltSaMQwllJPuopaVllAUvT3OC1gvn169akZIYXy83NxgIwEEITxV/sKCEMYkJ8d27ds6tU2P/np1nT580HMCZOSOkp5MSgka24nrHKGTFXuETMEZx4nSNpf2Jgq3j5ued3bBmTXwggIXAVklyBTNihJBSJiQmNmzcQBi9ZfOGkqLzjlMuvEcKjFMqLZQRSgaCVjAui+GrW79pq3Yt23Zs0qJtjToNUzJy4hJTpRWUypb02mi27fLifHRWwm3UuEF8XLwRxgjpaeyJNKLSYyiJZepYH5KSkqpUqUL8TpRUm5iqVi3Sy6BWrALhsIw9gdhIsqJzc3O7du3aqVOn1NRUFXt8mdTyiStLUdLBNLWGJX4KwIdM2FqW5boupfSIUkAmtBt7oKlASmW/Dm3JoQI5MKGWUpZfIUYraEqhSYGUAprKitkXDKiBDzmAUgAhYw/ceCW9hoCxSkhIaNCgATaed/ZMuIx9SQutjauNNn5cmZSWkVOtZlJKmqInSrGEg/FJ1WrUzsyppuygEdgTenuNLK7qXDdgK+2ETxw5jCuBc2pKitY6IS6ucf36Acs6cvhQpKwUb2W09vomhGRMSEXsMaSSLIEwO1ClWvUGjZvlVKnB2UdjrNLSlAupXS2lNNplOfJSWlJ0/MjBxPgQEXsohEq+TUqvrhAIrVm9Kr7g7OlTTiTCIPv5xhitjVSEJ25mVlbfmwbcMebewcNv6dC5G/1VwTgKjTaCDkpFIgSJjjE1xo3mnT1ddOEcnJOSElFGSBaxVlJUr1alcaP6p04c5cwohSPREx7GUEQNwXqQIj0j84677nn08W80bdE6GJ+YnJ7Zb8Cgrz7+xMhbR2dk5eBItTCSVae1NK4bKad3Rw7ur1e7dvWqOZYU0tPES4Xwete8ebNa1att3bT+6MF9OlouXO7XNGNrKUsbIb0FHBCBkAwmOLgVKyDtgCS1bPw9XOCGVlIbboJ1JHJ4/549O3e0bNq4Y8f2cXFxlIJQwG7bqmVOdsaaVStOnzjqEN9JY1sKBXyo2CMldYUxRgppKYU9CLovvDcpLdelxOhoxLjR3Tu2bN20rk2r5k0aN7AD6GmEkJcgeGJj5XJA63VD97zTJ7nALSspMtzDUst4VmAMK0c7sXsM2w4IIaERoJSSUiFfIl9Ixi9cXrJl/bptmzZ2bN+uWZMmMIC5FB4TwSNFMBho2bJlkyYN161esWv7Fto4TlRrT1264LietWnjWb5RlgrGEz9YcUkgEEqyg4mOK5UKuo5rXK2Mo0T02JF9W7esr1u3ZtOmTYNxISGkkD6EFPRUVH6klLZtIwg31759+1//+tcvvPDCSy+99PLLL0NcHtxIPvPMM7fffntGRgZMsrOz27Vrd/fdd3P6fuKJJ2644Qby4YwIwODgsiuLFuJTvMEBMLy0cV2X4zYDrjFRcqUkh19fFpnIohqgPiCHaNevg57UpC11IIBfTQgyDK8woZQmvPNKc1KtLxZRmXxSMkmpTAUIUs2cud6s8eqXQlwrKCQRUTZp3PjU0cP5Z08LNxKwpIqdPDQWqZRgctHCwtXEPoLL2JQrogMlJaWxEJLpl0K7rqQTTqSksODAvr1J8XEN69dPTExUlh0IWHVY5tlZe3buzM8/R48kjT0nha1zWhTe45mQ9AkjpOcqLNsKBFQgKDxBJIjDKD2djXEVdY0Oh8uIts6dPtG9a8c6tWopqST5/PkQ3qGmWpWcqjlZRw4fKC4qNK6rXUe7LoLgxeAqZUHEJyampGemZVVJSMkwdkgoAgTLeJVgx48HKHqppMg/d27Lpo0piYn1cuvSN09Z6blCpUR2dmbnjh3YJHbt2maciHYdmADHQaiDNdiWFZeQUL9xkzbtO1erVTeUkGxUMCunWuv2Hdu271ilajV2hdjYWFIwtk5RQd6yxQuj4fIbunXmnhcOIrbIkUUXMb701OTuXTop465cuvDU8cNBm9lzaYxERQ0psR2BnxLSSGYNMIwCs4xGI4wFM6YoNkZHw2eOH126cEFGavIdt99Wq0Z1FQsVqRoI2M2bNhk25ObzZ04vXDC3vLRIupEon/UtS0pvkTCMxnimzCtgsIzRRjv8CTovjNbaGMeiS9Hyowf3rFq6KCstqXeP7unJSRZiFCrERleIiz/EcVKFgqEunTvVqVljzfIl+3Ztd8qKFRfcgqFmWpUVe1DPdR0phWV53eVVCG20g71qJxwtKzywe8f8OTNr16x664jhVapVdbFqTye0BZI/ZanaNasPHnRTXEAtmj/r1LFDUnv/QxiWMG40bKO0EMYYpTwljZAuGzaRpuHVxlEoZTuRaNC2A7YyTjjv1NHZMybl5528sXfP3NzaKCYVikkBRWPxnkfGHrJiv5IAkEvn5s2bN27cGCf7ScDFXLVq1ah5yy23PPnkk7/61a++853v9O/fPycnJxgM+pz9VEp+rxYMApCSPvHrAY4MDjkQAMLLvWg5QscecqzYQwXAK6BmBch0XQ2fkpKSoqKicDhMOzJ9kE9Nmviv0D4qciryyfGL/JxrmCp4Mabdu3cryD975MBeEwkDS2oKpIjtupIBZu0JaTQ5EiOTTLjkHfAqBYGPllI6rislJuUeP3qYs3Crli1yc+sKIekz3LIy0hs2qIcD3b9vLzsb1il5lMLAYs7N0BTA2mCXQhpsEbBghBJSmhhhhBSUGm20h4BtXTh/fsPaNenJiQP79Y0P+ZahRKya4PHsm6vDxLatW549dWrPnl1ONMJoAvpBqo3QxlBRSktZtiJG5vuVVEg3UgpJiQevBg0QrRme8kMH9u/bvbND2zYN6tcjzy/Fq0EHAlab1i2r5mRvWLv65MljmkFTiqZSSkyF0dGaPCEsW9pBYQVYdbgT1wip2BWClh0QUrqu1tpIIdxw2aF9e3dt39a6ZfPOnTpyg+GNhNHwQdZFA5Kia+dO+EqCplUrlhXke/+yRynWN0uZeWR24C4REAMM/HzX8gIZZbQrtFbaVa7eumnj/r17unft3K1rx0DAoudSSgSRpKem9Ovdu327Nps3rNu+ZWN5STGjTAWNq5DeA10JKK9hDYTQQhibQaCmjpYW5i9dMLfw3OlRI4czKcFggFb0V8RmWQrhQwvLSG+v4gp/QP++QVtOnzpx765tTnmxdPmgxABFtY6yHr3+GNcYNiEEeVBSWyJqnDJbRg8d2DVn5tSEkHXrLSOaNW8qUUMiwVPPm3kmRmC3OhQKdmjfbmD/PgV5ZzatW1VeUqhQDcQVAAAQAElEQVSj5UpoSxq6AKRgzOmH4DFSAiEZAEW51EIxWY7LZNFw84bVO7dvat++VbcuneLi4lHU0KYy3v9euexT01LKTp06ffWrX8VL3nHHHa1bt87KylJ0UwiKxP+dB535Orp8+XJuXVetWsWtK+YN6MEXoSMKVbgZad+2bUIosGPLxkhpkTJRwV2e1MoAI5hXz5VcXHIS2s8xQnrAPxjpVRL4PmH4mlm8c+d2LOzGnjfUrF6NEtaSkCIxIb592zbJyYmbN206c+oUkSSiJQVCOBygpIiRwnuk9+LxRoLvs4QyHsj3ymlIjOOZqxDHjh7Zs2tH29YtcE9au6wEjYYeL+yYyuhvEhMTOnZoj/GsWb0y/3weuZZlUU3D1LIM9m8Er3grVyhNvCAQh6yLMD433oRBtQvnz61etdJSsnv3rtnZGYbmcPRKBfralqpWNadb104X8s+vW7069s8VaSQUFQwjoYUQrDlp2cKyNYKkknZAWUEhlatZ8VpIKZXnpIwx5/LObtqwPi0lpX+f3sTFSkklPEYGdY1wXW1ZFqPH18KRw4bWrlV984b127ZsxuAIsozRUrgSacIIb0yQLDzCMGVaxPJdTyOYyHC4fOeObevXrKlfL7d//77pack0B/4ga9dRShB2jb5lRJ0aNYhwjxw9bLSnhNYafUlj3N9NYsZDWOfGCMqjSppIWcn6NSv3bt9yY49uQwcPSkiIU/AVgl4YgZYeYAGthWQuhLKUsrp368oumH/m9Iwpk/bv2akjZcbFRVLIrBGwM+nG0B08FpuycVysV0e0U3L8yP4Fc2fmnTkx6tbhvXt1s7hbRYLkDwnAE8WPVIqepCQnjRwxrHPHtuvWrNq5bYt2wspEbSlwl8q4pLSTQoOYphIuwjMHKhhbSk8l7ezctmnl8kVNGzW4Zfiw6tWqCqHpgRBSUEtc+8cYo5Rq27btgAEDmjdvnpKSEgqFGGuAMMdxSP+FwDAqcBk1/CLNVq3U0aNH+Qa1cuVKQkt6VwEhmCi/4r8mVdiobdv16tXr0bXr0UP716xcVlpUEFKW4OrFU6lCPwgTsw5v2r0S4RHkACUuPpFI+cYNa3dt23Jjr56AeMEbKaWw6FAo0Kxp48E3Dzx54ti8ObNOnTxBQ5rBl1iL1IefE6Ol8bwkKebppRR5MMaylOPwWUYfPLB/w7q11avk9OvbJ5NrGksxnvK9RimFiAvYLVs0R5+D+/ctmDen4Hye0VqhlZRCSiW9R2DrwvOPBm8Xg6j8SGbK8y+lxYUb1q/bvXsH3Lp06cLQVa4FDeekxMSeN3Qf2L/fmtUrFsyfe+bMKYNaxiAIzf25F0Qq0nKF1JJVKrUwWgiprEDAu+2yGFCj886cWb50Md8x7rvnrm7duhA+o4VET9jhGajv0dq2qa0bN2742CMP59auOW/2jJXLlzCJEn/hV0M6gAbCMOweH69DrH8BzeYxf96ct8e9iYu/bdQt9XPrKCnQgfUGBCKVInFdl93ooYfut6V4Z/LEtWtXF17IpwBOtmXBR7znQZCQjKYnUbvRcMH5MwvmzlqzYlm71s1GjRhaNSfLtqTFkNN3Te/f09jBdQnpJcJwtzD61hFPPP5YQsie+c6khXNmHD96oLj4gvS2AccYnKZWyoMQjtGRaLj4xNH9i+ZOHz/2Jbe8+MH77xk6dGByapJioKgnGK53ZRlII5SUtpJ169Qk8Kxbq8a82dOXzJ/HJyAnXKqwPrpgYt0Rwuum9+e1k14RwYSmTkH+mZXLFy+cO6tqdvZXHnmwZfOm9I6KRns1xWfzKKUwJyv2MFPMkf9KPvigcYrPUBevh5XZG+Nt5K6rfeiPGwelLBTmyxUfo8LhMOzoDqmOPXCD/pxRuTsXjSYtPa1n9+51q1Vbt3zFzk2boqUlIUyYEMsox1hRYxsrjo3b9aItSyvLKNuRVkRYYWNHZMC1gvTKiZYfP3Zw7arFORmJN/Xpnp2RIrEUITFCI22Qkpw0ZMCNvTq32LFx8ea1C8sK8lwnGuXkJ2whhbKUFgZ7NNidlBozFEIrVoDtCoIvOCgpJBGgrR0RLjlz/MDShdPyzx666abeDRo0ZJSl9wjJ6hT+41UXnifi9J10c//erRrW2bl+5e7N66KlBUZrR0tXhlwtqGdc9HC82IGdzWgLRYxQNLYCEddYhEPhsoCO7Nu6YdPKxZ3btb554ICklBQa2UJYQkoSeiECQlpKqdw6NUcNG9Smab3NqxdtXLkg/9RhGS2WOhzrmRBKusYgj8pSBKXiW60lhbCVEE44KCIqWnL22N6Vi2fu3bqmW/sW/XvdkJmWJmkmkaakshEieFdSSmVZuCl6b3E3ev/dd9avkbVx8czVs98+vmtTWUmRdwLQ2kZ/HVVaK6OVFBIIE5KCW79TRw8smjd7xZJ5OVkpt40a3r1Lx6BtKWoYwQJUypJSKWUJgUyVFB/frUObO0YOTrDc2VPeWrV4Xt7xQ05JoXQj0rhOJAJjI7g6YGcMKpVAJ23tRovOH965ac7UcSsWz2zZPPeuu26p3yjXCoaUCgjhcVaKnovKT0BJ3LElhaUUfcNybh7Q77EH78mtlrllzdKZk95E4T07NuafPe6UFbjlhSZSHC46V5h34uDe7WuWzJ0/aezm5QtrZCTfP2b04IF9M9JSbMtSUllSWlJJyTAiFygES2EsKYQxQTvQuFEjBqFO9fRFc99ZNHvq0f3bnZJ86ZQZ7Rqhw1FXS0tro6TQms5GLFEWKTt/4ujOlYtnz5s+sWaV9DGjR7dp2TY5PllpaSPLGHHxkUL6uPh+TX6UUlJKUsuySKFhC0Hq0xCVIIWRQvgQsQf1tBAViOV9+gQuRhhtDMPkalFUXLp1647Vq9YdPXL88IEjG9Zt3Lt7f3FxGeuluKR8z579q9es37Bxy8FDR8tjYxrL3Ld2zfrDh4+WlZYLoRhv19Hn8vK3bd2xccPmvXv2Fnr/qxGCnUBr7cLo0yv5oS3QnHxSACGMUEZI45H+nzdgKMRoAsa4YW7uqJEj3XD57OnvHNi7u6ywwBZGCalI8VaaCbe8Nylh4mretWXZCqephcsaKS85ffzw7OlTLpw73efGG5o0rh8IKCWFpL5URllSWsGgXa92jdHDB3Vu22z7prWrly2MlBazqqSBG0xcbbSgiacgQrwfTR4Db4zHSiPJsT0TLT1/9vj82dM2rlvevWv7Xj26paWlUZtBlJLfCvCCtlJaLDrTuGH9+8bcWbta1rIFs3dv3yzcsDSu0Q5WJgyjIS36qo3RsU9SxlNA87iuLaV2IkHLHNy9fcm8Wckh+5ahg4mOFcIkbTxIwRvjY0nljUlcMNigXt377rodt7J57crF82aeO3MyGi6VOiqMo6QJ2KwiT5bQjtB8eyHCNDpSriNl0fLiQ/t2Tp3w5vpVSzu1az1y2OCc7EyBJujmqymVrPQIwQs5Kj4+rl2bVmNuH9W4Xu01SxdMHv/6mhVL804dj5YWueUltnakLpf02o2YaFm4uODU4YM7Nq6bMn7s2uWLEPTwg/d27dwhOTE+4DkVS2uEeWzhH4NgOi0lUpOTevfqce+dt9fITl82f/Y7E8dt27TuwtmTbnlpQLhc7QkngjvW0Wi4rMwpLztx5ODyRfOmTR63d+eWbl3a3zPm9qbNGisrxlliXygfQ0wGEyaEIKVcSW9MKVNKWZaVmpLcpVOHxx5+YMiAvkHjLp8/e9zLL0x5843pb4+b987kmZMmzJj09pRxb4x/9aWFs2aISNltI4Z+7SsP9erRPTM9VcJKkXgM+eVNCIs0BnyHN9ci9iQmJnbp3PHeMXe0b9ti6+a1E98au3rF4lPHDulIqRspC1hKuE4Am3LDSkfcSPHZ00c3b1z1xisvLF+yoGG9OnffcVvXzp2TE5NhZoyR/sOLBym8npGKa/j4Ei6TvleWEgJI4Wki3vu8Owjvzf+kb65rXM1CZ67soqLiFStWvvDCi9Omzdy0ccv8uQtfevHl7dt3FRYUr1yx6s0331q6eNm4sW+9+MJLmzdtLSku3bRx89jXx86ZNfvA3v2FFwqNY7Sj886cmzFtOli3dt3MmbPWr1/PedzXBhk+cc3SS4z8ofHTi3m8CG/ULr4mJyf26nnDnbePKi8rnjvjnX27tkXKCoVT6paXKMxCuKyT2HwwxsYS2jbaREoCIhIUEbfkwr7tG6dPGHfi4J7+N/YYeFPf1LRUGWugYc8UGPYs4zgOPWzWtMl9Y+6qV7v60kVzViyeff7UIRMplY6jNGyF0lpHoDUxnS1FUMmAlLaOykgpqW2ccEn+icMHZ0yZzOeUXt26jb51ZO3atWCLXSLqQ2EEulgEJu3btrl3zF06XLZg1jvb1q92ivKsaKnSjsYfM8/GCGHwElIIL0e7OFCDi8S7FF3YuHblm6+/XFp0fsigmzp3bB8fChitLUXd98hEfTQhDQQCbdq0fvSRhzq1b7Nj84Y3X3t53cpl58+ecMuLlFPuhotNtDwoXUVg4pRbOixdXGQRFdasXDJh3BvHjxzs27vnIw8/nJubKyX6K8TAmfQy8NZ5ly5f//rXx4wZEwoGZr8zYexLz5JsWr3k4K4tZ48dPHP0wNF9OzauWjpz8lsT33xlyvjXSi+cHXP7LfgUOpWcmOAyDgiQCpnivZ1DOv0CfC64sVfPn/zwe7cOv/ncqWNTxr/x5isvIGvL+hVH9+/IO37w9JF9R/ZtX7N07tQJb4x96fnFC2anJMQ9eP9933j8aw0aNQwEQrYdQMgnB0KpzJA2bNjw7jFjfvSdb3/9wYc6t2xZfOb05hUrF06fvmz2rI3LluUfO9asTp1H7rnne9/5zm233cYX4YSEBNSm7WXA8FJ6MVUqMSGxY4eO3/jG18fcdWd8yJ49Y9rrL/9z8luvb1y55PDurScO7jqxf8ehXVs2rl4yfdJbY195YerECW40fPttt33zm0/wXSU5OQlu3jB65gT5ZQELzLJsJ+pqbdLSMnLr5hYWFh05fKx27bq1atXevGnL/r37N23c9OI/Xzx35tyNvW5s3KjxgrkLJ46fuG3ztimTpuzeuatLpy5tW7eNDyWEAiElrOVLl02bOs24Ird23ZMnT65Zs+bUqVOMJjMFID43YELe8vPkGSGlSYgPDRrQ/3vf+mZKYvy8WdNmT5u8d8dmEy60dTnxlxu7FvRcpHZt4Vg6YuswLvLI3u1rl85dMW+6CBfec/ut99x1R2ZaqjDuxVXmm4uUynssnEvAtls0bXz/naNv6Nhm27rlMyeOXb10/umjhzkG2q4TlJ5zVK62OTBqo1xXuZE45YREJFyYd3D31kVzZ3FRFS4tuu3WEY995aE6NWoQwtEF2OMuIYwxpJXAqCqpLCFkfFyoS6d2D9xzR5Itlsx5Z8HMyQd3bgyXFFAWsKmhLWGk8cJM4uigpSxeyosROn/mlAWzp4eU++A9dw3o3zsxgWOrPPJX1QAAEABJREFUsKz3BCMi9iAMoAxvlmVVrZLDcfi+MXdkpydvXLP87TdenTl10trliw/u3obPOnfy8NnjnvPas23j0vmzZkx+a/Jbb2xZt7penerf/sZX77/nzipVs2EFH79TcIbtR8EvJa1Ro8att9767Se+8fC9d9arkVN87tTmNcsXzJw6edxrU956febk8RtWLrlw+ljtnPQ7bx324+89efuIoTWqZoVsxZTZtq0UJ1MhJG+i8iOlRBlSEBcK1qmec9+do3/47W/cNmJwTlr8qaP7163gtPr25HGvvPP2awtmTNyxYUXZhTMtGtV98O47n/zG40MGDchITxdCWnaQQ4L4lA8jwDigQCgUl1un9oibb/rW1x/72Y9/+Ltf//J//t/PfvlfP/ntr37xy//+6Xee+Pqtw4c0bdokFAohQcYeiMsAzpTGKvpdpptMXJURw4Z958kn7rljdPOGuUV5p7auXTnnnfEzJ42dPuGNBdMnb1y5OO/4oZo5GaNHDv3+d7995+2j69SpzQgJKWCFT0dbOAOYfxngOloK5oeFK2wrkJCQlJKcWrdubq3addLTs4yR4dLw7u27D+w5kJWRVS2nWqN6jeKCoaOHj+7Ztefg3gPpqRn1cxtkZ+akp6YTkofLw0cOHb1wvqC4sLiwoKhOTcKh2nAXsUdrLwCLkZ9HwoSqS3I413kOIisjrW/vHnfdfmuTBnW3bVwz6a3XF815Z/fW9RfOnsQ3RctKdKTMREujZYWF504d2r1t2YJZ0yaMXTpvZq2c9MceumfksJurZGdYtiWlElLQH69vUhiDHF+clNqwFls1b/rIfWNGDu5v6ZJFs9+ZOvGt1UsX79257eyJY+HCfBktl05ER0qjpUVlhQSd+3ZvWTd/xuTpE99av3JZRnLC3beNGjl0SN1aNYRwjEF54z++GNIKaCMcLajhOq4ROjEhfmD/Po88eG/j3Fpb1iyfPvFNPO/2zevzTh0vLcp3I6XCCZtouVNefPbUsZ1bNy5fwhF/0qa1KxrXq/X4Yw8PGtgvOztdGkcKV0otOYVVSIoRdJJeA+/NGFuKWtWrjBw+5JuPf3XIgP6ZKQkH9+yYO2PqxLGvvfXai2NffPatV18Y+8rzE958dcWS+ccO7svJTBkxZODXH3ukX++eNarmKAQYAzfYMpKkHtuP+KPUXBropKSktm1b3X7L8CcffwSMGT2SO9P+N3a7uX+vETf3v+f2W7719Ue//cRXye/SoW1GerIlNBcCxjBO3lQZoQTzJz7k8aWgVyig0lPiu3ftcM+do7735Ne/9fgjd40aPmJQ30F9bri5b89RwwY8dM/tT3714W8+/sjokUNaNW/C/SZmYamAMfiSj+T/ISKFoO9+vkvAa3QgaAtpMjLTWrZu3r5j2169uvfq06NDp3ZNmjWuWatqIBSksjGGVgwdBK+XgWWxUXrldE16v+jHVY9MSohv07LFHaNv+dY3vvadbzx275233jZs0MBe3Qfe2H3k4L4PjLn98a88+OQ3vnb3Hbd16dguJTnRUtKiW8gzsTGMpUqR5TH94vyh4GehDD3V2mitLYWvNMUlJa6rOeJIo8LlEe26Uosq2Tk5mVnnz5wrOHchXFqeHJ9Uq3rNGlWrJyckR8oiZ06fiYQjgDNefDA+MT4xKSEpMz2zVYtWAwcO6tqta3Z2NpqjPzMF8bkhHObrgi9NCmVZypLKEsFQoFPHdl999KH7xtxWr1YVbhLfePnZt157adrEt+bNmkpgNXfGlNlTJ41//eUXnn5q3oypIemOHjHk0Yfv69q5Y2Z6mrKwDCmkFAJuSkqhpFDkCcGLUpa0LCkkW26NGlVHjxr+7Se/hmsI6OjUCW+9+MxTr7/03OS3x86cOmH+rKmLZk+fOWXCxHGv4VBeef4fWzeszkyJv//u27/59a/26tktOysdx6ckD/yV//ACRKVHKolMZVl2IMCx2rZUanJity4dH3/0wa898mC1rIzlC+e8+OzfX/3nM+9MeGvu9CmL5s7k4m3q22+Sgz7zZkyJs/X9Y25/7OH7e3TvnJQYrxBpKYkLRJKKdayyOEn/LJ5YIWJFwGLJhbjAGjF08He/9cS3n/jaXaNv6dmtU6Pc2tkZyVWzUxvVq9WjWwfi3B9855vffuLxITcPyK1TMz4+aEmtlDdQcFNQUlaS8+Ek1agMpJQBy0qKC1TPyWrZrEmfG3sMuqnvbaNuuWXEsGFDb+7Tu2fLZo2rVs1OTkmybSm5cLDplbEsCQcZe4R8jzhZ6fHqIF8ZaYmALVNSEmvVqtayOVJuGDZ44Ohbho0aORhxDHLTJg2yMtPjQ4GARXtBQ4UwgyeSMPjkoDFt6Zdt25bNlz2jgpawpcPClN52ZLzBwjUKVxpXuFQG8PdTiMsD/oA6pDSxFLwlQxKwRFJCKDszrXnTRr16dBs8oN/okcNGjxwK0aNrp/atW1RnDJPiqYkdMJCkPgc/VZ9s1sRn/6CPlIq0QhQ0qHi9BgQe0SJwMELqvLyz+/btPZ9/bt++fTt3bd+2fUskGjl16kRubh3sr6S0aPqMd9auXd2uXZuRI4e3adOqT58by6Plc+bNWb9xXThavvfA3l17d7Zp37pZy6abtm5atGTR9h3bCwsKcZHoyajijiE+O0ghpGB4SPgRiGNmxcXHGCEoQA3JKq1WNXvEMBb2N7/1xOO9e3RTTun+bRuWz5u5YOaUxXNnrlu5xCktuLFH169+5aEffu87Y+68o25ubjAY5y0dZRHBeTYrOL9KIWAqvAf2LBBSTSZy0UOF4kONGzcac9eo737ra9//FjFX76SQPHpg16plC3CU+OUt61eePLyvWk76LUNvJij7jx98d+SwIXVr14yPi0N7KdA2tgTFp3mMtpSqXqPGgAEDvvXkE9/5xtdGDuqXElQHd25ZuXDuvGmTViyYs3/75tQ4e1Cfnk987VFGYMSwIbVr1whY6lJnhBHKCMyCvnyMaCMEy1kpkZQYV7Nala4d290+6pbHH3v4B9/91n/9549++uMfAmKWEUNv5lNM9ao5iQkhBW/WO0I+hvfHFhsWh2Up3EsgGIjn1BpkH7TpiKUs6XVGiospkwV4FZ/4kULKisow5WNdXHzQB2KC8SGEKEUVLNzTRHkNyJAQ5F45JNGJdBlX3K6UjmawNAeiKKGIlMqysI0rZc50aSGAKwTw2RCcymDADoSCoYT4UEICnWQ8FfbgrRpjdOyEIQzjIeW7Y+I3/uKkn6lqUjB0HLMYNG0HZKPGDdiWO3RsGwrZbdu2vu++e9p3blerbq3ho4aPuW9M3QZ123Rofdd9d3Xs2jG7WtbNw26+94G7W7ZpAb7ytUf69u+dmpHatEWTe++/Z/jIodlVs1LTU3Oq5BCfGmNipwpkfZbjWmmkmGGEqkvSlPGs1yLVTLf0nlAwWLN61UE39Xv80Ud++J1v/vd/fPcnP/jW9598/D+//+3//sl//OgH333i618dOXJ4s2ZNQnEhqWzhcVBGWMryaNgIKbEaRpBdX3rGR/eQqIz2MqRStMIGExPjmzWuN3zIgEcfvve7T37tP77/rf/84Xd+9L0nf/jdb/74B9/+2X9+/5tff+zB++/p16dXrRrVaSQlHkrE+CNOGYOQS/24zG+sFnWNsoRUjsN0Btjihgzs+9iDd//H95742X989z+//+QPv/11ugnx3Sce+9rD944cOrBZ44asDksJaSNLC+mJNoKFqlzhaXIZmQyxV8p3f8Oy5s0opeJCgaT4uLSUpJzMDO46EuLsgC0tKSxEeEoawSM9ziZG8nZFkEJZWiom1KAnBKpLZbxMi25QZKQVA8MoDRKlJ158gofKWiotlJfGGhoDEyUQEYPB2RjhGBF1NLKElNg3UFIo6ourepgBJCEbMzLaLS8tPXcm79jhoyePnyjIz2clqZiVMNyIgSb95IB5DFrGLFYKKYQyWmgjzp2/cOjw0cOHjx48eOTgwUOHDh85evTomdOnHc6VDJ0hnKUVXf/k0j7XmrLSc80FG8GJRDC3ro5mZWf06NHttttvvWlA3zZtW/W/qc9dY27neiQ1MwWv171Xt8HDb+5zU596DXOtoFIBmVElvVffXoOH3dxvQN/BwwYPGjKwWcsmKenJjZo3vHnYIF47d+2Uk5OjNSd417KsTzunn7az3jhdasMaDAQC2NvFDM1nDHoZs2/K0EkqGVNJZmamt2jSsEuHNgP79RoyqH//Pr1u6NqpZYvmGRnpAdumPdVcLImVI62o9jwIa8O3F4lXAUQAntlRVwqPr22Eco1kITkIk8K2DEhNiW/SqF6Xzm379+0xsH/vm/oiqEPb1s0bNKifkBCPLAZISngZCRNpuaxDAgk4wPgjIC/mx34k/ZVO1JHKsgJBQ+TmUTIzLZk72S4d23AzOKh/bz7X3NCtY/MmDbIzUm2JLFacdvCsWtMORiivhdKMFS+XBaqhKmorZSnLQnmjWcg4Dy2MQDclvfDWsiylFGMOM1JsDriuy+sVw0ihkUCX4WwkE4TAqGsiETdGe/JdwWQxnlJLaSpJQjFQKeODJA2V6w0CPteDUZ7P1dLSkpkVxWXh7bv3btq8dcv2HRs2blq/fiN+JRp1YGS0xsFBXBlQzBLK0oIJCBhVcqFo1dLl//jL3376H//521/9evL4iYcPHGayjDHeaMdSiE8jy1ycWH6BEHzHZXxKyyPzFyz67e/+8MMf//THP/2v//yvn//0pz/7yU9+Om7cuJPHj2mHcBZbZvb0p5H1udaVEitjn2IIr7lcZjWqjWPZyDCWJeLjQ/EcL+KCsTTAOSMYF7SD2EZUSB2KCwZClrSFa6JRN2qkDhAuxNnBhGB8UnwgPhBKDEVNNMKH3KS4+KRQMBSwLG+NBGP/B+zRaPSad+BdhtJ7hHh3lN7jKIUQxjMLyUAKSW+V6zLxhqGlCLCUdJQczRqmrus4wmilsHmvXYwQCpenvNSrz9+7QKqqeMOahJSWsiwSgM0bLaRQypKKmiJWQeDHqSGlcKJRy7aNMdqTqBRZgurUlQFL+a/iox8Ee0wvVlB2MARpjCFfoDtQQkrJH15XWhalKEAFTwDs6ZBUdiCo2Aa8pa4EVYXgB4jLPlJShSESLt5Js9yklMJSSgqj8b1uNBpxeLwjIwwVoqWAMWtcKMsKik//oPZF6Ngv/lCY/AsXduzYMf7tt994442JEyds2LCuoLBYe0MuhPbnk9Sb/k8q0Bh6RS+kEEB4T4wDiWYnMOvWrfuvn/zk4Ycf/sbjX3/ym0/yPP/Pfx4/ftwYT4qUlxp5DT/1H0Jow8heuHBh6uTJv/n1b1YuX8Fw7ti+489/+tPYsW+cPXvWn0GqVRDQnwx0yxIGDT2grow9TFooLi4QCCYlJSYkJDhRZ8u27dNnzNy4cVN5OCqVpazY9NHgk4n5/GthwDYhnLDpHbRk6tCWGWH1Cf9Hs4lVIDbH5nju0/sAABAASURBVJOkcLICAYY6iluwpMAtSOPyH7u/ZRzpamUc7IK921LStoTFRqupoAKWHbIR4RpPNGk4GkYBht8K2NJSjiZeMI7rshGR78BGCTsUoMk1gYjZsZBKCCadGUR7BLP0WKQXL6MwWoqF/6C/VyKFUlJJSZ8lrRUd9Za3UKo84pzKy9u+Y+fOnbvCESxDSqU8FtQWQklhKy+F8CGFALEEKQpmMXgZylJKSR5LyoCEVsoKSgVpKysgBGwpRLRwCX6EtAK2tzZiTTyJNJFSSaHkxUd89COFqACklIrUGGHJi8BUEFJaHi7mj465zJ+QFl8MpIhVVsoCUlpS2YFAnEBsrMASAkhxuUdKr1zS2IIJooVS7EDuuXPn9uzevWnDxs2bNh89ciwadYyRdFZKZVm2UraUlpSKhpfj/t4yRgZUymPMNIu+pLhkxfKlL7/0wvi33nz11Zd+/etf/f53v128aEFpcaHAOFk0wtszUBRUav4xJH23TMzMYOLhot2itHHdgvz8PTt3GCfatUvnEcOHjRwxHCI1NQUNNcvyU0n6gCLsOggLO5Gt27dOmzHt7Lmzw28Z8b0ffO/+B+8XSixesnjv3r2RSARZH2j6sRlopoS0LkEJIZkyIUwwYN/Yq8d3v/vkL/7fz3/2Xz+99967a1SvZllW3dx6aekZBqMVdN2SiibiC/lISwbiAom2CinDLRKHJUtgIN5OaYQ2RhgtDScdH67Rjgc8E/goulIRDYySnPNc4UALeEvXUMFoKWFlyDESadoYwIhpIx1XR6KOpsxIyRhqI4VHaNe4juvTRguBq8GUpdBCOlq7nmKo5DF33kOTQz6AABAAAkD4gAbv0vA0nmjkWgGL2Dc5GEhQ+DO6Y6Q/nX4qPvhgHFJKYwyp1pqte8mSJc8888zPf/7zp595+vTp0xTRilLgEULI90J88KlcI1Z6KePS7yUe8IR/YWHh+fPniQ7KysrIQQ1SQFGs9cXaPv0J04q2PmG0LikpYV0tWLiQM9TESZMWLVp05MgRx/GuQkRsBC5xflfJd6lLZZ/wl2qI27x5s/+/+P/3v//9r3/964QJE44fP04RY04qRAV78akeRgbQhK754BU4TpSPxU2aNBkzZswDDzxQvXr1xYsXL1q0kLHVrmshlUox0PYTIlYdPYUw2LjglYau6yJXCgnNwEaj0UaNGj344APfiD2DBg1KT0+nJs6FClcDX2U47Nq1i407IyOjffv2LVq27NKlS7169fLz8w8ePIgyVKOOiWkI8YmB/hXwGqEzgEpOTqpZsybi4uPjEXH48OH69et37tw5JSXFqyBlrOtU/ILCknbACsZxsrWCxlVSK3KUDCgRsGTAJjUBqwK8fjmgjJJGSCltKxAX5HtEvBJ4fHxjbEJJ5EV3KT740AwLA1gbrmrs2LF//OMfJ06cOHPmzLVr15aWlla4rQ+2vfoc5CL0xRdf/M53vvOzn/1s/fr1iEMT0mvCnN7BDSnFxcXLly/HW+G5Xnvttd/+9rc//OEP//GPf+zZs4dSZFGT9FrBcRz68qc//enVV18l5Ondu3e/fv3q1q3LzcvVdw2FAQpXgFc0Zxn36NHjjjvuGDx4MEStWrXwm34RpVcGmgPaMowAiaSWZUGQT194RQr7K7vCli1b8CnsEGTSBFCB9IrhS2EAz5w5g1tMjT2Io6dpaWkIKigo8EWgDJWvWBAN4YDHhwm9q9CfbzizZ8/Oy8tjBlu1ahXn/xsMKakvpZdCfPEgWe+2FYoLJSYlpiYlpQaDCZYK2SrOVvGWirdlXECEAjLoIyhDQRkXS33iQ+nLFFHfB3XA5WlKqQMgAASAABA+oMHlaUqpAyAABIAAED6gwbu0118rmBifnJyQEheKs5Qlhbw4fYZQwCPxmt7PB/+wM29clVcB+wiFQmza/ft7/4Og5AMMiFYQpNcWcMbWV6xYMXnyZMxx+vTp+/btY1WQj6BrIhFWdBBugK61a9fuK1/5yre+9a2GDRsii81g06ZNLA/q0HfqXCsUFRXhl4nNCXzuueeeW265ZdiwYX379q1Spco17BdqE08BCHpBZ+nF/v37Gc9XYv8vVqpVq9a6dWt8imV5/5KGCj4+VTdhTn0a4v3Ly8u5TCBExXdAIDoQCOC+8I9Ezew9HESYx5MnT1KfnqIPba8SKBAOh5GFn4IVnDESegRzek0pOcii6GoAB/oCBxgii5TzzbZt29hKCSe7du1KgEkp1QCl0F9MeEvfCGmUrewgB8xAQkpCWmpShodk0vT05Mz0lKyM5ItIT8pMT8pI91Kf+FD6MkXU90EdcHmaUuoACAABIACED2hweZpS6gAIAAEgAIQPaPAuzQjgIhP4kGQFLeF5SXnJUXId4c+m8n9IsSofWAOmz6z7r8w9pjB8+PDHHnvsxhtvTE5OpgL1/QqUUo3XqwFMAGxJ4Yb14604kBK3ZmVlYfToQz4SkUId0qsBfCqQmJjIeQ1v1b179549exId4D6IR/Lz89GHalcpDrV9VSFgxWXC7t27SWvXrk3O1q1b6SkdpIhXv+YVp2hLW9QmGCeO27hx4+rVq7lVYNchslu1atWbb745Z86cvLw8JpHPEQilvi/Xp3n95KChD9qeOnXq7bfffuqpp7ic4RyAE6GD99577z333NOnTx8mceXKlc8999yyZctwqX6rTy7ogzWxBzoLrFgMi8FU5OArycd1BoNBvyHifOKK0woOiIPm3omB5SxC6ADYaJGId4Y/BOkXGFIKfIDksZRtqQABpgcVtFXIUsGgCgZUyEfQCn1JECLKtuICMsCJ2xIWqfCf2GAxXqwp5eeQYgFYPGAQsWasgXMNAQJhAkW4j8zMTGxCKYW5UIdMvxUpr6RXCZgA2CKR6IPrpxtuuKFOnTq2baMV+Sr2QIArloUIHzCDgDmdYiVDsN5wkaRsDDk5OeQghTqk1wp0DRfMqsZFEtz97ne/+9WvfoV/IYC9VoLwFJzun3766f/5n//htuStt946duwY09erV68nnnjiySefHDJkCH5t/PjxuGwq+127AukMIG39uWCCGDp6B2ciSlw/IfMjjzzygx/84Pvf//5Xv/pV5pEJxXcj0W9C2ysGFggTJoj71tTUVKwUuQR6EOjA9BEy+3UQQdcAxBUDWbT1mbBm2IQ47nBZyQHLPwpQBKjjjwnEFxNSCoBu3q/0HiWVkraSFpBCSWFJL4UA0AACQAAIAAEgfECDj6IvU1S5ycdWozJ1AASAABAAAkD4gAYfRX9IkfJ6LS1hAW9khBSXHsaINyZdXcrhUt77l0AUYMrEHb/85S9/9KMffe9733vppZdYaZgdRawH2pDSSimvLZnQviVBXBlg5fOBOT6a2Gf+/Pnc3OEo4+PjfXEogH9BkF/zygR9aCs4w5MoD+e1bt06dCBwJrQMBAKI+9AmV5yJINoywsR0HH7btGnDaZTrUb4g0XGKrga+tqidm5vLGh41atTIkSMZQ38b4FYBmitRMqtWrcq9IRdtDCkSaegrBv2pQCvgO6y7774ba8Fm8MV8wyHgIoylFFCBKWZDIsrjFRF+CnE1oKcMIN9S+BQ2b968pUuXTps2jQia7jdu3JhphbkviA5CXw2wCphgimwDSKFrHLqRQr+uhu3n3FYK8wHgB4DvVrwV/Tmr9EUQJ/m0bSzpfdLhq87FoZCMinc/yadAg5LvGRrsAGsARATcpnGCY3/m/MsrmdTG7LAMUmgA4cMvJefK4MslBYQGCxYswG3xkZR4AXEAthQhC0GkgJxrBXjSQRYYH6z43s3Cu/XWW3HTSAGUXitB8KEveA28f9u2bUePHn3bbbd17NiRQeYCkS5fvSxGCQeBTyRs5AIUn0ggiYfiLMxXWuaUuA+3QvBFjJmUlEQH0QpcgWja0grQHJ9FEAeIxPHCFOGIJ02aNHfuXC588SzYUvPmzbnl4MhPE601ra4YdBMRDCauij5yV8hOQ2w+Y8YMaDYDwj1Kff6I84krTuEAN8BmRlwM6GOnTp0IJ8m8Yrb/ioaseUa+AryCi4pwH/flBP3HV5JexLtD4mcYz9h8kpQX1hgE64p4hIiSI+Hf/vY3vnJwbiL0wEpwKBCknE9ZbGyzmCxNaEt6lcAcYc5lFmEdARe3hzt27OAwhaADBw5wTkQognyJVymrcnPYIpEbtMWLF/NdhfNphw4dcGe+Ptd2JdAvVhfjjMMi5iK0ZAzxMow5mZW1ujKa8UFtlMcXE74B9EcQrur555/nJM4H9zfeeIMKXMs2afLu/xYZrWj7yYX6lWkFf2hAR6DpBZnwh8D7c/DnYhQfPXDgQAaWkBYRVCO9GsAcM4AP48mU/fjHP+YyFBEPPPAANB/32QMoRSuUAVcji7YVrOhXenr6XXfd9eijj/bo0QMplP5fA24AVGhdmSaT1y8h6PjH4D0RJX4K28IEU1JSatSowX08KQsbV8KHWs7gXB3yZYDTB9bPGsB/UZlWV2mLCIUDVogg3zNykYc4zqQEesRBxJjcBuBc6A2VSa8YCPIVZmEDvD9XTs8++yzBCAER36waNGhAHxFKKbKof8Wy3tcQbtzzcuKuVasW3775HMx3jzVr1hAE4UEYcxbk+5p82lc44ERohSyfJuXOju9USPE7Tlj3jW9847777mN+qUwF6vspxKcCrRAEIGBFWwhe8SBIYYt9/PHHOYnjvEiJbdn8mGWqXSUQ4QuCYNzgjOf69re/jaPkREyw7CtDKfDpK5YIB2TRHIKNhzsZrlzxlUwifSETC2EVVIBBhsZ4yCel4RcJUgiWfAWkiB0wxbuPn/NlS8X7h0FUfhgNb9QuZjG7mBSzi1kACArIwRTwGtu2bePekJSlzsIj7iP+4oMPpkAFvzL1rxg+E+IglvR3vvMdvrAT8rBpI45V16xZM/wLnzIRhG5XLMVvCAf4IBHgkRcuXEh38MJ0c/Lkyb///e+Jpgm76B0VqOm3urIUDn5DCEBf+Ap8//33c0TlAw7gmIw3YamzCJkCv/KVpfCvgM/Bf2Xc+Dh7++23f+1rX/vWt76FOIIvrjX8de7XIfWbfPKUJqCiPnRl0B0ccbt27fCYTB/3pOT4FWgCQXo1gEMFsFJCcrpJSnjOa0VRBfGhsj55ZgUfmNMRpPg5lTmQg7WQkkkKfZUTCp9rDda87yUhKnBRiBTyywkhxfshLj5SeGPCC6NG6gH3wbzK2AMd+5UUkIm34s7rpz/96W9+85u//OUv//jHP/iiSozADRF2Qx3qk14xMCmAREyQHZvtGldy77333nHHHS1btiTQ6927NzEX5yz8MjWvWBANkYK2pPSLV2iE8vGB9YzzIkbmjE8Ye+LECcJbqgGqXSugPJEdvfvv//7vX/ziF7/+9a9//vOfcyWKaERcW1kwRBwpbPGJRHOcD7i844jAl2J/qVP6GQGJFUAWwFQYbZRBop9CXBPA7X24Jmw/ORNy4RrjAAAQAElEQVT6xVADCACBdaES9Cdncr3mF3kE3nWUaMll1s6dO/mg4R8fmGwyAa6EL4l8YeTyDofC9we+RRDiEVpi/RgE/otqVww4YFKkPgd4ElqysIl6iIPwyIgmXqCUtVdRjdcrA3ZMQ58PXcAjcxvLFd4zzzzDTSXHYQ7FBF+crRgBQOVrBbqGXPwUGwCHRD4IMLB+JvnXSkplPnQWMLxIgfCL6JQ/xf7rZ5HCH6tAEEJ9IKWCgL6G8NlWTq8h849l5feR6YM4duwY383oOKNNDiDzYzlcr/DFH4F3HSUzShj16quv8pmSSzpUx/LIBNCsNJwUcQE0gMAIADQpZgFxxYADbSsEQSOaTEJIPisRV7Zo0QLp5AOKSK8GCIIJPYIJbPGVhFqAL92AmIszI2EXfaQOoNq1AnJhRddIfRr+6ECKVn4+RdcKMKwAPJkmXn25vlAyPyMgC9Av+CMUINeHn0P6bwB6RNfwjEwfq2b27NmzZs3iGod8MikCH9PN68X/F0bgXUeJtkSOXMzNnj17+/btRARYOdOMuVOEHTD3EGSSU5FCUAdQdDWAA6xAZQJBCQkJ3OuhGPn+2vbrXI0s2PpM/JRXgFtEBCk0BLJIffpqZL2vLRKBzxnm0D78HNL31b+aV7hVBoL8VwhwNZw/SVtkUY0UWaQAwgc0RdcQMHwfriHzD7JiIeAEfUD7FVgvhw4d4qvjqVOnuCr181k1wK9wPf0/PQLvOkrWLUfdQYMGcTc3duzYFStW8KEDa8ACmHUcB1aOOdJbXgHEdVwfgS/bCGD5gIXAeiGFZo2wUnCRXN0wGnyBZHenCPo6/m1G4F1HyZQTT/Xt2/fBBx+MRqP4ynHjxm3evJlvwbyyMQJsgmp0/rodMAjX8aUdAdZCaWkpMcS5c+fWrFnz+uuvs1hYHaNHj+YGn9XhLxPGB5r0C4/rCn7MCLzrKP0ZTUlJIahkvrmqmz9//h/+8IeXXnpp3bp1hYWFuEuCSgBLDIX0Oq6PwJdwBFgI2D+OctWqVa+99hqfAdeuXdu4ceP77rvvpptu4sobL+mvJlLwJRyif78uv+so2Q/98zVfnHv27Pnoo4/yFSU7O3vOnDl//etf//GPf8yYMWPHjh0XLlwoKyvz/09KGA5sAmA30AAa+ISf+q9UAD5NCiitAK8+KnKuE9dH4IpHwLcl0goO0AALrID/SloBKvt0BeG/si4gCB4BzpEQku/a06ZNY1H88Y9/hMjKyrrnnnsef/zxDh06+P82A+dYAbhdx7/BCLzrKPGS9IebF2JGzuBM/5AhQ7773e9+61vfatu2LRfV77zzDu7yL3/5y/jx47nB3LJly9GjR7EbrAdLwp6wQjgAtlxSMkkBrz5NCsjxAU0TAOEDGkD7Fa6n10fgakYAQwJYFICA1fv8F5kV8Ovw6hOkmDS2ff78+WPHjnEHNW/evFdfffWpp576+9//PnXqVD57Ek/8x3/8xze+8Y3evXvzydFfOywfCARBkALkXscnGYEvcp13HeX7tGSC+dbM5x3/1vLrX//6rbfe2rBhw4KCgmXLlr3yyitPP/30iy++OHHixMWLF69fvx5PmpeXV1JSglvEULAzdmBMDcvDBftGgwheSQEEIj4UlF7H9RG4mhHAugAc/BQzg/ZTCB+8Ap/GUAE0RltcXHz27FnseePGjXPnzuXy8dlnn+V8/cYbb/h3UE2bNmUtPPnkk5y1b7zxxmrVqmHhGHwFN/hcx7/TCODQPtJR0k+vWCnSzMzM5s2b4zGxDDwmX3sINrmUYVNduHAhH/v+O/Z/ZwKBVc2ePRu/ySbMCR3Twf6wIewVGp7QAKICFH0wp6L0OnF9BK54BDAt2vqGB+GDTODTGJ4PbPXEiRNcNc6cOZPPmJycMOn/+q//IhRYuXIlQSUhwrBhwx5++OHHHnvs3nvv5S6SHC701aUHXwlPuJFex7/ZCHiT/FFdwryYdd/NUYeqoVAoNTW1Tp06nTt3Hj58+Fe+8pUf/OAHnM3vvPNOziCJiYlbt27lbpuzCcfzv/3tb6S4Ts7pnFnYinfv3n38+PEzsf8nJ/n5+USmhJ/hcJjrToJQ4MvCiBGNxOu4PgJXPAJYEdZLeIh1lZeX4wcxNq7XOfRggVwZcc+IW2RTZ2vnbPSnP/3pd7GHY/WECRN27tyZlpbWo0ePu+66i6un//zP/8RFEhy0b9++Xr16ycnJ3E1hpSwKUuCbLtpCk17H/+ER+AjVPzKiZMqxA/ZJAEFzcgA0wFDwjHwZb9OmzciRI7/2ta9xEvnud7+L62S/7dixI1+EuL7ctm3b6tWr+QqEOT733HNYIVs0x/Y333xz8uTJXHrOmjWLkzt1CEL5UoT5cuQ5efIk1kxzH3xwLyoqIsXcge9bSVkApHhYlgTqXQYsm8rwzZpWZJICPwcOEACCIpYZRRDAz4Egxwc0gCatgP9KZQj4+IAGFXXeR1D584EvF0188FpB+AqgLTl+PmkFKvLJ8StAAD+fttA+fJo6gBy/ArRPUFoBSt+HiiKf8JtQh+ZMMf6Oua4AZoDj44yM7yPcw04wGM7Lp06d2r9/P1aE4eEHuUnnxIONYWm4P87O2B7naAJGjtJEjsSPBIy7du3CuriU5xx9//33f/vb38aSv/Od7/B9ZsSIEVzQV6lSBefIhxpOVxg/KQsBPUmBn0MKeCX/Ov79RuAjHWXlrjL9HwosA6MJhUKYUf369fnqx5Fk9OjRDzzg/X8offLJJ3GgY8aMGTx4cJcuXZo1a8aNJ24Xyya6XLJkydtvv/3CCy8QdQLcKEEoXxL9vf33v/+971XfeustLs6xdTb/pUuXEpmuWbPGd6z41g0bNuzbt+/IkSOHP/qhlPXDQuKiABfs06SABcYKIbZlvUGjGJf3+F8WIWuy8giwYnn1U4bCpyu/ksOSJoeURQ5BNUA+NKmfTxGEn0MpoOhzgy/XF1dBQ6ASiqEMoJScCvDKLJNPDikgxwf5ZPptGTcGDc/FeDKYgEMDqT+2uDAGnwGvDI66/qQxQT5ROSXo4/aGXRMvxiwz6Uw9gGD22VzxcXxxnjJlCv6O3Rff97//+78EhZxjfJBDqIhdUUq1RYsW4UCZYiy2du3aLVu2JGDED2KrTzzxxDe/+c2vfvWrfLxm1+/fvz+RI3U4WXNNT5fpKSm9JgU+8b7MinyfoM51/NuMAEb+iRzlx3aYBUMdTMdPExISMjIyMDVuNrE5vglyVOeEznb9yCOP4D3ZtH/0ox/99Kc/5VDzxBNP3H777b169WrRogVNON1jaiww1glxAauCC3XcJTEpXhU3ynoA//M///PLX/7yZz/7Gd8cORY99NEPEhFBjPC9732PgJfPlIhG7s9//nP4/OY3v2F1/eEPf/hj7ME7//Of/3zppZdef/31SZMm4aOnT58+f/58vl/hl4l59+7dy3rmBIdfINIBuFRSwk9/EBgB9AcQ5ABooJR328sqVUrxWlEK8fkDrXyhaOIDrcipyMdv0iPiOLYNOogHpMt0nBHg+y/ein2ucrDGlQsgTGOCfvvb37LPMZyk4Fe/+tVPfvKTH/7whwx+ZWADjz76KPfdHzV1uDCud6jGdSHTBFvSX//614h4+eWXudLhUIIORI7c+XCrg7OmC+np6bVq1WLPHjBgACaHefjSmXRYccMOcIh8jRk4cGC3bt1atWrVoEEDzkbZ2dns9+z6DAjjwNoAMOSV9Dq+zCPAErg2jpJBZGkBLAzDwh2QkskrKVEkR3VOLomJiWlpaVWrVsUuc3NziTE513Tt2hWbHjVqFGd2bsqxZhYVa+PHP/4xxx8MHU/HRyRw2223EZxyVTR06FAIwgHQt29fOFwG7dq1I5JFLkuINCkpCV/MkkAfHByBJGuM6AYQ2nA5tWrVqgULFnBYw11y3woITCpA8IsnJUh55ZVXOMrhwQltqM9yJfY5ePAgoRCsYFtUVMT44m4AI8OqYzR8MCb/EjApwBeNSiiGhjhBoj/8IOEeI0DYhSv0B4GusVvQUzwgvQYEaKQAgjHhEMD4sKnMmTOHkJ9djRgQPgwprBgHIjg6zsbJyDPsFeCVSWFqunfvzpU3eN8M4sI4hQB20JtvvpkPKUw6U8+OS9CHJeDs2HfxpOyCbIHsf3x7+f73v48fxIruvvtubIPzDXy4HeI7NSeeGjVqcL7myoh7IYABEDBiqwwISgJ/dkjZNnxAAypcx5d5BLCNa+YoMSyGknUIAV9o38L8Vz+HUvIBRdAUAXwo9orhsnj8hUQ0yvaOM23UqBGetFOnTv369eNAxDrhcp3lgdMk3IAgGOGAzyLBq34UCB6BH1HigllUABeMRwacubit91PqwI1lxuUU6414ByCFxUlQzHqrU6cOiuH38YPcHhBj4h8JargZIMDBseI7CHvxLFzC4mI4G3JI5MCID+XUT5hM1INvIlLzB8QfCkajMgENyKwMcj4IvwL5FQQ08F9JK9O8EgUDTsR48+3bt3M9h4snZEb5V199Fe/vO0Qc38SJE7lZpnT58uUbN248cOAAreh4tWrV2OFat27NgOC82Ns4sXJEADgsH4wh8EeVfY5MBhYXVjmc5JW5YF4I9Jg4gj7SymBOKSVljvCGuEXucEiRiJdkm2RzZY/ENggJmzRpwlkkMzMTy8nMzMSK8Ib4QcJDrAtXSOrbG13A5KAZGQgADXgl5dUHY0UO8F8hruPLPAKebVyT/nuMlHe0VMrzvKQVoAhLBRDAz8deyYH2UwiAJn6FikwMnXzcKEYPfIJMH7wCPCyg9KPAmsG74eNq1apFTMGKwgWTAnK4HGDZ4wRJubeC4At+nz59+vXrhyMgzuXKlRMcSxTXjN/EjeJDWfmscLwtLpUilu6gQYOIiXDrXPzTO06pXIrhcQi4OIRyxife4a4AT4QD4qjo+02cJpEdTpPgjsUJ4b8yFICcClAEeCX/fSDfB6XvI+CGZ8Stow8+nTAZV/6LX/wCTTjGohjqERRzCUhQiTdhQBgBLu84lnIfQpfpLB4Nh+V3Fp9FgE8+bouojZEhvqMyPgvX6Y8AIwkTwGgQytWtWxe2jHxlMAUMFFNDsAk+OIPk+GCumWV/csmB8HPQFjDUPrATzAYaEwL+K6kPciiFhiD1aYaRVx8VOX4mdciHvo7rI+CPgOfXfOpLk37qjrJsWKusZw7sRCtEvpzguEDA+XKgwy9wI8YJEV/JcQ//ghPBoRBV4WIIuDg54i9ozpmUIy0fH/BTxFB8uSLq5PaT71H4MoJN/BrODvj+jhSaFQtQ2k8hKuDnkKIhoDkOF+fLqZ9jL/eJhISI+/Of/4yb5iqWK1eiYD6t4HFQm22AcA8l8YbE5nh8dgW2B06sdIfjMMFa48aNcXM4NSK1irsLmuOtKtS4TlwfgX/7EbjuKD9minFDoKISNOAVF0aKeyIYIZDBkxLs4EE4/XE+xYHybQoHSpx1Do/esAAAEABJREFUyy23EIpyruQsid/EmZLPVSn+ccKECYR43PQRaeLFOOeSidPkbA5zOMMfQQChpGRWBjk4U/wjl61lZWXcM3LGJ5Ll4OzfAzz77LN8icJpohWnVDwjZ+Sf/exnviZcKdx4441cFOLHCfFycnLYA3DodITuIBog15cIgTjgv15Pr4/Al2oErjvKj5/uCu+As6hcm1fgl0L4oIJP+CkeJyX2EJTxdZXDKVEb926EeNzTEXgSwXEmxTni0bgl5JMuTnPKlCl8UTlz5gzuD4Y4LNIPAhdJ/MipmbMz94z+P4h54403li5dyicaLhPx0XhGBHF2JmzEM6IAZ2EiYpTi5Mvp1Wfr9wIawgc0XfBTCIDjJvVLSSm6jusj8CUZgeuO8uMnGu9AJVwD4RspboscQCbwXyH8nIqUfDwL9cmBpi2vEPim+Ph4jrGcarkMJcDk1o+vSUSd+FC+S3BCx+txgfiXv/yF8JAPLzhEztSwQgopr6Tl5eV8Weba8bexhw9HfCz6/+zdd4zWVdYH8DGxY0FXFCvYsDFAREXUsYGyKhp1iBpR0ajRqDHGhsaChhixUGyJSjB2g0b/UaNZY1dcC2BBEY1d7B2Bpe5+Zg7789mBhYF5JvM8wyHf3Jx77rnnnnue/X3n3Hvffdd094ZO/WjRTSKi9OyLMR2cHZZFEjGYDroQGoGRA2QIOVZkTAiEXhvdbDMDK0MGkiiX8StjhADuCJgQmtKWEko1IaMhehMJNA7pZBpdstY517nYPaCnDy9ILgpPO+00r0OKvilTpowb1/B/1Ol52qMzfsS2OAtpegvyKKSEvP/++72/u0w00csSluTEC5XjPy5GjlZR1VoULCcGIOgSAuRCQw6lVpxaGiBElxDQTWQGVpIMJFG2/Q+NdzCRShOveSxyYzhw4EDnZQ/rLhZVlAjRbePUqVMdtDGmg7bjuddqh+4BAwbEa4ynZ2dqnIvyOMSPfLb93jKCzEC7yEASZRv/jEhNkQhRLepiOo9CXtV79erl8cc9Zm1t7eTJk3Gle0zvP3hTFemR/cILL3S+9jztwhEzmogcgRMOVaBts7dcNTPQ7jKQRNmWPylGi+XxGiG6ZKTpfK3G9AaNLocMGeI87gpy7Nix48ePR6ODBw8+9NBDu3Tpogg1ETnGLORIoAFKbSIzkBloeQaSKFuewzJ4QJF4LUBWG6oQo4suHajr6uq8/EyfPh0P1tfX9+vXz/uMy0eW7MOSDOQyBJQuMgOZgZIMJFGWJKMtRDQXiMXJwXSEAD3S9OajtOzevTvG7NmzJ0KkD4MmbamevLIi950ZKGcGkijLmc2y+1I/8ukkrnVriSh79+7tRlIXPwalkhOZgcxAq2YgibJV09tS5ygSV6of0WLHjh09gnfr1g0/0tBDSxfI+ZmBzEAzMpBE2YwktZ0JTizY0LuNctIDDpbEmzhU23ah5crLzkBatI8M+OKSKCv6p0SFuFILhA4dOqBLP5ugoyUkMgOZgVbNgAfVJMpWzXBLnePHJYJfem0iM5AZaO0MqFGSKFs7yek/M9CmGcjFW5yBJMoWpzAdZAYyA+09A05vWVHWeC0J+LlDWLwthghlxOILNdEs71qmm6INFDJhBRBOtOZqm4AykRlYSTKQRFmzYMECP7ZH5CACcoCehp5AQyhaQlnAP4QrQgEay0WX3HwI1cT58+drmz9riZY88AYEYCMeLRCAkMgMNC8DVW+VRFmjrsYsfsm5c+f+q/EfASi1OGLevHlz5swJubwEYWnrWqJwaxXrgiEw2nzw4zLFLA/iHHJCE9N1IeRmtvzwFuAHCg+GmukkzTID7SMDSZQ1uAAFfPPNN6+//vrkxn/vvPPOhP/+mzRpEt3Exn9ff/01yzL+8BgHAXFIwGtffPHFW2+9NX36dHUcpbXoCc0EY05+/PFHe4n/SYlwbjpX2uWCKX/++edPP/1k1wIj00A4sVYI2WYGVoYMJFE2HL3Vcc8///ztt9/+6quvfvLJJ2+//fa4ceOuvvrq++677+OPP/7000+N3nPPPS+++KLSsrz/sVi4cCGm1mIiq9x4443PPPMMGSVRLtda6PWHH3549tln77jjjptuuskuaMIDbyE0v501a5a9P/XUU7fccsu9994rCcVcLAlFN4XMQFVkoCVBJlHWrLrqqr///vv333/ftWvXvzf+69279/z5899//30U1qdPn379+g0aNKhv3774dMaMGUgHmrCYLiViWrwtfh5DBShjiiVCXn311ddff/0NN9xwrbXWirMzfWFPCOeF0nQIpVHgas0110RhEydOfOKJJ7788ssw1gJjNgVKJ4YcNiEzXmONNcRjv/9o/PfLL7+Yy0ZrVBtyYU8ITTFECLi7KIZCU7T0oKtNZAYqNgNJlDU4Eb/svvvu2LBbt25/a/y37rrrrrbaajirU6dOG220EQ7t379/jx49WPqqMYWPf/bs2a40TccRNGiUDGSjc+bModclM9PqFjb0ZEoCh8FxdXV1Q4cOHTBggNX9J8aQsk7LIIx5iC4N6PIARi2KIjt27FhbW9upUycTf/vtN3p+WEarKxJhmxigMd1cEDCZ/4CQttxyy5133nm99dZDlyZyomXGwHSt6UAGq3PCA02YkcGsGCrsCRGSISiVdROZgQrMQBJlwx0lLthtt926d++urPMj4Qg1HRB85ARV5+abbx5E6Vz84Ycfurh0n+hw+scff6AJ14L/bPz3+eefu2Q0NHXq1K+++urdd999+eWXlXgM3PTRT5o0yQH5119/dZh97bXX+FHMohitU7/p33777cyZMxW55ro2tcTPP//82Wefmfvee+9FZYdrmLlL5c2yil8+hSFaWxAtGUnpwr8b/5nI0t0CWIUBt2+++aYABMw/V2+88YYV7U4AJtn+Ouus4w+G5XibMWPGRx999Morr1jOrjkUIW/CRo4c2kXY2C/PfGJMeq6+++470boNmDJlyrRp0+yOcRGbnCcyA5WcgbIRZSVvcpmxYYS11147vttoY4ovHHzSuvQoA0E41d555504Dl888MADjz32GM7Cg/TDhw9/6KGHMJrLzVGjRuEFJDJ27Nhhw4YZRUBI0+3h6NGj3SQiHYfaMWPGjB8/Hungjueee+6qq65yGer9RPeFF17Qve222/AR0uHBDSYuwz549tFHH3WpiuawpxvVu+66SxhCtRdA7qLVil+XXoH59NNPX3vttSNGjMBiCkP8+PjjjyM+Pm+99da7776bK4sK78EHH2Rv1xAebF8p+sEHH7iytH37EgY/I0eOfPjhh3EuM38YJEQkNm7IxsVsI0jc0u5e7cJaTz75pHQJifNEZqAqMpBEuehniu8WHfjgqQhaoCcDWWH10ksvITIvy7vssosiFAc98sgjqrBNNtlEWapSw56O6rvuuqsKdLPNNlOEKqnwi1Jr++23NwubYEk81bNnT2db7OnBBDOSHZnVlR6sjbqspFFOokIh7bjjjrzxg4WRtQpOicdADF26dKHHuebSixMsCiaKXxdjdu7cee+993aZwFic9mLIiu4cXDYw2G677VzOqkb9DQiCY8DM9ICQttpqK4d6fIclzdp00009iyNcZqIyy18IQ3vuuacMYEN/A7A8Bheenap2le077LCDfHIebgUZQraZgYrNQBLlov9mjl8IWfiACb5hQDTgMwZEoMVNTprO1GQE4funUUwprzCmpw9E4Hpxm222Oeqoo84666yddtoJm1A6wG6xxRaoCrPgU9OxHlnrzUTNhRkVgB06dBCDpRmocJEvb+ZiKDL+FZtCzyi3np28MqEt9RqS4gRLCoONaAnAlZbGvvjZY4899ttvPxqnYE896N6drCB79ep13HHH7bXXXpyrbXE6h+pHliYKSWtRgkgErEsWMJ92ZwjkQbWI8S0qObrWxd3okoaM4tWYaNqubYeH0GtNZ5DIDFRsBtoXUa5QmtGBj1Ybs323qiqfLpZEGaiQHKNkGjQUQ0jKW8fpp5+OfTzyhA1qw3EbbLCBco+SJefIxTMLt+ZaBb+gS12WWkA6EB4YiEFLT6MyRZGckIHSEEZztnWYde+JXnEu8gKhatloOWHPOJQEMey7775qOszu0K0SVOQKWJHLlaLPiV7kEBNNiYB5CA2flGT7sgo9gcZysoFbdVWUiBJrH3jggWeccQYi9kfi2GOP9UjFRj1+8803q5ol00SwNW0iM1DJGUiibPh1fOe+eZIWF/jUvWb41BEHZjSKGugR37bbbovmHGAdLQ855JD6+vqjjz4a9aA59qZrlYcEFGMW4gBdc7U8YxMOrQXKNwspyswK4jBkFg4y3Sg9HqG0Opbh2RADx1h3lEravn37OsnybIgNwXJAAIJVgKw1EbPX19dbCzNiWJWdDbo5ddNqrT59+ij3zBJneLMvEwWjSxCq1hYYe9SKYpYGFLn4WrSYd5999hk4cCBy1PqDwZv21FNPvfzyy1WvCk8sL2CzBGZ3hERmoJIzkERZgwJ8rn4kXywKUF45X7vFwwWIwIWd+oseBaAJVOICTkHkYtHTh5OmUU+6jrFoC6Fonc1RA1bimR4TISb3eryx5MqoLtnJ1BCudD5V3zkO62IQbqPLUnXGp5aGfy0z/MU/pYpSqApMQ/Qcekx3DLcXs4zyZmtgj6bgayyGXt02In2Mr9pFvtYVqvclS9u4dQmm0yBEc61rOcYuFqzlKtb9qbB5Fr+DtuSorF3COtdHcuyRB6NS5MFdPCpo9w8uZzmxqLnAuTaRGajkDCRRNvx3veNbRS5KSPSHBVzeHXnkkY6NWM9zhDs7vyKi8Xji8vGwww7DGh523Lv5+NVQGMooAurcubMpaAVLohtMoc5y/ac8RGRYw/NObW0tOsYjKMm9oYIUh+IXHIrF8BeSwncY1i2k6Ub5F4CHF88vGEolqFhDdtaid6rF4II0NG3aNOXbQQcdJDBO+GQgGK1tonujgwYNGjJkiIUQLur0yKPMJIjK6OGHH65etkEb50ERygD5GnVjoE70p0JI9ujkLku4T3iW23///S+44IIDDjgAvXqwsnfs6bzv9sBjFJsJEyYoY0866SQbwdHikXMFrNgSmYFKzkASZQNR+lwBm2y88ca+86FDh95www2u0kaOHHn++ecffPDBzpUM/JDO3Z6Gzz777CuuuMLt5BFHHIFHkBflxRdfPGrUqGHDhp1wwgldu3ZVMeEOTDd8+PDrr7+eMRt8dM0113Cu6xCqtcSIESOOP/54N3rnnHPO6NGjGQwePBgZnXnmmRyarlJD2Qja6CWXXIIit956a1OcZE888URLnHfeeWPGjDnmmGMwMhoSm+CDszwxYXDBA8EWMBTi49MQ3sSVDu/nnnuuyBGoCK+88krrokue6a+77joBu23s0aOH7WP2yy67zIo8yMxFF10kXZJmyOUmwbqXXnqp4MnCxq3+6tTV1XF4yimnnHzyyf3790GL50sAAALPSURBVHfrKhgQj0SJjZDIDFRsBpIoG169/TzxrSIOH7y33QIoUsGITdiogIANDT0bgq+dBieiCRoUgIBUUvTAW1gqrBRTWIMNS4Ku6WQGptCQjZLpQdcQDSel/g0hF3zHgFujNGQT+Qw/wjDXLDGIOXanBdEKD8g2BWSzLKTljZ/wpss/PVc0Sk5zLW05Sq0Y2JAtxJu1nM3paUwRDHv+tRLIMyfADyX7UtAkMgMVm4EkyoY7SrWkX8h3Hij9gENmAGQGLAMICCijSwjo0kN0ow1lyNEurqGn1AZC1nIFlGQtOY6rgokuDQHCYJVVViEbBUOgCwQGQAajZPsCQzRAEy0hoMtSG10tOVBMNB0MgaGiJYAhSmjix1AiM1AVGUiiXHT0Xsqv5QtXE/nI2fjmoyVQgm7wBYGSMZBLQRNYXEljSAsEIPCjDdm6BBqg1Opal14XdIEAlIWsKzAggIkBcim4CpgbBjwAGy0QCugCs4KpzaVhQGktLTlcEQwFyGAUCInMQHVlIInyL6L0DcPiv198//HBaxloCy6IrhZMZ0xgAAQaIATIEHKTdon6Jko+A+YaAsJSIEgwhQ3jQtZtAqNAGS1hKeCQK5YEZiHQQGgoC8FoIJSFXjeRGaiWDCRRNvw/xfD1BuJTD7loQxm/KKUuEArogq7yCggF6OH/dUPPM6HUTDdAGaPckkMZrS6EXLSMoegSChsemgwZBUogAOPCjEwTKAyiqzUKBCgE8v+gsWM00Nj7q+EzkRmolgwkUVbLL5VxZgYyA22WgSTKNkt9LpwZyAxUSwaSKKvll8o4VywDOSszUIYMJFGWIYnpIjOQGWjfGUiibN+/b+4uM5AZKEMGkijLkMR0kRlYegZytNozkERZ7b9gxp8ZyAy0egaSKFs9xblAZiAzUO0ZSKKs9l8w488MNC8DadWCDCRRtiB5OTUzkBlYOTLwHwAAAP//efJVVgAAAAZJREFUAwBS4XF0HgrrQ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1131" y="1797426"/>
            <a:ext cx="6849351" cy="4950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1194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sp>
        <p:nvSpPr>
          <p:cNvPr id="5" name="AutoShape 2" descr="data:image/png;base64,iVBORw0KGgoAAAANSUhEUgAAAbgAAAE+CAIAAABwQZIhAAAQAElEQVR4Aey9BYBdRZY+fk7d+6zd0hJ3d3d3iEGIY8F1GN+d3dn/7m93nBkG90BCSCACCcTd3T0d7aS70+7y5N6q/3ffTZoMEhJIICGv+F71uXVP2amq756qYgahQiFkgZAFQhYIWeCbLVBWViYoFEIWCFkgZIGQBb7ZAh6PJ0SU32ye0JuQBUIWCFkgaIGbgiiDLbkdI0XqMpC63AZ4sIFEW7DiS+qWrvWMl0HYMmLrCX8ASwr9Qhb4kgUwM4DLEi9NKWsq0hfzCkq3Fy63Q1D+wkbMHCLKL8zxw0tSmabySTIkmSZJa2LiJ0kFgfYoBCkxfZXCe9N6QSYBeLQgpZJSmgoZCGqmsgpBOdYzSkIJIYQs8IUFMEcUKaWkaWLaSMLcAjD3DEMZpgyY6rYEOi4DUll2kNZKNIOWUbZpsM78fn+IKL+YRT+8xCSDMJXC3JWYqqA6EKFiUoxhwrzGtLbbJUjg5o2UZCURA0oiFyICJSqJgPGlYJZgDqQG/4aikAUuWQBe40XRmmKkzID0+0xvpb+iIlBeESir8BZXeEsuATJgP0IAviojBekABAACAAGAYAMycGUZb6EDQAAgABAACDYgA1eW8RY6AAQAAgABgGADMvCFXO4tK/dWWLG/vNworzQqvKbXVFiLKri2yOfzhYjy4sShH+MvKyFMXUhdU5qDdY0F5q/J0mDpZ9Mn/YY0AobhDxg+v1HpMwzQJwuDdYP0AOkmayQ0Zk0SMloykUA/BCkAZAs5hJAFvrAAK+xOmKTANGGF2eUPeL3e8jJvaYW3tNxbWuYtuw2Bvld4yyp8ZRWVpeUVJeWVpRXecr+/UiqDWTETM8NgX5gxJP3gFtCJnaQ0gp+oFJMCwSlpVFQUn8s4tefAju1bN61btWLF0sXr1q7eu2fPsaPHs7JyfT4/1CWmvDXtSRLj24fdu1RCWURpjSmTZMLrH7xDoQpvagsoRdbXVrFpqoAvUOH1l3v9lQHDCximP0AB4xIgA/YjBOCrMlKQDkAAIAAQAAg2IANXlvEWOgAEAAIAAYBgAzJwZRlvoQNAACAAEAAINiADl8t4lOQ3pR8WMGTQLQlUVPrL/YaXWCohMaTWosKfEH4UC4DJDEUmc8A0iwoL006e2LFh7dwZ017+6x9e+dP/Tvvn828+/8d3X/rre6/+490X//La8//30t/+9x9//t9XX3h+3qxZ+3fsuHDuXFlJsTIMjVkTgphR4MWOQFLBjcPF59CfkAUUMYygiKxT7IAZ8PoqwJUm+ViYrJlKM0lIJUwbkIEry3gLHQACAAGAAECwARm4soy30AEgABAACAAEG5CBK8t4Cx0AAgABgABAsAEZuFy2HuFssEHCIMRYjjLg91f4A+WG8hGbsJrAL4QfzAIyGAKBAP76/f6AkhVkZhbkbd+17aMPp7/9yj8+fueN/etXV55Pq+V2dW1Qf0jX1ncP6j7pzr53D+7Rv1Pz1nUT43Vf3umD25Z/+vE7L73/+j8+/ejDvTu3lBYVgC5JKVMqiVUgIYIlsSR+sJ6FKrqFLMBKKX/AZ0iDrG0H5ok1aXCug21IFXB1aOPylCoZUwzAJsjWMaRpYOqRshXsRFv+2hgKyP7FK8KVycW8XySytS2yH219JUBa36Jp619DDBOwkvh4wHlEDLAEjUo2vX5fRUWZxGUBUYgof9D5jcMO2B0xoOu6L+BNO39y9uz3Xnv5+VVLPvEX53RsWndk3+73jxx+353DxvTrObx318E9Owzo0npw93Z39OkMuhw3rPeUkQPGDOzarGZsSebpJfM+fOX5Py//fEHWhfPSxPEmpi5hGZgBA/EP2rdQZTe7BbDhYLJO21gp8AEiUowUxGi6ws/SUHQxJssBZcTBFDCFJoT1SKAWTC4FmZTFIIJxvq7peIvS8AbMoqy3F8sJZv+SLMjaA1klSHAaaUIg5Us6lz9qQgCgYmQJaqrL334v2eoOWc2FwJYgvxCUCQrFI1ndDP4NRT+IBTCLOBh8Ph9O0TeuXfX2P/+2Yu6s5HDtwbuGPzZh9LDenTo0q1snKTo2whHlEWFO8mjKJaRHk1FOFRemJ8e4G1aP79Kq0ahBPR6eOOae4f2To1wfz3j37VdeOnJwf0W59QGUUukOh4KX8IN0KlTJrWMBUIqmyDrLxuwAqloOpmDFbJEaYgtCcRCCg+lgDGUogmtnKpaskS4s4FCdrUQpSAqWKBqvNI0dGmmsbM61SvuqLPEpN6HAFhuhTPX1ahxMhxtpBiRJlK+RYjSGlZWXrbcQADs7YsgABAACAAGAYAMycJls0yDT14WLqeLr3oXSbqAFmC3TFxcXL1myZM7772OXPX5Av4fHjOjdpnmNuLAot3BqBgm/FP6A8hvKNK3vumZFShl+r6akwKwxfJEeZ+2kmL5d2k6dOLZX5/anjh1+4+WXVixbVl5ezsxSEovvOLg3sPOhon9kCwRdJhJSWTOErFklQDhEFIzxFuxWBVChg5X1SFJjadEfkyYU0nVN6EoySaGRQ2MHS/AdqEcXoEh2CBKkBCs9CI0V8GVZgGeD6QIFWprQAb6sxpaORpJRi85OzH1LJsc3lPyNJQT1v6FwYgoCRrgErB0kElnphIBnxCHcIAvAg5TY5RB4S0LGp5cMKfMLC5cvXfzpx7PrxEePG9hvzIDe9arFOZTPKRQrn5Q+qQxMOnySSTgV6aY1WpoQuqY7WAjsdDBsQklNqUi3nhQXMXxA71FD+5nekkWfzFm5bHFpcbGUFlPavVLBYMuh+Ca3AMYKLURcBTx+E6p0qgRo2nKVgMcqmZSyKBHPFyU8IwWMwKyYFDNdDkuPLqaQETAz0jMz0y/k5eRXVnjNAKgRykKaqqy0PDsrJ/18BuLy0goliSTmr1VgsEyQJqMcgK3SLj0q8lb6igqLUZqlFnxHwYBy8ZfxCwKCAE/CffAF8vMLSovLoE/BopiCpSlCNwh6BMES8QMIwUoMvlaWJpNg6F3sKaSqqoKtRcJFBA1EVnGIAKw4xCHcEAtgqCT5CawH2jIIH8OAEtmlpfM/++ST2R+kOHncgF6dWzUK00wh/PhCB1QAN+BCONyayyk1p8RnEwPJ1rQjNo0AgW0BTG9iSRg7AUJ0sFEzzt2nbcN77+wdI8o+/3j67p1b/AYOKcG7F/tlr5aLD6E/N7EFMFIYUxvf2kwoA7aaaZrIZRj4EAeniFKQ8RaJNmw1tv6YJEzWDSXwCQalIUkIOG7EjGmF+5KLkMwowCA2pTIzL5yfN2fOX//0lzdff+P0iVOYWzrIS5K/0rdr+87XX3n1D3/4w/xP5p46fUIRTsj9OLOEYMoAYJh+ZmVK699hI6EMGVAkyyvLjxw7/P6M93bv3eU3fIqlYlNxQFIAAmtSsoFHNBUC5nulryL15PEZH0zfuHmD119pmAETJZGJ0lAm1BQbkgMQGMdOjEIMQ/lNFZCM9iv0DUBXGSawuomOA5YF0EtSVqr1g4SPBixgeTV4a5C1yCQWG/KGcOMsIKTCDGBMQsLE8fs2r1u7cM5HidGeu+8YWDMx1qlrmkaM+vEDCKxoDZFUpDBNlFbmN7MLS7LyikoqfIZEGUJKaFtZlLLGjxHLQJTH1bRB3THDh2qmsWjBp+fS0swALtWlUgrazIyFBOGWwe3aUIyUlNaoYecAG2D45DcHKFTpe73e8+fPZ2dnl5eXG4aB4cbEQnaUAx0AsjWlyJo5wYl2uUR0WTIFA/SlxCecITBTdHR0tYRqJ06cWLRo0dKlS4uKigwQkVJlZWW7d+/+fNGi1OOp9erVq169OjOjUrxFAwA8OhwOdAkyCkZvICCGfOHChf3796enp6O1yEQKupqug+cogA+9Ik1zBAKmaYCy8YrRO+inpqYGAgFUoes6UhGjt4ZhSknMmsKq8RuWB8pC152aphNZXiT6ghpRr2EaEL4C/lKK/WzHAuFLr0OP19cCTAIjh6lGjFlqZp0/t2nVMg8HhvXt3qx+TY8L4ygw2HhpzRLCd4sVWcC3Fd/T3OKKtVt2vTNj1uvTZq7euDW3qMyEjrX5ZmSRJoiSQbMqIJVhOFg0aVC/W8cOeZnpSz6ZX5SXw6gVzIsZRKFwa1hAKYVVaVMJVvWVGw1lADrQrKioWLBgwauvvor46NGjxcXFhmHgFRTw1hYQXz2qMiILmgSibNW6VZcuXTwez4YNGw4ePOjz+ZAO8jJN0+N2JycnNW/ePCoqChlBZGVlZWgSBDxCs6y0tKK8XJqmktJbWYnFAPasW6fOmNGj27RurQmtorzSW+n3e3EOb3gr/KZfKZPLyypNQ0qTfD4/PIqaNWqMHjWqa5cuTjCvlJWVleVlZZUVFQF/QBpKGhSEMgOowu+t9EPwewO+ykDAQCnS6/UahsFwbpVCp64JWJnXpB9SvgYLWDzFjI+bNS6CyooLd2xcm3fu1JAenbu1burRAsr0YjpIApPhBAUUyEQWFMH1Z0OJ9OzCBUtXf7xw5UcL1nyyaMXRU2nlPuwF8JFkECVOyzF+IEqHJlxCOEhGuJxdOrSpXyNl1eLPdm7e7PVWEmFOKsSY04hDuMktgJVcUlICmkNcFgyl3xzw3lYrKirKz88/fPjwrFmzXnjhhb///e9z586F84VyJCZXcA4wW1Pr6ruPCQNnjRm5MEEl+C42NrZHjx7du3dHseDKwsJCCFlZWTFWiHVawR3wGydOnFyzeu2qVatXrlyVmnqyqKj40MHDSxYv/fyzRfv27j9y5Oia1Wv37N6blZmVl5fv9weKi0pwUrl/78HPP1u8csXqgwcOb9q0ddGiJYcOHj1zKm3JouXLlq44ezqtpLi0qKjY5/VXVFTCq8jPzV+zas3y5Ss/mf/pnI/nIktJcZlpqNTUU6tXrV2+bOW+vQeKi0rT0y+sWL5yyeIlqHfLli0rV64EszNbnbp6U7jdbiy0q9cPaV6zBZQkgs8nWCqjoDD38L5d9ZPie7Ru7mHsDvwCZGjxmEIgAkcyW+6kUKSZSuBO5+S59HOZucm1aselJJxOzzly4mxRudfErhxqihw6GJMUVgImiBkQ0hDSXyMutluHNk4Z2Lh2ZW5ODtYJZjwFlwriEK7FAj+C7vLly//2t7/9+c9//stf/vKnP/3pj3/845+uGHAy+Mc//hFZ4Evu27cPzHXq1KklS5Y8//zzv//971977bXNmzeXlpZiGgTnmPXJvPpeIZdpmpg/zGznSkpKGjx4cNOmzfbs2Xv69OmzZ89CITExETpSKvgEXq//5InTR48eKy+r2L5t5/x5n+TnFTqdrjNnzkLevm1HQV6hNFW4J9zlcBXmFc77eN7WLduMgGEacv26jXPnzD9+7EROdu6Sxcvem/Y+iiouKgGBrlqxurSkrLS49JN5nyxbshzEevrUmb179p1PO7d61ZoPZswEk0rJO3fsee/dGXv3HCgpLl+5fPWWLdsry32HDx/F92PHju3bAkF2IwAAEABJREFUtm2bM2fOmTNnlLo2O+CDESJKewLcqFgwtt6KmH1+b2bmuYy0M3VTkpNjot0Ojc0A63hPmGQa4zQd5Ac+w5RkbJmUJgpKSg4fPeYNBNp37NyseSufSUdPnCooLPH6DQx0cBej8KFHVhaYx0oX1r804dTMOtUTmzSok552Ku3sGcxjQqnKOv6BEMJNboFDhw59+umnH3/88ezZs7G8P/q2MG/evNmzZ8N/RC5QgBEMGHT4TVu3bv3www/feustEAR2qcyYJNfWe2ZMrosUARmZ/X5/3bp1e/Xq6fV6N27ceOzYMXhb2G6DSvAWOnjESWXbtu3q1KkLHfibyFK7dp1+ffsnJybt3L4j7fSZ9m3bNWzQMDYmtlHDRn6v31fpdTtc9evWj4+NNwNGSlJy+zbtwt1h3vLK5MTkTh06eVzu9HPnlWE2qt8Ix1IVpWXwO2Kioju0a1+rRi1fRWXD+g1QIxPv3Llzz+49FeUVbqe7sKAo7czZiIjIpMQk05RxcXHwhTt37gzhWokS+hetgE6GcP0toMi6mrFu48xKn/fAwf1lpUX1a9aIdLlxQs6asA5srFoVWzE20/jL+DCaJpmsn8vI2Lt3t1PX2iN06KA73afOnMu4kG1IhflrHWORCtYgETNJwZLJFGQmJcS0a9PcNLzHjh7FCsEwA1YNod9NbwF4Z02bNm3QoEGTqwsNGzZsHAz169fHDtj66GoaiBIngNWqVUNRSAeRYQIAxJhgV2sCSz+oC+7FX5QM4sOZIw4rO3XqVLNmDey+09LS4GO63W7UKE0JTSiAr8+dOwcB7IlCpJQul6tlyxZ9evcpKijcvGlzcWER+M6pO0B2YR4PyBHNEgQ30x0bHR0fGxsVGeFxu8I87sjwsLiY6DC3GwoO3eF2ucLDwuEdwL+oV6cucPb0GaQPHzo0OSmxtLQ4I+N8WXkJYw3IQLv2bRo2ahAW5nY6HVgsCQnV2rVrN2HChHr16qNh6NHVgxlFXr16SPPaLaAM7Ecwyqq4tPTM2dOYAcnYp1jlCCk0hQtvImsnbaUEf3jAsGhaUWnp3v0HM9Kz6teuUT0pqWmTxjgsv5Cdc+jo0cLiUgOzT5Fp+ZOkGFAK1EtSKjijpqbJJo3qxEVHnk8/h22XUgqzPFh6KLrZLYCN7X/9139h3/3nP/8Ze+o//elPiK8AaD7//PP/93//97vf/a5169agJKfTWbt27VGjRv36179G4rPPPtu1a9ewsDBMK0zEa+0/Jo+dBZfpaWfTDh48mJubm5yc3KtXLxBxSkoKeLOgoKCioqKgsDAj4wKwevXa48dPeDzhzFpZWUV5Oa5bvOfS0uNi43v06JWfXzh9+gcHDx4uLS3Pzs7FxPX5An6/4fN5CwryAgGfYfgLC/MBpUw85ufnlpWVwC2FWkFBEeJKOB1eP0peu3b99u0727ZtX716zT27dhYX5NevUzsxPs4F36JN6z49e7Rs1lQoWVlW6vf5iouL0JeEhATGelFwLexuXVWM3omrUgwpfVcLMGNYiASXVZRl5+ZguxEZEWEaknVHQILgBGjOLpuJLLDGJIhFRmbmnr37NcKDPHPmZPr5c1gDuLs7evR4bn6+HyVAUxMYcEmWJ4nCiJUpDWapyIyNjYmKjMABPz7sUkpMESklhcJNb4EaNWq0atWqdTC0bNmyzbcF6EAfaN68ec2aNeE/Dhky5LnnnvvFL34xduzYtm3bxsbGotO6HjzOxnTBw7UAMwfuGGKw4f4DB0CUe/bsAWl26Nhh5MiRbdq0vnAhExvwiIhwh8OBc8CiokJsvTHrjh49CspG+okTJ3bt2rV6zaq0c2nVq6fAAz2bdnb16tW7du3cu2+vrmuGaeBc9djxY8UlRfDcTp85dfjIIcxkr78y9cTxQ4cP4tgqYASgAH03vEqXE8ejJ0+eSE1N1TSRn5+3etWqffv3utzO/gP69evfN78gb9nypTt37SivKMvITM/OyXI4dTQS/i88X7TzWgxg6WLtCOtv6HdjLIBpqTQ2iUxTGf5ASUGBx+3E0JrWhpyYsUUiUroiXYLkSMErtI40icCDp06lnTx9ocQbOHry9Ly5n8z9eP7Zs+llXvNkxoUDqSdLvH5JukWJZCpmgx0Bdhmsw3PEJ1TH9XeYW3doxcXFmLLMfGP6Fyr1+lsAI6hpmh2DaDRNA8d9E6DGbA0uFLD/xRkc+BFe5Pjx47Fxx04c6bYOBwNZutfQZvBjMJ8VwXMcOHjAlPsnt2nfOjImon7DegMG92/QuEGN2jWGDB/8b//xb//xn//Wu3f3uvVqjRw1/N77Jnbv0Xny5HFPPvlYl64dGjSo06Nnt87dO3br2eWxJx/+1W9/OeSOQQ0a1+/Rq+vTzz01ccr4eg3rNG7a6JHHHn70iUdQfrsObZ98+omHH32oXce2nbp2fPypxx98+P6mLRq369DmmeeeeuLpx+o3qlOvUZ0p90/6+a+fG3X3iAFD+o++a1TturUaNWk4cfKEBx96oFefnh07d6hRKyWlRtKIUSN+/etfDhk6OKV6IsGpYKw0iYV3DYYg+CvXpB5SviYLYEgE3EZiIRS+Zf4AYsIeWZA0TfxVJorTFOFzxQrKSuHjaUozOyd75+492HHUr5vSu1eP/n369O/dZ8jAQY0a18/OL9qybeeFrFzTomElCH+EZN1kB5GmC02Q1Ih1TejBf9cMH0NmRjXMVgwhhJvfApqmMTPiKzdVCFHlH8XHxw8LBpxLRkZGIh0lIDt0bAHxd5gByIVCmDkyMqJV6xbtO7Rt2Kh+RGSY06VHx+Cw3ZFQLa5Fy2Zdunbq3KVjy1bNU1ISa9ZMad26RePGDRo3adiqdXMI9RvUaduuVbPmTeo2qNOyTYuOndu1atOiTv1aTVs06di5PeTqtZLr1K/dpn2b1m1bN2jUoGGThm07tG3XoZ0lN27YrkPbVm1a1q1fu0nzRm07tGnTvnWN2tWTUhLbtG/VviPU2nbo1K5lqxYRkeHwHKvXSGndphVQp27tiMiIaonVWrVu0aFjuxYtmlarhn03yF9eK0vCAliiiEO4IRbAvBTWuCiHEC6Hhqns83mNgAEiE0xCkEOD/RUYkuyhY9KdTqnMgty8C+fTI8Ncg3p3HD9yyL1jR0y++46Jd93Rt2uHhMjwvOzM/NxsZQSQmSUJSRqgQJok4JFKwtllaWklzn2ioqJdLpdATagghJ+cBfAVBGwug/MYGYlznQgMt1IKfbVjCNcLKBm1gL7tGlEsBBt4BSAFlQIQkA6hCnYKEm3gES1HbOeqkvEWiYiRjhgyAOFLQCJKthPRHigjRiGGYSAdMtqJt5ChiUcoAEixgcRrBdbatWYJ6V+1BazpSiwlk/S43YnVEkrLyvyBgBAaHEHTAKHBpcTboB64kuFlSmVK3PQN7N9n/N139urUul5SVJxbxXm4Rnx4/54d7x1/56B+PRJio1hJoUgQMwUpUhGbShmSWGN2FJd5yysCkZGRmDEqGJjB21fd8pDirWABZmtMMbzMjBhMAUBG2/EorvcH0i7zq8XaNaJq1KsFAwQoI/2bgEK+BGjaKchrC4iRCEAAIFQBj6gHMQB91AVARiJ0ICMRAlIAW8ajDTx+B4jvkCeU5eotgPmrayxIRUZFVq9Zq7iktKCoCBd7YEcUwkyMP6BIK2apcHrCLqeekpx416gR94we2bZZg2gnucnnIX+UQ7Zv1nDi2JH3jB7RsH5dp0MDRSK7IGKwJKiXEJCg+wxKz87PyS9KTqkeEfGFi4HXIfzELGCTAmIANGHzgt1Hm7ls+brEVQWiLhSI2AbSAaQAdgoEZkxF/P0C9quqmNlSwCM0OEj0EPCIohDbgAzYslL/8tc04WQgx9fDLhB5AciIbdhFfH2eK6ZilV3xfejldbAACJAio6PrN2winGGnzmaYrJHQDVPpQrcmS7AKi+tIYFDxBK4Md+vx0eERLoeDpCb9mvI5KOASRqTbGRcdGe5ykgrmgDaBbYP7d8wCxkZcLyn3b99zuMKkFi1awqlEMkCh8FO0AJjR5kd75iC2gXTguvS4avKgZFtGyZAR24BcBbvGqscrCHZRtj5kaEJGjDIRA/bj5QJkG/YrO65KwSPKQWwD6baA2C4TAoB0AMI1QVyTdkj5mi0Ar49IKiEcnvqNmiXVqHPqfGZ+cVlAssPtwYVM8D0RgzD5UiBBEtDItNKRivdEAnttwi7bFCSRBuCtIsuTtDxR6Gg4qySlayfPZ+w5dKxGnfr16jfAFCGCIlMo/OQsgDkAoFuIbUCuwldTql5djfCl7F96vLwE+9WX4ssVrkZGdlvtcgGyDftVVfy1iVVvq4QqNVtAXPXqmgTwb4gor8li164MJmOhiCXr1arXatCs5dmMrNQz5ysC0muyAUeQZLBQVth9MOgMP7Ahzh9N3JQr0kzWJTxQkCdeEiESVgR+5GCxpJgkWzEJDkizoLT0cOrJnOKyVu061KhZwwzuUJiRj0IhZIGQBb6DBeBtiEvZQn9viAVwMqKsfz3SIrWomNgefQaERcYvXrb6zLlMJRySFGq9xGH4a6lZScriSrwySDMIauBKlqQRQYFkMFbEJiERbidZXEnKIOmXat+hI/uPHuvQvUf/ocM9YeHMjDYgxleRQiFkgZAFrt0CHo8nRJTXbrZrycHCuuBWiqQE+XGDRg16DuibV1Kycv2m0+BKpZFUpECYppLWv1lJlipSLFoDcRK8URYmC8kamJFJsGKhFF4xm0ymYAkolKDpFQafTM/esH1vWEy1sRMm1KhRA0eemgZ6JWZWSlEo3PYWsKaBIswiDs4lkoRgTThrImIukqLbD/A32FSIra4H+y9BjKwsO4mghQjPMFQIN8YCQT4DSenEDkEaK09kWJd+vTr377v/+KklKzcVFVdKabEkSckgO2XFyGSNEMaLwY5SU5LgFFqjBk2pmaZuGroKUqTyO9h0KFMa2MQ7zueWL16/52x+ZZfeA9u0bevUUS1Ztes6Ypsxb0w/Q6XeIhbA3Aq2VBOaS7h1fKcxQRSSMMlMZbMmnm4vKIW1JwwlsEODSBrpggEHsSYcDhPvmW8uovypDZAii9+IgkeIcAMVM9WuU/e+qQ+1aNtu49Ydy9ZsOpWR62NXANtw4ZSsY6ykpS8FY8yUBkIkeI6SMYkZ3oAhBGs6NuP4/AlTOH2m8JPDp7Rjp8/PWbBo0/ad7Tp2GTh4cFREpK5RKIQs8DUWsFY9a2ABobMSSgW/ycFEwlS1nCfQwu0Ea11iz8VkmQLWILasQbru1HQdz/BmYA4KhRtpAYvvQHGYjxgHZvb7jUq/wU5PdlHp56s3zP581YbdhzMKvT7h9rNmsk5CY4H7HyKJzTgo0iJKsvbkxAL32rixUSYJgzS/cJdz2PmCytVbds/7fBm28wUlZbrL5fX6jIABJ4FvZMdCZd96FlDECIgU65ruxD9CZ8L5D5I0hHYAABAASURBVOFDTDgYt2DNU1K3TyzsjrPSLJD18SDJmnC4HS6XcGmse73eEFHSjQyKQFdkELxChW01+f3+PXv3vzPt/ZVrN2ju8FqNW2SW+OcuXrNk3ZbDpzMKKgw/6YYAXeJEkkyFpl384Y8khssZIN3UnMrhLjcoo7BiT+q5z9duWbl5Z5kpmrRqS7pr8dJlCxYuOJ9+TinUixJCCFmgygIMkgw+gAg0t8vjcYe5dLfODo0AXSgWCl9pG5CBK8t4Cx0AAgABgABAsAEZuLKMt9ABIAAQAAgABBuQgSvLeAsdAAIAAYAAQLABGbgoM/pLmkZOQQ7BDkE6mNGhOcJc4S6HS5ClFvIo6WvC90uCTbFDtkFMxCaRYiYBsgwYB/YffPfdaR/MnB2QfM+ke3/2m/948MlfVG/cYv3OA29Mn7Vg+Zp9x05mFZSWBaRP6VJ3+EgEGNTp8LHuJ4dXaeUGF/tkRn7ptn2HP/xk8cvvzlq1dXfrLr0f+9kv//2//mfshIm5+QXvvf/+m2+8ceLEiUAw2P+GEBpGoRCyACyA6UjMrDl1l8cRBkYIc0WEOcPcusflANwuhw3IwJVlvIUOAAGAAEAAINiADFxZxlvoABAACAAEAIINyMCVZbyFDgABgABAACDYgAx8IbvBinqYC7EFpIdFuCPDnB6HBncbLgpsxVi/sFwI180CoEi7LAjgJikVrmBMU+YXFKxevfbtN9/ZunV7zdq173tw6pQHHqjfpGnX3r2f/Nmv73348ejkmuu37/1g/mezFyz9bOXGjbsPbz948vCZrNT03NSM/GNp2QdPZew4mLpx5/7PVq6bMW/h3MUrT5zPatau06NPPzf5wYeatenQqHmriVPumzh5ckRkxKcLPnnp5Zd27NhRWVmJcfb5fGiP3bBQfPtaAMsdH28iTAlmIUhzCleYIyzCExnpiYkOj4mJiI2NiLMRExELxAYfY75Bjo2Ii/mGV3Y64tgIq8CY76cWG/EtFUHBRsw1VhSHksPjosNioz0WYsJio8Ki3Lpbg8+thBWTgLlgOQqF62gB2PSy0phYw410ekbmwoWfv/HGm9u2bevSufPPf/7zMaPHVE9Jwc4cXn9i9epD7xj1zM9//egzz+HCWoXFHj6btXrH/sUbds5dtn7mwpXT5y/+cOGKOUtWL16/bfO+I6npOXpk7JCRY5/+xW+eee65O0aMio6rRiw03VGjZq3xEyaAKxs0bLh+/frXX3998+bNxcXFHAyXNSwk3o4WgHcEBHvOmJrY6hBBEDo5sPvWGbtOTbCwobEGXFnGW+gAEAAIAAQAgg3IwJVlvIUOAAGAAEAAINiADFxZxlvoABAACAAEAIINyMAXMglBglkDBKP7miAcVgpWVSA4GSGipOsbhBAwK8DMlsycevI09tov/PPFI0eO9OrV65FHHhk+dFhSUjVsyZ06ToUIVz2eME+jps36DRo2aeqjjz/3m0ee++2dE+7vfcfdnQeObNVjULPOfdv3HtJ72JghYyaMu//Rp375O2DUuEmdunZPrl5Ddzo0TGmcpZAiJrir94wb/+TTz7Zu3Xbjxo2vvvrqsmXLKioq0KTr29NQabe4BZgwXRSuMjS6eI+hMTjidkOQIjXSAFBkEILpIohEENYfCoXraAGbj8CSEMrLyw8fO/7Oe+9/NGcOsXb33fc89eRTHTt0ALPhKyalQSQhaBrjGFEqdrrDwqNiYxOr12/WumvfwYNHjR1+98SR4+8be+/UMRPvGzbqnv5DRnTo2rNug8bxiSlhUTEOl0tjwZZfKpmJWRCzU3fExsb27dvn0cce6z9gAE4qX3rppQ8//PDs2bPXsZuhon4CFrCmDGYMMfqiiIKHRKTM2wsS/ZUKfSdJgCUoyyDwOizANEGIYByKvqMFlFIWx+EkEtJlQCJYcuvWre+8/dbqVSuioyLuv//eBx64r1nzZk6XS2g6kdA0B7MQ1k84HLquCcHEzJoQDl1zO51OXQ9zuaIiwmOioiLCwtxuZHU4nQ5N16Fm6wbVNcEaHjGWGgu8wuvI8PBuXTo/+uijvXv3xtb7vffemzNnzqlTp+BaSilxx2M3FjIEdB4CACGE28sCTFQFzB0h+DaDCAZmqgIxbMIk2BLIClgjWFyWFPp9NwswM+wMigEzwpooxDAMJF64cGHx4sUvv/zykkWLmjRq+MTjj0+aOLFRo0a6zXFBOkNGaFogYoAJssasCcaoaBCYMVgaEx6DAh6ZiS6CLwYkMF2UNSGgrAVjj9vdvl27xx9/fMKECWgViBJ+5d69e+2LHbQWQMsBCHZ++tcQevqJWYCJAKoKeAjCHn3E1utgyu0lEPHX9hqrLggsECwrCoXvbAFYEESDI0KAmSGDozIyMmbPnv3CCy8cPHiwW7duTzzxxOjRo1NSUlAL+BTxDwbwcqtWrdAAXB/Fx8fDr3zllVe2bNlicyWagdai2RCAKgFyCCELhCxwuQVCRHm5Nb67DIoEaWJLe/r06blz586bN6+goGDEiBGPPfZYly5d3G43fDowEYjpu9fxnXKCK0GRgwcPfuihh2rUqIHTgDfeeGPVqlXYj6PNaBKAltv4TjWEMoUs8NO3QIgov+MYVzELuA8ySikrK8PG9u23354xYwYe77nnHrBkp06dwuz/9jzDuSdbE29/MDBbN0VJSUngSriWHTt23L1797vvvrtixYq8vDwwO1pS1SoIVUD6TYFQI0IW+LEtgEUUIsprGwTwCBwxxDaQ2TRNeItw0JYvX/6Pf/xj/vz58OBwMgiWbNCggQtXNwL3NriA0UUwIMsPA4yufSDgcDhQc1xc3MiRI3/xi1/ceeeduAF//fXXP/jggzNnzvj9/qoemaYJGc1D7xCHELJAyAK2BUJEadvhGmIQELQRAzatwJdctGjRm2++uW/fvtatWz/zzDOgJOxzwVC2AvR/dKC18G3btm371FNPjR8/Pj8/f9q0aa+++mpqaioaCYAcwadQg/CjtzbUgJAFbioLhIjymocDPALA+UIMXzI9PR0nkiCd8+fP9+zZEyzZr18/OJXw5sA+4J1rruDGZEBrwYPg7rp1606ePBn3Sx6PZ+XKlbjh2b9/P6537GrRLwhoNhoPIYSgBULR7W6BEFFe2wwA3SADeAQ8WF5eDop56aWXcD1SWlp69913P/nkk7169YLjZtONrQz9mwSgddztALVr18bdDg4HIMAXfu2117Zt2wYfEw1Gv8CnaDBkxCGELBCyANZ7iCi/ZRqALy4HTIYMuAOprKzcuHEjttuff/45qOfee+998MEHse+GAh4RQw2kg/jmAdoDPxExqLBWrVrYgGMb3rlz582bN7/44otgzNzcXHQWLA+gC5BtoAsQEIcQssDtaYEQUV7VuIMmQDE2IJeUlKxZswaOJCimcePGuLoZO3ZsnTp1QJEAKAZkhBh8hPiqKrjxSmgJ2oOGoSoIaGdUVBT83/vuuw/xsWPH0J2FCxdmZmZCAX2sAvxQdByJIfy4FgjV/mNZAGshRJTfYnzwCzRgKQhgGbhaFy5cgBf5yiuvYN/dsmXLJ554AiyZnJyM4z9o3kJAp2JiYnr06DF16tQuXboUFBTgpHXOnDm4E0cvQKY2P4JS0XcAiSGELHB7WiBElN8y7mATaIAmgIqKikOHDr3//vs4l8zIyLjnnnuefvrpgQMHRkREgFagiRjKtwrQWrTZ5XJh9/2b3/wG11Do40cffQTXEkeW6CwewZU24FfeKv0KtTNkgetrASyEEFF+i0lBJWAKKOFQEi7kBx98MH/+fJALDvhwKAmKqXIkoQZ/E5q3CtA1NBV0iS40bdoUPZoyZUpkZCT8ZZy9btiwoaioCE60rQM1CCHc7ha4XfsfIsovjzzIDgxisx4EvEZcVlYG4oCrBRKB/4gr48mTJ+N0EoxpUwl0INxabILvJGC3GfvrxMTEMWPGPPDAA3FxcevXr8c2fOvWreg4LABroIOXx7AS0kMIWeA2sUCIKL880CAOkILNIKADIDs7+7PPPvvHP/6xdu3aZs2a2Vc3NWvWhCNmZ0YWsKSdBbGdePPHaCqAdiJGFyDgpHVk8H+9g4PLvXv3vv766/gw5OXlwSCwAxQgAGBMWx8pIYQscDtYIESUXx5lmwUQgxqAtLQ03G+8/fbbWVlZOI589NFHBw0ahDsQkAvegjW+nP8Wfw4LCxs6dOjTTz89atQofCHeeeed6dOnp6amolvoLGBTJOyDlBBCFvgxLPAj1Bkiyq8xOljAJsFjx46BKXB7A8oYPXr0k08+2b9///j4eCjYfAFH8mvy35pJ6JTdcHAlzl7vv/9+fBjQcRAlLABT2DaBGj4Sdvdt/VAcssBP3gIhovzyEIMCwAV+v3/jxo3//Oc/586d63a7p06disO71q1bg0SggDzwrX5KLIke2fRnnyfgyLJ58+YPP/zwhAkT0P1PP/0UdInNOHoNQNmOIYQQssDtYIEQURJo0QgGeEyQQQE5OTk4jnzppZfAlXXr1oVvNWnSJBxKghnxFtMCXAlA+CmhqkdgTACdrVOnDvr+2GOPNWjQYNWqVa+99hputIqLi20jILZhGw3yT8kaob6ELHC5Bb5KlJe/vS1krHOQAmgCSx2O5IULFxYuXIh7DGw2u3Tp8tRTT2HTXb16dThZUABAIjZgHQiIfxpAXy4Heoou16hRY+zYsTBCw4YNt2/f/vLLL8M4+JDgowIFANb7aXQ/1IuQBa5ggRBRElgSyx4+JWji+PHjOJR88803T5w4cccddzzzzDPDhg3DXTAYAQBxQOcK1vwpvUJ/AfQXN1e9e/fG+Wy3bt3279//1ltvffbZZ7jagtHQX3xggBBdwhQh/IQtECJKa3Cx1LHsjx49itvt2bNnQx4+fPh9993Xtm1bl8sFDSgAEG4f2P2FKUCXERERYMknnnhi8ODBhYWFM2fOnDt3bmZmJhxwvA2x5O0zK27bnt6kRHnjxgMLG7DLhwCAC4qKitavX//KK6/gULJatWr2wVyzZs1wswEFWxkxGAEeFoTbAegs+g66RIz+4oPRpk0b7MFhHK/X+/HHH8PvhoNZUVEBTdss0ASgjBiAEELIAj8BC2CG33ZEiWHDLhs9Bz9iMSPOzc1dsmTJq6++umLFiqZNmz7++ONTpkyBgC05aMIGiACAjBgl3A5A923gwAEC+g4BHw/c/o8bN87j8YArcb2zc+fOQCAAk8KYsCpiG7eDiUJ9vE0sgJl/OxIlum0vacSnT5+eNm3aP//5z7179+LqBidxI0eOhFMJArUnAZa9LdzmMeyAjwSQmJj44IMP4iq8bt26cMNxvbN48WL4lbAPyBRqANTwGELIAj8NCzidztuRKG33B/GJEyfgFs2fP7+8vByXNg8//HCHDh3Cgv/RRMuHEgJMCvw0Bvu69AJUiHJiY2Nx0/Xss8+2b9/+0KFDs2bNWrlyJa53YFK8BVHeLyf1AAAQAElEQVTCaIghhxCywE/AAvjw345ECY+ysrJyy5YtuLpZsGABmHH8+PE4fevRowd2lFjhNjDA4AUwJoQQMFds+oNBYBZc7wwaNOi5557DhfixY8dwcIHrndTgf6cMbwHoh4wWssBPwwKYzLcRUdr0h9Wek5Pz+eefv/DCC3AnsZF8+umn4Uu2atUKBAqLgAgQ20vdzvLTGOzv3wtYBmaBAWEWlIb9SKdOnZ555pkJEybApG+88caMGTOOHz9e9d8pgxqUAQjQDyFkgVvXAj99osRCxW0D1iqOHQFccH/66afvvfce/KCWLVviaqJfv36gS1AAgIGsYknISAEg/Hi4WWqGWWzYdAkZArgSt15jx47FVXh0dDQ+P9OnT9+3bx+4Ega3zY4OwOwYBQghhCxwi1rgp0+UWNIA1i1O0NLT07HXhuNz9uxZXN387Gc/GzJkCK5u4EvaK9nWvEXH8gduNugPVnU4HI0aNZoyZQpueJKSksCVb7311rZt2/BBgjHRJOiAUm0ZjyGELHArWuCnT5RYqACua7Zv347tNm5p4encd999v/jFL+BLRkZGYtiggJUMQACQEsKVLQBb4etiu9vgypSUlDFjxuAQo3nz5uvWrYOd4bYXFhbi82PzKeIrFxh6G7LATWsBzPafPlHC+vAl165da1/d4LoGvg+IslmzZvB0bFrEgoctbBkCsoRwuQW+KsNW4D7EMBfYEEJ8fPyAAQNwZDl06NAjR468++67n3zyCc4ubSPDwl8tJJQSssCtYoGfCFFioWK5AhBsYBn7/X44j/n5+atXr8bZGfaDDRs2xAX3XXfdBQ8IfhB8oi+NE5Y98KXE0ONXLQArgfsACAAEmB3HlLjeefTRR8GVxcXFH3744UcffZSWloYPFXSggEGxxwjCV8sMpYQscNNa4KdAlPbaqzIxHgE8YmXCo5k/f/5LL720f//+tm3b/vKXv5w8eTJ8H1AkPB2sXjuGAGC1I0bGEK7GArAVAE3ENmDw8PBwXJGBK3EVXlpaOm3aNNybHThwoLKyEoMCCyMGS0JAxhBCFrhVLPBTIErYGksUMZYrYnsRwpc8ePDg3//+d+y4s7OzR48e/dxzz/Xv3z8mJgYsCR1b2c6IXCF8TwvAnjAmeBDl4FgD9+BTp06F544PFYYA7nxJSQkoEm/xcbLVIF8DQqohC/x4FviJECVWqW1De62CJffu3YtjMlzCQh4xYsQDDzzQvn17bLdBkVWathCKr5cFMAoASoORk5OTx40b9+STT9auXXv9+vWvv/76xo0b4VfaCnYMzRBCFrglLHBrEaUikl9ASUKCIsHCBh6VKXHBvW3rtrffenvVylXwHx966KGHH364adOmTqcTQ/IlXwZLOrRoYZbvjy/MyIxh0XQdRxyDBg164oknWrRosW/fPviVixcvKiwoMAJ+ZY0dhk+RAiAAEGxAll8d5aoWonCg6jEkXIMFYLjL8dWcl7+9feSv2uFSim0DPN0aRGkGpDSkkoZp+Elhmfml6VMKOzlDGqYEOZaV5+Xm5WbnHD50ePbMWX/9y1/XrVnbrk3bf//Nv02eNLlWrVrY7mElS6mwgNHtKlQZoiolJFyNBWA3m8wgED5Q+ICB+yAxkxCS2ZQK3y+PxzN48OCf//y5Pr17njyZ+re//uWDGe8fPLAv+0J6bk52SXGhz1thmoaUppIBG0bAJ2VAKgPjK01DSZMoCKt8qUiCR1EpQD9CuJWrhMnsMbPji49KSamsgCGwIa0UJFqDghT7EQLwVRkpSAcgABAACAAEG5CBK8t4Cx0AAgABgABAsAEZuLKMt9ABIAAQAAgABBuQgctk05TglyCUMi1jYCYT5vRFYNRvDaKEx4gFSMxCE4pYKSZiwzD9Pt/59MwtW3d8vmTZ7Dnz35r2/j9fee3t96bvOXDI4Qmv27BxXGKyLyADAcM0YQupacJyYVCWDSJrjSMO4dotoKqyKEUWiynBxGQxGWIWDJN7ff6s7NyAIavXrBMVE3/mXMb7H8x+/p+vvPLGu+9O/3DOJ58tXrZy5559GMTySp9hSFMqoenM1rREoSwgMoEev6gMteIBgBDCNVpABe0Gj5+VVKapDEmmJMSAqfh2hTCZ8V1nBBhIWh9mfExsY1kWRro1Iy3x5v4ptJnZNJTlTpCG2JB8Lj0T6+zFV1/7v7/9/Y33Pvh8xepdB48VVPhjk2vVa9LSHZ2wdsuOl99+741p7y9bsbKouATLLYC1KKW1jEliqjCZWIWMwm/u7t/UrcPMCraPlVSmAcbUYFZDlpVX7ty97+N5n77w8qsvvPL66g1blMPTuFWHxNoNygxxLC1r0+6Dsz5Z9Pwrb/3fX1746z9fmT3nk+Mnz4ItsXAVsVKM8VKKAGKMWLCOy6KvSbrsbUj8GgvAqJpSQio2TTYM5fcalRX+8opARUUgGEP2lVf4yi4BMmA/QgC+KiMF6QAEAAIAAYBgAzJwZRlvoQNAACAAEAAINiADV5bxFjoABAACAAGAYAMy8IXs9VV4A96A4TOVocAMF20HdwwgzDRmvjWIErstYmIhSDgqfIH07Px5C5f84a8v/PPVt/YePp5cu2H/4XeNnfLQuPsenfLQU48/99unfvW7B594rt+wMaYesXzt5pdff+sfL72yYfO2ktJyAwsRhlD4WR8NImzrrAc8h/C9LBD0/syAv6igYM+ePR/O+ujvL77yxjvvHzx2AgM0ZOTY+x955rFnf/PQ07+695Gfjbv/0bH3PnL35IcG3jk2JrnOybSst97/8H/++De4mTv37M/NL8acVayTwMoOOv3M36ttP63M3603mOWS8Snze6W3zF9a6i0uqSwqqiwsriwsqrBQWF5YWFFQdDuiuKyytLS8tLyyzB/wmth9Wx9osKQNy963BlFimZimaZiqrMK7c8+Bt6fNWLBoucGOAcPvvPfhx8ZMvLdLrwENmrVNqt0goUa9+JQ6Neo2bdOpx4Bhoyfc9/B9Dz3WpWef0+cyp3/40TvvTT9w6LDfH1Bwf6xTGKkk6NIyROh3bRbAslOYTbCfVJbXR0qqygrv/gOHPvzoo9ffeGvztp3Va9cbO3Hyg488ede4ST37DW7etlPtRs0Ta9SPS6kTn1y3Zv1mcDB7DRx+z6QHpkx9dPykB2MTkzdv2/3KG++8+/7MI6knyyq9+KhJEspyML9oHWObH6zxi6SQdFUWwBAZXrOi3Fda5i0p95cHcNwvDLCnEoYFzSDNVJq8BMiA/QgB+KqMFKQDEAAIAAQAgg3IwJVlvIUOAAGAAEAAINiADFxZxlvoABAACAAEAIINyMAXshSG3/R5jfJyf1k5vEt/pSmxN8K8Bi7yw61BlGQdU3FJWfn6TVvenzFr596DjZq3vmP0PX0GDWvQrFVkbDXdE0YOF+lOkzVT6FIDHEisVr1m8zYd+g2+o9+g4VHx1ZasWDNt+swDh4/4fAEppQKsGaasKPS7RgswXD3LcgoRzhYrvP5tO3e//u70BYtXRMRV6zNg6JA7R3Xt2b9eo+ZhUXGaK4J0N+kuqTmlcEBQwkkONzvckXHVatdv0qFrjzvHjBs0bERkTOKq9Zumz5i5e+8+b8A0iRS+69hQWEBVShHmLoRrbG5IHZYkiT2mz/BK7DFZkoCbgI+RBZOsWOHAg011EdikA/YjBOCrMlKQDkAAIAAQAAg2IANXlvEWOgAEAAIAAYBgAzJwZRlvoQNAACAAEAAINiADX8iSAgYFTDYNZXiNigpfmd/0E4EdMNMI8w9z59YgSqWU1+9dt2Hja6+/lZmVP3DoyG69+lerWZdcEabuUppO8Dm/AUroekRskzYdhoy4q0uvfqln09/7YPahYycNiQWHux3GyoMhQrhGCyhMIHClwB23VIGA3Lhl+5vvfXAhv6TnwGF33DWxSev2MfHVWQ+TjK+X01RCkkYWMOWCAsP4kAFNsqa7w2Pikxo2azXirnG9Bw7bf/jYq6+/uW3Hzkqvz4QLyRfnK2HQrIYqAk1bQuh3DRYwpB8ncdL6FwmIQJS2DRnGJMueMPLV46ekKYg08CbYE4B1rO8H5jcYBXah4JSDSlC+qSMVMI2jx45+vmiRw+kefdc97Tt2iYhJYN0tXGF+xQa6BrbDcvpasMAm3a8c0QkpA4be0X/wsKOpp+YvXJhxIQe3sYqYLFAoXKsF2JpAkpSsrPRu3rZ9+qw5+WX+IaPu6dx7kCehBrmiTOE0SFPCoViTMLI17xRyCTIFSaGkIDwqwislDNAh6w5PRERMtS7de98xYlRxcdmrr72xZu26gGFKSSa+lhLKFArf2QKGIaWhVNCMbNueYH26GGDd2xPovzUdpWIT20wlpYmzXCSCVYhUML4FiFKRysjI+GzhZxUVlQMGDmrStJnuCFOsG0pga0ZwGDUd3eHgqvtqLJXym6S5wryG8kTEtGzbvnmrNvsPHlm6fFVZWQUuiJjBlbBKCNdgActkSknD9AcCO3ftwYFGYUl5v8HDmrVur4dFe00cd+kS/qNwSBLEwYseRfDeg5CsqqAwdhhiU5E1T5UIKI6Iim3Vuu3AIUPLK7zz5s0/cOAgalHB+UrqsoV9De0NqV60gCCMh7BYMmhIJgwKsyKhWBDzjwuFlnwDbljDKBgUTMBBCdPQ+ihjPqI1BD6xU4X952aLTdOUl0IgYK7ZsG3rzgNYhC3adHCERUpNQEET5HHomgIT4kfEmknwLklZ/osgZsI/TFijDsFSGkLoCkdl0dW69O7njohZvGzVyTNp/oCJ/BQMqPDiagw+hqIrW0BZE0nLuJD72dIVJ89l9B48rF2nbkJ36pqOrbWQhobJp2Be+DCKhfVACl6kFDKgscksASktAYtV04TQGCm6Lvym4YlJ7NhjQP+hd+aXVi5buTonN8/iU6UwRhhVUlduWujtly2grICZjo+RJAYLWFsBxhBiEC8DKTDDN0JhnG4YglVrpLDNACAAEAAIwNe26jokcrDLDE5RwppaKJKUSVKSDBqRrUQiEXy4uSKMaVWDQIgnT51esWqjcEU1bNbWFR5FugvNxsJjDLNp6srqHzjRkKZihn+pCC9gdqvbWFckDZ2VUEoTGs4lWXdVr9WwdfsuuYVFn3y6MC+vAHVBDYAQwtVbQJDm9Rpbtu46dOJUp179mrZq5wgLE2A703SS1DDPVIDItIaBlVRSCKFZ3zXwZkDJgGF4DcOvyDAMH1v/kpahpF8pg1kKTRjkFJ6oVu27tmzbcc/+g3v27g34cb6O+YoZa89dvvqmhjQvWUApkooUEVgAMcGIQVgmZUJMTF8PwrLCyvxX0GXhX99YT5e9vAoRq5fQAMwXAAIAAYBA39Sq759OxOBKxlebBFu0gidFDBvBVkSEt5hyZP3o5guM5ilYjisqKjZt2nzqzJkmzZrVrl0bXGiNAKP5DCE4dlIGAjphZZoalpkMmAGvkAGAkchKQJkUhjnYxltsaQAAEABJREFUS1iBSYjWbdo2aNho0+YtR44cMQyTggGV4q9VLP6E8C0WYLzPys7aun1bZGRUx06do2NihNDxvREIeKlgcyIIZAWGJ6Kk4QcnSmkauVmZqUcP7d+948j+vWdPppaXFrM1RmRKaxlLKYVg0zAjIiNbt24jTblt+478giJixtgpE5OaKRS+gwW+wWxIBr61POhcjq/qX/ntV/X/JYUVsfkNAK3/i+51fECbURpbcwt/g+Bg/EVkPd+8RIl2YsFkZWVt37E9oVpiy1ZtnG6P5TBazVZ4i5WllLSWjTTKi/OLc7OKsjMLss6X5ed4SwtVoFKoANxJhXPZoLqVhZAZzCni4hM6duoC2t2z9wDuIpgZqxsKyl7ekEK4ogXgleCU8Vz6+ZOnTtWv3yg5ubqULMFydNGSZPksXxTB+K5JQxPkrSzfv2f33I9nz3zv7Y8+eG/m+2/P/WjW6hXLS4oKlZWfiTUS2CeAEgULLSk5pWbduqmo5sxZKck0DFLBZfPFmH5RS0i6kRbgLwWBZyK+BOsRKZdgPV56VaVzBSE4YTCy34QfebwFfWP40V7A1Nhx2/GZM2dOnz5Tr2EjwGdITXcapiTWgmYDrSksm5KiggXz5vz1j//7tz/+z9//8P/9829/+GDaW7u3bykuyEP3NKxOi1MvdgcZWQgltMbNmqXUqJl68mR+QYFhGChLSon4ol7oz7dZoNLr3X/wIAajXsPGusOlaTiddBAxjElWwKKw/gR/SkkTY2EaxqYNG9595+1Vy5eUFuXXq12jekqy31eZmno8Pz8fOwhNcyiGolDWF4sx1g6Xp3HTFsVlldt37SkuKWW8FUJKgzCmwaJD0Q9kAQWX419gfbAU0yWYxr+8xWPVq6sQrqYTmFHfhKvJ/r10MCm/V/4bkRmLRAirYX6/Py0tTUpVt35Dd1g4VlHAlEJzEFsBlKdpuMuRpSXFB/bu2r1jy6ljhwrzss6dSl215PO5sz/cv2+v1+dV8EOIYGB7aSkSkuH7UERkTIPGTUvKK3Jz81CctNU4qEih8O0WyMnNSUs/F5sQn5CYxOwgpUkpmAQzvEdFiOmiMbGYBLbe0sjNydq9c/up40cbNah/xx13jBg16q677h41anTv3n0io2MI3z8mkCNbZbCVG+W6PYnJ1WPjE/YfPJSVlS204DtGefTTCJh4XwLmP1IQfxVIt2G/smXTNPPy8goKCiorKwOBgJ0IhSrBMCw/gCyD0tUHlABU6UPOzMjYsmXL2jVrdu7YUVlRgRHSNN0IGKZh7t+3f/26dStXrDh27FhJcTG8m927d+dk5xCxEJo0JZRJEREzCzx6K70HDxxErvKyciXBtQwFVIHvI7pjx8gohHVty8zY9h0/nrp//4GSklIpURCWsIIAmKYkEkQUzK6QHTKySCntlKoY6TIYIFwTUIJVwTXl+QGU0UkbIErMAJfbFRsXT6xLFoqYmNEG5mBMwViaPm+FMo0ObVtPvXfKXSPvDHM7jxw8cOrUqYrycuIg6SIPTBlUV4R7CA2Em1y9esCQhUXFMC4HQ1ArFH27BRRRflE+VmdkVIzb49F0h8LoKBhRCGIwI4rAE2ILiizDK5l+/uzJ40fDXI7OnTp37Ny9dr2Gdeo3aNG6bcs2baOio4XQiAQC5qVSIF1BQkOxEVHRkTFxmReyC4tLmKyimPGXfhohuHIlXwp2p/BkC1+KVTDYbyHab71e7/bt22fPnr1mzZrTp0/jWB+vUCxiADq6riO2ZQjXCrs65LpwIWv5shX/939/ePnlV/fu3eet9IEimcSFzKyZH3z4//3X/8yYPvPUiVM52bmrV62Z9s60w4eOsGLDbwiBBghoKqkQC9YyM7PmzZ3/wQcfguGZtYAfVI7vq5BSEWEK6Eg0DDAdE2lKifLyyiVLlk6b9l5mxgVNc/i8fiVJEzpKBrB+7Y8BcgKQ8cGAQFjyIF0iyOg+1DRNQ3eklHh19UCB4uq1f0hN9ArV+Xy+vLy8ME9YTFwCabqJfTZZXxKFd0EwETpgShNfE5Kmx+1OiI+Ljgx3OR0ut9vpdBmSQIjQhRpiQBEFDEOhHKL4akmVvkBJWSmqgymv1Xwo7XZGcWlpXmF+dFycw+kOSLgLsLHFkFxlFAXp4pNUppJmfm5ubnZWeJi7WkpyZFyS0t1KczvDojwRMbrTY40v1oQI7ruVYjurosjo2OiY2Mys7PyCQlRDWCLWHxT+UwAHg5QSqxH9wZNSyn7Eav8SkA74fD6wIfxHO4aAO8k33njjv//7v//0pz/NnDkT3hwcTBU0JtgBxX5/oGFNGjft2L5D7Zq1jx4+snTx0rzcPGnIgD9QWFBYkF9QkJ9frVq1li1a1qpZq379Bh07dExOTjENk4k1fERN68uHWaDAflJFRUS2btW6fdt2Ybh4IHboTglFJQTrgh2myYilSRBIwQMVLqenUcPGbVq3DQ+PgA+LpS2E5vP5UTvmglKkaeBigrmYWdM0EZxF6DsE9B22RToAAWaBgMSrB4rF5L56/R9IEz2xa0I//X4/MTtdLmlRIssgVypsn20NGCl4aaDpujKMHTu2T58+fc6cORcuXKhes1aNmrVc4REmrGjpqIs5iITQNM3BrHnCwlGg1+uVwYDUa7VgVZm3nyArcC9TUQ530jqgtFwGJgIwoxBbAxN8JCuwQpKSphHwg+asWSx0U3OCKKXuMiGTCEhrBWGQZPBrL4RFl2x9z1h3unSXp6LS6/P7oWUV+FP5YapjyqGziDH9SktLsQ06fPhwamrqwYMHN2zYACdx7WVh1apVixcvnjdvHvxH4KNgmDt37p49e/ANQq6lS5e++OKL//u//ztjxgy4mTk5OagCQPnf32bhbk+d2rX79+vXuGGj48eOnUg9oaTEpq0wvyAyPMLtciMODwuTpkxJSm7frn1cTExlecW5tHNHDh8Bk+Zm52BLfiEjwwgEBHHDBg2aN2uua1pxUdHJ1JOpqScyM7Ozs/MPHz6ek5VXXFx24ULOidRTWVl5gYDp9wdq167dqlUrj8djmiZOtFNTcb9w8vjx1MOHj5SWlCERdIb8J06cwKuioiKfz3f+/PlDhw6lp6fDOPC1CwsLYQrgO1hDfH/z3YgS0Bkbuq5L07QWjzKtZaiU3UnGkrpUsVIEBXxHYJqcvNyKykoWorCoCF88DAkyK2u9BZcuJLIPzxj+CwYAHj+qQEmozo5RFIQQvs0C7NCw8bE2MkpJhYBtThAyGCvE2EsRBseyPNhP052xMbGeMA+Ot0pKS0zDULA1JjgEpcCJYAoMLkoCmAW+YcSMZihFGEShCWZ8KfEEvxXF481PAegU+gvA2YFj+Oc///mZZ555+OGHn3322d/97nf/+Z//+R+Xhd///vdwG//4xz/+LRief/55/AUzrlu3zv7ew8fMzMzcuHHjm2++iVdIB2WgcFiaLVt+F4shezAbY+uma47GjZoMGDCwrLT88KHDRYXFhQVFXq8vOjrG5XQxsWnggCX9s4WfvfTiSxvWb0xPz/j4o4//8fd/IGXDho3T3n1v+vsz0s6eA8Fht/7aq6+lHj9x6uRpcP2f/vCXj2bN2bB+0wfTP5j+/vStW7avXb3+7bfenTN7DvQzM7IWLFj4yiuvHjlytKioZN26DXPmzHv//Rl///vf3313GgqprPAeP35i0eeLP/547rx5n2zYsAlEumTJsuf/9vf33puO78d77723adMmw8A5gPUNDvboaiNmvkmJEuOKTrhcrvDwcEWqsryITJ9DKE0oAffQuvTEe6xAJtKZGGtIEnfu1mPqQ4899sRTPXv1yc7M2L5lQ8bpY2R64chLeCjQIoE8GmsS9mJVXlHmcOhh4eFWWVjYSnEw2I9fxCHpKxaAzWPDohMi47xlFQGfT9M1xWQKG2wy3mNA8G1TxMjsIOFQ7EhMqZlUs2apr+LQ/j3pqQf9hVlUWZx3/kzm2ZOBijK4DcLSFkTCJM1AAUJYRBrwl5eWRIaHx0RH2R9Iu1CU+xMApjozPikKcUlJCbwh+JLHjh2DkJWVlZOTA2/ockAHNsHX3eFw4NOCGDJWil2OELAeRURE1KxZs2HDhlFRUSgWANkpdW3WQi7gsjzMxKgLS7JHjx7NmzeHG7tjx46TJ0/GxcWhRikVNmpKcY0ataKiYkBbubn5MTFx8fHVTp48ffTocQgOh2vjxs14TEpKMQwJHRw+1qxZG1lOnzx18nhqjeTqSQmJG9au37tzd7MmTRJi49esWp165FhKYopTcx8/klqYV+SvDHicnnat2yXEJhTkFlWLq1Y9uUZedtHsD+Zu2bgzISZZJ/eyRatOHjtbp0aD7MyCE0dPx8bER0dHw+UM2sEyNV1LQC7LrNeS5QfStcfb6XTGx8fDASkqyHdowjT8gtEA6+QbfwisR6yY4EsyMuiOqJjYeg0adujcpWHjJmDEooLCstIyuC3EULd++ANIZQpWht+Xn5fjcuqREZGapiEdUBhn/kITKSF8kwWio2LiYmKLCgpMI2CaAcIHjLAWAbIMblkxKJM1x0B6JLSUGjW6du+ZkFx96/Zt099/78MPP5z78UezZ324ZPHi3OxsHWyLAZCXxjdIH0SqtLgIfkuNlBQse7JGKuhR2mXTLR8wc6XEdxx/RZ06dcaMGTN16lR4lIgfe+yxp59+Gg5mFZ5++umf/exnv/zlL3/729/+27/922+CAb7nwIEDwVbMHBYW1rp16/vuu+/f//3fkd63b9/Y2FgQK0qHpWBdxN8VCi5LaVkJC0qpnty9R/f8grzZH826kJWZUC3e5XY6HLphGE6nE21ISkpCjWgPHiFj4GrVwsFlfSxnr9fr9/vR2piYGHAlmNeNq4WEBMTQrF+vHige7UxISGjcqHH1lBTIQGRkBPI6nS6HwwnK69ixU2Rk1L59+1HOkCFD4c/ig4I78dJSuD7OpKTkNm3aVquWCAGvoqKiW7RoMX78+J49e7pcLlgbBV6rEaxJfK15fjB99Co5Obm8vDw7KwurUcDwhD5Kaw1+0QhWxIapzECgsKgk7fz546knzqalGZIjY+PCIiIlqJSwchVZQYJANSZpGso0Tp04HuZ24f4Hg4qXVvH4E8LVWSA+IS4pOSk3J7u8rEQoA0YNImhuqwSMkg3rQQRFT1hE1649hg4bXqdeg/PnM5evWLlo0ZJTp884nU6H0wmaNU1D1wQGQilrpOBoaaTy87Lzcy40bdIoPi7ONCUGki2/CSVaJd/SP/QUUEoJYfW6du3aU6ZMARX+4he/ADmCKMGYD/1rAAlizY8ePXrUqFF33303iBVChw4doqKimjRpMmnSpF//+tdPPPEESKFGjRowLMqHH4AYtXw/W6lKrxcnWiWlpRiCxk0aV0tKOp+eHhEVBafRB2/NDJSUl3j9XkMauIYJmLjhk6Yyi0qKIEfFRClWEFhjxL6AD4+sKShLkj6/l8VjqxYAABAASURBVJTE/atSWMc+0ww4HJrf7/X7fRA0jQ0jgFzIUuGrQJZKX+WGTRuKS4u79ejm9DjzCvJQiCfcExsf27pt6159eg0dPrRVm1bQRAMoSHJg6mrVqsHOoGZY41pNESzjWjPdeH30B5U4HA5MHXxAzqedhffn1FlJg7ESMVAANAirhQVr4VGx7oio3fv2v/3uey+98trufQcbt2jZo1fv5Bq1WFz0FlkFtUmCKx2Ci4vyz548lRAbEx8Xq2mWDsynlEJsFXzT/W6uBsHuUVFRTZs08Xsrz589IwM+jQxMe2H9r7al1VbL2tCyRElgAtAgKcG16tQdMmzElHsfmDhlyviJk+4ZPwHxwEGDExISJbQwmIxc1hjpAnd2hun3njt90ldR0a5Nq6TEag5dZ4YCW2NplX1r/zDfpES/se2RpmnCq4LflJKSgiUNFyEuLi7mXwPcQyRERkZiqwt4ggGJtiv6P//zP2DJYcOGVa9eHWsHiwiAgVALoOGBv9d6z8q5sO/Avu07t59LP4dvZNduXeBXNmhQPzcvF/feigTuWI4dP3bm7JmcnJzwiPCi4qILWRfyC/KFJtIz0s+dP5eXn6c7dKSknUsrKy9zud3ZOdmFRYXZuTkkqKKywtIpyBMag16hU1pW7PP7UEhm9oWS0mK3x5Wfn5eXn7t9x7Y9e3cnpyTFxEZv27b18JFDkPv266PpYv+BfReyMqGTeSEDWdDjgsL8zAsXKisrYQBYQ0rJzBCuCd/LcNdU09UrY1AxaQB0rF69em3atDl25HDq0UMBX6VQUhfopMSODAUqRcQcm5A4aOjwifc+OGTYnZ269uzRp//4SVMeeuzxbj16R8bEse6EEvSVRbKSsVrJ9HnLD+zeVVac17ZN82icfLEViFAYCqdQ+FYLwPDYKTdq1CAyIuzs6RMVJUVCGkLh+21iSsGISsHSdjESByRSmiSYNV13eaolprRp13HQkOHDho8YOHho565dq9eo5fS4MQYYcYl5rKALKGn6yosLz505Wb929dYtm7ucDqVQs8DPLvonEKNH6DU6omkaLAChKobwJUAZgD4AAW8hIO7cuTN25diAg2FRDgpBDAUbUECKKSX2zhC+MwzDaNq0Se3ateDfecLcgwYNnDhpQp26taUyu3Xr8tTTTwwbPiwcJ/5M8DcfeOCB9u3bE1OzZs0mTZ7Uuk1rUGSPHj0mTppYt15d3Av16NnjvvvvxVfBH/DXr1//gQcf6Ni5g+7UmjRtPOW+KSgBvmerNq3HTbinbv06ld6Klq1a3HvflLr16oD7qtdIGXvP3YOHDAoL9yQmVUMbqlVLGHPX6PETxlVLTPD6KqOiI8GhiEeNHgnnOyzMg/2+bQcprS/TtRoBs/pas/wQ+ugSgJrwtezSqaPhqzh8YH9RYQEpCa9Su7gQGT1mTUTFxODTNnzEyLHjxo0dN37k6Lv69h/UolW7hOQUlyccMyaoTsxYeyTg2ZhmXnbW3j07Y6Mi2rRo5nY5mRkTjojsGEII32oB2Kp6cnLTJo3Tz509ezrV9JZrynBoLE0TbMbERFWzS7Fgy68kDBkrfLvcEe7wyHBM5OgYjydcdzqVBLMKOyMTLk8DygTzqvS0UxlnT7ds1rhW9WRdE1LKIEvytzbvllDAxMP8BGBMAG1GXAW8BZBYBfuV/WjLUIDziBO9atWqQbCLQox0W8GWg4/f12iNmzYZOGjQkGFDW7RsGRUdVb1GjWbNm0XHxNSpW6dP375j7hozavSotu3b1G9Qr1fvXqPGjOrVpxdYr2fvHnfceUe//v1atW7Zp19vqMEPbduu7aDBg6DfqUsnZO/Rq8eI0SMGDBrQvFXz3n17jRg1onffni1aN+vWs+vou0d37dGtabPGfZA+8s6evXrUql2zQ8f2I0beMWTo4F69ew4cNKBRk4YujxMnp126du7dp2fnrp3q1a8Dn7dd+zZ3jhg+/M7hLVo0hwMOuymFGycNwrWiaipfa8YbqI8BxuiiAghut7tTp05t27U5eSI1Mz1dmkbA8IEf8dZaidbQi4ApnW5PXEJiXLUkeJfx1ZJi4uKcnnAsSFMJwocJalLpmo7sgLei/OCBfbnZmQP792lYr46ufRfDWQ24/X5VPYZFSamEhPg+PXvAl9y2aUNJYb4Z8FvpjNkINgOq1MkaLPyYJQuTNEkavEYLLECiwdfBrEGJlHToGplmfk7W3l07khJienTrHBMTRcpkZgKIKRR+YAsw4bjQE+aKiAhzuR1SmQ6npulCaOR0OaJjIiMjw/HK7XZpmvB4XDg2CA/3QEYK0j0el9PpiIgIhxrSnU4dcWxsdFgYdhLK7XbGxERGRHo8uM8Oc0XHREREhrlcDjxGR0d4wpxCo7Bwd0xspNvjEJpyODUoxMRGReGtx+lwCKdTg054hDsa5USECcuZMpwuPTIqHJph4WG6rqtgYL7mySMQ6OYL6A723cxWf5gZzvmUCROSEhN2bNucnXUBqeJf28zCIXQ36w5DYhEyFp6hBMNUmk5CM4iklBhRLD9s/uDZHDt6eOe2ra1btBx55/CoyHC8/9fyQk9XZQEME+isXbu2ffv0OnH82NJFn2VlppMMwMgMIpNEinATju3eJeCJFQlFIEqWZMuWllWfQCYmgk8pFUnD58u6kLFqxbKzp04M6t+vWeNGuoZhV0JYXqe6lMnKGPr9UBbAiGNIAcKyFAJ7ectlwcdPKcgB0yQsO3zhBCvGWCvsIapSIAtdM5UE8JY1gdjAE/jX5cSjgTIwrJgGgk0loQ8gO14R44UiZkVkSslCOJwOPEqFqaKgoOm6IU1s52EJoWnEpDt0QjMwn6wspmkYUkq0Hw1HDEDz6oFZh8l39fo/nCb6A0gpUSUztWzR/M7hw7IzL6xfu6YgL1fhwMsyHRYVKWbWLAvCZkLDV8Wh2Drvl8RIMSR0YV6SpoQllZTpaec2b9oQGxM9ZvSI2rVqOnQdqxO1hHCNFmCC5Zmjo8KHDh54x7Chp0+e2Lh+/YXMjAAuNJUUWDPQQKGW+fGHiJViUoSMgnDfafmSGDihCI/MSMZLQIEGZUb6+XVrVu/eub1z5w69e/fCDQay4g1KwbAqCoXvZAGYNsgdVZlhySpUJX6TwMygDE3TIEgpoQbGsYVgukAKABm4XLBlO8YrZL8cSAfAkEEmtJrDmAyMjyIjRVnbCCVArISRl8KqHNWahE8t2BgzyI6hDx5gZZhg7IBh+OliusRU1Bw6yrKBzABqtIH6IMAwtgCZvpCsJyKFjBf7ZifcJLHVLHSOGe1hjA1TbIR7UK+urZvW379j0/aNa0oKc8j0w1IKdlEqgCsERaZigzS/RCyk0PEoiWF9Cwp6ARXwZaWf2bBuOS7Bhgzs1bVLR4/HjWH+sllQawjfbgFFID5lwrz169ebOGF8p04dDx8+sGH92kLcYMoA5iI0iARLixGFwpxna7YxHA0sMsTwL4Sp4CEyalPSJGUoA7fngZL8rI0rFh7fu7Vfj86Txo+tWbMmaxqhKGuVkC5YMCNLCNdoAZAKzKiT9ZVirAnFFvUoi4CsbxDG6wog2J8EQdtUiHX4h0IXrAmMBlmDy9grSAyjqVAqhv9SHHRQFINvgikUfAUdgMn6/NkKpFgBUiHdkiUeoUsSgmQULsiqRZBGSkgTaiiRSbKUShqSTMJMYzAqCV1zMGlMglGtZLKKRVFs1Y9C0GBMSeJLnQ2WwaYkvEdZkhRKJrSNCUGhBoEA8eYEM6N5iJkJ34Oa1RPHjbmzW8c22zauXrHo0wvnTwe8ZYa/0qFrmsD4oXOwBboiZLCzuoY9ALE0NRje8Etf+ZmTRz6d++Hh/TuHD+43oH/v8DA3ERPyIqZQuFYLKIEpxCSs0RG1aiXdf++Etq1b7Nm5ddGCuWknj1SUlRiBgDINBwsHhtAwGVszU7KSgiSmuTKlJoQgImkiUcNzoBJjeuzQ/s8/mXPu+IG+Xds9+ciDzRo3ZiwQEiSC52FEzMQUCtdmAWYmFoACncF+zLAoaMR6EoQEsoxM3xqsUpgRW5ogNiLIABEEhckgmEXw2eInIsjiUopgYkvNTrTiSzpWFrxhpGF7yBoRs5WGHJqAABCzzX2EByFYE6Qx9PFImmBNCI0I5RGRIGXpMCG7wCtGOkGPhUBXISGB6bIA7pBsKpZEEGEInO+wIGHlA52SYsbjZRluWlFKrC7RqnWrhx58cOjgQRlpZxYvnL9n28ayvAu+klzylzuFcjIgHWw6yMQjG14h/RTw+soKM88cX79y6dIF86S/YtK4saNG3JGclKjBUbep9abt9k3cMEwoTB/MPHyFWSmHptWskfLYQw+MHzOiojj/8/kfL/t83smje0sLs73lBcpf4RTSLcjF5FAKnOgk5QGDmn5N+jXlN7xlBTkXjh3cv3zJ50s++7Q4P2fSxImTJ0/G8bRpmhqGivkmNsYt0zQm/KNIgREsTmA03BpI6xd8BvPddrBMQsRKEFxJi2E1TWjMGsEilmEYk5z51iBKJrRbwEXUGzVsMGXiuHvuGuFkY+OqpZ/Mmr5rw8qMU0cKs85XFudSoMxJPmFWSm+Jv6ygKCf91LH9W9YuX/TJ7EN7ttWtkfj0o1NH3zm0VkoiwYthFEuYFwQBVgnh2iwA6zGRQCZwGSvl1kWDWsnjRt3x1CP3N29QK+PMsc8/nf35/Fn7dm06f/poYU5GWVFeoLKUTZ8mA/iM+csKvaV55YXZ6WdSD+7etmLxwuWff3r62OHG9Wo9eO/kEXcOb9CggaZpum79d3iUwpxFVTcPbr2WMBGM6dCwX8aeFNRASGEVFJTCCJK69Tp1XVrMhK04vEgLTJoQum5t3uGfwiqYehYE3QKBpYJbjJiYqXpy8p1DB//8yceG9O0h/KVrlnz6/luvzJs1fenCeRtXLdu+Yc2WtSvWr1i86JOPp7/16gfvvLFh5ZIoJ0+5Z9Qzj03t1rFtUnwMSenQ4JYTDCTxdb1d58f3HnkByzEzlh/mFJkBly4SE2J6dGr39KMPPv3oA22a1SvJO//Z3A/feuWFeR++hwFau2zR5rWrtqzDGK3asmb50k/nvP/mK2+/8sL8jz4AX3Zs1/Lnzzz+7JOP9u/TA7dtQuAURSKgCuB7tzZUADmFw6E5NNYx8y0oLAGAmcADgDWMdLsFBddRCKWz1FlpGuFLosNKHHQi4WXKoP8tbgmzaJrGWDdB6BpHhLlbNm889f4p//nvv75/8oS2zRvj+H/r+tWvv/j35//4/57/0/+b9uYr2zeuDXNQn+6dnnxk6m9+8TNst+vUruFyaviYojCGGfAjcmj6LWGBm7aRsCJba440TRDh2JFcLj0lJbFX944/e+qR3/7q2SkT7+7cvpW/ovjo/t2LFsx55R9/ffnvf3nx+T+CIo/t36VLf6+uHe8bP/ZXzz3zxMMP9ujSISUxwYGSiJhZCwYhgs8UCt/fAhwVGNRxAAAQAElEQVTmCg9zeZyaUyiNcBUnNf4CgqwdqIZhDEIQTryk/fhNMt5+0ys7HTF0AAgABAACAAGAYAMy8E3yFV5dnuVb1aAMHQACoJGyLCCUrrPDpXvC3BHh7khdOIgwAYVg/CMsiW6JgJaytRz5YlDoQZjHVb9e3bFj7/rFz39278RxrZo3VgGvv6JMJ0mmv1mj+hPH3vXME4+OGjG8XoMGDqeTiZhYEOO0llky45DtIigUrtUCDFsGEcwYfGKybHsx1oQWHxPdtmWL+ydP/PUvnv35s09NmnB34wZ1fRUllWWF/soSt84D+/XBAD37xONTJk3o0KZVfFwMXBpBphYcJKJgcXwxUCh8xQLXmiBYcwi324GLzMjIsJhwT5THGW4jzBke5owAwp3hNiADV5bxFjoABAACAAGAYAMycGUZb6EDQAAgABAACDYgA1eW8RY6AAQAAgABgGADMvCF7AgPd0VEeCIjPFHhrnC3ww2/G4aii7PPYklMQUG3YMB2mVmw0BxOl8vlriwvO3Lo4MH9e2OiIgb27zN08ACnJvbv3Q1UlpU6HdbHAVlI6MSCBLqMxWx323K7bSkUf2cLKOuYSyic8xBsqxEHQeQQOjxCp9OREB8XEe5OSzt1IvVw9eoJ3bp1qFs7pbS4IPXo4YC3MjYmwuNyCiYmKTCq2AYp9Z0bE8r4TRaAgVlpQukO4faAHdyRkZ6YyPAgwmLAm1FhsdGe2w9hsVGeqAjLkQxzOz0O+NpCs2xFLC/CsqiwolvnhwUEsNBMqUxJvoCxe8++d955Z87Hs4sKCsbefddvf/vrf/+33z7+2CMul2Pu3I9fffXlHTt3lnv9pGlSsalwe4PeMn5EKCn4NxRduwVgQRtVWRVZLrrBbBCbBN7TJEZIsmmYu3fveuutN2d/OLO8vHjSxHv+6/f/9stfPNemdat1a1a/+upLK5cvLysr1XWdiHEiKRUo9xablnSLBMtdkEwK50+6ULogXSOHBXZq7NTJoStdUw4bkIEry3gLHQACAAGAAECwARm4soy30AEgABAACAAEG5CBK8t4Cx0AAgABgABAsAEZuFyGBQQJWINJI4ULHAoGJgLIDrfIjFQWw6lgQLulsliurKJ8/4GDM2bMXLRoUVxs7H333XvffVNatmxRr17diRMmPDR1alJi4uefffbuu+9u2LS5MPifWiRmAIURWebAvAnKFArf3wKwJGB9iPAHw0XwMbWi4uLt23fM+nD2mtVrqiVWmzp16j1jx7Zv13748GFPPPVExy4djxw9+u60acuWLs3NyzMMk5ALg3upNcEBv+z5Unro73ezQHD6E5P1VynE1veMCQ4UBCYr3RLYEuy3VY8QACQCEAAIQVgfxapHCMDl6V96vPzV5fK3qkEZOgAEAAIAAYAAQLABGfgm+WteoeOEXjALZiYArAhAoKqA5yr55hXgaBiGwaBHSKbJJHNyslevXPnayy+tX7emVq1aUx96+P4HHqxXv6GG7bjTnZSccvfYex5+5NHWbdpu2LD+7TdeW7p0SUZGOin4K8owTNxkKSVMfF1Jw4y5eXt+K7QM4wKQlGYgIJT1CWIlA4FAXn7B2nUbXn3tjZWr1jRu3OyRhx+7d/IDtWvV1YQjOjqu34D+Ux9+uHPXLkdTj7/5ztsLFi7IyMxkhlOpTNNmSGX33n6w5VD8fSwAr8kG7CywwWSNLVj8wEwMMhAMxrjdwELADkTB/jNkZiLAeiYrlS7FEG5qMLMIHl2BJ9HQ3Nzcjz/++IV//GPJkiWdO3f61a9+NWbMGOt/6MaMRWWapqZpcXFxw4YN+/Wvfz106NATJ1L/8ffnP/xwZmZmpt/vdzgcKI+IoYaYQuF6WICZMN+sb5kJx5Dy8nLfe++9P/3pTzt27OjSpcvPfvazUaNGp6SkaJq1xSaisLCwfv36/ey55wYMGHDu3LlXXnll1qxZEDCCGGsoQEAMYNCrZDyGcAMtwES3Iegbg20MvAZpIr7ZAe7D4kHMzFhLn376KYiyoKBg+PDhDzzwQOfOnaOjo/EK3YCafulfUQ4PD2/fvv0TTzwxfvx4LDZkefvtt48cOVJZWYlHILT8YLHrBdgTHx6MEQo8derU3LlzP/nkk+LiYvDgfffdhzGKiIiAwQEoIIYmhqxJkyaPPPLIuHHjDMPAsM6bNw/jC28UrwBoAhjTKhmPIYQs8BUL3PCEW4MosQKxDisqKo4ePTpjxgy4KlhXo0aNevrppzt16hQZGWkvJMRQA7AIsboAZGzQoMH9999/7733JiQkgCv/+c9/wscpKSnBK1gXmohD+P4WgPFhTHyEUlNTp0+fPmfOHIzR6NGjn3zyya5duzqdTijYtUANYwQZQ+B2u5s2bYqvHcYI44WRRd5Dhw5hrG0dxGBVKIcQssCPaIGblCixNgDYBTGA1VJWVrZx48a//e1vM2fOxN4ZS+vRRx9t27YtZFsN6xArDWsPwLK0EyHDwaxdu/bkyZPhWjZq1Gj79u1///vfP//885ycHKxYZIEmgCpQkQ08hvCtFoCtYEDENqBfVFS0efPm559/Hizp8Xgee+yxZ555pkWLFmBD6EAB1raBQcF4ITtiDBY+ZhMnTsTHLCoqav78+S+//PKePXvKy8sxKMgFILsNpEBASgghC/yQFrgZiRIrAYAVsJDshQGW3LBhAzbOiOvUqfP444+PGDEC9AceBKCJ5Ye4Clh+gP0KAtLhTvbv3x9HltitY2Non4ilpaWhCjg+iKGGGNVBOYRvtQAGCHaD0WxNmA677FWrVsGwiBs3bgwPEWOEQ0lwInQwFvYYIQsEO7ZfQQaqV6+Og2Z8zOrWrYtRfv311zdt2oQDZeRFXVCAAEDAGAGQQwhZ4AezwNUQ5Q/WmIsVYWHYwDOEvLy8xYsXv/POO8ePH4d7gu02VmCNGjXst4ivDJSAdYXFCW8Fe8AHH3wQp2ZerxdXByjz2LFjeIt1jhg6WIdXLi30tsoC4D7YFnQJ4Lx4+fLlM2fOxNlIq1atwHd33nlnUlISlGFYxN8KGB/6I0eOhB/arFmzvXv3fvDBB1u2bMnPz8crVASgIsShMfpWY4YUrrsFbkairOok+AsLb8aMGdiLHT582L7FHjRoEK4FsEoBLCEsG8RVWb4q4C10sMAgwIVp3rw5Ts2wE4e8YMGCl156CavR5/NVZYRmlRwSrmABMCBMihgfm3fffffFF1+Eh45Dyd/85jc9evSwr9egADujkKu0Kj5muAr/+c9/3rp1623btuFAedGiReBK1IJBtMuBAEAOIWSBH8wCNyNRYhkAcPp279791ltvgSgDgcA999zz8MMPd+nSJSwsDMvPXnhYP4Atf5PJ8BY6KBAKiPGIk0psDJ999lmsxq1bt4IrFy5ciCNLWw060AzhWy0AQ+HKBWe+GCP4knD3cHmNK2y47eA7vLWBrx1w5dIwKNCBPgR8BXv27PnUU09h33Dw4ME33ngDJ56gYMwBfBqhg6KghjiEkAV+MAvcFEQJhgIw+21Ahou3b98+7I6XLVuGa4F7770XtzcgOFzdQMdeLYjBmACEK9sLC8xWg6bt4MTHxw8ePBi7eFyaHzlyBCdi8+bNS09Px3JFUYhRC5phC0gJAQYBbINAADBGuHLBPfWKFStwXTNlypSxY8c2bNgQY3S5uWB52/6XJ35Jhg7GBaNjA9c7uKZ76KGH7rrrrtLSUkyDJUuWZGdng4uhgHFB7YgBtAfA45cKDD2GLHB9LXBTEKXdJcx7rATEuBbAcT62ckuXLq1Xr97UqVNxH4qLUawlrCgsFehXxbaAlG8CFJALbxFDhoAqUFRsbGzHjh1xZAn/BYsQ55VY87jngecCNehAEwgtQhjBBkwByyAGNxUWFuLIAkZbu3ZtrVq1cJoxadIk3OFA4Wthl3CFGLkwQIAtREZG4jwaowPyzc3NnT59Oujy9OnTYGcoANC0ARlNukLJoVchC3x/C9wURIm5XoWzZ89+9NFHf/nLX7Dv7tat2y9+8QssFRx4YXGit1D7/qsCDg6KAim7XC5wJarARg8rc+7cudhFrlu3DkxtV4QYgHIIsABMAcD+J0+exHb4f//3f3fu3Nm/f//nnnsOY4TtNl7ZahAAyN8ZGG7wIG51cN4CugwPD8dnDI7/jh07cCaDYvElwycNMZqExxBCFrihFrgpiNJeVFgbYEmw1fvvv5+VlYW7aZwk4logJiYGawY+IAwBHVsZ8vcBCgFdYo1hX48d/fjx43HZCqcVO/033ngDF7g4srTLh6YtWPFt//P7/WfOnAFLYowyMzPhjIPF+vTpAyLDjhsmxUiBvGAn2BbxdwaKsi1fs2bNCRMmYF+PabB48WJ8RA8cOFBZWYmSURfiEEIW+AEs8KMRJZZBFbCo4B2kpqZ++OGHs2fPLi8vHzVq1DPPPIN1CCKz1WALsCTWBpSRgsfvA5RgF4VVDQpOSEgYOXIk/Ers9HHuNm3aNFzv5OXlQe1L1SHl+9R7a+VFZy8HWBJHEx9//LE9RmPGjMHVDQ55cb2GfsGeMCaEL1kMKd8NKAdlIi+29rjYeeKJJzA6q1evxn5/165dZWVlUMBboKqRkAE8Ig4hZIHraIEfhyixomxgTkPAgT0uT//617/CXwAz4hQf/h22XaAwLAbE8C8A+CxYOTa+swlQIEpAaRAAW0AV2HrDM8L1ztChQ3Gr8+abb4K1cSgGdgBBo5FoKiq1Ywg/eaDXNtBTdL+kpASfkBdeeOGDDz6ArXC39uyzz+LKBYMCBZgUMYwJAYAA2yLlOwPZUQ6AogBcvt1zzz04JGnevPmqVaswVdavX19QUHD5cKCRaDDiyxO/cwNCGUMWuNwCPw5RogVYCQAEHNXj2vSVV17ZtGkTXIZHH30USwIbLiwSKCDGYeINnfooHBVhgeHIsnfv3vArJ06ciBM33B7gUGzr1q04soQOFiFiAG3+UfEDVY6ewiwALIMxwr3zP/7xj5UrV9apUwcmuvvuu6tXrw4KQ2swRtCBcOOAinCx3rVrV/iwGCMckmJoPvnkE9zCoWrAbi1itAFtRhxCyALX0QI/DlFiQtvACgRLvvrqq7i6wXEkfElssrACsfZsBcSQr2OHv1oUGBCJdi1YjfBkcYGL41HcIIEd0DZc7OI0AMsPCxKA8u0AeNnoMuyfn5+Po1scR+DqpkuXLrhdueOOO2rUqIFXsANiwLYeHm8QUAWGCV8vnMZgkuD8GocAcPmXLl2akZGBSqGA1qIZiKGJlBBCFriOFvhxiBIdgJ947ty5d999F67B+fPn+/Xrh23vkCFDcFxokxFmPPwILAAo31CAEVBjVUWoF44tDkmxIHHPA48SjcSRJe6XoAPlG9qYm6pwHBzjFGLmzJkYI/ARxggX3Bij2NhYtBPWgK3sMYKMlBsKWB7DhFsj+JU/+9nPRo8eja/s22+/jaMAtA2v0AZQJJoEuryhaQu0XwAAEABJREFULQkVfhta4PoQpfVfv7X/38OlJKlIEpkKUBCtvxCtNLxBCiY0ViBcyDfffGvWR3MqvYFx4yY8/vjj7dq1g0MHHSF0THcJVVJCELMiAm7U6GCNoTqsLsQ2UBOcF/hNuFAaPnx4Vlbm66+9MnfOx8ePHvH7KpU0CN1UJoRLkKRMCjY42FS0FkAxPybQAhsXm2S1EI38ApLMIAxFBgWhyDSVIdEZpcorKvbt24ez2unTp3u93jFjxjzz9NMd2newr250XYPF7O5VGc1+vBEx5gyKRY2ApomGDetPffD+yZMn4AQZN0vvvz/j0KGjpinREtM0EGMWYQ5+AaVMiTSSSgHK+msqGISsGIKdjAG0gbpCCFngcguIyx++jxxcf1hikkAimKFYfdJacKbEfFR+U5ZV+PILCi9cyDxz+uSWzRtnzpgx/5N5uBa4e/z4yffdhw2vpmmKhAIvMiFmIZiJSQbxfZr2LXlRL5YfXwpSSohIAVd279794YcfGjN6NJh9zscfvfXmm7t37SwvK5MyIE1DSUOZIE2r60rKi1DyIjF9S7U/5GtFF1uFttmwKBQjYxLoQyplGKY/EPCSJQTQt8Kykq07toMiP/30UzhxOJG8H2PUtBncOg2mwbgwWX9hKcZAQcRgMd2wgHpRFUYKMWQhqF79OuPGjb3rrrsSqiXP/2TBe+9P37t3f8DvV9IsKy3NzctPz8hKO3f+fPp5fOeKigoCAR+GTGI6KiWVMsmUhDkKdg1IfPkIDEmWUYKDd8P6ESr4VrXAdSJKe4oREwvLCRSkrP/Wo2JSOlNpXv7Z40dXL/181vS3X3vhb3/+n98//4f/WbJwrr+sqG2Lxp1aN6uZGOd2asykCeQgOKMoj6wpy0RoIYCnHwhKKWZGZVJKcET79h0mTL5v8n0PStbnfrLg5dfeXLd+Y8BUUjGxzpqTdCcJPQiNhEas0Q/eZrT2q2DCeFggBMaTIELbAAiARuxg5SDlEOTS2KlrLlJCZ91f4du6adtLL726bPnK6jVqPfXM0w8/+ki9Bg3cYR6hCWKyQD9qYGEy1W/U5MGHHn7qyafiYmKWLVky7a03Nq1bs3fH1uWLF8x8+/U3XvjLC3/6n1f//ud3X39x7qz31yxffCr1qOGrJANfOHwLdWJNYcA0hxA6Ed8M3aJQuFktIK5LwzDJhMS8Y8UsmUyWUpOGCmRnnt+0auW0V17663//x7sv/XXDkgXpJw4YJTkJYaJT8/rNaiWe2Lvto2mvTX/rlbWrlmdnpldWluOzrwcbBa5UhAIFMYAarktLv70QOCzgSgCqUipJomadeuMnTn7o0Sdatmm/dfvO1996d+nylbn5hYZU4HST2GTrv9EK/8SQQQ+NSF0GlPMjAa2QRADaw4pYBqFI2LKSrBRJk3zeQHlxWVlhcUleQeaZcx/PmPHy3/62Z+eOFq1bPvH0UwMHDU5ITGQdtEIGXOlggT9Sj6xqFZFJgjW3JJEQnzB48MAH759SLSZizdLPX/jLH/ANnv7ai3s2Ls9K3VeZczbv7JHUvVuWzp/10p//3yt/+9OH77xxaNf2ovx8v99QShgmBSSjNEWwj1V46BeywNdaQHxt6rUn2mSG2caYgH4ZyMzK3LB+1QfvvT172ttnDu6rkxA1ckDPB8eNfHTy3U89MPG5h+/95eMPPvfIvZNGDamXGHNw19Y5H7z3wbS3t2xYU1SQawQMuwGKsCitMhX9cETJbNXFzEIIxCyYhIhLiB0yfNhzv/hF334Dzp479+rLr8yc+cGpkyfLykrLyyp9PnQa3wiAbqIAFlQyuKe0bCiZL4diwka1MC//6KGD61et+Gz+3NnvT5vx9uvT3njx4xnvnDiwOybc1bRxgzq1qguW0vCT9VGQdu8UqAol2w8/Qsymib2zkIowOMUFubo0qkWF1a1eLSHC1aZJ/bvvGDh17J1P3jv22amTnrhv3EPjRz80cczIwX3CtcC2dSvee+Olj2ZO37V9a0lRscAoM4abJSFGTxQrC5BCCFngcgtcH6LELANwACSlqZSRm3Ph84Xz33njlTNH9zevmzJlzJ0P3D3i7mEDenVs3bJBrSa1kxrVrNasbkqXNk3vHNBryl13TLnrzjZN6u3btmHmtDeXLPykMC9bmqYFKXF4BvHyFt9oWQbPKFGLYRgqSAcaeEaqxLiYDm1bDx7Yt37tGvv37Hj/7Tdee/Hvc2d9sHHd6l3bt5wFaRaXKCPAyIIiTFNJiUJ+VChCSyyA2UCYCo0yzeCzaRYXFOzZvuXD999885W/zZrx+uql8w7t3XjuxN7S3LNN6ib06ty8XnLM6eMHP3jvzVkzpu3fvdNXXqpMg+GbKisQiPYH7BsajdoQm6ZlWLRAYJ75jVPHj8+bNXPF558mRXvuHzfm8QcmTbrrzjsH9urapjEmWP2kmKa1k9s3a9C1dbPRg/tOuWvEXcMGpMSGb123avo7b2zdsDY/J5ckCiOMlbU5gHdt2elHHzj0NYSbyAKGYVwfosRCtD7vAod2KuPMqY+mT1v66ZwasRETRg0bM6x/q0a1qkV73Gw4pM8p/TpiCrjYdLMZrqlqkZ7m9Wrc2b/nY/dPbFgzaeGcD+FaZpw9hZYJYk0ISVieqOGHMxxWIyrTNA1riM2ACHhz0tNWLl7w3uv/XPjRjNLscyCRpEjnqYO7ln86e8br/3jhD//1//32udde+MuaZYsyzp81Az4BbiUF1xh0j6J+PCi2AuHmAkTAbO0wpd9/6viRd1974Z9/+t2uDYuqeYwBXVtOnXjnQ5NG3j9hxENTxjz2wD3PPDr5549NGdK9g8tfumHpwhf//P9mv//u+dOpuBUnaygsV+wH7hRYEjXCzSdmjQWZgaMH9rz9ygsbli/q3KrRQxPGDurRsVmdlPhwl1MFHNJwKsMBSL9D+iMcFOPR6yTFdW3bfOzwwZNHDXMFKme9+9bKRQvLS4pZmZoggnFYQ6yCPaSrDSG9n74FfD4fJsh16aflR5mmkZedtXHViu2rV3Vr2XziiOFgwNhwTRdejUHJJmY3KykAiTNMU1NSF8qpUbhTi3FTkzrJo4f0b92s4Zb1q1YtX5KfC7/SEEwa0w8ZsCCZrSrBkqbleeXu2rTmvdf+Mf31F3dtXBXrNIf07vjsQ1OefXjyUw+Of2DsHSP6d+/Zpkm0Fti9adXbr/xj5juvb163Kjsz3fD7NI0RfsjGf7kuZmJWipgII20ahq+yLPXQ3o+nv7NzwyrQ/YQ7Bt539x3D+nRuUbd63cSY2tViqsdF1kqMa1SnRpvG9Yb37PjohLsmjRgS79bWLP4Me/Pjhw76KyqU5YXxl+u6kc/M2P/j5MCKlcTZqpF+5uTyzz7JOHWsX9cOQ3t3a1o3JdLJTgWK9DtJ2Y1DLEgJnN8YAU0GhOFzs0yOi2zXuN7Yof3iPdpnc2etW7msvKRUoVB8kK1acBmp3ciuhMq+9SwATsDyuQ7tVjhMFKrSX7525fI1ixe1ql93RN/ejasnusnvYJ8QOOHCrs1yZ1AfQMokLF/CxxtTVLHpxxSPdnFKfOSgPt0b16u1bNHCFUsWl5UUQw1ceR2aeNVFiGCAumEYhw4exB7to/fezD9/uleHFvfeNfypBydOGjl4UPd2Pdo26dG6cbfWjfp3aTVx5ICfPTrlwQmju3doceLQ3g/fe2fOrJmpRw4F/F60H0X9eGBl2ZmYwR0K3hN4AScG504eHtq3+9RxY3u1b5sQ5nFL6WHlUgC5SHOycCj2kKzm5pQIR+8OrR6aeE/39m2OHTgw7c23Nq7bEPD5f+BBQS8uOvigTKbSonxsWY4d2DWoT9cRg/smx4a7KKCZPgcZmjJYGdK6WdQkkYI+ERhTY3ihkqUJhTi3aFE3Bcc+0W4Hzis3rVvr9/qgYxJuqxQxRAqFkAWqLCAQqh6+p+A3/Nu3b/t0/tz4yLAxgwfWT05kX0WYUzNNn6KAUpiEqMGagtZMZMxbzEf7kZikMnzC9DnJbF6/9h0D+8aFu+d9NGPLxnV+b6XCrh5ZbxxAJRasChQikIpUXq939coVb7z68tb1axrWqjb57jtwRdCnS9s6iTHx4c4Ih4p2Ej4DEbqMc3OMm2snRHdv1+ru4YMevX9Sm5ZNdmzd+OILz+/cusVvcSWhWBsonlAXEqzYerqhP6tS+F+wr5RlpWUrly3GsQY4ZewdQ4b06V4rId5F5GbhxnAYSkgGGH6boQmTddN0BLweCsS4RaNaySMG97tn5B2FuTnvv/POru27Ksu9VS1X4KMgqlLQPwtfPF8fCQ4+ZmxRYdGqZUs2rVvVqFaNvt07V4vGIBgs/RpJwcqUhiSWpJmkS9Yl4bJeIxamYZA0dSF13HIblbHhzjbNGo4bOSxQVvLp3I/TzpyBgjUdrd/1ae0PWcp1q0sFB/L2jK9oRHHFt1d6CYcLHmkVcrOyVyxZUllSOKB315rJMQ7hc+jSVCZpDqW5dYHJ6zeVESA2IBJuYwNC+YgCArNaCNadRMKphMcwWtRMHNmvE5XlbFq9tDi/0DQwbldqyfd6B8JCowwDHTFMa5H5TfJ6K4/u3bP4o1lGXtaEYYOG9+7ZvE7NeKfmNvxhynDB/5WGMKVGAo6akjhSUJr0eaQvwcXNqscP7dJ2aLd2ZnHWrHde2rJ2hbeiPICSidB/i/OVxIolhQArfK+2Xzmzgp0VoVNSKtNXefLw/uWfzo138/jhAzo2qRvnlDp5NQ2XIz4CxzAp8CSxaRpCmQ6Cs0+mDs+S2QxoRnlSuOjSos7owT2d5P1swdxTJ04YAWkYICaF3vlNw4RIUqF36srt+va3KECSZRyrEdZfyURKSiE0I2CmZ1xYvXx5hE79enaJjvBocByFqTQCvfuUMDRnpXKUGVzkkwUVstQnir0UIFdAYR46DKVMNBJkqQLRHkfbBnXGDu5TmpW2a8taX0Uhq4DD8jtR/7c38lbUQOctXDIuLEFSkpUEq5iwsJIYwNsOMIKSRpUdyFqlF4cXUwHAg8DvO0ApKzsz20Ig4D+4d8+ebVubNarfsmkjl45lZ2pYhQrswH4pAgrOiqY0pwSEw2RNsqZYaEJjAaYkwqNijYROFO4Q7Zo37tW1Q0ba6dTjR7GU6YYGZsJ0QRUQWEnTOHn8+IJ5c7zFeSMG9unRqU1ifLRTgBZNoQy8h5Z1dUwgd5cSDuFww7CwBzrtIKkrIyk2on/PziMG9yvKyZj74fSD+/Yo0wCRsGUuVANY1sOfGwo0SSl2OHBkJ4sK8jesWeUtLRrSv3eD2jXCHOzADYZleNNiHywW1kxQjtA06AthKGkwRk3zGQrN1lk52ESu9i2bwCTnT6fiELmivFwqkxmcCgoTxIIIhAbQdQ0oECBmwUylpWXr161LTzvTrmXzerWqu5yoVComUyqvYZqas7jCf/zU2c07dq5Ys3bV2g2r1m/as/9IWkZmZQA9EUTCiiYAABAASURBVMQspbTXBCkz0uOy/kWM2tX37tp29swJIokqrmvjb67CGAYQVpPwBZIKk15CCEIqazJUMSjmJ3D54zfJ36qGjNABIAAQAAgABACCDcjAN8lXeHV5lm9VgzJ0AAgABEUsYRnLLvhhrrHCTCDMazwGoZQKmi348J0jZi4tLtq/c1uES/Tt0SXC43Q4NKmUiZlIgnRnpcG55WZ+pSqqlJjHpV7DJzU/O3xKh/uG4SKymkaXAprl8bh79+oV7nHv3L4Te8ZLb27EXyYYSbPsYJjWnCnIy5r9wbTUI3uH9O/ZvWNrl66I4cd4JUmlcQCdAqcIl0+KMj95pe412WA9oDS/hG+lNCxnaUa4nF07ths5bHB5Uf7ihZ+cO3vWDGBUiPgSyAr/0m0r4Xr+mFkIAV4I+Ly7d+w4sHdX397d27Ro7nLquqahs0y6hHtv7U+FX4qSikBBWWVBmTevrKywwlthmIYSrLtIaCY8YsNgJo9T79S2ZZ3k+H07Nu3Zuc3iJ8sqeGOByO4efc+AUi6VAAvhiQ3DlFIqU17IzNiycUNSfOyAXt3D3brhrYSrScysOQNSpJ4+O/fTRW9Pe3/69BkLFy6c/8kn8z75ZNr06UuXrUzPvIBeMDH6LgSjfNPADJUJcXHt27U9n3b2yKFDpDDWeKPw+0kC85uYWCgWxDAtSWkNoSlBmgBjlwQYUrMBGbiyjLfQAQxp5YIAIBGAYAMycGUZb6EDQAAgABAACDYgA1eW8RY6AAQAAgABgGADMnCZzFKRtD4VsAnTJTbCNAAIAetI4M93AzIrpZjZNM3crAvnT6e2atKgXs0Up1Ay4NcE0jkgRWFp5ar1W977eMHr0+e8+u6Mdz+YvWDx8m37DmcWlPuFW+pukzWCV4L2We1AyxSeHJqIj4upUT35yKEDOVkXLiN3S+l6/phM1KfpqFXXqKQod/GCuXu2b+jUpkmn1k0inNLtYE0nxtmBhu8ONnFUaajCcl9WYXlmQVlGfsmFvOKsvKKScq8hLxKTSxeaMiNcWpd2rfr17Hr21PFdW7cIBTupyztyscfXszP/WhZb489MBfm5Sz77RPor27dqHhnu0TURMEyh6UyClVCg+AAdPH5y5pxP35o+6433Z7727vQ33p++cOmKzKxcElpAKtYdmhAOjTRlJMaE9+jU2qgo/GzB/OwL6aQkOqKUVApjR0SIq4DH7wiMCRAszSpR01E/GUbg5LGj+TmZrZs3SoiJdLDEmQ6GxZTKZD6fmT3/s6WzP1l0JiOradMmI0eOnDhp0ugxYzt27uJwuQ1DoY2GaUjTVEoJDKmmYZbCBHVqwjPVDuzbV1SEy0M0GB1C/BOEVNIkw1SmYfp9AW+lr6LCW45vYjAuL/OWllQWlXhvM1QWlXpLKnwVuE4ImPB2DAXSJMxmaxpjEmI2uFwu8Z2nAzNKsHIbhpGXm1tRnNeqacMwp85KYQLiBephoYNBVm/YPGPO53MXLV++ZsOyFWvmfrLg7fc+mPfZsmNn0isDmL1YCdBF0xhOFwoFNCaXQ6+enFheWpyeloYBxuSuAgq/XkDFCif9zIYyic2jh/dvWLO8emJMj07tYiMcDvIp06vQRmVihUmYTXNk5hV88PH8P//z1T+/+OrfXnr97y+/9vLrb69YvSY7L19KpWPlSYNMnzB9cZGeTm1aeDS1bdO6zIx0ZWI5BxuuGN8GS2IrukE/dI2IfT7foYP7jxzc17BuzZpJ8RphmZi6riuhSVMKoSsSFb7Ajt0HZ837bM7CpYtXr1u9eSuwc/fe3PwCQyoffgTOVTJgOFg6KNCkTkrTejX3796RevQwuqtMQzALVEZE6BE+yyTp+wW2SpAKkyJIloqsQgMBX3raaU2ZTRrWd2hKx8SRARyU6rqj0us/eCx1w9bdBWVm2w5dBgwY2KFjx/YdOwEDBg/t0btPbFw8sXDoDk3TWODbjAYrq82mER0ZnlwtISM9LT8vz5SmxBr5fo2/OXNbxmS4kNJvghUqyirLSivLyr2lNsCSQZQE49JgDBm4soy30AEgABAACAAEG5CBK8t4Cx0AAgABgABAsAEZuLKMt9ABIAAQAAgABBuQgS/kUssIJeW+Mm+g0m/6DWliyWPeqWDAHNQ0DVPlOw6rlFIIwYxtkZGWdjbc40qMj/U4NQeKBFMQwWeRBO7jvILC8kAgpVa9QYOHjLhzWKtWLQuKy0CUC5esTs/JM6S0iCi4wsiKFbMFj8uZmJDA0jx75qThDxCRxCgTmq0gX0eYkrAiBYvK8vLtmzdfOJ/Wp1unmklxbk2BSxx4odAsRl/RJyhXeANrN25dvXH7jn2HT6VfuJCbl1NQmJtXWFHpRTnWKlPSWoykNDYTYsJwu5p28tieHdvMgN96i8KuY+uvWJRkriiv2LxhQ4Tb2aoZPmPsYFPDpwztQKcEoVeGVAHFpV5fQbHXHRHdrVffiZMfGDduUv/+A+PiYqSUTt2BSqCpCQLPUsCXGBPZvGHdsuL8gwf3mgGfgGkUQ+cLMEqXXzxes4S8ys6EPwCDOE1ZUVqSfSGjdvWkxLgYF0xs2VljgS2f9AWMI0eOZ+UWR8fGNm3eKjExMe1s2ubNWzdv277vwOHCknKnO8xUMD2oQmIO2YWTMh06h7kd2LtUlJedTTtLUKGfbFAkTRko91r8GJA+U/klmZIMeTE2FEvF5iVABuxHCMBXZaQgHYAAQAAgABBsQAauLOMtdAAIAAQAAgDBBmTgyjLeQgeAAEAAIAAQbEAGvpAlY2X6Ko2KoGXKvP4KqQwwTRAXI/HdJgUHA1YRspummZ+fF+7xREdG6DorGWB86glLB9MdUIR/JCXEx3Xv1P6uO4dOvGfMiDvvgEezct2mgwePeisrGesWBV0G00BDJXbfrMzszEyJHcNlb6+vqAmrvUqpgtzsU8ePNKhVo2WTxnFRkdacUVIQCwkIhqiEhFFNWJHZobfp2Omhx5741W9+++wzPxs0ZEi1xGqMooIrDbRhI8Kpt2pSPyrMuXnj2uKiQkYqFKw42AkVjG9MBKOi+PT08yeOH0uuFtOwTg1cNGnKYMKgSEUgM4wMBCgiSSONY+LimzVr2a9v/wH9B3Tq2D45sRo+pYIZQ4yWM1pOCuOLz2G9OjVTkuJPpR7Nz80WSLeLszrCF2eWJX+fn2K0LliWCsYo119ZWV5enBgfExURhkSUjtiCIq/PX1JWbpjKExEeFx8fMAL79+1ftHjxtPem//Ol15YuW5WZlY17LcxYlEP4FCMbERMGVYa7XfGxURXl5Xm5uUTEbKnQTzAoP3zJQLnP8JqEA1pDspQkrZhNydhRKfqpdv0Ko2l1GdtJw1B+v/LBOD5/pUU41rJQwamH9ULiCiVc+RVzsAZlhYKCfF3THE4HM2wvsbTwzp6FTJjx0qExzi7DnVwtygUm6t61c+06dXPyCk6npRUVFlrNsiq72BhkEUxM0u3QiWRRYT6+g3iPwhGjPsTXESAMC1LmZWeXFBY1ql8vPjZO4ZPDaI8gyUIJAe9QaQSAToTGQjMVFhk73O7wsLC42NjEatXCPGFCaHbDbAMTMStZvVp8zeSk0ydOZF7IVNIyOtLJCoqt+Mb+MjLSi4sKGtWrGxMepilc3Es0yaqSUbkilmiEZIJkKhCiNEE2hsmG1JVysNJZog+aYARYXgjGPyRNkFWjhvUK8nLzcnPINK0CUKjC7zrhYlFopFUgJi2qltLwlZdFRXh0XbOaTVazFTGx0HVdIFGREQiYRqBafEKXrl2GDB1Wp2694jJ/Vk5OUUlpwAQdoLTgELBVACsr1gVFhoUZAX9pSYlEJ6HyE4VU0h/wYebCZoTZbfXfVIw5IDETLPxEO/4t3bJmEBHWLkupDEMaARlQSmF+MX6YZWRZ61sK+drXwVK+eFNZ6cM0ZYsmGGOAGlhJvGYiMI1QkqWpyUCYrrBY3bqKCA8Lj4gA/5SWlnoryy8uM2QItgleCzNrjJFUTl0z/D7TNPESiYivL5gIEFhgXv+F8+nKMOvWqh3hCSNJgmE5jaXQcPAoNVaAEKRpmi6JK/1y/8GjH3388bvvvDt//tyTJ06YAQMtJ8uyKJIVWzEpM9ztaNygntdbkXo8FUuVrArxim54QCWCcnNzMe61aqQ4LYMagkxBiqw2IEI/rHViPUGZKP185rLFS1558aW333h9zcqVBbnZLDFt/OgXemcqqRRrsIdSLqczJSWpvLykuLAAlmIhmINF0A0KmCPKNAyftxJnMqhK4vsFkCC2QnhEePWUlKhId0lJWUZ6uhEINGrUqHOXLjVq1nS6rPHyG6YpJQYPoEstxTeAFaHtTqdTMHm9XgODeIN6cDMUi+E0A4pMYmXFQhKmPkuyoNBAWIOVZZXbKUa/lSTJTIBizHLTsKwk8cJazZZhMM+CT1cXfaEFopTSKgixEMKaZ5qLhUORYExfvCY28eXCKZ9ySHIiHfzCuDVFrZICPjPglwocxE5pMktBSkObGENIBpYlSyZySKSzhqXJjEeyA/MXsp3yPeNgYxVYoLCkNDoyPCYqXCg/UyAgTUPTTF0zWYLpYUELSgX8hjRNl4M0NstLi4rzsgpzMivKCk3Tb5qYhdJqj8LCZlasM7sdWp1aKWT4T584RiRJmYSxAAiTFeaw1G/ED2YCCgsL/AFvZBRupmBh1IMaATRSWe1AAmnEuknClASfyx8IlJbB/SooLi3w+/yaQA901hySNUW6NImJBZHH7cTphN/rKy8vV0paJKTQHas464caAEv6rj8UZoHA6sGSYC8lpUT1xLAt6UoTitESkiYrw6Vxx7at2rduYlQUb9iwbsXGLcfPZWTnF6Anht9kaepMutAUjk0MRTh+UALFwpWy2mdI6Q9oCoQpSGgoH6+s9J/QD4NjQUoFEyippAnQJQvDyBfxL12GoVlJUhIGZ6VYIp9CZkuXiG3AVqZUxBgKxp9vhCKFIhi5SAYDBQPE4F9lvbdG2ypcXRLwCjJ0bOCRrXrx98tQdKXav6z9r8+omyQ6aFeNdSENJU1Cr5CCFjPU0T3E1wyBzahVvJVR07SoqGi4fX6/YRhSCA3dVGTVg2UVQAt0d4A0rxRekwNSq/CaJ0+dycrJ87jD4+ISPO4IHSR7kSgxJtJqGutGgP1+5fUFIqKiHA6UadWFH4N/LlWNx+8PDDFrBNOUlJU6nI6ocJcgn8Z+xdIQ7Md+VAQkaIQvrlJdwzZPOAQ1a9xw/F1jHn3owXvuGtOofn2HLjSNYVQbAgtPkQAER0dFwvIF+TlK4lbKhG0I04ZIfv/Wf3MJMBKGOgDCV8oT5lFwiKHMpDCjyBofZkhwKqypTyQ0Ta9RI2XQ4AEPPfLAQw/f179/39jYOCmFVLgtEYodLBzEwvqHsCUXTt1BYBifD6POmsCwSUYF1w9oIxAsj61ms9PtioiIKC4uNvwBoRSb0sGkmYZDYb9iNGtQZ+RBPGi7AAAQAElEQVSQ/j06tyoqyp+3aMnbM2a+O2PGyRPH4qJdKdViw7E3IYVBYdIFbEFCkZCCFZOJDnh9Ls0RFRmlO/Xr3Au6eQKYCp1Dj2FW8BJhFjDBtILh31wEWZYm6OCtkvgyQYSuJMIbFsSs4YiDyJAmuBYxMbOwEFQJlsdfG6NAaRoBJU3BVmVMCgJipKAGvCZWXwLmqtCgTSysLNA0DD9KIXWxI8gOWHmJiL+2XiYrWN2A5leBlyhbYxzAaERWB1EpJoqVAe+ICYn2z3r8rj8hBLJGRUVVIpRXSCmRYg2IaWiE5UQaSU2Z6L9XBkr8lZkF+Vv37f5s+ZLs3At1cVpZK9kT4YYSk91zKTBIjCLxUz6vFyaIi49DmUhCsYivO1ATgVEU+Sp8goXT6XYIDTUGRxH1EzET06WAL6ypMbNUUeFh9erWbdiwad0GjaJj43TdyUJXbI021BkdsfOwcLk9EMvLKwLWzg4v6WKBQZFuWEDxYWEeYuHz+U1DYRpKEupi3SQwdEoyS42UNUam4dI5OSG2Ub06DevVrVkjJSIyXJGplKFpHKQUlABLSRIohHDLz0JzudxC1zHuQUvdmJ5gGSkUr9xutyciIje/wOsPIEFKk5QS6B6RQ1B0uKdbl473T5k4YujABrVTHOSXvor6taoPHtCzR5eO1RLioBxsHxNjUUusB8kECau9qLiEhYiJjWGGFsoOKt5GEdOlWUGXBWbWNE0IAYEJFhLBgbY0mNmhOyzJGhklTakUbGmStSmEANgyYsiAQjk2kFdK6Ct8xSGjEP46k+OVlNIwDAgUVICAw2hN0xRmIrL9C1CFDdQIXCZ/bemX8vJF4dJfPF4m4onIehb0XQMabWdF52vWrInznYLCImLLg0XBGjNJU1OGk6WTcQ9uHjlxbOacj/7x6ivTZs44dPhgndrJvXp0atSoTnikW5EhyGRC92APywbBXnJeQQHsUqtWTZjGrouIvs5GVS+vXbAqJFhSKNaETlg9VgpoAbDS0RciK7J+imAvUDkZAQiVJYVnT588cuLk8dPnzl3IKfX6DIw+XQyMsoiUVQYFDJNY4LaLGflsBWW9tMUbEzOjbhUVHeNyuvMKiv2Yyjj6ICYLhGA1RRo6SQcFMEaRLhXhJI+uwhzscQgnvq8MNjHBigKCMojRC4yOAjlV+HxFJeVOT7gnIpKEhgmNrgoUep27heKIYUqpWAinOyw6NuFCTm5JWQUeSbCBw2smJikUNtcy3OVo2bTR3SOHPfngpJ898sDPn5j6yAOTJtw1ulP7dknV4nUhiBnTlUkxGJKVZDIFVZjmhdy88MjImjWrKysN3QjBsgCGtRJ3COXl8IK8lZVgQ4emm/jYS6ULDX5MRVm5t6KysrwCh8IctCqTZVTYNShABoJLW6EwLA+F+wbwI2I8MzOq0S4RHx6qIE1TEwLAhwvwB7eryAUgix1DuATFfLGiS/ValV6SJZE1kS4pf5e/4rtkQrUKLUOnLuYGUbKm4wobXoYkJiFYsIbvkDTiIjx9u3ca3Ld7swZ1yTDLy8prV69xx+B+E0YP79+lXc2EmAiXU1NYepixiklJAl+yqVSl15eRmeEJC2vYsBFrWLWk1PftLX1dYIUWs8ZaZESEYSpvJWhNKZywWq1Cw+xuWkMqSAml3LqeUi02OS4yO+PciiWLPvhgJrB6zbqsnNyAiebb+hdrUsyG5KKSMslaTEycw+lUF98QaqUbGWAt1JWSkuJ0eU6ePuvzS7RBESyJQbcaaRpSY0wwU2OzTYsGQ/t379S6eY1qsS5sTaXB6L4ArcDbNqQZUAoeqUWUJlFAUnF55elzGdFx1eLiE7AEMNfZKhL9QZ0XJTx8D6AQZob9FaFIIsHYentq16tfXOE7m55ZWukVupOgEXxFJHUml8aaacSFuesmxjSqmdi8Xq2m9WrDqYyJCnPqGnSlkgpTjCX0rR+xwVphaVlGdnZCUmKdurWlDDB/j1b/5LIW5Bds27Zt7ty58+d/cubMGaVgHcEsKiq8R48e//zzRR9/PHfLlm15efmmianxjf1nQZqmC6Ej7/nzGRs2bDx16mJpdpmEkv8FwjCkkqxpjgsXstev33DkyDETq5IEkXA4XER8GeiKITiBrqjxrS9R67fqfKOCQhcZPdESk1JiEhIPHU0tKC6X7MD3Rln9IZwGRYU7hvTr9dD4ux6fPOnhyZMfvvf+e8dNGD9yRL9O7ZvUSIxxOhyK4K9I02QGp1iL2ZAUIIGVcC4zKz4pOTE5Ca/QCCGs1toyHq8XsBAVEQoPj4z2+s3S8gp0C+1X0hQc3GtYq5VRHbhDJxUXFTFm5B2T7hkzfGDfTm1btW7VolnTJrVqVHfC+9WsFkIzCFYECFNxfmGx5nAkJiVh1ImsoigYvpCCj9c3QuGwVa2atXAQfDz1ZFFxmaGEJA1dk/gQmei31RSNlMeptWnRZMqEu0ffMbhOzSQdHccMVdauG03CsmCWmoa+SIEOCi0gObew5PCJ0/GJyYlJ1QV8TuhDFbBqDf7hy02BlGuCIGRnlGXlEkRCsGmaQtNq123g8EQePJZaETD9phIWV+LjBUMzK/iV0sGETYxHo3CdwzQFQaiAzlJY5KgUWdt1JkWEyYsMmk9yXnFFdkFh/caNsbPX0BeoWNX+OD8ZDGgc+gsRwrcCarYyBMDWh/ClRLJGm64pMDO8vwsXLsyaNfvNN9/ctmVbYUGhsEZDKyst27B+w1uvvzv7w49OnzqNjy4WCz6qOrYXpoQgDetgxPow4dGyN0ZQokAp1bFjxxYsWIgYfiLag3biQ4vslrKEKjNhX68rK6PCWKWfT1+8eMnOnTtxc4hFBn30EeUo6FqdYmmCUpWAjBdWLiKpUJoEs0psElGJNd5SSkh2DOGaIK5Ju0qZmatkdDI6JqZZy7bns/P2HUkt8xmgORMUo9BE+CwqKTa6Vb1anRrXb9+0SdtmLZrXb1AvKTE5whPj0DxMmtX4YDeICE44DryEo9KkQ6mncgpKWrZtHxWbQCz4XwN0rxuwMKTp8LjiqiUWWc5Frt+QYBJ8AUwzoOsaETN+ihDrghNionp26TRq2ODxo0ePHzNy7Kg77x55R6/unZOrxQtlBhchBheAOkkWlX7j5Jkzuu5s3LSp0KyOEFsBpreV6cYFRYmJSW3atissKktLv0DCwfikkyZYV0oRziuVYCJdUGSYq16tlAZ1a8RGhjt0sAXaT6TQQKupVgMVMehICsPkgMk4aiivDNSq2yAiNo4wOpYGFCxYIrMVf58fSuCqQIyGEOsOV8069Rs3a3nk5Nljp8/6WfcploxPkVUTQ0tJ8D6IU9gCKU2QjheEfirCaECdpWkENKEp1k3Wy7zy0PFTTk90i1btcDyNiagL1EY/VsC42GDmb20DNLHsEZ89e/b8+fMgNTsLEgHIHAxCoEuMFGgi8eqBpY0dSevWrZs0aVxRUbFu3brz5877fD7TMCvKK+BsFhUXRUSEt2rZKjkpWROaYUhskbF4hNCJBBYWCFRKUkGYpoQgpapRvWbXrt3q1Knr0J2YhgIZAwbSMd/Ymkv45BFO1ZmwBPHVlonVErt06tKsaXN8yYwAdvmGYGtVGobp9wcQY3GhZNSuLCoWJlwtEihN15xKKhOeLgY/2G2HwzpXVag1+Hj1kbh61S9pMrOdIoTwhEe07dItLrHmph17zmbk+AlT0EECnbHWlsv6vJsRThnu0txOhybIoZFTSJ0sr0aCUllXAs4O+yV7TRFgR9qFnCUr1zkjojp07e4Kj6AbGBTZzgZxco3qYdHRh0+cqIDJBcZCN2Dji92EoeCzKGWtMl+YQ4uNjIiLDouNcMeE6fGRrvhIT6RbdwglyLQWNRGGRpLwG7KktPxs2vmExKQmTZob8vIhUjewW3bRSuGypU3b9rrLc+zE6Qpwtkk4HxCapoEpSDdJIxa6Jpy6cOgkWAlQCSlmDK6mSCco4ElZ045JA0sK4cwuKNqz/3B8UkqbDp103WF3iYmAYARbAcEn+s4BJVhAKQApTBDBQktMTuk/aCg73Ks2bsvILTBID5DOmkOinVb9VrstfUsOVq2sGAUxSRuCJPpumtIwVcDgk2cydu453K5T9xat22sOp5T/MkJW5h/8p2kas9UJZiu+Qv3MlgIOEJcuXfrKK698+umnR44cyc/Pl1KKYFBKGYZhYhpjQtrjdIXivvIK5ei6Hh0d3TcYLmRe2LN7DxjTW+ktKS6JCAdJhsGY4WHhgkVRQcmZ0+dOnjh98sSZ7Kx806CC/OLjx04eOXz8/LmMwvzis2fS0tMzjIAZFRXdonnLhPhqRJyZceHwoSOnT5/Nzck7ezYt9fiJC5lZOTm5586eO3XydGF+oTSkxx3WtEnTlJTqSpJpKigcPnzkyOGjBw8cykjP9OFqz29UlvvSzpw/ffLshYwcI6BKisqPHklNPXaysKAkI/3CmTNnvV6vlBLfEg4GusaAKXSNOYLqGAD8RY2IAaHp9Rs27dlvcEFJxbrN23IKig3FinVFmJaKlNTZ0DnAmql0GbwFNwMqYIHIr+l+1rAYSdOlcEjNgQWwZsPW7KKSzj1716xbT3M4qGre0/UOTNZSEmwyxSZWq1G7zonTp8+cP+81A9g5wNcKGGDzoJWU1QiNlFMTcFIEmTpho2eGa8pFhpA+YfqExNGetSCDrWTJQrE4l56en1/YvHnL+GrxlsUwtwFbIxjfuIgVuVyuZs1btGvfIfXkqfMZWRK9EBqpYJ3MBMvjW0bMTEIAGCx7bOGDaEQsMYKAwnvGIwbUb9CBg8czs/J79R3QpEkziVcMZbxVWIxB0PULX5TJjCpY053tO3bs0KX7qXMZ2/bsLw9gPQq/CRa0TK3I0kEjL8HqAhKV3SCYwxKUxkITOintbFrG0hXrAtLRvVf/mNhqSmlO3YUiLK0f6QcaysnJyc7ORpz7bQFqecFw6tSp+fPn/yMYZs2atWXLFrzy+/3ohKZpHPzEIwaQck3AhEAJSUlJ/fv3j4uJ27l9Z1ZGVllJWUFeQVREVLgnXBe6MpW3wpt6LHXjuk1bN2377NPPVy5bkZ+Tn52Zs2r5qrffeGfRZ0vSzqaBxNEqdBACDj03b95cVFSUkZG5YMGCadOm7duz5/jRows++XThp58ePXx4/7598+fN27RxY2VFxbmzZ9G7VatWl5SUZGRkoHdbt26dPfsjfBtWrVqF/XhGxoXPFy5auXzNlk3bUNemDZszzmdu2bj1/Wkztm7eDmHR54vT0tIws2EB4JosYCsHKcAWrz3GRwuZwNNKUUR01B2jRnft2XvLrr079x0qqfT74W8LITHvWBGZkgxTGgaZCrMXTAN/UpChkQGSstao7jelZK2kwr9+844tO/Z06Nx94JDh2A1JhSJQzw0DihfW/WlsbGz7Tp3Q7M3bd+YXlZhE6CCjbahZoR8WQARKSXSHsTaVZIlOjSTjewAAEABJREFUghwNTBYcyOqMzkEN/SUoAWWVvv1HU5Xm6Nmnj8vtVrAUSgMsFfz5PriavIpZVEtMGj5ipMMdtnHrttyiEsVC2s2wWFJIqaQ0FWCaErAkJQljxkRYYVZMRIIEkyZJ5BQU7dx/MDIufuSoMbEJCZou/AHj0uRTsA9d52CVyUz4I5UVx8XHj7x7bIMmLTZu23X4+CmDdYM0RUKhtURMkkmZpJmkKxaEnFYmFWyYFaMM61pKadl5hSvXbth38HDvfv1btbXcSQy3aZrMTD9e2LRp0+uvv/7iiy+CBcB7L1wxQA14+eWXDxw4UFhYeOzYsYULF7700kt/+MMf3n//fbAJvEv4UOgXJt536BUzGwZOn6yDmqZNm7Zt2wb3OevXrwfpgO+wXqBglcyMKhKwaUpKiYurduLE6U2btubnFyUnV2/QoElubsGG9ZtOnDjVsGGjBg0aRkRERkVFnz2bBgihwV0tLCyCh2iaqk7tupkZmTu273S7PA0bNDqXdn73rj1GwIRHmZ2Vc/LkyfLyCiIOD4+Ii4tPTU3F1wSyw+FcvXr1jBkfpqae9PmMHTt2Ll60tLS0wuv179t3oLioND6+GoYV7aRggAAExWuIxDXofoOqEIKtQVBJNZLvHDe+erMWn2/dsfX46XyDKkwhg8dEJrkMOF5SOAzC9kY3pSY1nR2aZN00HSTRdMWOUp9au23ful2H6rfsNPnBR+rWa+DQoSbJmuvfUP33TQYjEDE5nZrTobdv37FH38Gbdh86lJpeUm4QawSXxQiQNFkZUgYIrqeQklmxZrIjwC4/RwREuCHcJmG5EohTKqkEKY0rTPN4TvmuMwVtew5o0Kix2wEiVUSCSLsEphsWwBeClVWf29OgZfvW3ftvO3hy897DpT50CQaVkgyyvlNSI6krCRdLJ4taCMuD2aSAYJ8m/EIGNAyPtI4mCysqN+7fe7Ykv33/3g0a1tVIoQM4TZEozOoIngBLun4/FGgBk0wT5NDYqestWrUZOnqsIzJuybotB06cKzPJT9BBL3wOs1xTlaZgKdhUGK8AKZ/AeYPpF5pAok9p5cqRVli+fOvOjfsOdh88dPg997gjIllDDaQJQVZfYDb6UcLu3bs//PDDWbNmTZ8+ffbs2TNnzsTjN2HmzJkzZsyYO3fuwYMHDcNQSoEW4bXh3uPdd9/961//unz5cnhhF2mCYaKr75NiTB5lCoEDikrD9IWFu+DKezyuFSuWAdWrJ0OWEpXCwTFgtoqK8tzcnKKiQpfL4fN5UVtMTHTPnt0HDRqAV9u2bsOnLCIs3O1wRoVHREdE6oyyKdwTFhMZhceaNWrAb42KioqIiEhOToYcHh6O5qJT0dHRsTExyK4RJyZUa92y5YljxwNe3+ABA/v16VtRWpZ69Fh6+rnS0qL8/OxatWrWq1cnIsKNktCSuLiYzp073HvvlJo1rX/LkPmajID6LwKL9qJ0TX84GJAl+BcRZhj6zfUaNBw36d6YxJTFq9at3rQ9p6jcJ4VfYcpqTEJjTYOuKYVFIxgIScG9qiJRGaDswrL1W3ev2bSteu36d4+fUKd+fQHzk+TgaqQbFtAiQSyImDm5evUhd9yZWL3Oui07T53PqvAr0LdCMwQTWiPAkSYRVpEkJQUBFiUyEgBiTC4plXA4vYb0KXEyLQN2CI+J79qjV3xCAhHpGgrCUAliQQQBoBsUmAkmRoymxSZU691/YFKtuujXnkPHC8v9pvUfKNKlYikJioI1gdYTIxBiUlgmZJqkiDUdhyY+5sLKyvU7dq3buq1V+869+g104tuC3ihkYwTkugS6foGJLKD8yyGE1rZ9p1F3jcsuKP5o/oK9h45lF5XB4AHSpeY08RU2FQaCTPiZrBFORJRg3TDQJ6df6udyi5at27LjwNF2XXtMuO++pJQU0oPFE8ZWKvjTEH4kJCQkNGzYsAFcr2AM4QpoFAx16tQBlQghlFJotcvlQiHNmjXr0KFDrVq1dF1HOt7iFQUVLOEqfsgFQDErKysjI72ioqxO3drt2rfNzcs1pZGYlGiYoGU/4kpvZVbWhcWLF23ZsgUtAdPhBYC9v5QSzevSpUta2tkNG9anp5/3+b1SSeQKGP5AwC+lgey6Q2OmgBEIIEWBeU2oIQWQyjTMgJTWujOtWJ45c3rXrp2NmzTq2bNHSUlRWXlpdEx0bFx0zVrVhw0fNuXeSXfeOTw6JkoqQ5FUZLo9LnigaBUz45uBHn0HiO+Q52uzoCeC2eFwdOjYccq9D0ZGJ6xev/XTJSsPnTpfWGkGSLB15SrQXZNYsuYLGF6sVhxKkigs9R4+lT530QqwJBbzPZMmt+/Yye32oFcK65iwVL62zuuUaM0eqRTGR2kOJ64+Bt8xMrekYtOuA2ezi3zkUJrTIC1gKhVsCJMUZAoyhIKrFdARU0Ajk0lhYRqseSUZmut8TsGydZuOnzzdo0ePNm3awDKoQlrduU7NvopiBJOAbyWVw+ls2KTpXeMmRMRW+3TpynVb9+SU+n1SMzWHoTSTdKE5mTWrf4pYEaaFpljTnP6A9Erh110ncwpWbd+1eM2GxBr1Ro8eV692Q4fuEEJQMAhUw1bu4NMNj6RUMXHx3Xv3Hn3XPZ7I2PmfL1+yZvPJjPxCnyiTbh97dM2jEY62dSIXsYuFh0WY33BcyC3duuPgwqVrN+3a17ZLj4n3PtioSTOh61bzCeOjEN3w1l+xgkGDBv3mN7/5/e9//5//+Z//HQz/3zeH3//+91D53e9+17VrV/BjWFhY9erV+/TpM3Xq1J///OdPPfVUt27dYmJi0DHUycwEQLpqSCnBkocOHdq3b9+2bdt0h2PgoEG9evdq3batP+A/d/687nSUlZcfOHjgQnaWJFlWUZadkx0wA/jMpp5MPXDowMbNGzMuZLRo1SIqJmrdhvVr1q45cvRo6skTyFVYXJx+ITM3L6+4pLiishLyyVMn84sKS8vK0s6fO5uWll+Ig9B81HLm7NmikuKSstKs7Kzz6em7du/GY3hExPETqWvXrav0env17tWlW7f8goJ9+/dBwev3FRUXX8jK8vl9h44cOX32jMW/Utp2uOre/4siVsS/PH+3B8v+SpqmIVhEhEd37tL957/93eCRdx1Nu/DSe7NmLFi2Zf/xE5k5eRVmpXT6hcfPHp/wlEvtdHb++p37p8/97NUP5uw5drptt96PPv1cp249wiMjia22MGJlWNKN+sF6EstDE6xpQtN0zeEaPmrssDHjdx859cmydehCpcHsDDOEw2RNCSHJapqw6FIKMsVFlrQoULJGrrAyQxw+dX7Wp4t3HjzeZ+DAESNG4DSHCJx1fayNoq4OCp9mIqUJ1MvusLCuPfs88tTP4ms1WLx+65zFq46dzarEHZszwiSX12C/RNc0NNMqXMHT1JR0sjOiVPLeU2kfr1g1Z+W6ph26PfjYs61adnRqHqUsxR/tJ0R8QuKoe8Y/9szPm3Xotv3gib+//eHsZRu2H884k+8trjD9pCtHuJ+dpX6RV24cTcteuWXPO7M/e2/O5xkFFXdPnnrP5KkNmrbUHA627APX2RpWDoYfrVNEderUCd4w9+3Xr1/Pnj17f1uATvfu3WvXrt24ceM777zzf4IBFAm6jI+P1zQN8xsfafRIYn+AP1cNWAK6cEibNGmCmxw4r+GRYa3atLr/gfv79O3jDvO079D+V7/51VPPPA2heo3q94wbO/WhB9u0az1+wripD01t0LB+TGwMHM9GjRu2bdcGKVPuvbdho4Yutwu+8n333zd02NCEhPj4hPjRY0Y/9PBDNWvVSEpJGj9h/IRJEyAkVEuYOGniXWPvDgsPS0pOGjd+3Nh7xiZXT46Kjures/svf/XLnr171axds137dnXr1W3fsf0TTz6Ocuo3qJ+YnJhSPSUmLqZXn15PPf1Ux04dUILQWNM09EUIy++GTdC1awKW0DXpf70y/D74U7qmMZGUyuFwp1SvM/ruCVMeebJei7a7jp1656MFb85aOGfp+iWbd6/ZcXjV9oNLN+35eOm6tz76bPqny/aeTK/TrO3Tv/rd5KmP1KhdV3c4SaAkYrSOmYCvr/b6pMJ2xMGiYD9FLLSIqNiBw+7s0rP/sTMX5i9euf/4mdxSb4VJWHuGwCmrZhCbLEwiRcjKkjhgQfcqPafEdzwt87MV6w6dSBs2euxd90yoVq2alBK12DH9oEFJJUkgVibGxe1u0rL1g4892aJDtx2HTsz7fMXaTTtOns8uLPdXmgKeo0/pfqkBPpN9JmXlFx8/m7Fi446Zny46np7TY9CwKVMfbdK0pa45sQeyrBUkS2aukn+AzikixvkjOibZ5Ylo0rLt5AceuWvi/Z646uu2H3z9g3kzPl28YPW65Zu2r9u9b/nmHZ+v3Thz4eK3Pvrkw0UrTuQUdhl8x9Snfo5vYUqtOprTZZiKmS4FJky8y57pBw/MVmswVfjqAhrocDg6duz49NNP//a3v73jjjtw6xIREYH5Bl5AGVCwR4cZywlP1wCUkJiYiC08WLtVq1YRkZFhYR5cycTFx+Lsr0PH9n379uk/oB+EhGrxDRo2AKu3adumQ4f2Xbp2btWqZYMG9dq0bQ0arVGzRseOHfr26w2Oq1uvDnizb/++nTt3rF4jBfzYq3fPHj27N27SuGbNGt27d+3Tpzf4tEHD+t17dMMjhCZNG0Pu2asHFMCDnbt07tO3d7fuXbt06Yzyo6IjQb61a9dCCmixXv162HcnJSXibd9+fbp261qjRnVYA0YwcWGkFBgTj9dghaDqNdsumOvLEcZD0x2IBQsN/7BwuT1RsQk9+w188rlf3vfok90Gj3TE1z54Lu+9+Uv/+Oq0/37hjQ8Xrz10Li8suWH7PsOnPvOrR556tluvfjEJiUJ3kDVViNgqC2US2890o4JVvvXTmIUgSJquJSal3DPpvqEj78or832ydNWiVRuOpWXmWHQp/OzwShzbufzk9JHDpxwVUlRIPbfMf+Bk2pI1G+d+vrzYa9w18d67J0yuV68BZhumMhoPAfEPBhCK0DR0SaFPAn8Fa7rudNVv3HTK1EfuvHuCdIat3LR99oJFcxcvX7t11/Z9hw+dTDt46ty+Y6d3Hk7Fq3mLl3+8YAleeWKTJt77MAxSu25DTXehC0JYBWLCMVujw8GA9B8GqE3ThKZbo6U5nEk1aw8ePuqZX/52ysNPdOo1wHSG7zl15oPPF//ptTf/+4WXX3x/xq5Tp8Or1+g3+q7HfvNv9z7xVLuu3T2R0YQimLHtRpvRB4Au/qw/SPxRoGlw6tE0DX28GmAInE7nwIEDQZE4zQRFYpoh0c4LAYBsxeK7dAjtcblcbgSPR9c1FqzpmlLS4XSAntwed3h4mO7QPWE43CCnW3O5sScTYeFuh0vTnRCQ2eFwap5wNzw7TROeMI/QhBsX22EeFKU7dJSDV06nA6XhLUfubX4AABAASURBVOAIJlqC04GKdIceGRUJAZooAZoQPB630+WEgCaJYKsgowSUjBRkgT6KDQvWIjQNRgBgAhX8ukO4Jnwn4321BmYCCKVZf5iIiVloTre7Zp06d4wa8+TPf/Wzf/uvO8dODouvnpZXkl5Q3rBVxwef+uXTv/6PJ3/5bwPvGFGvYRPhdGBJw3aMrFYJZAVGSYLYEm/MD0XbsIoXZFVlmpKZ69avO37y5Gd+/pvaTdts23/sw/lL3vtowZL123YeOZNeUHmh2JvvVXledSa/dP+pzGWb90ybu+j9eZ9v2ns0pV7TBx57evTYe1Kq19B0HJPRjxRYwZm0OmTVz0waOkqEcaldr964iZOe+fW/jZowOble47PZhfC/Zi9a8ZdX3/nzK+/86bV3//nuh8u27sqqCNRq1mriA488/eyvRowcW792I8EaPsuEgsmkHykEO0EYqYv1MwkhIqMjW7Rqffc9Y5/+2c9//pvfPf7z3zRo1eF8fkl6YUl2WWXN+o3xbXjoyad79O0fFZdgZSClWfsBJeBikEJpjHItCLoo0S0R7GUPfgSY0YEb2WrGAr0CJLENkxiwZcSQAQhXyHuDX31vq4jvXcI3FKAUBk1g0uEPK1B+ZGRkaXn52bRzhmFgz1rprYiOjoYP7/I4sCskJnxJcfBH0lC4+yFJFuiS/egGBUUXqwiWb1XKJB0amoNWGFERES3btp/04MP3Pf50o9btLxRXLlix/v25C//x5nt/ee1dcMqfX37nr6/PeG3m/HnLNmQUe5u07fbos7+c/ODDHTp3jo6OUdKU1tFlsOwfPELXJFlTG11EpwhXTQqHyDiQlUwqLCysVv2G/YaPuP/xp574xa/vf+KZtt37HUvP2Xb0xM5jZ86X+LoOHvHwL3417sGH+wwYVq9eUyc52FA6kVPHqOLgQaLYH7xPX1+hktiHg/2ImSLCPSkpKU5PVE5+SaVP1q5dP8wTtX79lrWr11WUlKH9QYAZJStTg00wQAqy3R1rshIhplslMLOmwcUDYSrIN7TZmFHfDKXoypDfnBdr8Mbi+5tFfP8iLpVwaXoF7aEw8TAFg2Qnlcmssi+c37Z5fVFBdtPG9VKSE9JOp2acP6MMP27sBZmsTKVMsCST1AQhxjqUxIDCk4VL9Vz/v2i5BeuHdkuTCY4GmmRVrrucSTVrd+nV976Hn/j1f/z3lKlPNGjeznBGnMrIW7x266K1W84XlNZs1GrUhPue+sW/3//oU1169K5Zp56mO+B54fMgWF3/9l5tiZb1iNjqF4EasJAI7dE19E8apoHPlzs8MjqhWuOWres2be7FfT074mvU88Sn4JNwrqDIER0Xm5jidHsECxSCYRGSMEZKGsToF0A/SmAC118GNI4xfUyJb7A0zYB59FDqiWOn42Oqjbpz9PAhd5QXFi+YN3/LuvVlRcWaJEEwirIKURhrgzDohI4RWb1Cx1AcXXv4EXIohW+EtAOqFwI9w99vhvrmV7f7m8tMc0m89NcyzbdZ1tK5mh/mlg2i/5+98wCQo7jyflV1z8zmvKscVjnnLCShhCSUQSKJHAw2NsbZPp99Pn+2zz7ngE0yGYQQiijnnHPOOWul1eadme6q79fT0rIkAZLAnFHz35rXFd57VfXq1atqnS/2602ZlLhKJS3JFV5R0cJ5czesX9e0SZMHH3yoc+fOJ46f2Lt3b3lZqa1UUFlKKmBZrGLL21yEJYRCORnjJz6zx+dPGpPAL1oQc0ipbBUICCFRBicRHwpl51Rt1KzF4BG3fPsHP/7m937UrE2H4ojrCDsxNatX35tG3npb6zbts7KrBIJxSnJDEgwGQ1L4PRD/qodBpEtCkPiaeISUiicQsOmqEPgLVVxaPnfewqnvzKhSrcadd425bdRtAdteMH/ByhWrysrDRkippMv+AQ8llGUpyxuiGFvxL3royLtgK9DaRTEBpeSBQweWLF505szpLl263Hb7nY985bGeN/Y9efLMSy+9vGbVKv9fimhttJGOa4R3O0En6Jvk5/8WmEcr9tg2y4guvF99Q5D3bh4dtIQGDJNQ3mAx+5otRhq2CM/U3637oZTBXj4KNAd+KQTwaVJooMTlmlPtswK9+9De+JmxQBhb0EZoTwMjpWGILMEIeZBGehWVl1yrPzheAgc8IwhZOBQoxzE7d+yaPHmy47jDho/sP+Dmjp27Cyu4atXqs2fz/Llk0UqJMlJISG8dQsUgpPAgPrPH5y89ISRSQEgllAUhpbIt7x8UeMYkhZQqGJfAdcuqNevXrNuYmpqelp6xffv26dOnnzhxwrD0XNeSSvIIJYG0aCL+RY8UggEFUkgPnmIqRpIqIaRnua52otGd23fMnDHr4IGDPbp3Hzl02N133jZ80IAzR4/NnDpt946dkUjYSKNsJSSN+FNC0C9vjsS/7JEips3FlK5IKbBwKcLRyO49u9atX121Ws6gwTfXa9igQZPG9zz4QJ8BN63btPHVN17fvHVzOBLRmL+0rEBIe4Nk0TbGSkj/R/y7PdJ/vHMF0yelkN5oSbppPO8gfIcqjUdAfwiohre7LIQUMbMXUnrwaVL/VVy2LfPxWQHNwUd1jSJ2Ce1dqjIUvKEtOgNLGAZExHIFoyY+o8dceo4ePTpx4sTdu3c3adKkW7duWVlZHTp0qFmz5oaNG/Ev0WhUSnlJBwgfFzN4uUh9Tj9SoIwHIaQHiUEZPL7Ssae8vHznzl3Tpk07fvw4nxpHjRrF3evy5ctnz559/vx5qgjhtRPeE2tf8eblfK5/FeIhYoL59RF7iyWWZRUWFi5btmzz5s01atTo17dfbm5u48aN77333nr16m3cuPGdd945e/YsM+lV91vLiz9ezhfjD/Wk9GJepdSFCxfWr19/7Nixdu3atW/fPhQKBYPBjh073nnnnS1atKDo7bffPnjwIPWZLBoCaPGvmybxeT4sf1a8lNqDIJgkoPFSLxAwRmrPm1ykef2SwJ8ArNoj+JFCykukvEh/lo4Sq8UK8Sysw3nz5mVmZvbp06dp06YYLl6yfv36BQUFGzZswLI9ra7x3zVjRxeA3xfcCl5jyZIleJAGDRrcfffdd9xxR69evfA148eP37RpE07/mgn+7BnRL8dxtm3btnjx4nA4fPPNN+NQ+MgTCARatWp16623cqCbOnXqihUriouLpZSfvUZXKIGOSFa+1q7rsiuvWrUqJSWlR48emBkTB0KhEE7z/vvvZ5NmpiZMmMA+5wujlOY+/e+eGuE5Sik8X2mEN5+kQIiLzhHiywmOJEr4EW1sXASjwmiJdx/G7N2Xa0thtWDLli2TJk3ClfTv3/+GG27AZLFpvnc3b948IyNj5syZ+/fv/+Jbqq8hTn/RokXoXK1atTFjxnTq1Al3CdG3b9/Tp0+PGzeOqJk45doO42fHjYk4deoUMeOhQ4duuumm4cOHp6WlIQ7fwWbWu3fvgQMH4iJfeukl9rnS0lKKvpigI0wQ29i5c+f8YJ9LcE4t5JCPETIpcXFxuE72NmyP883LL7987NgxiugRdUi/DMA3emPF+dIHh2GfuNR5LcSXEYZu4yh9MChSGslYCfylB290PitHiQlKKc+cOYNnwX3Url17xIgR7PDIJJ+YpU6dOrgbDkHr1q3DUgHWTEpDUqp9QYC2gMgL9fj6NGPGDJwLPgU/gtNn+RF8cayjOytXrpw7dy4Bsl+ZXtCXL0gvfDXoAlr5KURZWdnSpUuJ9xMTE4cNG9asWTM8C53FUULQo0GDBrVu3XrXrl3cL9P3SCRCq4rmPs8vSMqYM9oouWDBArrDloyx0RHUo0cAOj09fcCAAdghvSBSpia3JX4Fv1N+Ch8y/x3BpawVDIYk369cgyOQXFkKS3gxVMxHCCmBibmJL1NqCb5EBIT3DUcqaYXsYEJ8gmIoBE4z5i2FF4WLz+KxLEtKuXXrVg6q2OXQoUO5IeJYhyxesUUuwurWrcva42RXUlJCDkU+qOATX5yUZUbMSPCFWyeKxIOgPH1kadEpjnX+8uOmcvXq1XSK7riuywh8ofqCPgwpKgE8C4Ekfp9+cXFMF+Lj46lQATaztm3b4kAJwdauXcs9LHsA/aUtoIOw+oIAfbgl4FZkzpw5bL2YFpoHg0H6gsIoCQHY2KpXr3777bezyeXl5U2ZMoWbWU4J9AUOVAN+fYh/D9DrSh2RSlgBFQpYQUvYwlVSK6Wt96JyDjTwK0CAD9LkkA8gAASAABA+oMHlaUqpAyAABIAAED6gweVpSqkDIAAEgAAQPqDBu7TQ0nW00UJJK2AFA3bIVhZD58F8xo4S4yPyIsIinOQEN2TIED56YI6+Idq2nZ2dzeJMSkrCsnfu3OnnUwHlKk3tv55EJZTAleMEudvicDp48OCWLVuSj844UAgy6eONN97IBdlzzz2HM6X7dIQKlNL8iwA0AWiCYhC4FT5rcEdMIMmtCJd3FFUGdZgdQrDRo0dDs0ngK9kD6JTjODCpXPlfTqMVd8RoSDjZrl27Ro0aoWEFUI8KpJZl8UXxoYceYqvD6l588UVGgJtlavqdoqfUoea/I6Stggl2QnJcSmJccpwVb5uAZWwPOpYaW1XkxOiKVwjg1XxvPjnkAwgAASAAhA9ocHmaUuoACAABIACED2hweZpS6gAIAAEgAIQPaPAeWliWCgTsUHwoMSEuIS4UV3n2Y1GlUJWzriHNpSSehZNd1apViUo4B2GCFfyh2d65M+ILT35+PlEYH3YoJR+ThfhCgSMqocesWbNw/Xy64VgXFxdnV/qXa+jMJ+ORI0eyCKn51ltvHTlyxO8CRT7xRUh9Z4FKXDhy4ubmEe/AFzbO15ZlvU9Dfw/gHvnWW2/Fk7IH4Fg5IsCEovdV/te+YjZEu1gR993E+127dk1ISKhQEoXpMhqS+pnU4Sscl5g0ef7550kZB78C6b8rpODIrfCVcXZCYigpKS4lOSElxUNqSkJqcgwVBK/QAAJAAAgAASB8QIOPoi9TVLnJx1ajMnUABIAAEAACQPiABh9Ff2hRUkJKYnxSYkJSfFx8MBDywkkCSd8OpOBLlxDX1FFirz4wTb4Lc2VeVFTEVwLcB54FM0UeFUipEAgEatWqhbHyinPhNpMKvh2T8y8EGlYGmpw8eRIvydfh3NxcIhGWGfqTTwogqE93OO6xJdBTPiKzQ9B3inxQAcJPIT5XVBKGN0QHnAI9Itg/fPgw9yEE+0T3flRVqa6ga0wHk1KvXj18JVcNXMISU/O9GD7kw+p9qNz8s6YriyZ+x0XysRvF8JIcvSlFAXqKnvQCmpQeAYqYrDZt2txyyy10ijv0sWPHsrH5RdSkAum/JThdCs2aVwErEArGx4cSK5AQSogPJiQQUn0JEUyIDyXEB+JsBobhMVKQXrIAEyOuTUSJbfl2hsmy5FhLeBYONQ0bNsRREjZipj6wUawZ86WJbdv9+vXjCozPBSxel1Q0AAAQAElEQVRaOKAS+ZRC/AtBL1ADfUi5w6IjLKf4+Pi77rqLL90c7tCcXvhAT7qGznwrIPLiDE4Tvr1yAA+Hw7CiAims/JTXfwnQ0O8Rx2diKK4dmRd6xHbFpID3aUXvqE9P6R2HWQJPOs6dJveAfAqnO9Sngk/4KTmfDxCHaPwgQ0p32JOYI65c+QDFbXhKSgo60186BeGDV3rkgxxCTnrEVzhCZq7RmS+OC/CkAsw/n158/lIsSyrFSCgpLMVBXAaVh4Ai0MRHAGlbXz7YMhgUwQCQAa/73mjYUlpCSiCV5yS9P3EtHozMZ8NBlXgKz8LhGqtle8deK0r9OlJKCBYhF2R8NeZ7wvbt2zF3qknpFVH6L4RSSkqJMqzDffv2zZw5kxAMj8/tJNd271PMX1csMFpxAMf1cFlJ+OkfwOFABUppBUH6r4IvHX327NlDOIkT59s98RcuA5VQnvSDYBzITE5O5rISz8Jd7bhx43CyELCilV/BT6n5uQGJ2A/isC6uuXF2KENET/zrjzZFHwVmlub4U6LpBx98kPvZN998E1/JFx6/6KMa/hvls/DfBzrH0ntf5pfiVQpVASHoshQVDyQQXm5F3lURWCdLERBOzp8/nzujvn37cgtJwEgmRlyZO2YKyCcK48qPKzMuv7ispA6WSvovBFqhG2qwDokypk6dun79ehw6i6patWrkv083ukYmTchn0VKTgyo3s1wC4o/OnTtHKT4FttSkzr8QaMK88FmGaJezJ36foNLXhyKfqJzSKfJJUR4HxPdiWnHInT59OleWfk26BkEF0o/GNS7xVUI35OLx6Q7207x58549exL4k395eb6twoQ7B3YLzuBcqY8fP37BggXs1pdve730yzkCuM9r03EWDI6AQIMbujVr1nCRh/2xusjEIt8nwzdl7JVwhmNdTk4Oy4+vkBymPlj5fW0/61cUYPmRsnjw+HzBCAaDhMZNmzalL3jP9yng94UmlJISR3M8J/6C5vJr4cKFbAP0lFJ4vq/t5/zK8HKRh6OkR9wS8GmY7qCnr5ifVqhEv8ih1FceB8Ql7G233cbxlq9ARNn0izr0q6LJ50kgF/XQn+tFHBy3AXhJvhmSj8KX14ROUY3moHr16jfffDPB8okTJ15++WVm/LqvvPzofTlLr9xRYm0VYOywOXwlxzrusFiQGF/Hjh0xWepQ6qcQPshnjZGJvXLwad++PZEX10z4JviQ71f7PFOEAl9iJBKhL3xi4kru2LFjnTt37t27N8EvyxK1/ToVKQrTC9r6RaQcVOk+65awi4Pqjh07YMiY0IRS0s8TKOaDHh04cIAvbHgEXB7enO9O9Ahl0IpeUA26Av6rn+/TuFfGgeMt3cFRsh3iK6lPc9LPE0hkPIF/z0M4Wb9+fXZcTtMoTE8vr4zfHZhQGeD6R40ahblu2bLl9ddfhxv37JRSzcfluV0v/TKMwBU6SgyI0fFT36RI8Slc9PBlhm/Z3bp149BNHZxIRQrhg4a+ryQlVMFGqcbN1969eyny63xuKRJBZXEoc/bs2dmzZ3PV2KxZM4IvvniwoqjjpxA+eKWyn0JUgA/9I0eO5H6Wu1e8LR6TIqRQ02/4OaSIY1JIcSgQHLrpEbsRfoFvaKQ4PvRhCtANQFfWqiKfIgAfKqSlpeEocbJc2hJ/4Vlg7hdVbvtZ02iCSkjB2LgNx3FjQnzCpkco4xdR+j5UvPpdY5OgJuDChK2ay2X2j927d3O5zN6Gt4WVn1Y0vE58aUfgCh0l44UZYWQQPjj7cMzk9grHxzrEv2COGLRfepmUKIDbJU5A7OQsY66cLlP5syjCiQA4+9pCowPXXnSHnDvuuAOnz4Eamjr0mvQyoDk1WbHcz3L5wG6Be1q5ciWXEqy6yiN2GSbXpAg14EMKcGd8leLQjbvkqxSBIZcelH5ywATgXIjduIRlvhgf/18LwYRek35uQBzKMKTc8zBTXN3wAc2/b2WCwKfShE4xGpwAHnroIS6LOBLhK9nbkMJ8gU/F7Xrlf8sRuHJHyXBgSRglloQL4IaR6zxO0HxIxebwLJTiK0mxaSpXBq14pSEpZsrHYnwl525Ou3D4YH2qfXbwlYE/hK8tF6b0hW/xfO7gGw6XA+RTAXysbnTHr8OGgaPkA8j58+dfe+21TZs2wQTA5HMD84IsZoFR5SKPgJ2gCa0yMjJ8JSm9AhBRwoSTOz4FV+UfwK+AzxU3wXLoGp/a2IGI/bG3Fi1akAlDRvjKukZ3+Px433334XC5oOA7OJwxCfYY2F7Hl3wErtxRVpgjpsk65BacC8rc3Fw+IxJuYLXAH1xqYnA+7afk+ARtITjQtWrVKjExkSMPTFgDZH5uQBmAOJRENDHXlClT+NLdsmXLgQMH8v2ajlAB+NpS8zKACdVoQh38EZeVuBUuBydNmkRMRxH5nw/QBBeJLG7cCNWXLl1KX/D7DRs2JJ9Sij4VGBwGAeBKiOAYHJgQpbIHEIN/KlZXWRm5HLc3btzI0bt27dq9evWqUqWKv0Wh3hUwpxXNuVzu0qULH+KYvsmTJ+Mu8/LyroDb5ZpcL/u/OQJX7ijpLysHk2WREE4uX76cKJJ1yG0RNkcpxkeKzfkEdAXIhCYfQHD65lKPe0D2cC71OMXjUOAMIAAE1T4joEMFf05z3HnNnTsXoYSTxLmV+0JNcHk16BqgDjW5/OLijIXH2ZADOBe4LDw4M26k+K8KudS/esANtj6gYYgOOJTDhw/jpnHWnLjxKWjld4oKnxywAtQnhQMH8Lvvvpu9hGtK7lu4skSu3y8/5ZXK1wrwhBUp/SKFOabCoZtgln2odevWqOQPO11DQyp/csATUJ80OzubiwXMmHPA+PHj+b7PR3BfIkKpAKh5HV+2EbhyR4nF+BbJEXXq1KmsQxYhzgWv5+eTVsb7RpYiLBtAUMTd0A033FBeXs5NJQwxSoAIivwKEJ8dUANxHLIIJMeOHXvo0CHuJXErhLoIRQEqVKTkXB4VNWlFmMxlJQsP5kQoxN0sPCqAKwvrLi/6faV0igsNgqMlS5ZwvzF06FC+4aCVXw0dfOITpihMW0B9LmHxkvfccw9RKl+riMGJxHEo8KQaEweodq0AW/pC6gO2hJNsaXSHTqWnp/v56OYTVPjkQFVaUZ/mKI8psgfwzYqPkxgD7hjRdI1qEMwjNa/jyzYCV+4oGSkMyw/BONZx3Ma2OAdhTBR9KmCm2Dqnb8503KMdOXIEuyQT0ySFlZ9CfBaAOTojiyCCWJJTaqNGjQgr6BFxCvlXKRQ+HMA50xFO4lPoIDwJJ2GLaNJrC3gCRACGcc2aNbNmzYIg8mrTpg0BF+IoIr1KcKnHjSf3evgO9gCOFESv0AwmhgGukn/l5n6PyGHcUJ7byWXLlrEH0Cl04ChD0RUDhj7ggKNkD2jcuDEf8Tp06MBFEF3jbsGvgBr+AFLz/zKu6/6pR+CqHCVLgkM3lkQ0QTjJhTpGhjF9Wi1ogv2xjAlS8JJYJ6dvTBM+pADiswP86QgrnE9JRF4IwuOzAvGSKMbr1QDmdI2Fh+dt2rQpbovTHB6TBQlz/NfVMP/QtrD182F+5swZXD93o9xscAOQlJSEPn4paWWa108LBPGZiz2AieMbMV8/9uzZ4/MkBZ+W4WXqM0EVDPGV27ZtY2/mCpjth6gfTS7T9mOLKjeHBnh5jvMPPPAA48bH/eeff54DE+NJUYUaH8v2eoV/pxG4KkfJ5RdnLqyWu7x+/fpxv8PQXJkxYZocebB73AqHHU7fWCSAoZ9CfEaAP26LzwJ4fIJKbg9Y/FwgkEkR3blKuTDB53IA9/8nGLjRmzlzJtEQbCki/YzA3TFOmciLaJ2zZLt27egLnUIcBOlVAuXhhvcfPXo0H4iYtbfffpsBxKnBH1wl/8rNkeUDttgGF77Hjx/Hl7E3E9hWrnkFNLYH4FzRFho7xBqZMu4W2GzwlQcPHiRkRo2KateJL88IfFJHiX2wAAAEYIC4a+O0tWDBAg4+N910k/8PJzE4SrEzQJ1PDurjTYhNatasyfccIhQ28Irm8Kygr56gFwD+pADmfLXnUMydFx6fZc91HsqQD1DsaiTS3B+T1NRU7j2JVQkn/ZsvIiMcDWoghXiWFPpqZNEWnvQIPnDjppUVjufi8zTxPrelVAAUARQj5dUHrSq/+pkfm8IEP9WzZ08GLSEhgQFcvHgxewDcfMATwtfnY7ldpgJj6JfiqlauXLl27Vq8P0djvBg6UIQUX5ZPQPuoeKXOZeAz8SvQEIKGBOB83KdrBK1cX/Bth5MT+T78OtB+fV6v41ONwP+typ/UUWJJGIQP7B774EMnAQspsRJLBWPyrZma4NOOAgxpxRUncSVui48qZWVlfuanZfXJ69MdhLL28Ph8ksY5sjDw+Cx+mFAEIK4GiKA5DhFW+F/4N2jQgPsK/LJ/WUkpYOiuvrPIogtwg+DuGJ/FfSuHRz/YRwHykeJXICWHFJDvA/qTA519Dkw9X1T69OnDxBGV7969Gyl+EdwgqAlxlYAJSiKCyeIzC9PE7SQzRaYPzBIRiOMVBYD/SvpJQENATVKAOFLuFjhh3HbbbexkTBnnff9SiCKkUNlPIa7j33sEPqmjxOywCd96GBHWIbv6ihUrcG2YEYufIipQ5BM+zesnAWYHMHTCLq4p4+PjsUju13xWn4TDp62DOJqgJAtgx44dBAsc5YhQWO0cuimlCOk+Qc0rBkwYOprDEHdJ74YPH04cxB7DGZzgiyLCQFJkAYgrBrJoizg6xU7zzjvvcH7s378/QskH6IAI1AAQ5AAyAcSnAs0RREOfFQ6FS9j27dtjFRMmTOBOhiIqMKcQn4rzh1aGCRK5TGCyuOflKrx3797c/NJlgA6kgLbUBFQm9aVDA4o+OWjrc6MhFj5q1CjcJeHkG2+8wZVlaWnpNezaJ9fqes1/4Qh8UkeJxWCO2AfAjIiJpk6dir1yluSqiNM3+XSDaqRUIP3k8NvCHz7ceVWrVo1jI5dr5eXlMPF5QlwTVOjGSoAz/pFr1lWrVhHJDhkyhO/dqEEdiq6VOJ8VKRI5zeG5OM3R5cmTJ9NHVh35yEIomRBXDJ8Dghg9ljTfcPBcuH5OqbgMvAyxM0NKqA5Njg9aIZFWpJ8WFW3xyK1atWIAOeATm+OjT5w4gb+ma3D2q31a5u+rDx+2Z8JJpoxPbV27dqUXW7ZsYe7mzJmD/4LYunUrRxw6SNeYR4Bo8D5WH/uKLDjQEA7Q+Mr77ruPkUTcs88+y6wR2NK7j+VzvcIXfQQ+mX4Yw0VHaYTQlwDtQxjjgT9j/DVsjMFuTh4/MXnixG1bt3Tv2mXgTf1TkhONcaVSQkptjGu0VDLGwZAK/jz4f14OlDYGGB4R426MFtpxHTjUq1+vfoP64Uh48ZLF5/PzqYxEugPfWFXaucZ70SiHzlQAVPgoxKrBH3i6UA0lgHZ1JBLlfd4RewAAEABJREFUE8T8efMS4+MHDxrYr28f14lKIZSMqeW6SPTaUBsIbYyrAYTwuCEdXF4644b+xhgIRDPiHMAJKrmsYElzmtu/fx/CyKc0VlNT1xivj8ITRDd1LIfU8IiYQn6KaHKAQL2YRkrKosLCBfPnE5LzUfiGnj3TMjL27t+/bMXyyVOnvvTKK6+89urbEycuXrZ0557d5y8UlIej8EWulELCBTWNIceHLyWWemWGhxdSD1ow6dKgeWl5ed65/L37D5ZFnLSMrPP5heMnTHxt7LhFy5bvP3j4QmFRxHFdDUtjPN6uoF+GFPXp9IfD8AhBYmiiNdpFo1EC1TVr11qBYNUatbbu3PPXfzz3v3/485/+9vRf/v7Mn596+g9/+fvv/vTXvz393PiJU3bu3ltYVGKM0Rq5qAoMg+S9YBBI9uBlaEENRlsLo4V2jTY6Nu++i9dalJZHCotKpQrUrpMbl5C0afO2Z5795/gJkxctXr5t++7z+UXlEW8MNVUFjR2PD6JgZVwjQGwGKfIm7sM7+/nler1mWC8CNWNwDd32wNBcLPKUfW/lL1fOpSnxx4A3xZ8Psvxl76fC8GjDZGts2hUYgquNq4sLC9etXT1z+rS4gHXzTf3r1akdCtjSYHPCFUZLbZQ2pMDnSwprb5jh41Hw154FGQfu2nUwqZhf9daqEjlVcxo1bmQHg9u37zx06Ijjam2k0UJDuNp1aeS4IqqFo4XBDF1+PK6I+XBQiPE6wtsJPC0MWgrtkC1PnDg5d978s6dOtm/betiQwanJSXGhoDQ6BleilYG711RrJxItd3VU66hhLDweHkP68uFSL+UqpRgbIKUkT/IoWbdu7sCBg0iXLls6e86cCwUFrna0oYeO9gjH1VH0ddyIMRAowNABCASiuQ/4CcbC8AZpvGEyTuTg/v2LFi46eyaves06jrTGTpj4X7/81R+e+sczL7706lvjXxk3/rmXX/3D3/7+y//93VP/fHHusmWHj58sLC7WrjewTIgx3nx7nTRGVHJnCNGGnmtDvjDUYjcsLyk+eODgvIVL/vj35371h7++PmFqsavi07JOnit8a8qMP/z9uf/6n//9xwsvrVq/4eSZs2Xl5a5xXIdOMSF0B6U/EsiKTZYR3hS4gqFw3ZUrV+0/fCRq1OrN2//x4tiFKzeERXx2zQatOvVs0qZrlTqNyk3c4tWbn3tl3O//+vS02fMOHjnquo5koryOeCwxGkbQk0p/PAG4N9fxzIlxdhlzoV1l8MuCwkjUPXL81LKV6/75ythf/O8f5yxeIQLxYMOW3S++8tbv//rM//v1H/701HOz5y05fPREcXGJoLFTrt0oOjtOWNBZNyzEJc6e1C/Yn9HCuO8B3f6C6fh5qIMxgMtKetdRUo0XVjOA9iCliEG7xnhuQ0rb3rx1+9g3x+cXFnft1rPrDT0TElO8SsSQQlhSghgTTA2DjFkejCR/oOIHpahgbEkTD6w/4xre3IhroqZurfo5GTnnzuTPmz3/2KHjEMWFpSLWGt8lhBe7ehNqjMWLFJ/gkWgFYjWlpaSyxLlzeW9PGL9q1YoGTZqNuef+jOwqZ8/lHzhweN/+gwcOHTlx8kxRUanjGiMsY6RUyrZs6T/CyBjg9rHCjWeLWnkqS1ebopKyXXsPLlq28tS5C8kZ2SfPXpgwdcZLr4+dOn32itVrDx09XlhSijglLVe7sc7GJMQSIS7+iIuP0drEGAthjIC7KwoLiiZPnrJl6w6hbJhPn7VkzfpdOdUadOsxcOSo++9/6In7Hvj6rbc90KXbTenZdXfsOfTiK2/+4te/fXP8BBxQOBp1CabomsfNVe+VJoU03iOMkK6ry8ojGzdte/Ptyb/439+/9Nq4/YePZVev0/3G/vc++OjXvvmdx77+rbvue7h9l55J6TlrN277y9+e/v2f/jph8tTDh47RXCNFyoud+OgfRsDrMcoIXJ3ctGnTzNlz8/Ly0zOzcqrV7jdg6Fe+9k3EDR4+qu9NQ/oPGjr81jvuf/irX3viOzcPv7XcMa+/+dYvf/P7GbPmnjlzzmEe4aMdWwnPDIwnNZZ4hJJKC2+eYjlSSOU4zqHDR8a9NfF3f/zLP557Yf3WHSmZOTf06vvQV77+yFefuPv+h2+/5/6efW6qVjt3/9Fjr459639+8/s335pAsOm6UjBQQth2QEiP5lV8YR809GCJS5oaoY1wv3yIzfxlp0n5pQwUFGkFyGc9OI5mzy0uKWMNb962c/7CZZxrNm/bkZiS3rBJMzsUH6aCtLWRkj8gjMIiTSwow7wZd69AUG5iJorNS0EpBuVqojPjSmlcR5cWlR3Yc2DxwmVvj5u4dvW6cGmkrLgcR/nyC6+89MLLk6e8s3jJ8iNHj5USlbjsgTSimcdBwEFcvp/SFjhKmnj2gALGuOFw+ZKliydNmRiORpq3anfibMEb46c8/fyrf336hT/+7dm/Pf3i0y+8+tLr42fPX7pn36ELFwocB6fPkHgcYkOkldD0VBkvxyv4iD9F3GVMNBo9f/7CytVrX3vzrT8/9Y+//OPZOQuXFUdFkzYd4lIzl63e8NpbE/769PN//ts/3hw3Yd36jfkXCrTLmKGzFEYJE5P5AVFSCoBkhlwoK+q4m7Zum7dwcX5RcXp21Wq1ctt2unHE6AcHj7inyw0DW7Xv2bh55yYtu7br3Kdnv+GDR4wZMWpMlx69tRWaMHXmP19+fc26TZEo8ZfUbtT21o4RQgrvgfDguU7JdIoLRcX4+r89++K4KTOthNTuffoPu/WOoSNvu6H3Ta07du3YvVeH7r1ad+7ed9DQIbfePmL0nS3bdz6Zl//6WxOeef6Fnbv2uBq2mJvH+iP/MBfp1dFe3+TZ8+fHT5q6ffee3AaNRoy647Y77+l2Y5+6DZukZFVJSMsIJKYEE1PjktOga9Vr1LFbz1F33tOha8/zRWWvjH1r9vyFhUXF2ghjtNB0UAthLvZMxH69N1SShqBciHDU3bh569PP/nP8pMkXisvade42ZMToW+6494Z+N7fr1rP3wCE3Dry5S88bu/XpN2jkrSNG3dm+S/fSqJkyffYzz760fuO2srADv6ijpWTylS/K4y7+9Y/xei6wJh9CVOjFUGPLxnwZvSQrzYM/Nl7KqIj3PMawCC/mYCNaGi3xYsKzJG/MtMkvKGB5v/jKa7//099+/5e///4vT82Yu+B8cXlEqzWbtr346tgFS5cfPXmWUARXYgiCtLefShrHpkMIbQSeFsDUky+9fG1J4a06QiJXFxQUbty05cVX3/z17//0p7/94/W3Jm7fsz+zWq36TZqn5VTbc+jo0lVrn3/hZW6jnnr6uYlTph08dLS4pJz1Y1kKLySkjjkLbEB86CONuAiKPcW0MO7evbsnTZ6078B+zpgbt+964fVxE6fNXr1p28nzRRfKnRPnCtZv3f3W1Bl/eOqZ//ndH94cP2HP3gNl5VFaG3HRuKTxfCXdEWSJj3zYacrDkf0HDo17e8If//rUWxMms3rrNmre8YYbh95y+30Pf+2u+x7pd/OITjfcmFO9zpETZ94YN+EvTz39zrSZJ06ejkQZPc+ChfBT+T4xRhutvfEVUrpGHDtxcsq0GQePncyuXmvwiFtvvfOerr361shtlJCWZSekajteBBONnRCVQRFISEzLqVq7fusOXfsNGtqqQ+eVazc988+XV65ZV1hUpCQuCttgLisk0kkjpfdaXFq2aOnKF197c+v+Y+279x5yyx3NW3eoUbc+fsqOTxYcTkNJOhCvLU6pSfEpWXUaNOvSs8/AIcPr1m+4cs2G18aO37RtZziCvh438RGPZ0sC1yakss8VFM6ayx69IuKILjf06trtxsyc6nZcUsQobQW1CkIAbYVEIC4qlB1PIFujR5+bBg4ZIez418dNmL9wcX5+gZRMlxGGPY/uCIFZkCAlJsdTyLKLS8sx+Bdeem35qnX1GjXrN3DIDTf2r5HbMJiUHkpKF8EkEJea7gaCSIlPycipUadD5x6Dh49q2brj/oPH//ni64uXriwNR5RtYy0MZEyS4EEwNID+lwDRRgoNhNBCoI/2xoLhMNozIs+UuOOoTFe8QgC/CAL4NCk0gAAQAAJA+IAGl6cppQ6AABAAAkD4gAaXpymlDoAAEAACQPiABpVpLdi7tWEN+RDaxCCEN1oMmNYs9ouT5i0M13X4YYJLy8Knz56bNW/h//7+L//1i/+ZMHXGqXMFwcS0pq3bj7z97rvuf7j3gJsdaU+aPucPf3v6Z7/67WvjJh87cSoSobmAqTSYJNZn+JPCsJxh68nxMpgvSOM6TnFZ2ZZtO15+bewvf/+nN6dNPx/Vzbt0G3nPffc89vjD3/zWI9/+7sPf/PbtD33ljoe/Mvr+Bxo2a7lp+24W889/9bu3J7+z/8CRsvIwvIxh0rWJPR7fSwS0D5ajdhkZox3XGMdo9/TZMzNmzV66YpUWthVKCCant+rYbfQ9D975wFfufODhO+59COL+Rx+/876H23XrVVDmjJsw9Ze//t30WfOOnTgdieAu4UEwa4zrQvlSKlKNvQkR04JyzU3/wiXLf/OHP73y+puJqRm33Dbmnge+MvK2uzrf0Lt1p+71mrZq1KJdszaduvceOPL2MXfe+9DQkaNdYb/02tg//vnva9ZtLi2NaJchlXBlXoTnMStEGYlLk4Kx1kaHI+FFS5bPnb8oKS1r0LCRw0fdWaNOvUBCvLGFtkREuDLOJnVtw6ujjGuRZSWkZNTMbdx/4PBefQcdO3XupVfHrt+42XEcZEivF9JoeLvCG2SWligvj6zbuPnFV16/UBK+8/5HuvUekJpVNSEty1gBLZTnHTheSNuOSw7EJbrSsoIJjrTjE1IbNm45/Jbb+9w0aN2mbc+/+BqXG66LCSDKMbFHvPexlHJdBlmXhSMr1qybPH1mQmp6/8HD2nToxik4GJ9sLNtI2xUqirHZAS2tqBZGBVyjpB2y4hKY2fpNmjMUcckZxJXLV62Gn5B0he4YpNHBGKQlvI3bdU1ZJLp7/4FXxr65c/+hG/sPGDJyVG7DJiIQL4MJwgpFhVWGsgH8sgxr4UjLFZYIxAUSkuvUb9z/5mGDR44+djLvpdfHbdm+qxheWnL48UbNSMR5w+m9xMh/UWIERuRBC+1oN6IjUR2O6kgkhqiOOtoh9QEN3kNzNDJRxzggCq2jlFIHQAAIAAEgfECDy9OUUgeecAYQvJIJIHxAg8vTlFIHQAAIAAEgfECDynTU4LkiUXpkHNezeIfJEkLHDNMzFdd11aUpk+QqpRzHLSkLE1k89ezzb7w14fiZ82073zDqrvtGjblv2Kg7Bg69BYMgHTLyttFj7r/7wUc6detVEnGnzZ3/zEsvzVu0NL+gCGsVQsV8MYtM6JgAHTMRbfjPRRB/x0+emjx15l+e+eeytVtqNGw6Ysw9o+594Mabhzbr2OYFsCIAABAASURBVCW7br3M2rl1mrVIr1UnrUat6g0aNW/b8Wbu2B59fOitd4WS0ubMX/qPZ/+5dPnqgoIix3G09oUICJjHBFYkHsEyxzq8RWJMOBxZvHT59FlzHBlo16XXnfc8cufdD/RHbqu2hEWpGVVSs6qmZVWpUrNuizYdevcfePuYBwaPGG3FJY+bMOWvf392y/bdhUVlghVCH42kQ56A9/6hA1qRHjp8mM+jb06cGtbWkFtuGzpydNtOXdOyqqpggrYCRgWEHdIqaKwQCMSn1KhTv1P3XiNvH9O994BjZy78/dmXCC1PnjzjOsyWpAtA0A1vMMlBgmbhu66ORJ39Bw7PmDOXRUtfOnTpEUxM0Z4IbZSrpaNsrU1EQAvHKG+Ns39Ky9L8GCs+OaNz9150s6gkOmHiO/v3H46Eo0JwtYAIKbQxjmM00KvXrn1r/Nt2XEL/QYMbNW8dn5QqAyFtjNboI9DEJ9HHdcnUjuPNjlG2a2RSSnrnG3p16t7z8PFT3Fce8b60uFLSL0M1UfnxmEkZyzl45PCUmTMcyQCOGnrLbbmNmjkiENXeJiQkjYV2ufPUkOwabtTRRjtRx3HpuI2bzm3YFO9cHHbenjRl05atkXCEwTPIlDrG/lJilJDWnv2HJk5552x+Ua9+A7r37hdKSrHiEo3yRona2uCcbVIhpGJA8ToUCalVAB/KgLfu0KlHv5uKI9GX3xi7cetW16GRlEKJSw/dIov0Usbn/Ms6QKdoVIfLIyWlEW7UCotKCopKLhS9PyUTkA8gwIXCkguFRT7yC4vAhYLiC4Ue+GABLlChqORCDNQHPk0KDSAABIAAEADCw8dxq6gJAbwmRZ7aHo3omCYXYinK5BdeKiryVKIO8JuQQgMIUEDNwtLCovLConBhWbQkasIEm0a4RrxnripmEbNUkahbHo5y9HjtjXEbt+yo06BJ/yEj+gwa2qZTt5q5DdNzquGk7Lik+OT05PTsrKo1m7Roc0Ofm4aPuqNlu86bd+99+qWX3pk153wh90GwBRaGYIyUUknMxRiWDi9Y9pmzeVOmzX7trUllJti598B+Q0fBoUqtuqHkNG2HoiroWiHXIg26MdpKTA2mZFbPbeyFXsNubdux6/7DJ15+7Y0Zs+YUlZRGWRYa3tqYDzdCyyY8cYQUUdfds2//uLcn7j54pE3Hbrfcfm/3GwfWqt+IBa+lLZEorSjjJJSDBxEqITmtZh3Op92GjLytbsNm6zZvf/6FV9Zs2IjvMUYKaUlJN8X7Hsdx2HLy8/P5rjJ2whQVn9pnwJCuvfpWrVnX84zS0rSSisVtjDKMDC5JKC2Ij2xhx1ev3eDG/oNvHDBYBBPGvvn2kiXLI5GI67kpIWWFKHpqlJRaGzLPnj0/YdIUAt6evfv1H3BzTvXaEWMbKyAk1TR7o8A9eKhMuzzGqyHxO0lpWW07dmnRpv3mHbsXLF6Wd75QCByE1wapDK4x+vSpk+PfnsDXvO49erVq0z4uPkFaXvddIlDtKOFK7eBWbWUCSijjBqSnX8CyiWOUHdDKSknL7Ni1R90GTecvWjpz5syysjITeyzLquiYTyARb1ZSVrZ2/YZ9+/e3bt+hZdsO1WrXtUJJjiHctALSqJjQoCWAZVzjRKRx4oO2ZRnlXcoIhiYQn9isddtuPfrsPXh06ow55y8USsWsSXHp8SgpXWPyLxROmzFz4fLlzVq1a9flhpT0nIirWDSarohYLaOVdi2tGVRlBCkCjMBUdFTriOE+I6lV+04dunRdtXb9lKnT8s7lGxacqz1RxksuzYJPf/6p5yhdEw27pcXlhaXhovJoadgBZbEUAoTDTvklQAP/NRxxiD2jxGJR7cTAphR12OOM63hwIk4k7FAfXGzyYa+ViyrT4agbibrRqOvEEL3UtoIblaEBBIAAEMDTzfE0cWKpp0/kYi+oA6gDIHxAg0p0tLy0vLSkrLg0XBJ2yhkizVAxZTI28QY7YsVemi8tZMTRcxYs/sNfnjp9rqD3gEE39h9Ur3HzUFKGY8UTE2lpGektP6OCMhhnhRKlnZCQkl61Zp0uPW7sPWhIubSfe+W1cRMmncsvMDgRFVDSFoK1JIUn2EWUVOpMXt7EyVNnzV9co26jIaPHNGnbNSWjWlx8ipQBralsCaOEIWWBsX6AXeqw7OJFMMmKT8mpzjeKG/oNHHyhuPSp555bsGRpOBpVioaChQm01giqgBEGozZSSCWPnjgxdvz49Vt31GtAoDG0UbP2wk52XCmVRbEXhVi2ZNF6yluuEdoIYwe5c8ipWZfR6DNg8J6DR96e8M7Bw0cFTD3DV+LDnuLi4rlz574z7Z2U9Ow+g4bnNmmpggkylKCJRKQSUgrBj6CfvMRelZGKUgY2amwC2CatOw0cPio1NWPypKk7tu/0RNFG0FBUPFIK7Wop1KpVqxcuWtSiVcteffqmZWVrzqQqaISljLoMQnZAGAZHSss2/IUS8ZXNWraZNmvujt17w64rECAEqbLtkqLi6dOmr123vm37Ds1atg7FJ9LUcZxouLyk4HzBuTMFeaedsmLlOgZzdSMiGrZMtKQg//zZM6dPnCgpLtFaMtTZVWp079k7OS3jrfHj9+3bJ4TAX/vTB/0uDD2WZ0+fWbpseWaVqi3btI1LSi53jZaWtEOMgtQR6YaFEzbRcktHbeFaxgkQJ0bDIhpRRsPKCKml4pNj+85dGzdvtWrthp179tNTiirBY+Y47radO9+eOCmnWvUOXbslpmZGhIWTxQCUZcemyYWn8qS4RJWW9tynMsygVMpWAZtJc6RKycxo1a592w7tOemv28iGqpW0hEFEhUBTQX3+hDFuRJeFo6VRt9zRYSMdobRQrpd6XYL2uiSU+FAYqd8HLdwKiNhwfGjDT5IJH/a6Cgh5OU0+yJDmlfHBCh+VI5VhP6dfNMdTl4fLAWoYb9oMVuhPE0PiE6KktGz5ilWvvvo6DmLwsBGt2nYMJaRGjWWsoMZFKuIdy5XKNYyrZCuJRB1hecMs7WAwIalZm3ajx9xdtXbdqTNmzV+4qLi41HUQo6SRrCglpWTBSZGff2HmrLlTps2qXrf+TUNHZlWrY3AfLOyIFjFhtrClq5R+FxI6ECesYETLiFbGCiUkpbdq1/HW2++qUq3W+AmTli1fUcQnCFpobYyRUl7sUuzHGEG2UPLkmdOvv/nmirXr+g0YdPcDjzRu3gZHL+wEZQWoSEOgtfZpVq+UHp+IQ7AgVSA+OS2z2w039rix38GjxzmgHTl2kg4xjkYK+kkr6FjqiVu+fMXUd6bVqVtv6Ihbqteua4XiBZGyi1nBkwakfl2amlh7cqQWKsoFGkdmKyjtUPVa9QgQjZCvvzFu2/adjKFX1ZNHZa85CivLulBQuGr1mlB8Qo9efTJzqhgZkHbAeNow+JalOR8CqbS0tFLakjFY2jIxI5dEPQ5O0QhpZeVU69C5a0lZZNzbE48cPQ5/Y7QR2nGiu3bvmj13bt26uTf06JWUkoYIKb2CbZs3vvjcM3/63W/+8Zc/LVk0r6Qo3xL0gXbh4wf3T3zrjb/87jdP//1vCxfMu5Cfb9lBR6va9Rq2bd+pLByZM3ce9mChY2zYvS5d+pNas9kwjAcOHmrRonVKehZzoIU3RI5r3GjkzMljG9etXrdq+dFD+yNlxcYN4yvPnT6xecPqwwf3lZYUKTYBbaS3H8mU1PTO3XqUO+66jZv5GAWfmBzjpWjq6JMnT73zzvS4hMRu3XtkZleVVgjjjbpaKMvVrhAaI1bCtY1jeXAtgSHGLJvxMW7s0VHX1ZbKyM7p1LV7dpWqc+fOO3DgoMH+PDEiNss+9S9LGbkygqdwiZAu0CZqBB2NwbDuNXNtBMTHQgvhVfbTWCteP7bV5SpIZZTFeF9EjPPl6n9ATxSojE/e1muFZUnm2LgRJxKOlLvGRYGL80S5ECoaZX7dcDi8b+/+tydOcpXdf9Dw+k1aqWCSIgiyAkpIqV1bSlYUrFh8SmolMAmcj5DCSCHZNkPBtHr1W/Tue3NiSubMuQt27N5DfO76G7vrKKzNiZSVhZeu2jh55uKknHrtu/bLqlqbhkEhLDeKGEt5DA01keTxhwxbImqZSMB1leNYwuAsmNWoskwwsW6T1r0H3xpWiROmzDh65DDGilHSKSnVxR4KLYyW2IRxS0tLFy5ZOX/p2syajfoOHtWsTafE1HQtHSkjhkqGPlgWEZb0HmVZEhFCaiH5T7EfMI1WKJCQ3rJDt/pNW0+fM3/hkiVau1IKVpPnGARsHDTWWp89l7945dr8Mt2p18AauY2FChgjYyDskMJQEwiNrnTdVZJDbtRhC4qFKkYxoob1aclgfM1GzZt36rph565pM2fnX7iAkFhz3IhXQRvpaM33h0MnzzZo0T6ndiOCbqNs6iiXcdMOA2Bcp+zCiYM7z504ECkrQmGPvfD6JTXjSecspZTHWUlpWbXq5tZv3GjVunVrN2wIh8uN0Lj3smh4/ZYdx84WtunUq0qt+q6yowbhMlJWfvzAgXVLFq9dtGDl0vmzZ007efpkeSQCd7e0eN3yeQtnTFq7bMHqBTO3b1xTXlKojdbSclWwUZsO3Gis3bpz5+59hhH0xkIjywhhNH8CMy8qKcOQVCCxQeM2caE04x3oLSXcIOZSXrR21dIX//nMC889PWH8uBPHjxum34ns3Ln9hReemzN7xoX880II1DAwFVYwPrlq9Vp16jY4dPR4Xn6h11mNbWqvc8bbBrZt27Fj997W7bo0bNpaBeOlZSsV0MYbEcnjWaY0jIQ0pWVFRRfOFp0/XZJ/2inNV25ZiAnTxrICWoCQUQm16zZp1brTgUPHtm7fFXUcQYfYiVx8q8QkJe+fO1gahg44jutEpZASBYxQHgFdAUG+FJdejbCkUlh+bGbKy8qPHTu2d8/e/XsOHNx7aP/OA4f2HNq3a/+BvVwjHykpKYa/oHuCoZCCadR03MR4GWM0kB5ny3WZZNjaUiijpaUwV2opJ6rJiYSj5/LOnzp52nU1UySMVNKimpQWpUYLIZRSNq9GSypIobQWpcVlhw8cPbTv0IXzBU7E8SxKKCn47yIu/ggEfQiEENIIKYT3J92oiZZzAKcLxsSylRBCWZaltS4pKV20ePHhI8e6dOtJLEn8pAJxVDLaaCcSLSvV0bCUWmEtUa4pImSS44TL4QZ3KZV2LaXiGjVuwdadd6FwyfLlhUUlniBhuDTyDESzb5+ZNmNOuQl07zOwTsOmdjCeNgFp0M2rIAX6asZGSgNfBpodT4eFd8iKIMAbVymMEMxAxEgZTMCht2jTed+Bw6vXrMUVCkmXpKZ3ouLRUhj6cPTI0bnzFgTiUm7sO5gwVgTiHOxeaNti7A2jQAOtPU9nXC/1dJE8Cl2kYC6YF+VKKz2rWqduPa1gwqzZc4gXXO0aZGIXxhNLTX737N23efvuOg2a12rQnDV2u0Y0AAAQAElEQVTKxKIRDJWgnD8pYGY0sy008yltZYWCAVsKS+sAtYWRQirLNsLilrRZuw6pWdlz5i/YunWrG40aN6pRR3pVpFKRSIQ1HjGmftMWdnyyFgEhMSmB9VlCS0sJ4R46sPu1F595/eXnThw/HI6WeZkWGjEyUjDQxkghmFnXdYQSqWmprdu2c4xYu24dVqGNQ+cKy0r2Hj6SkpFTr2GzYCiZUi2EkFKSOI4ViSSHAonxwcMsn13by0pLhavPnz21beO6aFlR9SqZttTcAmnXYyVtyzEqvUrVtt1uKCyL7Nt/IFIeFt7DckQdj+LPxE4AGzdvy8yqmpNTS1ohI5QSUgmtBJt+8fGjh/bu3Lp788ZF8+asWLa0qKCgrLTkXN7pA/v3HD1yyIlyXymlZQlpCeUtzoTEpFq16xYUFJ84cVq7GgsDyDNClJaWbt2+3XF1k+Yt0zKrGmNRxNAwjtg7RDRCMBFlKHZs37po4YJJE8e/+soL06ZMWLZw3pH9e6KlRTaMXC1YBQaJgcSkjAaNmrnC2r5jB2NoGGEppVBSxKxJ/Oseemuk4j9PGbSJqcSvB+GpJ9BTSOFBCCGldKJRSym6sH/fvldeeWXKlKmzZ81+4fkXfvfr3730/EvzZs+fMmny2Dfe3LNnj2eWQlLTdVkL/Ar+lFI69qZisyCEsC1vtCgyRiilhCfEqxMXFxeJRAntJ06c9Oab444ePaaUBWhuWRZTRn3LsiG86XBcMil1mDZXU3nmtBl//tOf58yaU14Wse2AFFK89+H9oyElAyJ5BO2MRKb2VobgoRFKCu8PpQ8cPLhx685qtXObtWgdl5isaUIFArGigrUrls6ZMWXvzh3lpSVKGCdSvnvn9qmTJy5aOP/ChXxv5OEphB3wFl/ADrZo2bpuvfpLli1fuWYNfdNGu4yc1uVRZ/2GTdt37m7HxXzLlqFQyHEczZoXQlpKVHo8FY0uLS3esH7tzOnT9uzeGdsGGXfNoqUn1LXZwLVJTEhs1KhRVk7O0hUr9u47QL4wmsn3qmG73rtAh9LSso0bNx87frJ9x06NmzQJhkJ0mUKlGBIt8JjAjXoLsKTwQt7pssILbqRcuFFpXIaBmgIudFVIZdtVq1br2LHT4aPHZs+ZU1xcQgXg1ZFSSHn+Qv6qVWu0Fm3bt09MSDL4RK/M/2MBwsXwuI4TjYTdaJklCOeL3Wg4HClxddRxIkZoYxxLCiVNMBSXmZ3TvkOncDSybMWKCwUFQiikSCGA0SJcHt61a1cwGKxRo4b4wMPwOo577ty5NWtWb960OS/vLHIZHKO9GTbeEKGP34xJsC1lO66pU68e0dfBg4fz8s5RRWtz9mzeqVOn6+U2yKlShQZKWZLH4OtRwxua5OSkVi2aW1Js3rD+wrnTTrjsxIkT3ORm5VTJrVffDoSiUVfTbeM5ZUvJYCDYqFFjpdS+fftLy8ulpDe+GhfTcFnZvn17tdH16tULBYM0vVjg/cDEmzXLslKzMpxodPXyZYf275Wud0cptaM4+3vV3vMXCASqVqtWHi4/dOhQJBo1SEQmjkub4qLiw4cOpaWl1alTB5NwtSPZY1DV4E9dqd1QwCouOL9o3ty//vH3f/vD7155+eVJE8a/8Ow//vyH3z771F9WLF1UXHBOCUciWmrMXSpZtWrVrKzMEydO5uXlaa2FJw5571Hpi/+C5v7IQxQUFFSrVq1b1659+/ZNTkrevn17Wlp6//79e/bsWbt2bZZ4OBzRmq57O740lq2CwqhoxJXCZndzHSJNXISBlcfTsBV6AxIJh3mVUobLy23bjkQiTNCBAwcg/JpeA01AY7EGmWvbsgK2Dc0405AxZGarVa2KndDq8OHD2EyU+TXYKYXXDAptysvLV65aTRjYvE2H5Aw+BVg2l1z0RJiigvML5s6c8Obr27ZsKCspEcYtLy3atH7Nq/989p3Jk/LOnBJaoy5Kua6D3Rsp4xMSmjZrwbnpnWnTT505g6Z4Limtc+fzN27eklWlStOmTTFxYYRt2xKT1C5Ln2rvwmgWc3FR4ZJFi159+cXVK1dECRCkLwcJHoVBM8wIz86u0qpV2yPHTs1btJjFCBPq0TwGIaQSQnEttXrd+pS0dGIlOxB0HEczpRQIIdihtMskBCyBk5w7Y+rzT/9t2aL5xQXngzYL3zBPUgph6Ca1hZQqLjGxVeu2NWvVWbx0+dFjx7TG4TAA1DE4g1Onzmzetq1GzVpZWTnCspSCN6XSCGWkYPq01pFwOZvNxnWr886c0E6p1OHTp4+tWbNq+84t+YXnDetcaiEcwdJ3XTsQ17xlq5q16u7Ysev06bPoIaX0GAkDq2PHjh0/fjwrKys5OZkN2FOx0p+U1HHog4shG/48/6i1S46390uDSlRHPyMknF2NylZqSnqrVm24Jzl5kntYRf6ZM3hYt0bNmoJeGM/ilZRSaGGYO0PPg8FAbt262VnpB/ftOXJgX2lR/q6dO8vDkfoNGqZnZkrbpj9CSCEEzbwfI+LjEqpVr3Hq1KmSomLtBZsCPjFACHwZYUJCQkJOTrbkUcyjl+//wYEMS4l6ubm1a9U4dHD/hnWr88+flcYldpUaxfyKF1MYGG2Sk5OwulOnT0Ud19NDwEYa73v3hcLCouycKnEJiXTWtogoOSZrJWLQjnHC2zatn/L2uF0b1xEc16+f26Z165o1a5SXFq5ZtmjmO5P37NzqRkqlcaRxpaSv0g4G8MscSM+cPaN1TBzSLqrzf+nHsjzvxgDiDQcMGNCuffuaNWtib0qppKSk6tWrt27detCgQQ0a1A/aceUl4YL8ovLSiNGeiywqLAmXRSPlnEjD5aXh0pLSkuKSooJCJ+oUFxfzXaG8rEwKWVZaWlhQEI1GlZCpKSkDBwwcPmx4VmYm1UqLS8rKyiPhcFFRcUlJKQOHzUejTiQSKSgoLCkuxnW6USc5OaVu3brxcfHoyYSSUvPaQjEQJ06cWLNmDS6yVm5j3IDmUgAbMt6fLXS0rLis8Jwb8byk59icSLi0sKTgfElRQbi8TLuukagkA3YApS07YAVCtXPrVa9ea+OmLXv27MU0KcaDnDx5+sTJU3Xr1svMyrGsAP2hzzbjjRy/EvWE9wI/JYwbDZeWFBWeP1daUugQ3CkhWJmSCoyDFeWrB7GVkAnxiZyY4hJT5i1Y7PllKYznZ6nsQzquPnf+wr4DB6tWr85iUDYyLXw0xa7rkgZsy8WU3WiktGjz+jXzZryzY+uG4gvntBs1Gs+CRHgaHiGkkdIOhGrUqtWsRauTp8/s2r0Ht2sokEKgs6MPHTp8/MTJGrVrJ6elqdh+g0aUeVxQnP4qVZB/fuqkt198/tntWzeUl57Pzzs5d/aM559/Zt6Cefn557RwvTMcjlK4Qkr8XJUqVRs2anQ+P//k6VMRx4Gb6xrGzLLU4SPEfXnZ2dmMP+wpqkBMYREI2J5qKEdntHdoNkZLhTPRHgvy/WIpLcuORJGmrECgYaOmxgicPjzpHTGpEDIjLcOyKAy6Dr6A0TdCuzGPybCIGjVr1K5V+9ypk1s3bdi7c9v2HdsTk1OaNG2WkJQk8GoqVlEgzwgUkJKRqF6t2rlz+SUc1cn3gCgtJKlwXCc/Px/p6WnpQkp098ov/WlPd69a06aNe3TvlpQQv3HDeny0dsoDStiKFqLyo7UOhoJxoTjXdWHr4igN3QaMomTJRRwnNS2dwFyTbwRTRpkyQgltKVFScGHJogU7t26Kjwt07dLpzjvvuOe+e+++5+4mTRo5TvnOrRt3bttcVHBBCewoKqSMOlFkZWRmFrK+i4txvp4yEpaCUvF/5JGxB2VV7OHIglvEGTGYiYmJpCwi7AFkZmYGg6GjR44tWbJs+vSZK1euPnr0OFccixYunThxyvr1m1auXDNhwsRlS5dPmTz19dfHrlyxasP6TVMmv7N40VJuqZcsXjZp4pS1a9bn5xecy8uHDzh96uzpU2emTZsx4e2J27bu2LB+4+xZc1auWM3J+vy5/IULFs+cMWvC25MWLVxSWFjsuhodhRSojGLQEGh+DaEcxyFe3btvX7XqNXOqVddaSGUxtVJJ4bJDamW4zY8K17WkcTkqSq25r8RnuRGbOqwnoTAv9LN8j6PsjKyceg0bFxSV7Nt3oKzcO1iFI9E9+w+eLyhs1LhJMC7epQdSkiBIeL8sDu+HHOBRRttKscSxVKldVBGYNGXCGPQRQilLCOk9ys6uWqN6ndxDR4/t3bMvGo0aQ0DhwwjBknMPHDpSWFxau079UChOSGWkdLWWSvKQaCNIqclyFNrVrhMpL1dYPd2nBqvUmNiv1FQSIhqJxnPhVaduMC7hwOEj5eXsip5aCLtQeGHLtu2uFjVq1gnFJWqhYi2MYLigjDTGU5rdNO/0ySP7dhWeO1WYf3bunBmzZk6LRiOc15KSkyXXOnSB/npdlUIFuOis36gxHvrIkaNONCq0tiypXWG0uXDhQklJCXu7kELE/kTlRxrXdYQS2jAsrm0zaMSDytB96kuBRp5u0ELgwCzLco2Rws7OzolE3KLCItc1uJUL+Rz5RUJiQoB4POIqRb8syUgKfIMxShmhklJSm7VoroXeuH7N1EkTd+/aldugUc069VJSMqS0lLK0Nkaz8UghhaUspez4uMSS4tLysrAxxpOPCoIHWtDNgoKCYDAYFx+nJOLIfxfKsiKOVnYoPj6xZ68bCWqOHz26Zcvm/Lzzyhhm0MSedxvA3RiL/ttWUWGR47iaHMGEStd1w5EIlzOZWdmoBGcXPVHx3cbm1KkTRw7sc0qKqteo3rlLx1Zt27do3abbDTd06drVtu2yooKjRw6UFF8wroMErV1l20bJ5JSU8kiYbQDj0UbTK+/vXbbXgEJ5rbVz6eGVfpPjAxpUFsMwk1MZlUs/SFMT5f1UKW8WeKUa/EmN1hQpRdQS3b5t+z/+8fSyxcsDKrhk4dK5s+aGS8N5p/MmT5i8ecPmk8dOLl6w+OihIyeOHh/72huL5i8sKSzeunnLM39/Gto4eveOXW+PG79z2w5LqO1btk2dNOXgvgPkH9i7/7WXX507a064tHz1ilVvjR23b/fegvMXDu0/GLKDZ0+dmTJpyuYNm5xwFMWUwhEZS7GaJepdW6jS0tK9e/cabapUrRoIBoXC6BFhnCizbrN4ZMx88/PPHzq4f/fO7Yf27ynMOyOcsIVBCIMb8WpLNIOWRirtwapeuw6n7IOHD18oyKdCUXHJ7r37sfqsKlXtYEgI6T+euTJ7whifkfAy+FMxzlJoKfCSpF45VRAjBCbHq5QwEQyKCoYS6tZrCFucVGlpmW2pWB14eVXDkcixEyfjE5NS0tOFsoyQxiuhsZSwiFU1kl5LSE+ENJ504a0izTsVhaGMykJIIZUW+FmRlVM1K7vq2bzz5ewEsQqURiLOiZMn4+LiU9IzhM03UIv6IvYYI2iohZBS4O1qogAAEABJREFUWlK6kTB/5UWFW9aunTNjWristHu3bh07dExNz1DSxgKlZFC0Fsp4EkVaeoZt2XnnzkfCUSGE9B4clOD0UVZWhkOxFEMhRaVHSgOENPTrYja09NuSCiEFRUaimA+pvSylLDsYjFdWgLMzmggpy8P4MhEMhiQvUlqWzQoxgjdLK8vlKsqouITkqlVr4G6OHzu2ZdNGo0XtuvWyq1YT0tKOxuEapEkJpV0HWkoZCIRcV0fC3G2RQTG4SMCfZS8YNK0lcvij8CIk8bSwg0JaxN7pWdmdu3YjfNu4cdPhI4ejUW/N0NyvK2MPGwC/pBoPKQWKCx6JnQghVRkKGK93DKihzLIQGQPyPZSWlBYXFwmtU5KT0lLT45KSjbKTUlNT01IwQG3YUQrLI2GHGlIKyzJGa2ECQQxAlJWXO64rJVIZZCOZAnHNHnVp0isIYxAhKz9XKQxWcPBTCNd1vL3EdaGFlFoz/wpfsXLlirVr1hTw0UK7pcVF+/fucSKRqjnZ2nHSUlM6tGt7U79+rVu2yszIZAAIS1s2b1Gzes3Tp84mxie0aN68SnbO8aPHzuedS0tJzUhLj0b4FicoysnK5gYZonHDRqnJKdTRjlu1SpWO7Tvk1qnLmJ49fbqkqFgJTxOv7wKlvM0PWlzTR7HOjxw5Eh8fl52VSbcRAPxxMUKQI6TidmDN6tXjx43lxnDCW29u37rZRCNK6NgSw5KUEJIfD4JEaaFyqlTPqVr98JEjhYWF5DlaHz95KjklLTExiW3Iq08T4T30FtBMeDmQxuclY/ylMAiCg5DmIkTFQ2Uv19Eip2qN+ITkw0eORp2op3OsCg2EkOFo9MSpMwnJqUnJqSwTIWmFwjGWQsDTMN9SURlIXgy6SGjjOSmLDBoI70/wYIfkaCESklKS09LzC4pY5+RLKVkd3KeczcsLxSeEQnGR2I2pocx4ifC4SSG9WVRS2BY9c3fv2DZ39sy8k6datWzZs0fPatVrer7DCKUsQbDnWaNyhee/UlLT7ECooLDQMS7FzJHwmElXa+SqSwsGaR8A0oGmw9FIFCcFIVDW4G0MU0hZrAn6SAFToYS0pLIlGWhuyJL8UmR5/lFKqYAQgmHX0o5qCaxAXNQITiSctalcXFKcXbVqvfoNUlLSEIxHFBImWsHXsiRD4aktlVJC0AXjqST8B1oLqe1AICUlhW6Wl5Vrrf2yipTQTEvlMEQqIK1Aw8ZNO3ftnl9QsH3HLixNMnqXqsIBEg7AjS1vLFDZlhFMMSVed/w6CgcnvBEwnjFgD4CRJ0Klv1YgGBIyNndKEco60mZeGAFvMCylLGVZlpSWo+k9rdjkjFT0zjvQaKOFxxhxwnjJNftDc0C/HAdv7Llj+gN3P6XLlPJ6LSEl9haJRAil+fwC50g4jKCi4uLCwoJQkPu3cJs2rXv27JGenhoMBkKhAI6ybt06Q4cObdGipRSMilW9Wo2kpGTo+Li45OQU2wpyMiC8YByxMSGkFN6YC6GUsjLSM+vVq5+QkCgE449wc2D/wbVr158g+olLiAvFR7BqTUeNYmo0jtRlLsS1fjxHefbs2fiEhOSkRMN2IUiiqIswBl+gNHZjRFJyco1q1WvVqFklJzslMcGzCqHFuw99818kLYRUyampfBQ7dz4fR0xBNOqcyTvHWASCcbYVkAozleTzB4QgAcJ7Yr8kUuAisSsD4eW//y9WRSiypZRJqal2MHTy1Cl05pXM2NqjuXAcfebsuRCyuaoXSKKhqPxoYWmiHmlh2kZID1JCe5mC6OD99b35MJLxiYtPIJojhDEsXI+jdBznzNk8aan4hKRgKM6QaUyl9lIqYjFBDkfLSHnZLk4sW7ekp2d0aN+hfv2GxHGu576kEl41oZSQSlBdWtLCMu3S0lIaasdhIUpvXkxGRgZTgzdx8ALGEyg+8jGwEFI4rsPSklJJIalLGx9C8thSWq5rysrCjuMmJiR4TYTynAuRV2kZC53K2uuvlMpyjIhLSErPyklITotjL0rPbNO2XW6DBhnpGQ0bN6lVpy7+jlFKTEkJxYUCgYDjOtrzekZj2dpEwlHbDsTFxUkh0UTAnZ8YGQjYXESUlZflX8hXSqEZJT5QQHh+PBBm35M4LCszu0rnrt1q18nNyzvvbQbGWzN+ExaQ1lpZFkz4YsAmmJqaoqTlsxLIlTKBRajs0rJy1BJSaiO0rDAJSwvJ96iMjGwqnz2Xd/jYsYLiMnzl4WMn9uzdFw2Hg8FQlWrV4hMSjUEmBmO8oTUCy8cSEhITFOcY9PD09nsortWDPBjztXfr1q1EJI7jMLPk+KDj10qQzweGWDvi9u/fz8UInxEPHz4UjjnNern1atWq6TiRmjVrdOrUgdtbIfT583mlpcUnT50gPxQK4QQuXCgIhyNFRUXnz7OvFbJ8uMXFqnFB5eXh0tIyKvjEuXPniouL+YoYDocLCgrJLykpRfrp02f48rFs2TK4SakoolVe3rkTJ07AlkEouHCBJr7C1zBVMD1//ryUAleilLJsJYyWgqMDtuxiX4IPJonJ7dq1HzbylrvuvueWUaObtmhlpBKxhcqU4FpVbBMVvhlgEEYGQwnBUHy4PByJRLXRBD7FfLRSKhAIaiGiUfxBrLpX2WsW+xVelhHSzzD+D4YbWzo0o1hrY6AwZkO5IccoV8tQKD4hKSlcHgmXl7vcysHpErR2i4qLLMsKhYJ0hyaXSvilm7hGrRBFpEbPhQtLQCsypdExZcigMvA0YZCIxljhMIwSwUZZ/MIYSb5t2YkJidKIaCTiOo6lWJBGCi0NYlFbGE9/oxTRigkEAmnp6eylxYVcch3ia4AlTUBJWzK4wrg6YNnC8DDSngt2hbFDIUU0ZCmPqdGua9LT05OTk3Eo2o0KgQhPkidM0iUh8UpenpBCRcsje3ds37x2zcbVq/bt2sWJBtaoCoSgMv3XkmVOGzdaVJjPaSIxkQO4JYVMSkyRUmHJroi6xnG5HxWKmQgEA01atho66rYBQ0ekZVULxqe17dBt1J33jrr7ge69emdkVwnEJTRt2fKWUaNu6NEzJS1dSol+llK2orkuC5cG4/AzQRRGAykEMEIZwYSGqlWrWl5efvbsmahTbtBOaK+18aZe2oGsqtUbNW2eWaWKsALBpKRcgsqevZu07VCzYbNqtesFgkEjtRTa65lmoKJG6+LiAjjkVMm2Apb0RElK+UtMSAhaqrykRDsuZi1cVxmmjPGm3KBUVnZOvUZN4tKyTp48O3PmnDnTJs+eMumt119btWK5UFa12nXrN2rCNqEF/fOsRhlmUpWVlAY5oSckWErSOyHQxyBOVHqYAh17IN4Hst+X86GvruuuW7fut7/97d///vcVK1acO3cuEonQFiGWhfl5FgQda8uvRg3haUO/eK2M96lWucij6Rs/Z8+c2b5jW0lZcYPG9UvKi9esW8MEBYJWjx43jBlzZ0Jy/NoNa7bt3BaOhguKC84XnM/MyTx95uT2ndtcQah0OuqE6zfILSot3LFrm6uj0IXFBTt37xBKZ2SlnzufB83E1albu6Awf9eenY6O1qhZ7czZU+RbQVW9ZtWzeafjEoL16tc9efp4KD7YsnWLc/l5u/fu3LN3d3ZOtqudAwf3MQKxPgrPtk0sRfWrg2I0GQK4Sdt2RMwKmWvj4PssjyAHY7CtIJFDdkpmlcS0rGBSqhaWltxgSs8ijGtLLMAIiS78MT2WdoSlAmSxMAQmokQgFBRKOawxKRVrRQiqxoAZSSGll0EDYaQRSuL+TFQrLWxXBoTBdIUwQmvXGO1R0hW0ECwq6kq2GteJBoN8+w0ohQKi4pFSxoXiqOs4Dlblta0oE5J8qSNKh91wqRstd6NRQXewbDcSUC750jjvVkcDYWiiUUJr+NmBgESeZcWUUoFAMCczM1Je7oTDOhr1zs/aXx4mxsRISXVlpBJSWQGmuU3Ltm2i2t2yedO+PTvLiy8oHRFOREkGgSaIYs0JpJVFysujkfjkJGHZwvMyJHRc4SiTEhPZRV0nqpQQUhsPaCmFZHSMEtJSofS0rHB5eNbUya8889Q///7XGVOmcK0uHYZVevUEMySiOuq1NRHhhvft2hYKyrS0VEotK5CenuUafaEw39FhaQshvcdmYOPiqtWudUO/fl1790vLrhlMSE/PqdOhe78+Q29t0b6zHRcv7GCd3Ib9Btzcpl3H+IQUywpKWmMT2pVGnzl7Ojk9xY6zJby8fCmFZYTSUmIt9evnxsUFDx484DrcWDkKHbEUwbCIpKSUjl26jbn3/hZt28WlpERVIJCcdkP/m+966PEHv/79ngOGpKSnaibOG0atpEQoTM7lnRHCbdigrs3HFimk8KCESUlISIoLFeSdw+YCQlqaiYsoEQVSaCoF4xI6du3eqkOXYELavj37J77w7Et//d3CGVMK8/Myq1Rp2b5D3QaNE5KSMT6GlK8ZxpHClRfy8lPik1ISEr0uSabU6zZCRaXHGKM11uR1SmvNxkDUcvr06by8vDNnzpw9i186c5mHauDYsWNr16597rnnfvnLX7744osrV648fvx4SUlJNBo1lx5kQgpGTyLLB3kAjZQQFSDnw0FzmqampnTr3u2xxx/9xW/+3+Pf/GrPPj2ycjL5hFWrZs2bh9z86FcfHTRkUIdO7Wvn1qpVp+bgoTd//0ffu+3O2xo2acjMV62Zc/uY0T/57x+Pun1k6/atxtx/1w9/8oMRtw7t2KXdHWNu+/b3vzVwyIAOndvfcfcd3/vRdwePGNKmQ+sx9971vR99b9itwzt0af/gI/d/89vf6N2/V4/eNzz81YcGDR04ZPigR7/28LBbBsNt4OAB3//hd++7/95WrVomJsZLYaRg6t6FuLpHYTQsNtd1SsvKXCPwJcrCAypXYCNKcFRUthWKC8TFa6Fc1p0VsuMSQkkpgfgEaQWoIDwbiOnlq2KEMMJ1ohHvVBLksZQVCAYy09PIDEfKtRu1FBPj1aYzFT8Xaa81eUZIZVm2jY+zWEaKeSJXKQmkX9WQIWDE/JWWFJaVlKZnpCOOCl6BN0TeL1FeRkZ6eTiMFUrlVfdyL/5JIwULKf/8+Q0bNy1bvvL02bOBuPjE5GTkCh6j+Y/fS8w8Ek0sS7J3wZBjI12DiVcgDAu7Ro0a5eVlhQUXLPhKoZSnK5ryw+QJIRwOzkLgz7jhqlaz1rARI9q173D06LGZs2btiX1Vk5K6QirlEtpIoaQx2j1/Lg9VOGhbAVsIKSUdEUKY+vXr183NZVVxRcTwkiWFkTDghxehlB2sUavO4OEjbxo0pMeNvVu3ade0ecvc+g0Sk1OEV49KaCeoHrQtJxrWrlNUVLBp4/rExPhatWuxuKVUNWvWtCx17NgRxwlLgR8zPKhH41AolJKamp6RYQcCQkhl2YlJydk5VZJTUiw7oKVSwVBSWmZyWmYwFC+VRR0h4aHLiotOnZ3yv7EAABAASURBVDxZp07tjMxMZlV4T0xvjxCWJWpUr9a8aePzZ0+fOXVCaHpvtMZteduMsgJ16zbo0KFLjeq1LSuotdRGZWTmtG7Tvn3HLnXqNgglpCgraLQ0WgDh6pLCoiMHD+ZkZtSsVi0QwKIQY1BESck3GQb25InjpcWFbjRsKcYWTWIpNaTEfJs1b3nXPfcOGTmqXefudeo3qF6rVuNmLXrfNGj0XXf3u+nmmnVyJeKEFFIZ17WVLC0tOnbsaHp6WvXqNRgHT5jwivkT/hNLlVKWZUnpnRjoHUfa119/ndjwqaeeevrpp32C9KNAtb/97W+LFi3iDIuHXb9+/Z///Ocf//jHv//979955519+/aVll78t4eIQKAR3lxDXDE4vnDh2Lhxo/oN6jds1JDpS0xMwCOjPGuhbm7d5s2bV6teLS4+LiExAftp3LgxNTOzcKZ2XFyInEa0rV+fE3pubt0WLZrn1sslEqxXv16zZk2r16hetVrVhg0bNG7SuHbtWjk5OXXq1mnRskW9erlZWZmk0FTAWXPMR3ROlRwY1q1bNzs7i5wmTZo0b96MVpV7Jyu/XCmt/AfWkSinraJgICiEkpbFGpZWQCs7Pim1c/ee/QYNqd+oaSg+wREyPjm1Rev2g0eO7tG7f3p2FSNtIywtpPFNwPvRrIPSkqIL+ecy0tLi44JGCEuqKjnZnC4j3j8xZbq0EACisu7G50GWayTrrUXLVl2796hVu46wvOCUBlJaRsZaxepKj4nmMHrhXF40XFqzejXbii1FWAgh+U8IVkW1KtllxcVlpSUBpYTX2gge6VHen1QnTp7CT02YODm/qLhF67asgeSUVCGVsgPw8Gp7f7TxoImWjUtHSooKkhPiGTS8hkETaVKSk7mdKSkuIiCQwmHVCWEMLKT0WkIxTlBEcoyYtKxgXJ16DQYPG16rbu769RvnzJl79NhxI70HxSzLkrHIS+goyxhPX71a1bhgEMWlpL2HlJTkerl1iosLCZeUwTFwYDQI9YQI4QrOn1ZOjVoDBg8fdceYYbeMvuWOMXeMufvGvjdlZGULpahKTeoroZUwhMABJQ8f3Ld//+56devkZGdRakmZlZmRkZ526OCB83l5qGRcx5bCVkrGHuqwTkgBFkUem4Gm30oJSXjIpqtcyS4rHG2YRCWEE43s37u7pPBC/dw63OgLhki851GKeDZ5QL8+biS8Z+f2aHkpn7+kpNtSC7YQGihLoYIHCNsKerCDoWB8QkKykEFX21pYTKGtJNqeOHrk4L69TerVy05Pp5vvCpMyISGhVs2a+fl5p04es4S2lWWENEJo6cnSwnKMjEtMbt6q7eg773rsG088/NVvPPTo1x989PHb776//4Bh9Ro0iU9IEYKu20IK7USCtsk7c/L0qZOs/PTMDKkYWoNEKaWghnjP4xmPMcw1BNd/b7/99j//+c9nnnkGR/n8889DP//RD1HkK6+8QjhZXFwspYxEIqWlpdu2bRs/fvyzzz47adKkM2fOMBfIY4LQT35AOkWfHLZtIwWgLdxQmBSaHAi2TFIyeYUnKa80oQKv5EPwSibK+DkQ5JNDPjQVAEXkQJBJSgVyoEkBOZTyCqABmX4OEv3KvJJ5DQFDxRZRp06d0pLSM2c5mHjTyR/W7DLxdig+Ja1Lj96DR4xq1KRZXHyCwQDjEpu2aDP81tt79x+UkcUNkU1F6gvmwEghjDS4AX3m1PEzGEo1L7IQRuAuG9SrW1pSmH/+rDDaW6BG8JiYRUII1pX34/0ZKQXHuoTEjp27Dh9xS5v2HWw8eGxVGyE0NRHhVUSsxjJ1JHz44H7Opi2aNY2Li9OaWl6xEEYKExcK1qlVM1zmyTY6inpk+sWkRmDGKqdK1bbtOvTs3XvosJE3DxvRrEWreO7mhaAMTYzgkUIA/giqWX8y/xw3+2eyszLi4+NE7DHCBIN2wwb1q+RkHT92uLS40BLk0dpr6CtDN5Wy7FAwp2r1WnXrJ6dlhuK9FXhDrz5Va9Q4l3/hfOy228GjCEkzfF9AmYL8cwf27kpMCLEThIIB8imjl1KhoGzWpKk07v49uyLlJZZxCWkEQ4RoqYSymUfJ0TElI7MK4Ve9nOq1IVLSM+xgnCfB4yWUYEYMQTJXKJHy0q2bN0jjduzQLiU5SSmvVlJCfIP69fLOnN6za3s0XEY17XrHOq2ZDaOYGizUGK0vvkoltSaMQwllJPuopaVllAUvT3OC1gvn169akZIYXy83NxgIwEEITxV/sKCEMYkJ8d27ds6tU2P/np1nT580HMCZOSOkp5MSgka24nrHKGTFXuETMEZx4nSNpf2Jgq3j5ued3bBmTXwggIXAVklyBTNihJBSJiQmNmzcQBi9ZfOGkqLzjlMuvEcKjFMqLZQRSgaCVjAui+GrW79pq3Yt23Zs0qJtjToNUzJy4hJTpRWUypb02mi27fLifHRWwm3UuEF8XLwRxgjpaeyJNKLSYyiJZepYH5KSkqpUqUL8TpRUm5iqVi3Sy6BWrALhsIw9gdhIsqJzc3O7du3aqVOn1NRUFXt8mdTyiStLUdLBNLWGJX4KwIdM2FqW5boupfSIUkAmtBt7oKlASmW/Dm3JoQI5MKGWUpZfIUYraEqhSYGUAprKitkXDKiBDzmAUgAhYw/ceCW9hoCxSkhIaNCgATaed/ZMuIx9SQutjauNNn5cmZSWkVOtZlJKmqInSrGEg/FJ1WrUzsyppuygEdgTenuNLK7qXDdgK+2ETxw5jCuBc2pKitY6IS6ucf36Acs6cvhQpKwUb2W09vomhGRMSEXsMaSSLIEwO1ClWvUGjZvlVKnB2UdjrNLSlAupXS2lNNplOfJSWlJ0/MjBxPgQEXsohEq+TUqvrhAIrVm9Kr7g7OlTTiTCIPv5xhitjVSEJ25mVlbfmwbcMebewcNv6dC5G/1VwTgKjTaCDkpFIgSJjjE1xo3mnT1ddOEcnJOSElFGSBaxVlJUr1alcaP6p04c5cwohSPREx7GUEQNwXqQIj0j84677nn08W80bdE6GJ+YnJ7Zb8Cgrz7+xMhbR2dk5eBItTCSVae1NK4bKad3Rw7ur1e7dvWqOZYU0tPES4Xwete8ebNa1att3bT+6MF9OlouXO7XNGNrKUsbIb0FHBCBkAwmOLgVKyDtgCS1bPw9XOCGVlIbboJ1JHJ4/549O3e0bNq4Y8f2cXFxlIJQwG7bqmVOdsaaVStOnzjqEN9JY1sKBXyo2CMldYUxRgppKYU9CLovvDcpLdelxOhoxLjR3Tu2bN20rk2r5k0aN7AD6GmEkJcgeGJj5XJA63VD97zTJ7nALSspMtzDUst4VmAMK0c7sXsM2w4IIaERoJSSUiFfIl9Ixi9cXrJl/bptmzZ2bN+uWZMmMIC5FB4TwSNFMBho2bJlkyYN161esWv7Fto4TlRrT1264LietWnjWb5RlgrGEz9YcUkgEEqyg4mOK5UKuo5rXK2Mo0T02JF9W7esr1u3ZtOmTYNxISGkkD6EFPRUVH6klLZtIwg31759+1//+tcvvPDCSy+99PLLL0NcHtxIPvPMM7fffntGRgZMsrOz27Vrd/fdd3P6fuKJJ2644Qby4YwIwODgsiuLFuJTvMEBMLy0cV2X4zYDrjFRcqUkh19fFpnIohqgPiCHaNevg57UpC11IIBfTQgyDK8woZQmvPNKc1KtLxZRmXxSMkmpTAUIUs2cud6s8eqXQlwrKCQRUTZp3PjU0cP5Z08LNxKwpIqdPDQWqZRgctHCwtXEPoLL2JQrogMlJaWxEJLpl0K7rqQTTqSksODAvr1J8XEN69dPTExUlh0IWHVY5tlZe3buzM8/R48kjT0nha1zWhTe45mQ9AkjpOcqLNsKBFQgKDxBJIjDKD2djXEVdY0Oh8uIts6dPtG9a8c6tWopqST5/PkQ3qGmWpWcqjlZRw4fKC4qNK6rXUe7LoLgxeAqZUHEJyampGemZVVJSMkwdkgoAgTLeJVgx48HKHqppMg/d27Lpo0piYn1cuvSN09Z6blCpUR2dmbnjh3YJHbt2maciHYdmADHQaiDNdiWFZeQUL9xkzbtO1erVTeUkGxUMCunWuv2Hdu271ilajV2hdjYWFIwtk5RQd6yxQuj4fIbunXmnhcOIrbIkUUXMb701OTuXTop465cuvDU8cNBm9lzaYxERQ0psR2BnxLSSGYNMIwCs4xGI4wFM6YoNkZHw2eOH126cEFGavIdt99Wq0Z1FQsVqRoI2M2bNhk25ObzZ04vXDC3vLRIupEon/UtS0pvkTCMxnimzCtgsIzRRjv8CTovjNbaGMeiS9Hyowf3rFq6KCstqXeP7unJSRZiFCrERleIiz/EcVKFgqEunTvVqVljzfIl+3Ztd8qKFRfcgqFmWpUVe1DPdR0phWV53eVVCG20g71qJxwtKzywe8f8OTNr16x664jhVapVdbFqTye0BZI/ZanaNasPHnRTXEAtmj/r1LFDUnv/QxiWMG40bKO0EMYYpTwljZAuGzaRpuHVxlEoZTuRaNC2A7YyTjjv1NHZMybl5528sXfP3NzaKCYVikkBRWPxnkfGHrJiv5IAkEvn5s2bN27cGCf7ScDFXLVq1ah5yy23PPnkk7/61a++853v9O/fPycnJxgM+pz9VEp+rxYMApCSPvHrAY4MDjkQAMLLvWg5QscecqzYQwXAK6BmBch0XQ2fkpKSoqKicDhMOzJ9kE9Nmviv0D4qciryyfGL/JxrmCp4Mabdu3cryD975MBeEwkDS2oKpIjtupIBZu0JaTQ5EiOTTLjkHfAqBYGPllI6rislJuUeP3qYs3Crli1yc+sKIekz3LIy0hs2qIcD3b9vLzsb1il5lMLAYs7N0BTA2mCXQhpsEbBghBJSmhhhhBSUGm20h4BtXTh/fsPaNenJiQP79Y0P+ZahRKya4PHsm6vDxLatW549dWrPnl1ONMJoAvpBqo3QxlBRSktZtiJG5vuVVEg3UgpJiQevBg0QrRme8kMH9u/bvbND2zYN6tcjzy/Fq0EHAlab1i2r5mRvWLv65MljmkFTiqZSSkyF0dGaPCEsW9pBYQVYdbgT1wip2BWClh0QUrqu1tpIIdxw2aF9e3dt39a6ZfPOnTpyg+GNhNHwQdZFA5Kia+dO+EqCplUrlhXke/+yRynWN0uZeWR24C4REAMM/HzX8gIZZbQrtFbaVa7eumnj/r17unft3K1rx0DAoudSSgSRpKem9Ovdu327Nps3rNu+ZWN5STGjTAWNq5DeA10JKK9hDYTQQhibQaCmjpYW5i9dMLfw3OlRI4czKcFggFb0V8RmWQrhQwvLSG+v4gp/QP++QVtOnzpx765tTnmxdPmgxABFtY6yHr3+GNcYNiEEeVBSWyJqnDJbRg8d2DVn5tSEkHXrLSOaNW8qUUMiwVPPm3kmRmC3OhQKdmjfbmD/PgV5ZzatW1VeUqhQDcQVAAAQAElEQVSj5UpoSxq6AKRgzOmH4DFSAiEZAEW51EIxWY7LZNFw84bVO7dvat++VbcuneLi4lHU0KYy3v9euexT01LKTp06ffWrX8VL3nHHHa1bt87KylJ0UwiKxP+dB535Orp8+XJuXVetWsWtK+YN6MEXoSMKVbgZad+2bUIosGPLxkhpkTJRwV2e1MoAI5hXz5VcXHIS2s8xQnrAPxjpVRL4PmH4mlm8c+d2LOzGnjfUrF6NEtaSkCIxIb592zbJyYmbN206c+oUkSSiJQVCOBygpIiRwnuk9+LxRoLvs4QyHsj3ymlIjOOZqxDHjh7Zs2tH29YtcE9au6wEjYYeL+yYyuhvEhMTOnZoj/GsWb0y/3weuZZlUU3D1LIM9m8Er3grVyhNvCAQh6yLMD433oRBtQvnz61etdJSsnv3rtnZGYbmcPRKBfralqpWNadb104X8s+vW7069s8VaSQUFQwjoYUQrDlp2cKyNYKkknZAWUEhlatZ8VpIKZXnpIwx5/LObtqwPi0lpX+f3sTFSkklPEYGdY1wXW1ZFqPH18KRw4bWrlV984b127ZsxuAIsozRUrgSacIIb0yQLDzCMGVaxPJdTyOYyHC4fOeObevXrKlfL7d//77pack0B/4ga9dRShB2jb5lRJ0aNYhwjxw9bLSnhNYafUlj3N9NYsZDWOfGCMqjSppIWcn6NSv3bt9yY49uQwcPSkiIU/AVgl4YgZYeYAGthWQuhLKUsrp368oumH/m9Iwpk/bv2akjZcbFRVLIrBGwM+nG0B08FpuycVysV0e0U3L8yP4Fc2fmnTkx6tbhvXt1s7hbRYLkDwnAE8WPVIqepCQnjRwxrHPHtuvWrNq5bYt2wspEbSlwl8q4pLSTQoOYphIuwjMHKhhbSk8l7ezctmnl8kVNGzW4Zfiw6tWqCqHpgRBSUEtc+8cYo5Rq27btgAEDmjdvnpKSEgqFGGuAMMdxSP+FwDAqcBk1/CLNVq3U0aNH+Qa1cuVKQkt6VwEhmCi/4r8mVdiobdv16tXr0bXr0UP716xcVlpUEFKW4OrFU6lCPwgTsw5v2r0S4RHkACUuPpFI+cYNa3dt23Jjr56AeMEbKaWw6FAo0Kxp48E3Dzx54ti8ObNOnTxBQ5rBl1iL1IefE6Ol8bwkKebppRR5MMaylOPwWUYfPLB/w7q11avk9OvbJ5NrGksxnvK9RimFiAvYLVs0R5+D+/ctmDen4Hye0VqhlZRCSiW9R2DrwvOPBm8Xg6j8SGbK8y+lxYUb1q/bvXsH3Lp06cLQVa4FDeekxMSeN3Qf2L/fmtUrFsyfe+bMKYNaxiAIzf25F0Qq0nKF1JJVKrUwWgiprEDAu+2yGFCj886cWb50Md8x7rvnrm7duhA+o4VET9jhGajv0dq2qa0bN2742CMP59auOW/2jJXLlzCJEn/hV0M6gAbCMOweH69DrH8BzeYxf96ct8e9iYu/bdQt9XPrKCnQgfUGBCKVInFdl93ooYfut6V4Z/LEtWtXF17IpwBOtmXBR7znQZCQjKYnUbvRcMH5MwvmzlqzYlm71s1GjRhaNSfLtqTFkNN3Te/f09jBdQnpJcJwtzD61hFPPP5YQsie+c6khXNmHD96oLj4gvS2AccYnKZWyoMQjtGRaLj4xNH9i+ZOHz/2Jbe8+MH77xk6dGByapJioKgnGK53ZRlII5SUtpJ169Qk8Kxbq8a82dOXzJ/HJyAnXKqwPrpgYt0Rwuum9+e1k14RwYSmTkH+mZXLFy+cO6tqdvZXHnmwZfOm9I6KRns1xWfzKKUwJyv2MFPMkf9KPvigcYrPUBevh5XZG+Nt5K6rfeiPGwelLBTmyxUfo8LhMOzoDqmOPXCD/pxRuTsXjSYtPa1n9+51q1Vbt3zFzk2boqUlIUyYEMsox1hRYxsrjo3b9aItSyvLKNuRVkRYYWNHZMC1gvTKiZYfP3Zw7arFORmJN/Xpnp2RIrEUITFCI22Qkpw0ZMCNvTq32LFx8ea1C8sK8lwnGuXkJ2whhbKUFgZ7NNidlBozFEIrVoDtCoIvOCgpJBGgrR0RLjlz/MDShdPyzx666abeDRo0ZJSl9wjJ6hT+41UXnifi9J10c//erRrW2bl+5e7N66KlBUZrR0tXhlwtqGdc9HC82IGdzWgLRYxQNLYCEddYhEPhsoCO7Nu6YdPKxZ3btb554ICklBQa2UJYQkoSeiECQlpKqdw6NUcNG9Smab3NqxdtXLkg/9RhGS2WOhzrmRBKusYgj8pSBKXiW60lhbCVEE44KCIqWnL22N6Vi2fu3bqmW/sW/XvdkJmWJmkmkaakshEieFdSSmVZuCl6b3E3ev/dd9avkbVx8czVs98+vmtTWUmRdwLQ2kZ/HVVaK6OVFBIIE5KCW79TRw8smjd7xZJ5OVkpt40a3r1Lx6BtKWoYwQJUypJSKWUJgUyVFB/frUObO0YOTrDc2VPeWrV4Xt7xQ05JoXQj0rhOJAJjI7g6YGcMKpVAJ23tRovOH965ac7UcSsWz2zZPPeuu26p3yjXCoaUCgjhcVaKnovKT0BJ3LElhaUUfcNybh7Q77EH78mtlrllzdKZk95E4T07NuafPe6UFbjlhSZSHC46V5h34uDe7WuWzJ0/aezm5QtrZCTfP2b04IF9M9JSbMtSUllSWlJJyTAiFygES2EsKYQxQTvQuFEjBqFO9fRFc99ZNHvq0f3bnZJ86ZQZ7Rqhw1FXS0tro6TQms5GLFEWKTt/4ujOlYtnz5s+sWaV9DGjR7dp2TY5PllpaSPLGHHxkUL6uPh+TX6UUlJKUsuySKFhC0Hq0xCVIIWRQvgQsQf1tBAViOV9+gQuRhhtDMPkalFUXLp1647Vq9YdPXL88IEjG9Zt3Lt7f3FxGeuluKR8z579q9es37Bxy8FDR8tjYxrL3Ld2zfrDh4+WlZYLoRhv19Hn8vK3bd2xccPmvXv2Fnr/qxGCnUBr7cLo0yv5oS3QnHxSACGMUEZI45H+nzdgKMRoAsa4YW7uqJEj3XD57OnvHNi7u6ywwBZGCalI8VaaCbe8Nylh4mretWXZCqephcsaKS85ffzw7OlTLpw73efGG5o0rh8IKCWFpL5URllSWsGgXa92jdHDB3Vu22z7prWrly2MlBazqqSBG0xcbbSgiacgQrwfTR4Db4zHSiPJsT0TLT1/9vj82dM2rlvevWv7Xj26paWlUZtBlJLfCvCCtlJaLDrTuGH9+8bcWbta1rIFs3dv3yzcsDSu0Q5WJgyjIS36qo3RsU9SxlNA87iuLaV2IkHLHNy9fcm8Wckh+5ahg4mOFcIkbTxIwRvjY0nljUlcMNigXt377rodt7J57crF82aeO3MyGi6VOiqMo6QJ2KwiT5bQjtB8eyHCNDpSriNl0fLiQ/t2Tp3w5vpVSzu1az1y2OCc7EyBJujmqymVrPQIwQs5Kj4+rl2bVmNuH9W4Xu01SxdMHv/6mhVL804dj5YWueUltnakLpf02o2YaFm4uODU4YM7Nq6bMn7s2uWLEPTwg/d27dwhOTE+4DkVS2uEeWzhH4NgOi0lUpOTevfqce+dt9fITl82f/Y7E8dt27TuwtmTbnlpQLhc7QkngjvW0Wi4rMwpLztx5ODyRfOmTR63d+eWbl3a3zPm9qbNGisrxlliXygfQ0wGEyaEIKVcSW9MKVNKWZaVmpLcpVOHxx5+YMiAvkHjLp8/e9zLL0x5843pb4+b987kmZMmzJj09pRxb4x/9aWFs2aISNltI4Z+7SsP9erRPTM9VcJKkXgM+eVNCIs0BnyHN9ci9iQmJnbp3PHeMXe0b9ti6+a1E98au3rF4lPHDulIqRspC1hKuE4Am3LDSkfcSPHZ00c3b1z1xisvLF+yoGG9OnffcVvXzp2TE5NhZoyR/sOLBym8npGKa/j4Ei6TvleWEgJI4Wki3vu8Owjvzf+kb65rXM1CZ67soqLiFStWvvDCi9Omzdy0ccv8uQtfevHl7dt3FRYUr1yx6s0331q6eNm4sW+9+MJLmzdtLSku3bRx89jXx86ZNfvA3v2FFwqNY7Sj886cmzFtOli3dt3MmbPWr1/PedzXBhk+cc3SS4z8ofHTi3m8CG/ULr4mJyf26nnDnbePKi8rnjvjnX27tkXKCoVT6paXKMxCuKyT2HwwxsYS2jbaREoCIhIUEbfkwr7tG6dPGHfi4J7+N/YYeFPf1LRUGWugYc8UGPYs4zgOPWzWtMl9Y+6qV7v60kVzViyeff7UIRMplY6jNGyF0lpHoDUxnS1FUMmAlLaOykgpqW2ccEn+icMHZ0yZzOeUXt26jb51ZO3atWCLXSLqQ2EEulgEJu3btrl3zF06XLZg1jvb1q92ivKsaKnSjsYfM8/GCGHwElIIL0e7OFCDi8S7FF3YuHblm6+/XFp0fsigmzp3bB8fChitLUXd98hEfTQhDQQCbdq0fvSRhzq1b7Nj84Y3X3t53cpl58+ecMuLlFPuhotNtDwoXUVg4pRbOixdXGQRFdasXDJh3BvHjxzs27vnIw8/nJubKyX6K8TAmfQy8NZ5ly5f//rXx4wZEwoGZr8zYexLz5JsWr3k4K4tZ48dPHP0wNF9OzauWjpz8lsT33xlyvjXSi+cHXP7LfgUOpWcmOAyDgiQCpnivZ1DOv0CfC64sVfPn/zwe7cOv/ncqWNTxr/x5isvIGvL+hVH9+/IO37w9JF9R/ZtX7N07tQJb4x96fnFC2anJMQ9eP9933j8aw0aNQwEQrYdQMgnB0KpzJA2bNjw7jFjfvSdb3/9wYc6t2xZfOb05hUrF06fvmz2rI3LluUfO9asTp1H7rnne9/5zm233cYX4YSEBNSm7WXA8FJ6MVUqMSGxY4eO3/jG18fcdWd8yJ49Y9rrL/9z8luvb1y55PDurScO7jqxf8ehXVs2rl4yfdJbY195YerECW40fPttt33zm0/wXSU5OQlu3jB65gT5ZQELzLJsJ+pqbdLSMnLr5hYWFh05fKx27bq1atXevGnL/r37N23c9OI/Xzx35tyNvW5s3KjxgrkLJ46fuG3ztimTpuzeuatLpy5tW7eNDyWEAiElrOVLl02bOs24Ird23ZMnT65Zs+bUqVOMJjMFID43YELe8vPkGSGlSYgPDRrQ/3vf+mZKYvy8WdNmT5u8d8dmEy60dTnxlxu7FvRcpHZt4Vg6YuswLvLI3u1rl85dMW+6CBfec/ut99x1R2ZaqjDuxVXmm4uUynssnEvAtls0bXz/naNv6Nhm27rlMyeOXb10/umjhzkG2q4TlJ5zVK62OTBqo1xXuZE45YREJFyYd3D31kVzZ3FRFS4tuu3WEY995aE6NWoQwtEF2OMuIYwxpJXAqCqpLCFkfFyoS6d2D9xzR5Itlsx5Z8HMyQd3bgyXFFAWsKmhLWGk8cJM4uigpSxeyosROn/mlAWzp4eU++A9dw3o3zsxgWOrPPJX1QAAEABJREFUsKz3BCMi9iAMoAxvlmVVrZLDcfi+MXdkpydvXLP87TdenTl10trliw/u3obPOnfy8NnjnvPas23j0vmzZkx+a/Jbb2xZt7penerf/sZX77/nzipVs2EFH79TcIbtR8EvJa1Ro8att9767Se+8fC9d9arkVN87tTmNcsXzJw6edxrU956febk8RtWLrlw+ljtnPQ7bx324+89efuIoTWqZoVsxZTZtq0UJ1MhJG+i8iOlRBlSEBcK1qmec9+do3/47W/cNmJwTlr8qaP7163gtPr25HGvvPP2awtmTNyxYUXZhTMtGtV98O47n/zG40MGDchITxdCWnaQQ4L4lA8jwDigQCgUl1un9oibb/rW1x/72Y9/+Ltf//J//t/PfvlfP/ntr37xy//+6Xee+Pqtw4c0bdokFAohQcYeiMsAzpTGKvpdpptMXJURw4Z958kn7rljdPOGuUV5p7auXTnnnfEzJ42dPuGNBdMnb1y5OO/4oZo5GaNHDv3+d7995+2j69SpzQgJKWCFT0dbOAOYfxngOloK5oeFK2wrkJCQlJKcWrdubq3addLTs4yR4dLw7u27D+w5kJWRVS2nWqN6jeKCoaOHj+7Ztefg3gPpqRn1cxtkZ+akp6YTkofLw0cOHb1wvqC4sLiwoKhOTcKh2nAXsUdrLwCLkZ9HwoSqS3I413kOIisjrW/vHnfdfmuTBnW3bVwz6a3XF815Z/fW9RfOnsQ3RctKdKTMREujZYWF504d2r1t2YJZ0yaMXTpvZq2c9MceumfksJurZGdYtiWlElLQH69vUhiDHF+clNqwFls1b/rIfWNGDu5v6ZJFs9+ZOvGt1UsX79257eyJY+HCfBktl05ER0qjpUVlhQSd+3ZvWTd/xuTpE99av3JZRnLC3beNGjl0SN1aNYRwjEF54z++GNIKaCMcLajhOq4ROjEhfmD/Po88eG/j3Fpb1iyfPvFNPO/2zevzTh0vLcp3I6XCCZtouVNefPbUsZ1bNy5fwhF/0qa1KxrXq/X4Yw8PGtgvOztdGkcKV0otOYVVSIoRdJJeA+/NGFuKWtWrjBw+5JuPf3XIgP6ZKQkH9+yYO2PqxLGvvfXai2NffPatV18Y+8rzE958dcWS+ccO7svJTBkxZODXH3ukX++eNarmKAQYAzfYMpKkHtuP+KPUXBropKSktm1b3X7L8CcffwSMGT2SO9P+N3a7uX+vETf3v+f2W7719Ue//cRXye/SoW1GerIlNBcCxjBO3lQZoQTzJz7k8aWgVyig0lPiu3ftcM+do7735Ne/9fgjd40aPmJQ30F9bri5b89RwwY8dM/tT3714W8+/sjokUNaNW/C/SZmYamAMfiSj+T/ISKFoO9+vkvAa3QgaAtpMjLTWrZu3r5j2169uvfq06NDp3ZNmjWuWatqIBSksjGGVgwdBK+XgWWxUXrldE16v+jHVY9MSohv07LFHaNv+dY3vvadbzx275233jZs0MBe3Qfe2H3k4L4PjLn98a88+OQ3vnb3Hbd16dguJTnRUtKiW8gzsTGMpUqR5TH94vyh4GehDD3V2mitLYWvNMUlJa6rOeJIo8LlEe26Uosq2Tk5mVnnz5wrOHchXFqeHJ9Uq3rNGlWrJyckR8oiZ06fiYQjgDNefDA+MT4xKSEpMz2zVYtWAwcO6tqta3Z2NpqjPzMF8bkhHObrgi9NCmVZypLKEsFQoFPHdl999KH7xtxWr1YVbhLfePnZt157adrEt+bNmkpgNXfGlNlTJ41//eUXnn5q3oypIemOHjHk0Yfv69q5Y2Z6mrKwDCmkFAJuSkqhpFDkCcGLUpa0LCkkW26NGlVHjxr+7Se/hmsI6OjUCW+9+MxTr7/03OS3x86cOmH+rKmLZk+fOWXCxHGv4VBeef4fWzeszkyJv//u27/59a/26tktOysdx6ckD/yV//ACRKVHKolMZVl2IMCx2rZUanJity4dH3/0wa898mC1rIzlC+e8+OzfX/3nM+9MeGvu9CmL5s7k4m3q22+Sgz7zZkyJs/X9Y25/7OH7e3TvnJQYrxBpKYkLRJKKdayyOEn/LJ5YIWJFwGLJhbjAGjF08He/9cS3n/jaXaNv6dmtU6Pc2tkZyVWzUxvVq9WjWwfi3B9855vffuLxITcPyK1TMz4+aEmtlDdQcFNQUlaS8+Ek1agMpJQBy0qKC1TPyWrZrEmfG3sMuqnvbaNuuWXEsGFDb+7Tu2fLZo2rVs1OTkmybSm5cLDplbEsCQcZe4R8jzhZ6fHqIF8ZaYmALVNSEmvVqtayOVJuGDZ44Ohbho0aORhxDHLTJg2yMtPjQ4GARXtBQ4UwgyeSMPjkoDFt6Zdt25bNlz2jgpawpcPClN52ZLzBwjUKVxpXuFQG8PdTiMsD/oA6pDSxFLwlQxKwRFJCKDszrXnTRr16dBs8oN/okcNGjxwK0aNrp/atW1RnDJPiqYkdMJCkPgc/VZ9s1sRn/6CPlIq0QhQ0qHi9BgQe0SJwMELqvLyz+/btPZ9/bt++fTt3bd+2fUskGjl16kRubh3sr6S0aPqMd9auXd2uXZuRI4e3adOqT58by6Plc+bNWb9xXThavvfA3l17d7Zp37pZy6abtm5atGTR9h3bCwsKcZHoyajijiE+O0ghpGB4SPgRiGNmxcXHGCEoQA3JKq1WNXvEMBb2N7/1xOO9e3RTTun+bRuWz5u5YOaUxXNnrlu5xCktuLFH169+5aEffu87Y+68o25ubjAY5y0dZRHBeTYrOL9KIWAqvAf2LBBSTSZy0UOF4kONGzcac9eo737ra9//FjFX76SQPHpg16plC3CU+OUt61eePLyvWk76LUNvJij7jx98d+SwIXVr14yPi0N7KdA2tgTFp3mMtpSqXqPGgAEDvvXkE9/5xtdGDuqXElQHd25ZuXDuvGmTViyYs3/75tQ4e1Cfnk987VFGYMSwIbVr1whY6lJnhBHKCMyCvnyMaCMEy1kpkZQYV7Nala4d290+6pbHH3v4B9/91n/9549++uMfAmKWEUNv5lNM9ao5iQkhBW/WO0I+hvfHFhsWh2Up3EsgGIjn1BpkH7TpiKUs6XVGiospkwV4FZ/4kULKisow5WNdXHzQB2KC8SGEKEUVLNzTRHkNyJAQ5F45JNGJdBlX3K6UjmawNAeiKKGIlMqysI0rZc50aSGAKwTw2RCcymDADoSCoYT4UEICnWQ8FfbgrRpjdOyEIQzjIeW7Y+I3/uKkn6lqUjB0HLMYNG0HZKPGDdiWO3RsGwrZbdu2vu++e9p3blerbq3ho4aPuW9M3QZ123Rofdd9d3Xs2jG7WtbNw26+94G7W7ZpAb7ytUf69u+dmpHatEWTe++/Z/jIodlVs1LTU3Oq5BCfGmNipwpkfZbjWmmkmGGEqkvSlPGs1yLVTLf0nlAwWLN61UE39Xv80Ud++J1v/vd/fPcnP/jW9598/D+//+3//sl//OgH333i618dOXJ4s2ZNQnEhqWzhcVBGWMryaNgIKbEaRpBdX3rGR/eQqIz2MqRStMIGExPjmzWuN3zIgEcfvve7T37tP77/rf/84Xd+9L0nf/jdb/74B9/+2X9+/5tff+zB++/p16dXrRrVaSQlHkrE+CNOGYOQS/24zG+sFnWNsoRUjsN0Btjihgzs+9iDd//H95742X989z+//+QPv/11ugnx3Sce+9rD944cOrBZ44asDksJaSNLC+mJNoKFqlzhaXIZmQyxV8p3f8Oy5s0opeJCgaT4uLSUpJzMDO46EuLsgC0tKSxEeEoawSM9ziZG8nZFkEJZWiom1KAnBKpLZbxMi25QZKQVA8MoDRKlJ158gofKWiotlJfGGhoDEyUQEYPB2RjhGBF1NLKElNg3UFIo6ourepgBJCEbMzLaLS8tPXcm79jhoyePnyjIz2clqZiVMNyIgSb95IB5DFrGLFYKKYQyWmgjzp2/cOjw0cOHjx48eOTgwUOHDh85evTomdOnHc6VDJ0hnKUVXf/k0j7XmrLSc80FG8GJRDC3ro5mZWf06NHttttvvWlA3zZtW/W/qc9dY27neiQ1MwWv171Xt8HDb+5zU596DXOtoFIBmVElvVffXoOH3dxvQN/BwwYPGjKwWcsmKenJjZo3vHnYIF47d+2Uk5OjNSd417KsTzunn7az3jhdasMaDAQC2NvFDM1nDHoZs2/K0EkqGVNJZmamt2jSsEuHNgP79RoyqH//Pr1u6NqpZYvmGRnpAdumPdVcLImVI62o9jwIa8O3F4lXAUQAntlRVwqPr22Eco1kITkIk8K2DEhNiW/SqF6Xzm379+0xsH/vm/oiqEPb1s0bNKifkBCPLAZISngZCRNpuaxDAgk4wPgjIC/mx34k/ZVO1JHKsgJBQ+TmUTIzLZk72S4d23AzOKh/bz7X3NCtY/MmDbIzUm2JLFacdvCsWtMORiivhdKMFS+XBaqhKmorZSnLQnmjWcg4Dy2MQDclvfDWsiylFGMOM1JsDriuy+sVw0ihkUCX4WwkE4TAqGsiETdGe/JdwWQxnlJLaSpJQjFQKeODJA2V6w0CPteDUZ7P1dLSkpkVxWXh7bv3btq8dcv2HRs2blq/fiN+JRp1YGS0xsFBXBlQzBLK0oIJCBhVcqFo1dLl//jL3376H//521/9evL4iYcPHGayjDHeaMdSiE8jy1ycWH6BEHzHZXxKyyPzFyz67e/+8MMf//THP/2v//yvn//0pz/7yU9+Om7cuJPHj2mHcBZbZvb0p5H1udaVEitjn2IIr7lcZjWqjWPZyDCWJeLjQ/EcL+KCsTTAOSMYF7SD2EZUSB2KCwZClrSFa6JRN2qkDhAuxNnBhGB8UnwgPhBKDEVNNMKH3KS4+KRQMBSwLG+NBGP/B+zRaPSad+BdhtJ7hHh3lN7jKIUQxjMLyUAKSW+V6zLxhqGlCLCUdJQczRqmrus4wmilsHmvXYwQCpenvNSrz9+7QKqqeMOahJSWsiwSgM0bLaRQypKKmiJWQeDHqSGlcKJRy7aNMdqTqBRZgurUlQFL+a/iox8Ee0wvVlB2MARpjCFfoDtQQkrJH15XWhalKEAFTwDs6ZBUdiCo2Aa8pa4EVYXgB4jLPlJShSESLt5Js9yklMJSSgqj8b1uNBpxeLwjIwwVoqWAMWtcKMsKik//oPZF6Ngv/lCY/AsXduzYMf7tt994442JEyds2LCuoLBYe0MuhPbnk9Sb/k8q0Bh6RS+kEEB4T4wDiWYnMOvWrfuvn/zk4Ycf/sbjX3/ym0/yPP/Pfx4/ftwYT4qUlxp5DT/1H0Jow8heuHBh6uTJv/n1b1YuX8Fw7ti+489/+tPYsW+cPXvWn0GqVRDQnwx0yxIGDT2grow9TFooLi4QCCYlJSYkJDhRZ8u27dNnzNy4cVN5OCqVpazY9NHgk4n5/GthwDYhnLDpHbRk6tCWGWH1Cf9Hs4lVIDbH5nju0/sAABAASURBVJOkcLICAYY6iluwpMAtSOPyH7u/ZRzpamUc7IK921LStoTFRqupoAKWHbIR4RpPNGk4GkYBht8K2NJSjiZeMI7rshGR78BGCTsUoMk1gYjZsZBKCCadGUR7BLP0WKQXL6MwWoqF/6C/VyKFUlJJSZ8lrRUd9Za3UKo84pzKy9u+Y+fOnbvCESxDSqU8FtQWQklhKy+F8CGFALEEKQpmMXgZylJKSR5LyoCEVsoKSgVpKysgBGwpRLRwCX6EtAK2tzZiTTyJNJFSSaHkxUd89COFqACklIrUGGHJi8BUEFJaHi7mj465zJ+QFl8MpIhVVsoCUlpS2YFAnEBsrMASAkhxuUdKr1zS2IIJooVS7EDuuXPn9uzevWnDxs2bNh89ciwadYyRdFZKZVm2UraUlpSKhpfj/t4yRgZUymPMNIu+pLhkxfKlL7/0wvi33nz11Zd+/etf/f53v128aEFpcaHAOFk0wtszUBRUav4xJH23TMzMYOLhot2itHHdgvz8PTt3GCfatUvnEcOHjRwxHCI1NQUNNcvyU0n6gCLsOggLO5Gt27dOmzHt7Lmzw28Z8b0ffO/+B+8XSixesnjv3r2RSARZH2j6sRlopoS0LkEJIZkyIUwwYN/Yq8d3v/vkL/7fz3/2Xz+99967a1SvZllW3dx6aekZBqMVdN2SiibiC/lISwbiAom2CinDLRKHJUtgIN5OaYQ2RhgtDScdH67Rjgc8E/goulIRDYySnPNc4UALeEvXUMFoKWFlyDESadoYwIhpIx1XR6KOpsxIyRhqI4VHaNe4juvTRguBq8GUpdBCOlq7nmKo5DF33kOTQz6AABAAAkD4gAbv0vA0nmjkWgGL2Dc5GEhQ+DO6Y6Q/nX4qPvhgHFJKYwyp1pqte8mSJc8888zPf/7zp595+vTp0xTRilLgEULI90J88KlcI1Z6KePS7yUe8IR/YWHh+fPniQ7KysrIQQ1SQFGs9cXaPv0J04q2PmG0LikpYV0tWLiQM9TESZMWLVp05MgRx/GuQkRsBC5xflfJd6lLZZ/wl2qI27x5s/+/+P/3v//9r3/964QJE44fP04RY04qRAV78akeRgbQhK754BU4TpSPxU2aNBkzZswDDzxQvXr1xYsXL1q0kLHVrmshlUox0PYTIlYdPYUw2LjglYau6yJXCgnNwEaj0UaNGj344APfiD2DBg1KT0+nJs6FClcDX2U47Nq1i407IyOjffv2LVq27NKlS7169fLz8w8ePIgyVKOOiWkI8YmB/hXwGqEzgEpOTqpZsybi4uPjEXH48OH69et37tw5JSXFqyBlrOtU/ILCknbACsZxsrWCxlVSK3KUDCgRsGTAJjUBqwK8fjmgjJJGSCltKxAX5HtEvBJ4fHxjbEJJ5EV3KT740AwLA1gbrmrs2LF//OMfJ06cOHPmzLVr15aWlla4rQ+2vfoc5CL0xRdf/M53vvOzn/1s/fr1iEMT0mvCnN7BDSnFxcXLly/HW+G5Xnvttd/+9rc//OEP//GPf+zZs4dSZFGT9FrBcRz68qc//enVV18l5Ondu3e/fv3q1q3LzcvVdw2FAQpXgFc0Zxn36NHjjjvuGDx4MEStWrXwm34RpVcGmgPaMowAiaSWZUGQT194RQr7K7vCli1b8CnsEGTSBFCB9IrhS2EAz5w5g1tMjT2Io6dpaWkIKigo8EWgDJWvWBAN4YDHhwm9q9CfbzizZ8/Oy8tjBlu1ahXn/xsMKakvpZdCfPEgWe+2FYoLJSYlpiYlpQaDCZYK2SrOVvGWirdlXECEAjLoIyhDQRkXS33iQ+nLFFHfB3XA5WlKqQMgAASAABA+oMHlaUqpAyAABIAAED6gwbu0118rmBifnJyQEheKs5Qlhbw4fYZQwCPxmt7PB/+wM29clVcB+wiFQmza/ft7/4Og5AMMiFYQpNcWcMbWV6xYMXnyZMxx+vTp+/btY1WQj6BrIhFWdBBugK61a9fuK1/5yre+9a2GDRsii81g06ZNLA/q0HfqXCsUFRXhl4nNCXzuueeeW265ZdiwYX379q1Spco17BdqE08BCHpBZ+nF/v37Gc9XYv8vVqpVq9a6dWt8imV5/5KGCj4+VTdhTn0a4v3Ly8u5TCBExXdAIDoQCOC+8I9Ezew9HESYx5MnT1KfnqIPba8SKBAOh5GFn4IVnDESegRzek0pOcii6GoAB/oCBxgii5TzzbZt29hKCSe7du1KgEkp1QCl0F9MeEvfCGmUrewgB8xAQkpCWmpShodk0vT05Mz0lKyM5ItIT8pMT8pI91Kf+FD6MkXU90EdcHmaUuoACAABIACED2hweZpS6gAIAAEgAIQPaPAuzQjgIhP4kGQFLeF5SXnJUXId4c+m8n9IsSofWAOmz6z7r8w9pjB8+PDHHnvsxhtvTE5OpgL1/QqUUo3XqwFMAGxJ4Yb14604kBK3ZmVlYfToQz4SkUId0qsBfCqQmJjIeQ1v1b179549exId4D6IR/Lz89GHalcpDrV9VSFgxWXC7t27SWvXrk3O1q1b6SkdpIhXv+YVp2hLW9QmGCeO27hx4+rVq7lVYNchslu1atWbb745Z86cvLw8JpHPEQilvi/Xp3n95KChD9qeOnXq7bfffuqpp7ic4RyAE6GD99577z333NOnTx8mceXKlc8999yyZctwqX6rTy7ogzWxBzoLrFgMi8FU5OArycd1BoNBvyHifOKK0woOiIPm3omB5SxC6ADYaJGId4Y/BOkXGFIKfIDksZRtqQABpgcVtFXIUsGgCgZUyEfQCn1JECLKtuICMsCJ2xIWqfCf2GAxXqwp5eeQYgFYPGAQsWasgXMNAQJhAkW4j8zMTGxCKYW5UIdMvxUpr6RXCZgA2CKR6IPrpxtuuKFOnTq2baMV+Sr2QIArloUIHzCDgDmdYiVDsN5wkaRsDDk5OeQghTqk1wp0DRfMqsZFEtz97ne/+9WvfoV/IYC9VoLwFJzun3766f/5n//htuStt946duwY09erV68nnnjiySefHDJkCH5t/PjxuGwq+127AukMIG39uWCCGDp6B2ciSlw/IfMjjzzygx/84Pvf//5Xv/pV5pEJxXcj0W9C2ysGFggTJoj71tTUVKwUuQR6EOjA9BEy+3UQQdcAxBUDWbT1mbBm2IQ47nBZyQHLPwpQBKjjjwnEFxNSCoBu3q/0HiWVkraSFpBCSWFJL4UA0AACQAAIAAEgfECDj6IvU1S5ycdWozJ1AASAABAAAkD4gAYfRX9IkfJ6LS1hAW9khBSXHsaINyZdXcrhUt77l0AUYMrEHb/85S9/9KMffe9733vppZdYaZgdRawH2pDSSimvLZnQviVBXBlg5fOBOT6a2Gf+/Pnc3OEo4+PjfXEogH9BkF/zygR9aCs4w5MoD+e1bt06dCBwJrQMBAKI+9AmV5yJINoywsR0HH7btGnDaZTrUb4g0XGKrga+tqidm5vLGh41atTIkSMZQ38b4FYBmitRMqtWrcq9IRdtDCkSaegrBv2pQCvgO6y7774ba8Fm8MV8wyHgIoylFFCBKWZDIsrjFRF+CnE1oKcMIN9S+BQ2b968pUuXTps2jQia7jdu3JhphbkviA5CXw2wCphgimwDSKFrHLqRQr+uhu3n3FYK8wHgB4DvVrwV/Tmr9EUQJ/m0bSzpfdLhq87FoZCMinc/yadAg5LvGRrsAGsARATcpnGCY3/m/MsrmdTG7LAMUmgA4cMvJefK4MslBYQGCxYswG3xkZR4AXEAthQhC0GkgJxrBXjSQRYYH6z43s3Cu/XWW3HTSAGUXitB8KEveA28f9u2bUePHn3bbbd17NiRQeYCkS5fvSxGCQeBTyRs5AIUn0ggiYfiLMxXWuaUuA+3QvBFjJmUlEQH0QpcgWja0grQHJ9FEAeIxPHCFOGIJ02aNHfuXC588SzYUvPmzbnl4MhPE601ra4YdBMRDCauij5yV8hOQ2w+Y8YMaDYDwj1Kff6I84krTuEAN8BmRlwM6GOnTp0IJ8m8Yrb/ioaseUa+AryCi4pwH/flBP3HV5JexLtD4mcYz9h8kpQX1hgE64p4hIiSI+Hf/vY3vnJwbiL0wEpwKBCknE9ZbGyzmCxNaEt6lcAcYc5lFmEdARe3hzt27OAwhaADBw5wTkQognyJVymrcnPYIpEbtMWLF/NdhfNphw4dcGe+Ptd2JdAvVhfjjMMi5iK0ZAzxMow5mZW1ujKa8UFtlMcXE74B9EcQrur555/nJM4H9zfeeIMKXMs2afLu/xYZrWj7yYX6lWkFf2hAR6DpBZnwh8D7c/DnYhQfPXDgQAaWkBYRVCO9GsAcM4AP48mU/fjHP+YyFBEPPPAANB/32QMoRSuUAVcji7YVrOhXenr6XXfd9eijj/bo0QMplP5fA24AVGhdmSaT1y8h6PjH4D0RJX4K28IEU1JSatSowX08KQsbV8KHWs7gXB3yZYDTB9bPGsB/UZlWV2mLCIUDVogg3zNykYc4zqQEesRBxJjcBuBc6A2VSa8YCPIVZmEDvD9XTs8++yzBCAER36waNGhAHxFKKbKof8Wy3tcQbtzzcuKuVasW3775HMx3jzVr1hAE4UEYcxbk+5p82lc44ERohSyfJuXOju9USPE7Tlj3jW9847777mN+qUwF6vspxKcCrRAEIGBFWwhe8SBIYYt9/PHHOYnjvEiJbdn8mGWqXSUQ4QuCYNzgjOf69re/jaPkREyw7CtDKfDpK5YIB2TRHIKNhzsZrlzxlUwifSETC2EVVIBBhsZ4yCel4RcJUgiWfAWkiB0wxbuPn/NlS8X7h0FUfhgNb9QuZjG7mBSzi1kACArIwRTwGtu2bePekJSlzsIj7iP+4oMPpkAFvzL1rxg+E+IglvR3vvMdvrAT8rBpI45V16xZM/wLnzIRhG5XLMVvCAf4IBHgkRcuXEh38MJ0c/Lkyb///e+Jpgm76B0VqOm3urIUDn5DCEBf+Ap8//33c0TlAw7gmIw3YamzCJkCv/KVpfCvgM/Bf2Xc+Dh7++23f+1rX/vWt76FOIIvrjX8de7XIfWbfPKUJqCiPnRl0B0ccbt27fCYTB/3pOT4FWgCQXo1gEMFsFJCcrpJSnjOa0VRBfGhsj55ZgUfmNMRpPg5lTmQg7WQkkkKfZUTCp9rDda87yUhKnBRiBTyywkhxfshLj5SeGPCC6NG6gH3wbzK2AMd+5UUkIm34s7rpz/96W9+85u//OUv//jHP/iiSozADRF2Qx3qk14xMCmAREyQHZvtGldy77333nHHHS1btiTQ6927NzEX5yz8MjWvWBANkYK2pPSLV2iE8vGB9YzzIkbmjE8Ye+LECcJbqgGqXSugPJEdvfvv//7vX/ziF7/+9a9//vOfcyWKaERcW1kwRBwpbPGJRHOcD7i844jAl2J/qVP6GQGJFUAWwFQYbZRBop9CXBPA7X24Jmw/ORNy4RrjAAAQAElEQVT6xVADCACBdaES9Cdncr3mF3kE3nWUaMll1s6dO/mg4R8fmGwyAa6EL4l8YeTyDofC9we+RRDiEVpi/RgE/otqVww4YFKkPgd4ElqysIl6iIPwyIgmXqCUtVdRjdcrA3ZMQ58PXcAjcxvLFd4zzzzDTSXHYQ7FBF+crRgBQOVrBbqGXPwUGwCHRD4IMLB+JvnXSkplPnQWMLxIgfCL6JQ/xf7rZ5HCH6tAEEJ9IKWCgL6G8NlWTq8h849l5feR6YM4duwY383oOKNNDiDzYzlcr/DFH4F3HSUzShj16quv8pmSSzpUx/LIBNCsNJwUcQE0gMAIADQpZgFxxYADbSsEQSOaTEJIPisRV7Zo0QLp5AOKSK8GCIIJPYIJbPGVhFqAL92AmIszI2EXfaQOoNq1AnJhRddIfRr+6ECKVn4+RdcKMKwAPJkmXn25vlAyPyMgC9Av+CMUINeHn0P6bwB6RNfwjEwfq2b27NmzZs3iGod8MikCH9PN68X/F0bgXUeJtkSOXMzNnj17+/btRARYOdOMuVOEHTD3EGSSU5FCUAdQdDWAA6xAZQJBCQkJ3OuhGPn+2vbrXI0s2PpM/JRXgFtEBCk0BLJIffpqZL2vLRKBzxnm0D78HNL31b+aV7hVBoL8VwhwNZw/SVtkUY0UWaQAwgc0RdcQMHwfriHzD7JiIeAEfUD7FVgvhw4d4qvjqVOnuCr181k1wK9wPf0/PQLvOkrWLUfdQYMGcTc3duzYFStW8KEDa8ACmHUcB1aOOdJbXgHEdVwfgS/bCGD5gIXAeiGFZo2wUnCRXN0wGnyBZHenCPo6/m1G4F1HyZQTT/Xt2/fBBx+MRqP4ynHjxm3evJlvwbyyMQJsgmp0/rodMAjX8aUdAdZCaWkpMcS5c+fWrFnz+uuvs1hYHaNHj+YGn9XhLxPGB5r0C4/rCn7MCLzrKP0ZTUlJIahkvrmqmz9//h/+8IeXXnpp3bp1hYWFuEuCSgBLDIX0Oq6PwJdwBFgI2D+OctWqVa+99hqfAdeuXdu4ceP77rvvpptu4sobL+mvJlLwJRyif78uv+so2Q/98zVfnHv27Pnoo4/yFSU7O3vOnDl//etf//GPf8yYMWPHjh0XLlwoKyvz/09KGA5sAmA30AAa+ISf+q9UAD5NCiitAK8+KnKuE9dH4IpHwLcl0goO0AALrID/SloBKvt0BeG/si4gCB4BzpEQku/a06ZNY1H88Y9/hMjKyrrnnnsef/zxDh06+P82A+dYAbhdx7/BCLzrKPGS9IebF2JGzuBM/5AhQ7773e9+61vfatu2LRfV77zzDu7yL3/5y/jx47nB3LJly9GjR7EbrAdLwp6wQjgAtlxSMkkBrz5NCsjxAU0TAOEDGkD7Fa6n10fgakYAQwJYFICA1fv8F5kV8Ovw6hOkmDS2ff78+WPHjnEHNW/evFdfffWpp576+9//PnXqVD57Ek/8x3/8xze+8Y3evXvzydFfOywfCARBkALkXscnGYEvcp13HeX7tGSC+dbM5x3/1vLrX//6rbfe2rBhw4KCgmXLlr3yyitPP/30iy++OHHixMWLF69fvx5PmpeXV1JSglvEULAzdmBMDcvDBftGgwheSQEEIj4UlF7H9RG4mhHAugAc/BQzg/ZTCB+8Ap/GUAE0RltcXHz27FnseePGjXPnzuXy8dlnn+V8/cYbb/h3UE2bNmUtPPnkk5y1b7zxxmrVqmHhGHwFN/hcx7/TCODQPtJR0k+vWCnSzMzM5s2b4zGxDDwmX3sINrmUYVNduHAhH/v+O/Z/ZwKBVc2ePRu/ySbMCR3Twf6wIewVGp7QAKICFH0wp6L0OnF9BK54BDAt2vqGB+GDTODTGJ4PbPXEiRNcNc6cOZPPmJycMOn/+q//IhRYuXIlQSUhwrBhwx5++OHHHnvs3nvv5S6SHC701aUHXwlPuJFex7/ZCHiT/FFdwryYdd/NUYeqoVAoNTW1Tp06nTt3Hj58+Fe+8pUf/OAHnM3vvPNOziCJiYlbt27lbpuzCcfzv/3tb6S4Ts7pnFnYinfv3n38+PEzsf8nJ/n5+USmhJ/hcJjrToJQ4MvCiBGNxOu4PgJXPAJYEdZLeIh1lZeX4wcxNq7XOfRggVwZcc+IW2RTZ2vnbPSnP/3pd7GHY/WECRN27tyZlpbWo0ePu+66i6un//zP/8RFEhy0b9++Xr16ycnJ3E1hpSwKUuCbLtpCk17H/+ER+AjVPzKiZMqxA/ZJAEFzcgA0wFDwjHwZb9OmzciRI7/2ta9xEvnud7+L62S/7dixI1+EuL7ctm3b6tWr+QqEOT733HNYIVs0x/Y333xz8uTJXHrOmjWLkzt1CEL5UoT5cuQ5efIk1kxzH3xwLyoqIsXcge9bSVkApHhYlgTqXQYsm8rwzZpWZJICPwcOEACCIpYZRRDAz4Egxwc0gCatgP9KZQj4+IAGFXXeR1D584EvF0188FpB+AqgLTl+PmkFKvLJ8StAAD+fttA+fJo6gBy/ArRPUFoBSt+HiiKf8JtQh+ZMMf6Oua4AZoDj44yM7yPcw04wGM7Lp06d2r9/P1aE4eEHuUnnxIONYWm4P87O2B7naAJGjtJEjsSPBIy7du3CuriU5xx9//33f/vb38aSv/Od7/B9ZsSIEVzQV6lSBefIhxpOVxg/KQsBPUmBn0MKeCX/Ov79RuAjHWXlrjL9HwosA6MJhUKYUf369fnqx5Fk9OjRDzzg/X8offLJJ3GgY8aMGTx4cJcuXZo1a8aNJ24Xyya6XLJkydtvv/3CCy8QdQLcKEEoXxL9vf33v/+971XfeustLs6xdTb/pUuXEpmuWbPGd6z41g0bNuzbt+/IkSOHP/qhlPXDQuKiABfs06SABcYKIbZlvUGjGJf3+F8WIWuy8giwYnn1U4bCpyu/ksOSJoeURQ5BNUA+NKmfTxGEn0MpoOhzgy/XF1dBQ6ASiqEMoJScCvDKLJNPDikgxwf5ZPptGTcGDc/FeDKYgEMDqT+2uDAGnwGvDI66/qQxQT5ROSXo4/aGXRMvxiwz6Uw9gGD22VzxcXxxnjJlCv6O3Rff97//+78EhZxjfJBDqIhdUUq1RYsW4UCZYiy2du3aLVu2JGDED2KrTzzxxDe/+c2vfvWrfLxm1+/fvz+RI3U4WXNNT5fpKSm9JgU+8b7MinyfoM51/NuMAEb+iRzlx3aYBUMdTMdPExISMjIyMDVuNrE5vglyVOeEznb9yCOP4D3ZtH/0ox/99Kc/5VDzxBNP3H777b169WrRogVNON1jaiww1glxAauCC3XcJTEpXhU3ynoA//M///PLX/7yZz/7Gd8cORY99NEPEhFBjPC9732PgJfPlIhG7s9//nP4/OY3v2F1/eEPf/hj7ME7//Of/3zppZdef/31SZMm4aOnT58+f/58vl/hl4l59+7dy3rmBIdfINIBuFRSwk9/EBgB9AcQ5ABooJR328sqVUrxWlEK8fkDrXyhaOIDrcipyMdv0iPiOLYNOogHpMt0nBHg+y/ein2ucrDGlQsgTGOCfvvb37LPMZyk4Fe/+tVPfvKTH/7whwx+ZWADjz76KPfdHzV1uDCud6jGdSHTBFvSX//614h4+eWXudLhUIIORI7c+XCrg7OmC+np6bVq1WLPHjBgACaHefjSmXRYccMOcIh8jRk4cGC3bt1atWrVoEEDzkbZ2dns9+z6DAjjwNoAMOSV9Dq+zCPAErg2jpJBZGkBLAzDwh2QkskrKVEkR3VOLomJiWlpaVWrVsUuc3NziTE513Tt2hWbHjVqFGd2bsqxZhYVa+PHP/4xxx8MHU/HRyRw2223EZxyVTR06FAIwgHQt29fOFwG7dq1I5JFLkuINCkpCV/MkkAfHByBJGuM6AYQ2nA5tWrVqgULFnBYw11y3woITCpA8IsnJUh55ZVXOMrhwQltqM9yJfY5ePAgoRCsYFtUVMT44m4AI8OqYzR8MCb/EjApwBeNSiiGhjhBoj/8IOEeI0DYhSv0B4GusVvQUzwgvQYEaKQAgjHhEMD4sKnMmTOHkJ9djRgQPgwprBgHIjg6zsbJyDPsFeCVSWFqunfvzpU3eN8M4sI4hQB20JtvvpkPKUw6U8+OS9CHJeDs2HfxpOyCbIHsf3x7+f73v48fxIruvvtubIPzDXy4HeI7NSeeGjVqcL7myoh7IYABEDBiqwwISgJ/dkjZNnxAAypcx5d5BLCNa+YoMSyGknUIAV9o38L8Vz+HUvIBRdAUAXwo9orhsnj8hUQ0yvaOM23UqBGetFOnTv369eNAxDrhcp3lgdMk3IAgGOGAzyLBq34UCB6BH1HigllUABeMRwacubit91PqwI1lxuUU6414ByCFxUlQzHqrU6cOiuH38YPcHhBj4h8JargZIMDBseI7CHvxLFzC4mI4G3JI5MCID+XUT5hM1INvIlLzB8QfCkajMgENyKwMcj4IvwL5FQQ08F9JK9O8EgUDTsR48+3bt3M9h4snZEb5V199Fe/vO0Qc38SJE7lZpnT58uUbN248cOAAreh4tWrV2OFat27NgOC82Ns4sXJEADgsH4wh8EeVfY5MBhYXVjmc5JW5YF4I9Jg4gj7SymBOKSVljvCGuEXucEiRiJdkm2RzZY/ENggJmzRpwlkkMzMTy8nMzMSK8Ib4QcJDrAtXSOrbG13A5KAZGQgADXgl5dUHY0UO8F8hruPLPAKebVyT/nuMlHe0VMrzvKQVoAhLBRDAz8deyYH2UwiAJn6FikwMnXzcKEYPfIJMH7wCPCyg9KPAmsG74eNq1apFTMGKwgWTAnK4HGDZ4wRJubeC4At+nz59+vXrhyMgzuXKlRMcSxTXjN/EjeJDWfmscLwtLpUilu6gQYOIiXDrXPzTO06pXIrhcQi4OIRyxife4a4AT4QD4qjo+02cJpEdTpPgjsUJ4b8yFICcClAEeCX/fSDfB6XvI+CGZ8Stow8+nTAZV/6LX/wCTTjGohjqERRzCUhQiTdhQBgBLu84lnIfQpfpLB4Nh+V3Fp9FgE8+bouojZEhvqMyPgvX6Y8AIwkTwGgQytWtWxe2jHxlMAUMFFNDsAk+OIPk+GCumWV/csmB8HPQFjDUPrATzAYaEwL+K6kPciiFhiD1aYaRVx8VOX4mdciHvo7rI+CPgOfXfOpLk37qjrJsWKusZw7sRCtEvpzguEDA+XKgwy9wI8YJEV/JcQ//ghPBoRBV4WIIuDg54i9ozpmUIy0fH/BTxFB8uSLq5PaT71H4MoJN/BrODvj+jhSaFQtQ2k8hKuDnkKIhoDkOF+fLqZ9jL/eJhISI+/Of/4yb5iqWK1eiYD6t4HFQm22AcA8l8YbE5nh8dgW2B06sdIfjMMFa48aNcXM4NSK1irsLmuOtKtS4TlwfgX/7EbjuKD9minFDoKISNOAVF0aKeyIYIZDBkxLs4EE4/XE+xYHybQoHSpx1Do/esAAAEABJREFUyy23EIpyruQsid/EmZLPVSn+ccKECYR43PQRaeLFOOeSidPkbA5zOMMfQQChpGRWBjk4U/wjl61lZWXcM3LGJ5Ll4OzfAzz77LN8icJpohWnVDwjZ+Sf/exnviZcKdx4441cFOLHCfFycnLYA3DodITuIBog15cIgTjgv15Pr4/Al2oErjvKj5/uCu+As6hcm1fgl0L4oIJP+CkeJyX2EJTxdZXDKVEb926EeNzTEXgSwXEmxTni0bgl5JMuTnPKlCl8UTlz5gzuD4Y4LNIPAhdJ/MipmbMz94z+P4h54403li5dyicaLhPx0XhGBHF2JmzEM6IAZ2EiYpTi5Mvp1Wfr9wIawgc0XfBTCIDjJvVLSSm6jusj8CUZgeuO8uMnGu9AJVwD4RspboscQCbwXyH8nIqUfDwL9cmBpi2vEPim+Ph4jrGcarkMJcDk1o+vSUSd+FC+S3BCx+txgfiXv/yF8JAPLzhEztSwQgopr6Tl5eV8Weba8bexhw9HfCz6/+zdd4zWVdYH8DGxY0FXFCvYsDFAREXUsYGyKhp1iBpR0ajRqDHGhsaChhixUGyJSjB2g0b/UaNZY1dcC2BBEY1d7B2Bpe5+Zg7789mBhYF5JvM8wyHf3Jx77rnnnnue/X3n3Hvffdd094ZO/WjRTSKi9OyLMR2cHZZFEjGYDroQGoGRA2QIOVZkTAiEXhvdbDMDK0MGkiiX8StjhADuCJgQmtKWEko1IaMhehMJNA7pZBpdstY517nYPaCnDy9ILgpPO+00r0OKvilTpowb1/B/1Ol52qMzfsS2OAtpegvyKKSEvP/++72/u0w00csSluTEC5XjPy5GjlZR1VoULCcGIOgSAuRCQw6lVpxaGiBElxDQTWQGVpIMJFG2/Q+NdzCRShOveSxyYzhw4EDnZQ/rLhZVlAjRbePUqVMdtDGmg7bjuddqh+4BAwbEa4ynZ2dqnIvyOMSPfLb93jKCzEC7yEASZRv/jEhNkQhRLepiOo9CXtV79erl8cc9Zm1t7eTJk3Gle0zvP3hTFemR/cILL3S+9jztwhEzmogcgRMOVaBts7dcNTPQ7jKQRNmWPylGi+XxGiG6ZKTpfK3G9AaNLocMGeI87gpy7Nix48ePR6ODBw8+9NBDu3Tpogg1ETnGLORIoAFKbSIzkBloeQaSKFuewzJ4QJF4LUBWG6oQo4suHajr6uq8/EyfPh0P1tfX9+vXz/uMy0eW7MOSDOQyBJQuMgOZgZIMJFGWJKMtRDQXiMXJwXSEAD3S9OajtOzevTvG7NmzJ0KkD4MmbamevLIi950ZKGcGkijLmc2y+1I/8ukkrnVriSh79+7tRlIXPwalkhOZgcxAq2YgibJV09tS5ygSV6of0WLHjh09gnfr1g0/0tBDSxfI+ZmBzEAzMpBE2YwktZ0JTizY0LuNctIDDpbEmzhU23ah5crLzkBatI8M+OKSKCv6p0SFuFILhA4dOqBLP5ugoyUkMgOZgVbNgAfVJMpWzXBLnePHJYJfem0iM5AZaO0MqFGSKFs7yek/M9CmGcjFW5yBJMoWpzAdZAYyA+09A05vWVHWeC0J+LlDWLwthghlxOILNdEs71qmm6INFDJhBRBOtOZqm4AykRlYSTKQRFmzYMECP7ZH5CACcoCehp5AQyhaQlnAP4QrQgEay0WX3HwI1cT58+drmz9riZY88AYEYCMeLRCAkMgMNC8DVW+VRFmjrsYsfsm5c+f+q/EfASi1OGLevHlz5swJubwEYWnrWqJwaxXrgiEw2nzw4zLFLA/iHHJCE9N1IeRmtvzwFuAHCg+GmukkzTID7SMDSZQ1uAAFfPPNN6+//vrkxn/vvPPOhP/+mzRpEt3Exn9ff/01yzL+8BgHAXFIwGtffPHFW2+9NX36dHUcpbXoCc0EY05+/PFHe4n/SYlwbjpX2uWCKX/++edPP/1k1wIj00A4sVYI2WYGVoYMJFE2HL3Vcc8///ztt9/+6quvfvLJJ2+//fa4ceOuvvrq++677+OPP/7000+N3nPPPS+++KLSsrz/sVi4cCGm1mIiq9x4443PPPMMGSVRLtda6PWHH3549tln77jjjptuuskuaMIDbyE0v501a5a9P/XUU7fccsu9994rCcVcLAlFN4XMQFVkoCVBJlHWrLrqqr///vv333/ftWvXvzf+69279/z5899//30U1qdPn379+g0aNKhv3774dMaMGUgHmrCYLiViWrwtfh5DBShjiiVCXn311ddff/0NN9xwrbXWirMzfWFPCOeF0nQIpVHgas0110RhEydOfOKJJ7788ssw1gJjNgVKJ4YcNiEzXmONNcRjv/9o/PfLL7+Yy0ZrVBtyYU8ITTFECLi7KIZCU7T0oKtNZAYqNgNJlDU4Eb/svvvu2LBbt25/a/y37rrrrrbaajirU6dOG220EQ7t379/jx49WPqqMYWPf/bs2a40TccRNGiUDGSjc+bModclM9PqFjb0ZEoCh8FxdXV1Q4cOHTBggNX9J8aQsk7LIIx5iC4N6PIARi2KIjt27FhbW9upUycTf/vtN3p+WEarKxJhmxigMd1cEDCZ/4CQttxyy5133nm99dZDlyZyomXGwHSt6UAGq3PCA02YkcGsGCrsCRGSISiVdROZgQrMQBJlwx0lLthtt926d++urPMj4Qg1HRB85ARV5+abbx5E6Vz84Ycfurh0n+hw+scff6AJ14L/bPz3+eefu2Q0NHXq1K+++urdd999+eWXlXgM3PTRT5o0yQH5119/dZh97bXX+FHMohitU7/p33777cyZMxW55ro2tcTPP//82Wefmfvee+9FZYdrmLlL5c2yil8+hSFaWxAtGUnpwr8b/5nI0t0CWIUBt2+++aYABMw/V2+88YYV7U4AJtn+Ouus4w+G5XibMWPGRx999Morr1jOrjkUIW/CRo4c2kXY2C/PfGJMeq6+++470boNmDJlyrRp0+yOcRGbnCcyA5WcgbIRZSVvcpmxYYS11147vttoY4ovHHzSuvQoA0E41d555504Dl888MADjz32GM7Cg/TDhw9/6KGHMJrLzVGjRuEFJDJ27Nhhw4YZRUBI0+3h6NGj3SQiHYfaMWPGjB8/Hungjueee+6qq65yGer9RPeFF17Qve222/AR0uHBDSYuwz549tFHH3WpiuawpxvVu+66SxhCtRdA7qLVil+XXoH59NNPX3vttSNGjMBiCkP8+PjjjyM+Pm+99da7776bK4sK78EHH2Rv1xAebF8p+sEHH7iytH37EgY/I0eOfPjhh3EuM38YJEQkNm7IxsVsI0jc0u5e7cJaTz75pHQJifNEZqAqMpBEuehniu8WHfjgqQhaoCcDWWH10ksvITIvy7vssosiFAc98sgjqrBNNtlEWapSw56O6rvuuqsKdLPNNlOEKqnwi1Jr++23NwubYEk81bNnT2db7OnBBDOSHZnVlR6sjbqspFFOokIh7bjjjrzxg4WRtQpOicdADF26dKHHuebSixMsCiaKXxdjdu7cee+993aZwFic9mLIiu4cXDYw2G677VzOqkb9DQiCY8DM9ICQttpqK4d6fIclzdp00009iyNcZqIyy18IQ3vuuacMYEN/A7A8Bheenap2le077LCDfHIebgUZQraZgYrNQBLlov9mjl8IWfiACb5hQDTgMwZEoMVNTprO1GQE4funUUwprzCmpw9E4Hpxm222Oeqoo84666yddtoJm1A6wG6xxRaoCrPgU9OxHlnrzUTNhRkVgB06dBCDpRmocJEvb+ZiKDL+FZtCzyi3np28MqEt9RqS4gRLCoONaAnAlZbGvvjZY4899ttvPxqnYE896N6drCB79ep13HHH7bXXXpyrbXE6h+pHliYKSWtRgkgErEsWMJ92ZwjkQbWI8S0qObrWxd3okoaM4tWYaNqubYeH0GtNZ5DIDFRsBtoXUa5QmtGBj1Ybs323qiqfLpZEGaiQHKNkGjQUQ0jKW8fpp5+OfTzyhA1qw3EbbLCBco+SJefIxTMLt+ZaBb+gS12WWkA6EB4YiEFLT6MyRZGckIHSEEZztnWYde+JXnEu8gKhatloOWHPOJQEMey7775qOszu0K0SVOQKWJHLlaLPiV7kEBNNiYB5CA2flGT7sgo9gcZysoFbdVWUiBJrH3jggWeccQYi9kfi2GOP9UjFRj1+8803q5ol00SwNW0iM1DJGUiibPh1fOe+eZIWF/jUvWb41BEHZjSKGugR37bbbovmHGAdLQ855JD6+vqjjz4a9aA59qZrlYcEFGMW4gBdc7U8YxMOrQXKNwspyswK4jBkFg4y3Sg9HqG0Opbh2RADx1h3lEravn37OsnybIgNwXJAAIJVgKw1EbPX19dbCzNiWJWdDbo5ddNqrT59+ij3zBJneLMvEwWjSxCq1hYYe9SKYpYGFLn4WrSYd5999hk4cCBy1PqDwZv21FNPvfzyy1WvCk8sL2CzBGZ3hERmoJIzkERZgwJ8rn4kXywKUF45X7vFwwWIwIWd+oseBaAJVOICTkHkYtHTh5OmUU+6jrFoC6Fonc1RA1bimR4TISb3eryx5MqoLtnJ1BCudD5V3zkO62IQbqPLUnXGp5aGfy0z/MU/pYpSqApMQ/Qcekx3DLcXs4zyZmtgj6bgayyGXt02In2Mr9pFvtYVqvclS9u4dQmm0yBEc61rOcYuFqzlKtb9qbB5Fr+DtuSorF3COtdHcuyRB6NS5MFdPCpo9w8uZzmxqLnAuTaRGajkDCRRNvx3veNbRS5KSPSHBVzeHXnkkY6NWM9zhDs7vyKi8Xji8vGwww7DGh523Lv5+NVQGMooAurcubMpaAVLohtMoc5y/ac8RGRYw/NObW0tOsYjKMm9oYIUh+IXHIrF8BeSwncY1i2k6Ub5F4CHF88vGEolqFhDdtaid6rF4II0NG3aNOXbQQcdJDBO+GQgGK1tonujgwYNGjJkiIUQLur0yKPMJIjK6OGHH65etkEb50ERygD5GnVjoE70p0JI9ujkLku4T3iW23///S+44IIDDjgAvXqwsnfs6bzv9sBjFJsJEyYoY0866SQbwdHikXMFrNgSmYFKzkASZQNR+lwBm2y88ca+86FDh95www2u0kaOHHn++ecffPDBzpUM/JDO3Z6Gzz777CuuuMLt5BFHHIFHkBflxRdfPGrUqGHDhp1wwgldu3ZVMeEOTDd8+PDrr7+eMRt8dM0113Cu6xCqtcSIESOOP/54N3rnnHPO6NGjGQwePBgZnXnmmRyarlJD2Qja6CWXXIIit956a1OcZE888URLnHfeeWPGjDnmmGMwMhoSm+CDszwxYXDBA8EWMBTi49MQ3sSVDu/nnnuuyBGoCK+88krrokue6a+77joBu23s0aOH7WP2yy67zIo8yMxFF10kXZJmyOUmwbqXXnqp4MnCxq3+6tTV1XF4yimnnHzyyf3790GL50sAAALPSURBVHfrKhgQj0SJjZDIDFRsBpIoG169/TzxrSIOH7y33QIoUsGITdiogIANDT0bgq+dBieiCRoUgIBUUvTAW1gqrBRTWIMNS4Ku6WQGptCQjZLpQdcQDSel/g0hF3zHgFujNGQT+Qw/wjDXLDGIOXanBdEKD8g2BWSzLKTljZ/wpss/PVc0Sk5zLW05Sq0Y2JAtxJu1nM3paUwRDHv+tRLIMyfADyX7UtAkMgMVm4EkyoY7SrWkX8h3Hij9gENmAGQGLAMICCijSwjo0kN0ow1lyNEurqGn1AZC1nIFlGQtOY6rgokuDQHCYJVVViEbBUOgCwQGQAajZPsCQzRAEy0hoMtSG10tOVBMNB0MgaGiJYAhSmjix1AiM1AVGUiiXHT0Xsqv5QtXE/nI2fjmoyVQgm7wBYGSMZBLQRNYXEljSAsEIPCjDdm6BBqg1Opal14XdIEAlIWsKzAggIkBcim4CpgbBjwAGy0QCugCs4KpzaVhQGktLTlcEQwFyGAUCInMQHVlIInyL6L0DcPiv198//HBaxloCy6IrhZMZ0xgAAQaIATIEHKTdon6Jko+A+YaAsJSIEgwhQ3jQtZtAqNAGS1hKeCQK5YEZiHQQGgoC8FoIJSFXjeRGaiWDCRRNvw/xfD1BuJTD7loQxm/KKUuEArogq7yCggF6OH/dUPPM6HUTDdAGaPckkMZrS6EXLSMoegSChsemgwZBUogAOPCjEwTKAyiqzUKBCgE8v+gsWM00Nj7q+EzkRmolgwkUVbLL5VxZgYyA22WgSTKNkt9LpwZyAxUSwaSKKvll8o4VywDOSszUIYMJFGWIYnpIjOQGWjfGUiibN+/b+4uM5AZKEMGkijLkMR0kRlYegZytNozkERZ7b9gxp8ZyAy0egaSKFs9xblAZiAzUO0ZSKKs9l8w488MNC8DadWCDCRRtiB5OTUzkBlYOTLwHwAAAP//efJVVgAAAAZJREFUAwBS4XF0HgrrQgAAAABJRU5ErkJggg=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AutoShape 2" descr="data:image/png;base64,iVBORw0KGgoAAAANSUhEUgAAAXcAAAEnCAIAAADdLJReAAAQAElEQVR4Aex9BYAWR9J2Vc+8su67yC6wLO7u7hoSSEISYsSTu0vucvqd/t93nlz04q4QR2K4uzsszrLCsm6vznT/z7wDGwILAQIEyDbP29PTXV1dXd1dXd1DiFC1oVYDtRqo1cBF00BlZaWg2lCrgVoN1GrgYmqg1spcTO3W8q7VQK0GiGqtTO0suHo0UNuTy1MDtVbm8hyXWqlqNXD1aKDWylw9Y1nbk1oNXJ4aqLUyl+e41EpVq4GrRwO1VuZ8xrK2Tq0GajVw9hqotTJnr6tayloN1GrgfDRQa2XOR2u1dWo1UKuBs9dArZU5e13VUtZq4GrUwEXuk6ZptVbmIuu4ln2tBn7cGnC5XLVW5sc9BWp7X6uBi6wB0zRrrcxF1nEt+1oN/Lg14PV6a63MJZkCiiiEUGQnESuFiKRd9q2iUMElkewSNvLjbQrDaYOO/5fPSFiwxv9bA2/PhSsvtvtldSmUsof6WM+UqrUytkIufaykNSYwMTbsEbGm1/HUpReptsWLowEMtTRJhgyNFVutYJQtE4PXaiDryoWUShqETlqdRTesPto/h8NRa2VsVVzMGC6L5bBY1oSVSQCZRCYfz8TYECHHCBUpJgtE3xqqiylfLe+LqwEFO4IWhCJWjAWHAQ4NvWIp2ayGYvPKBQl0jdFLQu/YmupW+vgPnT6erH1eJA1YyocFCRLB2MO4ABgGy5RYJZY1watksmGwMpgQI/MiCVTL9lJqQFn/8AHWGWOXNw0VNGQgaAb8pt9vev3KZyNwPIFXpGsEik6HGuntzAtYBaxsnifH0heUAVOia0FFJoemNZG0tXyV+jJ25y6vmGHjLYmYFMPUA5okC4q0b8DY7ELArmdR1/6uCg2wVCxNaQSCfo/PU+EtByo9peWAt6Q8hLJQXJ3G66mwS2uMTyWuzqmRHpnVBKcmUHo6nEps55R7Syu85R5fpT/oNSRsjcTIMWHjJE2r/fsyUMbFgWEY+IaHuzDTlHCFgyYcYhE0yB+QBUWlh7Kyd2Xu2bZ9x44dmfv3HywoKPb4sMUpQ7IhhUlCEkspQ9XBBuepiyNlLdeLrwFFZCrpCXgqfRUef4U3UOkzqvyG1w9fBvFx+AzPcXh9Ro2oJjg1USO9nXkqsZ1jl9YY2wQ1xjXSI9PjDVZVBSqrfFUwNFKZcGoU7gqsKVx7+3vRJhmzZSaktNQMMxMIBg9nH96wbt30Tz58++WXXnjisWf++ben/vq/T/zt/73w5GOvPf/fT6a+t2LJkqwDB8srKvxBQ0lMToKBgYBCwOHGsxZXngYwipJUUAYDRiBg+g0k2VAcVMIgNi0Pl+lYTNUBlWpENcGpiRrp7cxTie0cu7TG2CaoMa6JHodBNk02DAoGpN8f9Bsm7gfs6jIYDNZOX1sXFz6GIYd1QOz3+3fv3Prh26+/9ORjU159fvnXM6ty9tYP545pif1aN+rTIq1huGYczdqyZN5n77z68lP/nvrGy5tXrygpKkRdcLCt1YWXr5bjpdKAIuk3/H4TJgauqqmEqRgIwlslwqI9sxxXSqlCpyQZpgz6g75gMEBKWWDSdb3WylzgUcSssQEDAdalpSXTPvvsP3/730VffBavy5F9Ot8/cez9N4y+bWS/ScN73TK0x82Dut8xut8DE0fdd/3ocf26ZSTHbFo2/7//+t83X3v5wIEDwWBQSglWNk9rTiIFvrW4cjSAETOkgXGETcHKQyzh5rJEInQJx1d+bA2GQjdgTgQmqQwYAbuneMHsRbZFUfv7/hpQChPJNAwD0wc/U6rD+/e/+cKzn731UuPE8PsmjrnlmiE92jRpkBiVGKnHuinCoRzK73JSRJiIDhNpSdHd2zW7dnCPn902fnCn5rvWLHn56ccyt2+S0vAGg6ZS2CYUWGPOAlQbLgsNKKVME4NjxacTiBWxaY0cC4ULN8X46ISkTkojK5i4twGYUALzg1hTCi6sME1sMBpiKfGOpYpMxuo9HXDykoTGiBg2DAmWSiKnmp6Y8IpMwzRDaZIKZLgERL5VEy8hII2CGgDLWBOIiFlBQkFognEsNFSIjqy2rQKqDRdIA0pJQ9M0qTB4tGf3njdeej5z/crxg3tNnjC6c4vGCeEON0tNKFNi0ilTmaYQXimDLFjXhK7I9EW7qGXD5BtHDbht3HBvQd7T//r70sULTSkNCfeTlZQSVS+QuLVsvqcGYF8ALP0z8LFuXRQikCjs9lh7RFiIGkmdlWBCmQUiKRXWPq4wNGV9mSFwxlxCDF/ATkgpDRO3ORYD8DgVLFgpzD78UM+QyrRzqimlAg9T0/FZE/PIJARmoQk8LUDM7wTRqSRExMq2MowOopuSLDEIQVnMrR/Stfj+GmASxPAXlVDwYvZOefPlorxDN103ZsTAvnHRUcwsTYOZNGYhhCShYFc0B+luyTqO6djmUMTMOCU5dL1tiyZ33nRdvfio915/aeu6VWwEwJqYLdDFCLU8z1kDzGzXwZrGmNrpU+MQ0XHSY8V4tXD8zXrivby8fOXKlQsWLDh06JC1qxDBLPh8vvXr1s2fP3/dunVer9cirfGnFGYOKVVQULBj+3bUkqaplDpRMEiCVwPXsUJUVlZu27q1pKQEr6RCHBFXI5RxlhHYhihPftqZaEiEUrXRBdAABogYhoLKigumvvXK3i3rRw/o0aF5w0iHFGQqUgJbF2HaYJORsCyGcHol+5UIwi6xBvOhSDKDTDBzmCYb142/ZdyICPJ/+fGUwrxsJU3sEtgz6PhoXgCha1l8Dw1gDWOksPKRAL4HJ6sqE3s8HpiYf/7zn5989ElZWbmUStf0w4eynn/u+Sf+88SO7TuMoMkKjkMNkKbUWKDK6pWr3nvv/ezD2Zqmgxj5iG2QImVijmEmil07dz3//As7tu0gxYIFSWtaMR2PT9MKnVeotTLnpbbTVJJEwWBg9bLF65bNH9q7S5fWTSLhrFCQcCrCOBM8VpPh1hI+Y1LO0aIlKzfMWbQic3+WL4BTEQwISxPTSGEy6GyGa0bd2PAbRg3N2btzybyv/d5KUEhG6TfNY3JXQ0qJtAwFJL4hqk2dhQagMWgO8dkDJgaOw8yZM1evXn306FHrSk5aQwAOdoNIAHb6zDFYYdCTk5M7duzocDjmzJ6zbcs22JSAP5iTnZeTnatrjj69+kRFRkucRiQ2K/DD4hV4VYoRC7jGipWk6OjYenXrR4RFmEFMKtgjtglAQyRgUwCQRYZHNkxrBIamIaVURAzXh5TFU2GSSQI9KgLVCSUJ3TkRdBYBxz0wPQvCWpKz0QBjOFVlZcWsL6a3ymjYt1v7KLfGsC8kGedvKw5ZCUKKPEFj6Zr1Tzz/ymPPvPTBpzOLyioIRISIrYCEUrgedLJs2zyjXfOMr2Z+tmP7VkUSU4JOCPaQSymDweD+/fsXLVqEGV9aWnoCSW3yrDRg6xD69IdC4OwCjMu77777xz/+8cknn4Ty8YqBACvAMAw0rLB+yfohfWaAEvYlIyNj5MhRJNXC+QvLiksryyuLCwqT4pNiIqMTYhPMoLknc/f6teu2bNlScPRoWUnp5k2bV61cmX348O5dmXB2ykpLoyKjWjRv4XK5cnNz4dfs2rXrwL79G9avP3TwUNahQ+vWrQeHgN/PLDp17BQbEwvp9mTuWbNqzcrlK1euWFlUUATTlpubt2njxu3btoNh/pEj69au3bd37759+zZv2gTfDVMUijpzd04svfRW5sTWr7a0YZg7t20pLjgyqG+POkmxrHAwxk6AKxgOdVXB2kglkesJBLdm7i32BHxK37R9V3ZevrWTkEVAZE1KhU2IWGN2Cu7Xq0dVaenShfOrPFUkvjVkuBEAZwx5UVHRG2+88dvf/vbvf//7oUOHJJpFQS3OWgO4sADgm3z44YcwHG+fRXjrrbfgyBw4cGDz5s1Tp079y1/+8vjjj8PWwMpjRDi062A01dnJgCoYTafT2aVLl+7dum/fuu3g/oO52TkupysxIcEIBDGHjh45Mm/egi1btn36ybQli5cVFZVs3LDp5ZdeXbNq7Z49++DyVJRX7dqZOWPajH179pcUlc6Y8fnrr725Y8euz2d++dqrr29Yt3H5shVvvfl29uHcvJy8jz76aO3atXl5ebNnz16yeMlrr7327jvvlpaUHs7KAs2qFavnz1uwbOmK/Lyj0z6b8dGHnyy2aF7PysrC7IK0Z9cti+pbU9bKqP2drwawF8FDXbtmTUJsdEajBiwlRoI1p6Gsu17MNpgYIhyqFGvaocO5u/cfbJCe0bJN27zCku2Zu1GXidG4InBi3A0bCiZFY0PVS0lu27rFxo3rCguPYuqCphqapiEtpdywYcPKlSsPHjyYmZlZUVGBzFqckwagQ13XsYReeOGFf/zjH/8+uwDLDv8FdYuLi3fs2PHee+/97W9/mzFjRklJCWwW8onYGlT6joCpAnrG6CoVExMzcsSoYNBcuXLV7t1769VL1XWnw+EyTRUZEdW+bds2rVqZQSNz587Y6OiB/fvHREUvWrgwOjKye9euafXqN2rQsLiwyFNV1aRxBorKSkqaNG5cr06dg/v316tbt23r1gcPHCgtLm7cKL24oKiitEIGZZP0JhnpGUg3bgTKegvmzV+9cmWY260Mc/PGjRHh4VEREQX5+a2at0xPT8eUg6jAd3TphOJaK3OCMr5vUmHwNq1fm55WP8Lt0khpDPWyJI1xHiYFE6OUdQIOBtWmrdvzjhZ17tatR6/eLJxbt+0sLCmXFJqQMDJKmaSE0E2phCbCXe7OHTp4KisPHtxvmkE6IahQwHb01VdfJSUlNWnSBIXYEu35ikK81uJsNIBlA3WFhYW1aNGiVatWiL8TIEtNTXW73YZh/Q0G6LxevXrNmzdPTEwENzSKHLL2DCTPCEwN0EkFPoGAH2jWonnnLp3nzptXUVkZFxeHcuw9mAnFxSX79x0oLSkXLETorz80SGs4eNDgQwezNm3cLFiDMYqNiXM6XZg+zFqYOzwpMSUluW54WGRUZExcbDxih+7UhB4WFoHO6rpep06dNm3a4GAFCzJ69OiqKg+OS5UVVT6vv169+p06do6MiAoPiwDbli1b3XXXXQ0bNrQ7E+qdnfyOGMvgOyhqi89SA7AQJUfzvGWl9ZMTwx2argwhg4BOJvwafN4OTSSWyl1UaqzfmKk79fSGddo0SY2Pj91+IDczt8SnHERCU0ooU2MlycAnb8FBl67S0+omREXmZ2Vz6G85nCgSzsmzZs3avXt3jx49cH2IrQalSmFm4lmLs9WAlBLLplGjRn/+859xyXI2ePzxx3/3u9/B0DidTlS89dZb/+///g/npuHDh8fHx4MbxkLAGhCfXggUwRtlxlbEGu50tu/YsmPHFuwxXXv0rFO/fmrDht5AsLCk5Ghh8b6DhzL37F2xYjWcGgiL41JRUWl2dl5ERHTv3v3mzVv42WczDh/OycvLbJmNSQAAEABJREFUr6z0VlRUlZVV5OcXeL3+8vLKgoIixGVlVsLnCyJRWFhcVeWrrPRUVFQuW7Z8y5at7dq1P3ToMHzh9MaNY+Lj3BHhbdq3a96qpWQqListLCkuKSuFyUNniYgZktNZhlorc5aKOiuystKyysqqpMQkwcREoQv9UIJhXKzDEukO0pz79x/K3LWXSWzftnXt6lVSGrm5R3fv3efxBw1TWmbEGkIM7nFIIyEmxu1ylhQVKdNg+ibAmuBODrcDsC/dunWz5jQzNijk20RIAHa6Nj6DBpgtvYaHh8NeNG3atNnZBVDCBZgwYcJf//rX//mf/4F9qVOnjr0Oz9DWKUWhPYgIhy/cqe3Zm5mbe7htu1a33zGpcUajQ4f3R0WHp2c02LBxbVx8TOPGDY8ezatfv05sbNTu3bsWLJi3/8De5s2bpKc32L1755YtGw8c2JuaWreqqiI7+5BSZmxsNO6F/QFv/fp1Dx8+dLQgLyUlMT8/b8fObY0apSplHDp0AAyTkxPyj+Zt3LQOzvKQoYNGjhyRnX14w4b1+JqRm5sD3Tidjv0H9p/fXKq1MqeM+PfIgLfp9fmcbpch4YnArLBiVsSKNak0RbokUenxbN6yubCo1AwEt2zYsHr5MpKmx+vFNX5hQSEJQUKTbI0LkwQEgZcZ5na5dM1XVQkrc6KAfr9/yZIlMDSJiYm5ublFRUVVVVV79uzB1Qw2Z3tO2PGJtWrTNWoAimJmWOoaS0/NBGVCQsJPfvITuD8jRoxISUlxOBzINE3zVOIz59hN16tX74477njwwQdbtGyamBjXs2e3tAb1evfp+cc//c/f//F/E66/tnPXDvfcf/e48WNvn3zb/Q/d16tvD6SvHX/NkOGD//T//vjor3/Rb2Df666/7vd/+p+x145u1bblr3776IM/vb9P/96o9Zvf/2rQ0IEo/cOffz9izLBhI4b8+f/+dNOkiW06tL5t8q1//r8/337nrffef3fvfj2TU5JvueWW+++/H51q2bJl69at0Ud4bd26dmXLFJ+5KzWUWrO5huzarHPXAPSvOXRNdwT8BjMTAPtCbHGS2Kws82GYqrC4aO26dQkxYeOvGfWzB+97+KH7777ztsYN623ftm3//n0GJigLxRoRLI2ElbHqK2UGgzhCOR2aYCuDjgf42B6PJyoK29puXD0eOHCguLh47ty52dnZsDLHqWqfZ6UBDgUseOBsKoAMN7U4qNatW9fhwGmXbJ0LbBVnU/8EGrSMWmACnxSWKyLCrelkQVORke7kZHxlik1Kitd1TkiMhUcTEelOSo6Pio6IT4iJi4+OiY20E5FRYYlJsSl1EqOiw8MjXIlJcUB4uDMhIRaIi4+CB1SnblJ0dERsXBQMWWJSrMPB8fExCQkxYJiYFKc72B3mDAt316mTnJScoOkcFuZCIik5MTIq4gSRzyFZa2XOQVlnJlVEUdGxbre70utRCrZAKELMiqBkuDRWLEkawUBa/Tp9e3Tp3bVTt3atO7dt0btrx6ED+zZJb0jKlLBDihSzxBQ+Vp2I2YO7uGAwKjpGaBqdEMLDw6+99tp//etfjz76KPYfeO+Y9wMGDEhNTdU0jRkCELMVn1CpNlmDBjgUUIAnFjwS3wmQgVjXdVvVSFcnvrPuqQSmaYID7BSYhGJ7Q1FCsBCkaUJKkwWmkzWtrAQrtuaU0nQN80poQnNoBNeXJGJGbY2RQCkLEjozrvpYCXyVQEUUYVIw5imqC6Gx0AWDOXJIYhZqGmavComBMsgFaiWEQIrOPYhzr1Jb47QaiIuPd7rDSkvLJCwFLnuZFWF4mIktRUuJoaxXN/nu2yfdf+etLRrWjxBmmDBSYsMnXjf2N4/+rFO71k6nIBy2pDSkNOEKMc5ZmqG4oKikvNKbmFyXca18QvuY4viu1K9fv/79+/fr1w9XM126dGnfvj1sjT0nOBROqFGbrFkD0JNdgMTZw1ayHaMWOCAGkDgnoIoN1KpOIA3gFTFwLMEUmlNkBSvNLPAgsiMQsZWyM5nZykeM8lBMbAVCYEKaEKxZigehCjOHMrHNKSIpQrM2VC7t2KI795/F5txr1daoUQOcklKnQYOGBw4e9AcDCjYiBCIcgUjDQ5oOVhEuR6P6KQ3htTrYTUGn8rvZwAek5umpibFRDlJCGdauw9igNJM0yTrirTt3+4IyLT2DNQedEODxMDNsjaZp+K5x++234w4Sn2BPIKlNXokaYIIfcjKYMKMUV0+tExJwPU6HGumReTp6K58uaKi1Mt9TnYroGzhdrt59+2Ydzi4tK1eYEMd5K5IaS0FwbIM6mw6hnCzdQrHfq6uAroIOKzZ0kjrjCseURoCFUMJh4uumpNKKylVr1zVqnFGnfn2wPc7VesLEwNDAs0UCp/pWrVp17do1OjoamVZx7e8y0YA6QY4T0ydkfyupBCmcbU6CTkonCsVIfAsnUZ74WiM9Mk+k+XaaYM6+Jc7ZvChrIYQIT+ggkpiKIpT9TVSbOisNWMqTRIBJ1l+gs2JFpnIYbbp28EjeuOOAz3QaUidhSqpSms/UgszEknG81ky/DPpYStacUmhKGg6GiQnojBFRutCczA5lsBmwmnC4t+45sD8nv1P37tG4l/m2fPDVtVBAAmCGdcJTIO/bhLVvP6QGMLBYg0w4guDkwZgIrEKJ08UEGsX0A0GdUbZTSgnLATMV4hKRYpK44NGUYmaNBLLsyErU/s5aAyGdhqht8413APqVuhApdep17zvo87lLtuzNMjTdlFJj0+BAgFmyxqQLEswkNAE/xWBHkHSFuackW/cxoHGaCmRCmCbu8kxFB/IL5q1Y0657r559B7icMEQmU82BmWFgENdcXJv7w2mACcOLGcJEWHZI83fJghlVA1DT+lqpcKy+mCA0/V0CfrscK8HaZa1MdE0Ia6pjJjKju2T12Sqp/Z2LBjAGQPWk0ci6dRGsHA7DFR0WP2zEcGes+8uFXx/IzTaVQ1AUqXDJTpOdkh0G6QY7A0IHDBgT1kwLDpMcJkphd4QjyE5Dc3lNUWVq85euqvAFJ066PblefWZNaGjuXIStpf2hNYAVyLpQ2GZIKoClYvixNrC9XPFQrIjRPyhawkAxkaYxDKJUplISuQK/WpybBhg6he6YLBsNBVpQJJiYDQHjXSe93ohbR23K3frFirn5lZUB6SLrHsY6+krSQIVRAaSQJljhPQSMksRxygIOV8IvXB4Km7ds7cLlawYMG9OqbUdNdyrmoGmem7Q/ZurLoO8KMjAJy4XFARv2hSTWH8YdhygrQeqqiIlIYA0oYrJWgq4JQgdJEqyqUgLFtTgXDSjrZKMQq1AELVrAu0mmdBhVsjTLs788ojS+bcL87cs+WTRrz5F8b9AUaEMiNplwiRMk8jP5NQ46SGrS1BTuZSRJQ8H8owGljpRUzFu+7t2PZ4rw2M49+jjc4YrIkEoTFicwq8WVogFmFkLDDwJjEBETMRHGkQnvVwOYSQjMTaUxsc5C0zSygtU3gWCla3/npAEFkwL1WXWsB5NkaZJhCH+lKMws2bxk99w9JbuSWtZJapm6bPumN6d/tnrL1vKqKiJmIaQ0mXGDozQyhTQ0KTWCZ0PSlJp1j0OVPl/mvv3Tv54/a9HKMr88fKRg0bKVJWXlUrEgDCdTbbiiNMCkOTRXmCsMMRO8Gl1wCKSxqgH2cj01rpHYzjyVuDrHJjg1riY4NXEqcXXOqcR2jjWjTV1I3SXcYa5IlyOMiDk0YZ1Op6Da8D00IBX8C3xFCprs88qSXUVrV+6cuy93u09VuSMjuvXqd91Nd6iw2I+/mj9lxqz1uw8UVgT85AyQ5pcUJM2woAdUCOwqrArsPpw/bdaCNz6advhoybgbbnnwkV9GRMe9/vrrUz/4MP/IEUGSybJs30Pk2qqXVANMzEpzkCPcER4VFh3mCHMKl05OHbd4hPXnwuvVAHa5tPBwZ1SEOzrMGS5Io2NHKGGFS6ryq64xZqx7Q1LAFyzff2T7yq3zDuXtIhVwSUedqPp9uw6/Ydydj/7i/3UdMHbZzqyXP/zyrRmzF27YsXlv3sH8qrxSf155ILs0cLjYv/1QwdLNe6YvWPXilOmzV29PbNzutvt+Onb89ePHX//Tnz3idLlffP65jz+Ymp+XI63P27WG5sqZSQoXFEIoh5PDwvSI2LC4+IiEhKiE+Kj4uMj42Ii4UxETEVcjTqWszqmR3s6spjkpYZfWGJ9EeeJrjfTIBE10RFxkeIzLGa4xLiJ1UroiTRGcd1nry5xmvioiHIzIPh2dFJ9QAiPD0mOU7Ti0acWGhfnFhzUhwymsWUqLAR2GtKzbPlzENmyQfsvdD/z2b0/0HnldwB23eMPOj2cteeOjL155f9pr709/8d1PX54y/f3P581auv5wib9jv+E//8NfH/6f/+3YrTcOUBGREYOHDHn0Fz9vkJb23vvvvvXmGzlZWbgQOhGn6UBt9mWjARNzCfuRpildI11jXWeHQzhDQOJU2EWnxqdSVuecSlydU01zUqKa4NTESZQnvp5KbOXomsvhcOmaQ4QsCxEMC2Od2GOAFztRG59OA0oSvuvYkJKUZFORxB+W2KbMCn/R2v1LF2R+eSC420tBXUQ1q9d5WMfr26f0jeZEh+YgB8VEubt27DD5rrtwAnrg0f+5fvJDg8ff3nXI9U26De08bNyA8TePnXTX/Y/+7pFf/89d99zfr2//xIR4p9PhhEMtRFxM5NjRI//4h/9p3Djj7femvPTaG3v37pNSmqaJ+HRC1+ZfLhpgIp2w6JhZY1yK6hrpgnTrTWhC6FcLNAoFZtLEcTAJsoIdW6na3+k0wGTdYgkSAFuxi8hl6uzXPIWBw2t2z1+zbWFZ1RGlAhEc27hOy57tBqRENdTYzZZdJ7KsEQlml9Nl/aOZTZt179V7+Kgx48Zff/Ok266dcMPI0WMHDBrSolWrOnXrhYXh2owUrnrgTKFqCG63u0ePHr/85S9btWr92WfTnnjiiczMTLgzVBuuCA0wEUAIzJgIdOKiQ/pUgLpGnEpZnVMjvZ1ZTXNSwi49NUbOSZQnvqK0RtCpwabTNJidUwtrcywPVylYB8vnw+2dYCVYIsGIyQx9UqJArnfv0j1frT+wuMIoUGTE6HHtGvbo1254/ajGTo5ghS0MelZwfJQ0YRSYWQihaZquYwcTDocjIiLC5XIJYWUi31a8TWanq2NU6dChAwxNp06dFi9e/Oyzz+7YsSMYDFYT1CZqNXB5akAgXJ6SXQZSKYlDkSJWbAEmhpAgnDWRH9S8B8u2L9315aasZUWBXKVRXHi9zs0H9mwxODWqmVNFsemw7JEiqwIRwXIwLA7B1kicuo5lMF45FJAgsqmsTPuVjge8ggoHqM6dOz/66KMjRoxYvXr1Y489tmHDBhQdp6p91mrgMtUAfKHLVLIfXCyYiGMywBuR0opUQLLfS4W5FXub2ngAABAASURBVNtXbvtq5+ENFcFiYi3CkdQmvV+nxoPqRjZ2qUiNnIIsm0LHgxDHXpktdwYxABOPGCRIAEgDeEVsvyJtw35FjKMTPJr777+/f//+K1asePLJJ9esWeP3+w3DsK9pYHSqYdetjWs18INrQPzgElwRArCAaxM02V+lSrPKty3bOnNv7pZA0MNBZ3Jko24tBndp3D/ekaqRQ9Bxi4KOsXX0YmIimI6TQXQsl6iGBH07oDKsDGIcnTIyMu67774xY8bg0ASPZvny5TA0IId9QQwgIUMeE9KXMWpF+7FooNbKnG6kLdNAhBgR7lYMyYEKWZp5ZMfyHQsyj2xTmsTJKD2hTe+WQ7uk90x0JzlMFmTiNkfh0IOTlaCQN8RMGtGF1DPMDQwNjk433HDD7t27n3/++UWLFlVWViIf9oWImBlpqg21Grg8NHAhZ//l0aPzl0Lh2sSyDDAOFpjY5mVZDSErgmVbDmxasXnJnry9XoWLVy0lJqNnq0Ht6neJd8Q7lBICJiZIHJRsSiElDE2IAStc7ticLkBs2xFcFaelpT3wwAP33HPP3r17H3/88S+++KK8vNwuxenpArRUy6JWAxdIAz96K6OI5DHrIklKOCMhkDJZmoilMkwKlJpFO/O2rN+3IrtijyGVU8anxrXs13ZYi5SO0XqiUE4BPwaMCN+VNNiWalygYfqGDZwUAFYGwHfx66+/fuLEifn5+S+//PLs2bNhaKrPSkgoOGHfVK1N1Wrgh9HAj8HKnFGzsDKh8uqnPObOwAERpjQN9ub5stbtW7F0y+y8sj1BrnBTWMu6nQZ0GN6yTvsIjgmZGIdkTQqYGJ0JVgbgY4bm2IMuYODjAXc09erVu/3223/605/CpuDz9ieffFJYWAgDZBiG3SL8GhTZ6dq4VgM/iAZ+7FZGnXCuETj0KF0onZX1X2FIEgFBud6c1bsXrc1cUFyVo5ERya7WDdv0bNOnSXIzBzmVCWNkGRJljZ6VIGI+BroEAd5K3bp1J02a9OCDD7pcrldfffXtt9+GawN/h/Hl3TrHCSQugSS1TdRq4HQa+LFbGTrByrDCurRAxJLIL8zCQN6q3Qs3HFhSEswhLRDGEa1TO/ds2b9BbGOHdLNyCIb/wnQsoNKx1CV72BYkOjp69OjR+PDkdDphZd59992jR4/Ci4ENgiR2jEQtajXwg2jgR21l4IAo6zIFT0v5WI0qdEVjkgyQN7ty19q987ceXOGlIsnBCHdcx2b9+rYZmxrd3M1RGrkEO6zahAAOABI/AKoNzbBhw+6//37cCk+dOvWDDz44fPgwDA2uqUFgde2E3w8gZW2TF0gDVyKbH7WVOXXAFOEixu+V5fuLti/bPmND5vwqf5GQHO+u07lZ/67NhyaHN3PIKMbBih2W7yMsBcLAVPszp/K8qDk4GVUjMjJy3Lhxv/71r5s1a/bWW2+9/PLLe/bsgYmBrcHVjI2LKkwt81oN1KgBa5HUWPCjyTxuHxh3GEaQq7xUfKB0+6qd8/bkbvCbFS5yJTnSumUM7J4+MN5ZV1MOUhw6WllPJAFCkvCRSRzn9cMoD5e+4eHhPXv2xBfu9PR03ATD0OzbZ/0H3NWWCA7NDyNcbas/Yg38qK0MjAITh4ApYCoOBGTlwZJdK3bMzczf7FNejZ3JYQ17Nx/ZreGgOEcdTWnMUgoJy6LshJWWBBZKsPqBlQlvBdbE7XbD0OCrU5s2bebOnYv74P379+OTE+wLgH7WolYDl1gDP/DCuES9VSp034KTDVJSkQ2kFYXy8FBk+MzyHYc3Lts4b//RnX7hYQpLjm3Us8OwDum9Yx11dcOFz9SKvcyGJCXhwJDFAQwuUS/Orhmcj2Br+vbt+7vf/W7gwIEwNM8888yaNWtgaFDEzGADcwMgcQbUFtVq4EJp4MdhZSxtwRoAMA6mIvufpEIscX0rDTKVUS6PbMhatGzHV1nFmQHyOji8SUyXvq3HtE7tGqbFkNKImUkI5UCskbAhCBczGnIIixegHzLoug774ggFfGzq2rUrPBqYmwULFvznP/9ZsWIFnB0YF8BO2PEPKXFt2z8ODYgfRzfRy5ANUIiFUsyKQwZCGCQDWqDcPLrp4JpVW5cUlOWT5EiOyUhq1rv9gBZ12zk5nFgjZrK+eQtUJcILMR6EixiALsMAUwKpMjIyHn744SFDhmzfvv25557bsGGD1+tFPoyRTYB0LWo1cLE18COxMiGbQOgsDIQgCdOgsSIpzaCoLAocWpE5Z8mWOUX+o4pVmIpontR2UJtR6QlNHMotCOckGBcYn2NQYEaXe+BQgHfTuHHjX/ziFzfddBO+N/3rX/9aunQpDA28GLsDtbbG1kNtfFE1gIV3Ufl/N/NLQAG7gMNSqKGQQ8KwMrhYMQLKW+jNWrNr7sa9y0sCR4MUiAyLaZvRuVfLgY2jmodzjE4uTTkJtocIZy3wQRzic8VEsDb43jR58uTbb78d18CPP/74559/XlVVhXz0wY6RqEWtBi6eBn4UVgbqg3UwJeHWF7u3YsMgn5+qCj0563Yt2bpvdam3UGia2xndumnnrm36p8U311WUJh0666HDEtkHJCLrSVdCgPmwoWkaEvXr1785FPLz81988UXc1MDQ4D7Y0oZScG0ApY6b4iuhg7UyXkEa+FFYGawfgK2+SlMGLROjyg+V7Fq+fe6mzNVeo9KhOaMdyR3T+wBJ7ga6CmepMTFjJPELgREIhy74QRYjlFzmgLy4f0EM4EY4OTn5nnvuueuuuzweDwzNl19+WVJSArWgFyBAXItaDVwkDVwZC+b7d14RNmrLoWHNDJJnb8GO5dsXbMte5xWVUlK8O6Vr0369mg1NcWdoMpJIUzoRw/WROC0BFKouFAklGJzoCguwJjAlSUlJd955509+8hM4Mk899dSHH34I1wZeDID+gAZxLb6XBmor16SBq8rKYPmHEIosu6BCf6OFmAAlrf+AWnqC5ftzM9dtX7H3yPZyKjREMCGuTq9OA2Flkp0Nw2SkTg7JZAoJK0NsEhnKgskEa8OEMlzP0BUWlFKwMhA6JiZm3LhxcGpwMfz2229/+umnMDR2kR2Dpha1GriwGrh6rAxMiyQyCde6UuFJBimDcBVj5bJmWj6Il0t3Fq1dsGP67oLNQfI52V3Hnd6n6Yi29bvGOuKFYlgSZrJAoQdOSCSEBeSFdMUXVv+XiJt9dIKtQSIqKur666//+c9/HhYW9sorr0ybNs3+D7hlKIAGz0skVm0zPw4NhFbO1dJVy54c64skCYMDX4ZgHoisRJVZtnrvgmU7vjpcscsQHl06msS3Gtzmmk6pvSIpFiYGt8KsmzAsgljDg3A1owk6BiYmARAJurICHw9CCCQRR0REjBgx4re//S2+c8PQPPvsswcOHLA7ZV8JB2v/T0+2OmrjC6GBK23FnKnPSpCpWUcaJukg5SLlgFcjyTA1XyFlrT+4dO3OFUeKjqigCKOYFvU79Gw9qGXD1i6nW4KOBMOO2PyZqpN0eYbvIRW8FdM0w8PDBw0a9MgjjzRt2vTjjz9+/vnnDx48KKWEDbIt0fdoobZqrQa+pYGrycqQIKkpgxUOR6wkW66NMk0OFPiy12TNXbrjq8KqXCwkN8ekJ7Xu0WJgs8T2bo5m0jThJMuuXNXWhY4FGBEt9HnbHfrvKmFounbtOmfOnJdeemnv3r0wQDBDx0hrH7UauBAauHqsTMhC4HIGxyPLM1EhO+MXnvyqw+t2L12ROb8wmKN0M9Id1zytXe82gxvHt3IZMUI6FUEJghRWHxIXQqmXPQ/YEau3Qjidzu7duz/88MO9evWaPn06PJrNmzf7/X6UohMgA2CXka5FrQbOWwNX1brCN2mCS4KvSSwNYfioMq/y0MpdCzfvW13pK8WJKMIZ1y6ja682gxvGN3dQhGbfvLAuWBNCZxb0Iwg4EwGwIzYcDkenTp3uv/9+3NTMmzcPdzTr168PBoMwLjAxta7Nj2BGXPQufte6uugCXMgGlNIU6QbjlOQPctnhsp0rt8/dfGBlaaBQN8OitZR2Dbt3bTogNbKJk8KZBGlEcIGQsFJQhQ2COxQCElc5YGhgTXCA6tix44MPPghDs3r16tdee23Dhg2BQACdBwGARC1qNXDeGsC6Ou+6l1lF68ijSWJcyARUWXbpjjU75u7O2eDVSg0tGOes275hj+7NBiY60zQVxtJhHamEKVnhrFRTT0KHr5oKrqY8eCswInBtdF23/wPu8ePHw8Q8+eSTy5Ytg6EBwdXU39q+/CAauPKsDOY9QDACx2A/pCJAGcr6h8H3FexctnHu3pytXlkmKZCcWKdn6wG9Wg9OdNd3UrhODk0TiqXBQWUx+kE0f9k0qqBASxjc0aSlpd13333XXnvtrl2ZTz/9NA5QPp8PZVB4NYgk4UxqIZRHlgbBwgaIf6yAAiRBORaQBo5rAsmrE1g9J+B4d0942t22DgsnZF4hSWWSNbUhrVKGgRuEIJFJbEoR9MiSLdmr5m6ekVmytYorNeWu62rer8nYTun9E131NHaATAmpWAnSHeTCjUzo0ETfDjhHXXn299tdOKs3wfBjNCYGYG00Tauf2uDue++/487Jhw4eePqpJ2bP+ioQgKGR0gySMq1YGkohDZiYYmimem0hfXnjokoHNYTmIaaiBSywUHPHn6EXzFvo7EQg58rCGYU/1skTH1b/r8i1xMe2C1JkappgZhnaVgNGxaG8LavXzisuyZOm4VBhdWMb92wzpHW9LhFalCAda4mOByZiYqbacEwDUIWS0qGLBqn1J995+wMPPlRYVPL0M//99NNpJSVlxLjzEix0RUwsQkBKEUk+xqD2UbMmFElM1OOQCrP1GJRiutIAmb/pArE6jjONvjhT4WVZhpFk9I0UtlbYFtM0FZwTk8rKK3ft3T537uc5hw9XlngdgYgmddr2bz+ibWq3MBFHpIEOlZgFX5b9+sGFglpYwWRgORgx0THjJ9xw9z33VXl8Tz/736kffrxjZ2ZWdm5JaZnPHzRNCCsURgA/IiYpQgAH+lEHWwGIgeOKYOgITt9xsEksTwBeT8WJBCemT6WszjmR7KR0Nc1JiZPITnw9ifLE1xPJpGLzOJCvjvf5xKeliivPypBlKgjjZG0CxB5fYNuOXR99OuOFl19/8eW3v/hy2fLF21ct2r1lVXZpDquqKOV166aLSRAOSaQpieVh9ZxqAzQATQBIAAwHRRBORYZZVFB48HBOUHJUXML+rOxX33j730889cx/X/jvCy+/PeWjuQuX7D+U7fEFFSwMMZNimCesJgUuP3IwkQ0ikoAiaRLM8jcwlAEEVTCojFCMxLdgqECNqJHYzqyR3s60CU6N7dIa41OJq3MMFYTw34AMIwRp/RfFBllHRRO9DgEaOKaKK8PKwGeRoYAEVoEJz14qr9e/e9/BF1554//9/bHX3p6yav02w4xv0XRawqRzAAAQAElEQVR425Zj6yV0Lz8aNW3Kkn/99fmp700/dPBIIKiE9X+bFYSOWz/rATWcCDBHI4jhHyFxYtE5pq8YcnRTKmWYhlTKlMofkIVFZbNnz//nY0/+/bGnPp89PzqhzrBR1/bsNyixXkOfFLv2H/54xldP/Pel//vnf6Z+PO3Q4Tyvz2+a0BmFWEmkrITEArtilHCBBBWEnSw0taAEG6aJS0Po1QxIvzfgqfJVVnorKrzlABKV3rIaUeEtqxE1EtuZNdLbmTbBqbFdWmN8KnF1DiT/Bp6yCk95lbcSXQsafqUwD6zOSgVD8y2lQjXfer+cXxgnJWyYJBSJguLSr+bMf/b5l5esWheXnDri2htvvvP+8dffO27c/ePGPnjLxF/fM/mPQwff4nIlz1mw9KXX3li0aGlJaTl0wNY8qO6lJPpm/1UWc6sIDVmPq/+n4BJKZQhNGFIWlVQsWrrqhVfffnPKJzlF5Rmt24+/5Y5b73nglrvuv/amW0eOu370+Ik33Dp50uQHevYfZgj3zK/nPfHsi9Nnfn34MIw4ZhjUxrbOYGjsxI8sxmoCrE4rBJLQCJZfBVZjVTkWJCwLDI3Hh2MoUOnxAeUe36mo8PhqxKmU1Tk10tuZ1TQnJezSGuOTKKtfITAA4UPwezy+KnSq0lMB+PxVphlka0GpE5cV1HFMKUhdEYCXgR4cPnL0vY8+eXvKB2Ex8dfdeMuEW27v0nNAanrLiPikiOi4iKjEhMSGqWmt+w0cc8sd9w+/ZnxFwHj11dfff29KaWkZqtMxQwMTQycGzAm8Wk0oZafxenVDSuvfzTGleSg75/V33n3+1Teyjpb2HTr25skPjbp2YuuO3ZPqN46Mr+OMTHRGJYTH1Ymv27BB0zZ9Bo+6+Y77ho0Z7wyPmvLRZy+88trOnXukIqysIHx/pYS4wubVhRhlWNhqgB9ml5JK+rxef9AfNAM4NymWEsCh1IKUiNmQVxYg83GEtnssFYmuBQyYnEp/wKNwdoYaKLTOoIYQrozZoNCXkCOD6ZuXd+Tt996f+dWsTt16Dh4+qlmr9uExiVK4gkojTZpalal5rZETzM4wV1Rcq47dho+9tkWrNjM//3LaZzPKSitChvZbWgipAqdnMzs7e/fu3VlZWfbfE7Hzr+JYs6ypOpKfP2Xqh7PmLGjeptOoa29o360PrAm7Igx2KN0dZIchHAY7TeFEWmoudkVFxCa27tBlxNjxQ4aP2n/o8IuvvrZ9R2YwaOi6brG8ilV2hq6dMKcsJSjl9/uCRgDX6ccQuvdloU4AsTgVJxKcmD6VsjrnRLKT0tU0JyVOIjvx9VuUJ0goT5BcoVMwlAqdIhM0hmn4A35T4XbmuI6gEIBIHM+43J6QDruBVAQQFCClMqX0+gLzFy6ZNW/pgKFj+w0dHRaTZAoHToGajvUCFZg4AhD6zKbQUMskh4APF5NSd/DoCb0Gjpz2xew16zZgMSjTlKZhmoZSSkppmuAtYVyeeOKJSZMm/fWvf4W5Qf7lppQLIg/6pZQKxSRJKygp//DTz5esXDdq3A1DR41NqptKugPlDP0x9lk88PVak0oxSSjVkkGIIGmkhzkjYjt06z18zHXZ+UXPvvDy7j37g9CrskhDA2eNIDwcUlalq/un0E9Gz0NbWKiryPGb3oAKIouZBROTBToxQDM1gK0vFdg1awA+YoDfqUCV0+FUYjvndPTItwlOjU82FyAF0CHJpqHJAFmLSqFHIcOioBA+/gKiyxKQD7CmKEZPMsPebN68dd78RX0GDO/Rd7BwRLEjQobudJU0hAoyiJRDELZTKAhTXBEr1lgKXYtI7NJnSN209A8++mTP7r3KWmUmlCAlLhQUXCSv1zt//vytW7fm5uYePHiwsrKSrtKgQrMAMVBZ5f3wo+kzv5zds9/gDt16aK4wxYzjDqaOToQZLaBBYk0InYWDSZdBTRkMr5jYwF4mHOQMT2/eevjY67Jyj775zpTcIwWKBUbqKlXembolrakKAmYSzEyM+ahM6AlJIkRsxUhUA0Qa06kQrACN1akQNdGDA/JPB5TWiNPRI79GemRCYKBafiTwim6RJAkrIwXhBE4kQqBQUIjxjviyBmY8hwQsK6+cPvML1hzde/aOjoo3LPuAEpSjt4DVYVgVVoIkBgmGBkUWAZNg5ri4+MFDh+XkHf161mxcWzFrxNYfFJmmWVBQsHTp0ubNmzdq1AjLD5l0lYbqrpmm3Lh565x5Czp16danb1+ny6VpDkwKuC3QABIhBcB/MWHEFZnKcv2kxlLIAJsBaBlkLHThcLXr0PXa6yfu3X9wybIVfn8gZMdCtY9zCb3URmetAZbEcMxPgmHZ/LPmcfkQXr5WBvMTYEtVSgjYC4UlsW7jlmat2iYl1Q0aptCcpgmnDGVsGRdJ2EOFUoCmMBxs1YXFAUgQ3gSnNWzcvFXrhUtXbN2+k7DlSoU/aMHv98+dO7ekpKRbt25hYWFYPMi8WsHQVsgMlJSWzF+wSHeF9+k/0OEKE7oTjowMddvy70MJQdCnQWZAkzgLBbFjqaBPmAFdYAtm3MIETMkONzncGJdGTZouW7EqL/+oEMq28UQYBIDOJtTSnKABKBBDcRLszBOorpCkuFzlxNS0AL3iAWMARwZnJWd4ZOv2HUnTJAnGUhCatV4UbI0kOKfSYHxLk9h7TSwPJkREodiUihgrQ+/Zp3+lL7h85Vp8i0OREFowGNy7d+8nn3zSrFmzJk2aMPiKY2qBj4P6V5nRkfi4Eer5oUNZW7bv7NqrT2JKPc0ZJiUr9JaYGICdwIOY4LmYDmUWH83dtGHtgnlzly5akLljq6eizDQDwWBA03VsuJI13R3ZvlO33KMFGzduwnihIhEWicXxavphMpwE9A45iIkU7mKsyEqF0qHcs4lsDogxOogBuxYSJ8LOxLS0M+1XO0ZOdcJOIwbszJNiOx8xgCLEABLnDbu6HaP3J/E5tpxOyr08XjHRIQhmPoSXOTm5O3btatOhY0xCssL8Z1IkmTEoBinpqarcuX3r+jUrN61bvXXT2qwDe4M+r86oaKIU3RaaMKQSugu3m02at9y2K7OsspKFVd/j8UyfPn3//v3h4eGZmZllZWWlpaVIlJeXM1ss0AbkuGqATmGaGoaxc+dOGIj0jGaMgxJriqFwGBoLEpojAiXsNMvg/j07P/7g/Xdef23ap5/MnDH9gw8+2LwZpkTCRoMQNkkRk9BTUhtGx8SvWbPW7/dC5xghxAo/utoCeo1ZYcfoG9JQKRLHoNDpUBIaBELJ74zADbRAiJtkFoZhgpNSTHDNFSkL1oQUAv46yI+3QscC6pqmiRg4lvXth1VHKbsUaRTaMRgi/X1gi2JzI8j7bV6XqZWB0KF9MCSvUqZpHDp4sKy8olWb9rorHHpSLMmC6XBA78GDBzJfeem5x/71t2efeuw/j/3j7Tdf2bhxtddbjksEJkkkrf5j2BS7o2KatWpTVFqWn1+gFEHjgUDg0KFDiL/++usXX3wR5mbfvn2wOzk5OdCVGRo2JK4moNe47d61a1dynXrR8YmSdQkTA8eQBTSCnipQCNz/QnOm31M564vp82Z9Ge52DOzft2+//skpKYGgtQRAeWzuk2IhXBHRjTKaYjPA1zqrqPoXGsbqt6sgAfUAhmFgXsEoII2Fak0nIgUgde6dxEwDK+x52N6qqrwBv2TShXDiqt3vM8rLPCXF5T6fH6GsDI6kZU1ObAQyQJ5gMFhRUQFWEAw5wIk0SCMHrWD0q6qq8KppGoiRg3y8XiSIi8T3grBVZE9PFQj4cnNzYuPiY+ISTIXNVhJsC+MUJKUKKhWo8pQdzt4vTV/njm3T6iWtWLboyy9mFB49woz9Fgo3MfRCw3bNhkn10xq6wiJz844QMRNHRETcfffd+Hr9k5/85Oabb05OTk5NTe3Xr19iYiJqYvZIKZGgqyWgL5hbRUVFuPCun9bA6QozCQZbSLIQ6iUTMQwNLAhLMy87a93qlTFREaNHDh86ZPDAgYOum3BDm3YdNB3f8hirCj8mLAnFuqNheuMqj2d3Zibqkh3AzE5cLTEUaOPAgQMbNmzIz8/3+XwSAQfFUB/Py8gQLrmw4PGV87//fe4/jz+1Zct2aZ1WMdG1FSvW/POfj7344qvbt+3ctm3b+++/v3v3bhCHWjsWoX0YoDlz5syYMcO2IBwKx4qPPyA5NlS08u677x49ehS1MMNBiPzjJBf+eVlbmWPdZcxYdeTo0cioGIcrjDUNSwBWA/6jFStTCDKC+K5hxMVEDR40AHA7REnRUY+3ypS4kMHywUYrTFMp1kjo8Oo13VFeUQkVSyXdbnePHj1gX2677bYbb7xx8ODBffv2HThwYLWVOSbG1fLAfAKw4xWXlMTExrPuZMbBSEnTgD6P9xKTGwqGRZd5OTlH8vIaNGjQqnXb+MSk+KSUpDr1Y+LiWWiymhrGBmARFR0D24/jrQoVIUZbKAm9XdYR5AQgIuIzQ4YCvIY1a9b86U9/euqpp+bPn59/NB+uBCpixbI4H8uKuljwSUlJcFU+//zLGdNnlpeWK0nlZRXr122YMW1mTnZu/fqplZWVBw8exKEexKhSDbzCfGDzQKktidUXjGg1BZYRYe+wZIO7BDLcqxGTBAHIACuh7CGzknYO3kMJi9u30iAJvaPguyC+i+CHLIcGQs0zPNPyCo/DHaY7sfFCZo1ICMJg4jpBsCkdTLqkouLiObgiXrQYCsjIaBwTHc2sGaRZJwLcDWvW/aYp2BEeIXTd5/Uow/pWgj0Ee7vD4UAiOTn5V7/61aOPPtqwYUNkIgcCIMbUQeLqAKYj9IPtt6Ki0h0ZLWF5WbAyXZrSVRAJYnSUySTN0rDy+7yGYbijojkiynBF+MnJjgilOw0WJAT0qRhOENSvsWVlYokdR/JLlPVvMIMPZq0FpC5/QC1wB7ACYYLhoeDsvGfPHngNe/bswT0drrHWrVu3LBRWhAI8gk2bNsGz+MMf/vCXv/w/nLjhHWCp09muvm9UggmG1hHXq1cPm1ynDu22blq/d/dOZfgry0rIDEZHhDdKqxcXG9O8ZYs7Jt/ZsnUrX8BfUlbq8Xn9wUBZRTleI6Ii+/bvd+NNE51uV0VVZXFpicfrKS0vQwI0lVVVZeXlXr+PNdGiVcvb7rg9Ji7W4/NVVlUWlRSXlpWCzIABVbKqyltcVFZZ4Q0GcOPpLy+rqqzwVVX6qqrgsp1734jENx29zFJ8gjyYviwEYh2ODGEHRaENECFBCpsuUUlR0drVq7Zt3RIMBIJ+KBYOjsTcRzFZVCC2dIQkRlRKSQJJZH4Dp9PZqFGjpk2bulyub3KvxhQ0AHOD/jN+lkoJbp+VRGeVpS1mNpQkFu7wMIeuVVSUBbxe0wgIZRI+bJNEQkmTrCWFehaUkpoI3VkeyyQwUnRlBCmxuqpeffXVe+65Z9KkSbfffvvkhGKc/QAAEABJREFUyZORvv/++++9994HQ+GnP/3pL37xC2xCP//5z3/5y1/iuySMNVwPXOQh/ec//emf//zHtq1bTSm/T5/r1at7zZix0lTbt+3wVHkLjhaEh4W73S5m4fV4ly5e9tILryxasHjzxq2P//s/b7z21qwvZz/9xDOzv56zd/e+Tz+e9vab7+zfewAEf/nT/3vlpVdnfTX7maeenTNr7tzZ80A2c/oXR3Lz582ZDyZ7M/fl5xW89+7U5//7wu9++/s333gbr0WFJV9+Nev119985533MjP3fP31rD/+8c9Tpkx9++13P5j6gd/nZ1xDSKmUOvs+Xr5W5sQ+wK2IjooMYFMN+vAhxLIax4pZMSsSigFu2LARZsYjDz+cllZ//do1ezJ3kInNWYZWglUBSwFrw+utUGYwItwNfSlCnlWEn604ZEopESPnagV6GhYWFhUV6a2qFLAUVn9JMmwDtAEgQTDPBug0LblunboN0g4dOrBz55aKkoJgVdmRrP1FR7KFsv5iniBbvVYtVrKyvIxJ4rAJ1VlZeFwhwIiju3BYFi9eDE8FTgrOFPgsgMsXxPBrEJeWlsKsBAIBuDyI4eKhFvoHe+1yORMSE+Pj4x0OB/gg85yAKgDmOXhKqVq3adulS7eNGzevXbu+qKgkLa2hYUiH7gpzhcfHJOzdtedoztHEuMTK0sqVy1bGRsaWFJbM/XquU4M/KtasWBvwBNPTGuccytmxZWe95PpHc4/O+WpOQkyCprR5s+aafhkXFbd5w5aSotLK8qq6KfViY+KP5B1NiEtyOVxfzMRhbUZkZPS+fQfmzp0fFRVz6NDh/fsPRkRE+f3YtrHgjg2s3fez6ebla2WUJf4x8XSd4+NiqyrLPRVloWmNMpQDWA8syTI0kjRnWHjjJk27dOteP7VBVWVVSUlJMBiAFWLL7lqqwQIAPGWl0gjGxcSepCZlkREyMWnsNJq5KiGljI6Ojo2JKSsuYBmATtBNYR2doCXGq1QmjI6JFIu69dN69u7j8/o+nDrl7Tdee+fNVz54763tWzYqI2hRoyasOCoRhsEsLipwaFr9enXJsj5EBBK6UgIMxPDhwx9++GH4LPBWcHb+zW9+8+tf/xr+CzwXpH//+9/jIsaOcUoaP348LvXg/8L5vfXWW//4hz/cf/8DzVu00HXtvLuMoYEJw9ru069/Tm7eJ59NC4uIBDSH01TErDWs39CluYTSYFxgOJLjkjLSmyDh9wTCHWHx0Qku3eVgR93kum6HOy4qtkl6k7iouDBneHqDxnWS6pBBsDXJ8clhDrcgrUFqg2ZNmu3ZuadBvQZ9evYxg3LdmvV+bxACtGrZOqNx06TEZDe+lUREjxwxetw1411uNyTkUFCh9XI2PT22jM+G9NLTKKtJhiHBsk+tX7ccJ8fiIpYmDI2SkuG/KILrRoybF42EXlZetWXHriXLVx7Myo5NTIyJjdM0HdUx02GJoB1BpIxAXvZhI+BLTEwgQglVB7QC2K/M3yqyM6+aGHtmXFxc3bp18/OyDb839BeLFAuhLIUoKMlSusLnOc0kDouKGTJ89Mgx12hC37p565ZNm5U042JjwAQWHDrBbMN8w+nT9Ptysg5FRoS1btkCasfBQUoMFCBN03qzY1S5POFwOIYMGfKzn/0MZyLEd911F85Nd9xxB85N+AqJBD4OXBsK48aNGzNmTM+ePRs3bjxhwoQ///nPMEn9+vdPTkoCk/PoHbM136BJmJjDhw8Xl5U0bpJeJ7Wux+dJrpPkDeDyxV9YUmh5Uv6ApUvT9Hm85WXlbpcbawAHGb/XJ00ZCASgayMYDAYCBLeDrCGCD6KxMILINkCjpAz4A6ZhIocUrV61Ojs7u1evXhUVFSXFJUmJSdHRUU2bZgweMqhzl466QzNNQ0ojOiYqpU6yvUCYLWnPvptYd2dPfKkpMd/tJp0OR8O0Bi6nvmvHVr+vSmHyYkCsqS2E9X1aREZFN0jPIKf786/nTvv869jElKEjx7Ro1VZzuEwiyWyaJm53zWBABf27M7dHRoTXrVMH6wQ87CaqYz4eqnOuvgS6GB4e3qxZ06L83IrSImkEdU0LGgZssaVzRYJw0QW1oetCsTOtQdPrxt/yk58+eu+9D911z/3XT7ylWYtWmsOpCLONWeAPkVI+b9XhQ/ubpKc3SEuVRrCwoGD7jh2bNm/dvWdPeXm5xUsINI3EZQgIhvkQOkhGIURGRkZERCAGoCsbtufiCgXkZGRkwPH54x//OHLkyKSkJF3XRaiDYHV+HTQMIycnZ9euXTt2bnO69KFDB40cNSw8wn306JHUtLo+X9X+Q/ty83OS6iQZZOQezXNFuNkhDhw+KHQRnxSfuW+3P+hPrptSXF5yKDsrKibKHRG2P2s/66w59SMFeX7D744MO5STBYI69eqUlBVn5WTtP7gPaUlyzbo1GPjRY0fXrVtn797M/fv3lpQWlZYWxcVHKzSXexgWKwQMOqGPwFl284qwMgpTOC21XqvmzTeuX1deUqxpGkbU6qGyjkus6Y0ymtw86fb7Hnrk5tvumnTH3ZPvfXDUmGuT66dKATdHx6phoYGJYMrNPpy5fVvzpk1iYmPAl8VlrQGrjxfnp2layxYtlBHYm7lDsAoGg5ruIMIEAghWRoMvY9lgochBWlhsQp2MZu07d+3XrlPPhk1aOiNiDCUkoRSTTTATK3kkNzs/L7dP757uMPfhrEPvvf/+k089+e/H/v2Xv/y/d955B99fsDXA3NNlGSAbANE4FJCwYWfaacR4RTkSUGCbNm3Gjh2bmpqK2RiytExQIJQG0DkHWCjUwVfOceOuadI0PSYuqt+AvsNGDImOiezZq9tvfvfrSbfenJic0DCj0U8e+cnAoYOS6yVPnDTxhptvaNC4wXUTx99y+y0N0hsMGjbogZ8+0KR5k7RGqXfdd9d1N16bUi9l0h2Txk8cn1Q3eejIoXfefUdqo9R2ndo98qtH2ndqn5AYf8NNN0y++85WbVv16N29foN67Tu2m3zPHW3atoJda9QoNa1B/XvvuxuuW3RMhK5DwPPBlbHGMHrw8Pv17e3zVG7dutnyBq3OKvjjSjEJER4R1b5Tp559+/XoO6BH3/7NWreNS67DmkuSRkJXQiPmoGFiJWzZtIGU7N2rR3iYWynCpKEfZUDH09IatGzRYv3a1XA6GGckqKNaFUoJC7Ad0L0GNbII0x0RrIeTHmYIh8lOybq0rLylQ8MIeqrKt2/dXCcluVOH9rA6Ho8HNQcPHty/f//du3e/9tpr27dvB3tN0xBfQWBGP2qW1+l0ulwuWAdmllJWE6nqFJ2Q/CbztCmcturVq9elS5e2bdu4w5zxCTj0R0dEhbVs3bxL146dunSol5qCk1Tnrh2bt2zaMD0NFqFD5/b10+p26NS+e6/uGc3SW7Vt0a1n1waN0+qm1unYpX27ju0ymjVu17Ft+07tmjbPaNW2ZadundIzGmY0TQcTJGBWOnRs17V75zZtW7Zu0zIqOkJ3iqZNM9q0admkSXpMTFSDBvW7devcsVP7+PgYqQxs1XTagM5aKypUjnToGYpEKL4cI4xtSDjrqYg1IXp279KvZ5fMLevKSwuMgFeRlGySwFSnIJnsELrToTt11nUN9/xCI6ExayQJVIp0aarDBw5s27h+QJ8e7Vu3tJYVM7G4HDt/MWXiUMDaiIuLGzl8eHlxyeL5s31lxcIMkMSlrzCE02D4NQQVEdRH1t97lGQqIdnB5GAlSGhQrsZSYXtThp9M355dW/bt3Dx0QO969VJIcUbT5rfeevt1117Xu2ePenVTKisrA7gykPJi9ux78YZCgJBuvhWdxPQkGpSCGpmapgkoDCoDiJQFxZbhVqEXeIcnAXTfgmBNmiBmwTojIo1D0IWDFIdiwSR0TUesCV1gboea0TUMFpsmFgJECIEEC03DkRb8iEGshZgjBsANcjFrDs1pBqURlEyarjkE6yRZScLuLcBfOAxDagLMLckZbECAsa8ZhG0JlRmsj4EQJDFigd/lhZA0EA2SaQQZGVpSJJBKiIu5dsxwzfQtnPtVwFvudrKCkjBxmQVORhJWBxW0EDFL+DlSQj2alA4QSFVVVrpwztd1EmKuGzsiJjoM2zTGiJjpRxb4eHA49DatW40dNXzb+rXrli9W/ko2A8wUVGyypkJLAFoixvQ1SJgEVbIRNH3Y06QMKtN0CoEMnYKbN6yc8emUVk0a9Ore2aHD91Gaw3U4O/edt95+6/XX84/kDxw4sEWLFhKDdaVpm08T0A+U6DrMLJKEaWSDmAlHULwQIRKEgOepQMm3oBQza4CyZrDOWMySrVgJQTopobEeSlgDw4SpzYgFaYgBYnBjFhoRM2qEXpHJ4AnOJARrpI7VFaQJEkysMcyJxlaLAmnk6AJWTBOWQWErJjQEzoJJI6QtMNG3YL+AyKbAKx0LSAJWnWMZl/ODmXGeR9yuXbshQwZtWrdy9fKFVSXFYULTJYugJgyngyIFuRU5FPZX5WCytKZMQym/Mj3KW7Ju+YKjuQcnTri2VYtmVtepNlBUZPiN108YPXLY0kXz1q9aroIezfTr0ucQsMCYeyeDiKFyXBWHpp6pkakMX+a2zXO+mFEnIb5d27YbNmz44osvli9fXlZWduTIEbzu3bu3sLDQ6/UWFxc74GNiDdHVGqC0k7oWmmgsic1TYBCfDqcS2zmno0e+SXQ6oLRGmFSDVHZmjfR2pk1wUiwt183qeqi/VuJbPxigb71fni8qFIQQOAYPGTSwb49Oi+d9tW7ZEl9pqW4qhxSaqbOhkdRICVJWrCQpaQhCQbCkMHvh15+tmP/lmKH9e3briHMVWDHsMQslT50Zl6cOLopUTJQYHzNxwnV9enT9csYnyxfNLT2a7ZA+CnoppB9YlW+DoV+SsC9KBb2VJUd3bF4/+4vpdeJj7pl82+HDWU8++eTjjz/+/vvvV1ZW9u3b909/+hO+8vbq1WvZsmWzZs3CoYl+LAGqBaAtLbQCsQ5PAibe6XASZfXr6egV46hzWpyuVjXbUxOnq4L8U4ntHPRSI6w+QpdhVdB3jDToAWQhfdmDmTUNo2UJivvFB++ZfO2IEauXLprz+YxDmTt95SU6mRqbgkyWhs6SlelgJcygt7xwx+bVs2Z+uHfr2onXjZowblR0VAQp68AM+6KDr8XyR/s7NjtTUhJunzTx2jEjt25YPfPT9+H0lRXkmgE/bDCZJmKW5vGEZNOUfk9lacGubRu+mPHxwjlfNG2U+oufPdi5Q7trrrnmf0Nh8uTJTqdTSlm3bt2MjIymTZv6fL7c3FzEsO9Xr7qxogCsNwAXFIIJ5ymsOsw4a5+8yjpuden4j0hTSsMyRYIwrYihguO4cqwMZicMDaA79Pp16t52842TbhhfnJ/9ydQ3Zn31wcaNC7NztlVV5hiBQsNXVFGcl3twz7oVS76c9omeRCEAABAASURBVPGsGZ86KTj5tptuuvG6pJREQv+ZSYCTJogFQx304w2CiZWmiQYNUifddD20lBATvnzhnE+mvLlozhe7t24oyj3kLS3koEd6y/0VxSVHsg/t3rF++eKZH70/58tppq985NAB902+vW3L5pHh4bh5GTRoEL4rdevWDd+V3nnnnU8//fTzzz9fu3ZtSkpK+/bt4YpevaqGfbGBLjJZK4udTpcmHIzbDxbMws4k4hDo9MEmODU+fQ3CPGZWNeG0lU7lX51z2jpE1TRI2D2yYiYBOBxuHVfRkIXscEwhoLDfr5zYkpzjouPGjhrx8EP39OvXce++te9Nfer1d//52pt//+D9Z95+/Yn33nz23ddf+PyTD/KzDgzr3+eR++8bNGhATGwMYRg0jVgjsnYYbDEhc3vl9P3CS8rQBjSqaVpCQuyQQf0fuOfuWyZeHx8dvmLB1++99vwHb7009c0X33v1OTvG6/uvvTB7xseBiuLRQ/r/7MF7brz+2vT0hgIqVSxOCFFRUYcOHcIH7Ndff52Z77///pEjR1bflV74flxOHBlKZQRN11wuZzhbN6m6khrhQKEQ62RdHV75MaEvx4Djgaa5nA63EDghnGhVMLnoxPfLaaDOJAsTWWYizO1q167Z3XdN/NVv7+07pJWfsvceXLlo4ceffvLK5vWLG9SLf+Du2//4m1/eedPEpumNnC63wkrApyiry1b1UAuSLCWEkj/GiBVpkoVUZOJ4g49xutYwrd4114z61S8e/usffjNx3MiM+klZu7fN+PDd6R+8vfDrGQ7TM2ZI///5xc9+9+jPbr/l+hZNGkWGuSxjzVZ03H22dNqqVauHHnrot7/9La5m/va3v02aNCk1NRUrD+1cpZq2em13TSlLG0xCw5c2d5hDd+u6E2kh8FHOIfBVxwISp4N+nOakxOnoka9rrOs1QWOU1oiTmJ/4WiO9nfkNmSac6JcNhyMsLCzC6XCh16euqcvZymDY7PGyY6wFC4SAEiJJQWK/5vZrEd7UJjE9BrUeObZ3374dG6enBPxl8dHuHp07tWvTJiIyWlkLiSUJgFhYTh+YXFU4z86E1jyHdAK1CHBhZo05tU5y7x5db79l4rBB/RJjo2IiXElxMS6h6iTEjR0xePDAvs2bN3ZqAl6yNQ5MxExMJwaXy9WoUaMhQ4YMHTq0Q4cOsbGxobZOJLmq0zA0BJXg47MeFR4TFREXHQ7ERiFG+iIATZwO0RehOZsnunMc0dZ/fsm4nTnVyJCgyzQoItOawdauEPpeRFJaOUGCcVHEmpSap0Rmb8hZumzPnOzgQV9UlSPR2Wdo/0d++UhaatrM6TM//PDjI0eLAsSAYMZ+DR/GYmN32TI3GiHffv1RxpomMANgVnSB9SBIKsu9gVGWMmgENm/d/Orrr63fuH7MNWN/8egvGjfN+Hr2rE9nzMgvLFJKY82lSA/9vQEKWRjFJwQcnjRNQ6zr+PBtJbRQQM5VqmlLkUSCyfppgnQmZDlYd7E7XEREOKKASMR6VMTFgCMqvCag0YvSnNWFyAj9OLQIJzs1xhgLLCxrQmAyENSgERSC32UMSZZlZCbAlhhCaxi9IBllweJ1e1YtWz+/qDxHE364a6l10vr1GnTDuFv+7//9NaNxkynvv//0U0/t3rMbHWRmzHTbpUeamL4B/XjDt9QAl5HIUg4R/I6VK1c+88wza9asGTt27M9+9rPb77j9l7/8ZdNmTd9+5x1ctRw5ki+lAjkR9gEklBBghrcfLdB94Jvu4+U4mKHXHwe+6X8ohY7jKfC7PGHNXMvE4BsIs7QhWMHKsMHBEn/+qt3LN+5dUx4swmVLGDnbpbUa2GlQ/ZhGYXpUz069//DbP3Tt3HnenNnPPvXUujWrA8f/ersQl2+Xf9iBkFJCOaZplpeXz5w584knnsD17b333vvzn/+8cePGTqdz0KBBMDetW7f+6KOPnnvuuczMTGZGFeCHlby29ctcA+e65C5Rd0ImhhATMXx4G4RtkwjXMUc8mcu2fb1+99Iib54pZJgzpkOTnn1bjkiLbOagcE06HQ53xw6dsDyGDR2yYvny5559Zt3atdWODBJUG07RgG0sPB7PZ5999swzz+Tl5d1222233norrldggOAKOxyOXr16Pfjgg/hi/emnn8KjgRkyDAOcalUKJdTidBq4TK0MxFWkJP5Y89eyNpJkUPkDqiqnYu/aPbO2HlhSZRYqoSJc8S0adO3QeGCdsNZhFO+kMI0cQgiHS2/VuuX9D9w/dvToHdu3/+c//1m0aJHP5zNPCFg8KnRMoB9rgAYAqAQxAC/m66+/fuutt2Brbr755okTJ9avXx8OC+5WEAPh4eHdunWDR9OmTZtZs2a98cYb2dnZhmGg7on4saqztt81a0DUnH055Fq2BV/jmS3/xZQiEBQV2WWZK3bM3XxwpY9KpGEkRtTr3Kxv9+ZD6kQ008wIljqungSzVYWVcIi0RmkPPvTADTfckJWVhe+pWBhlZWXMjCVhx5dDR39YGWxVwNDk5+dPmTLlhRdegE154IEHbrnllsTERNhrFNkSQmMADE337t1/85vftG/f/uOPP3755Zf37NkDGpsPCFAFabtKbVyrAWjgMrUyjIMSa0wATkuk2PDJ0n2FWxdv+3pHznqP9Et2pcQ06tF8YPeMgXXCGurKScREuMSBcVKKcTMpJa5zdK6XVn/yXXffddddfr//2WefnTZtWkFBgb0ScAqgH3eAKwe7AKMAl+TVV1995ZVXcP/y0EMPwS6npKRANyA4SUsgBk3Hjh1hiTp16jRjxgzUgqFBPojtGDxR9/JHrYSXRgM/tJUJ2QRCHOouniEoHJdY4Z5WWK/KCErvwfy9a7YvzczZWKGKg+SKjkzr1HJg+wa9Eh31ncolrHth3F6a8HsUm8SShDLIUETMWkrdutiZcU2DE9OLL7744YcfHjlyBEvCBv3oA65gpk6dCkcmOjoatmP48OFRUVGwF1BMjfYCeoO/061bt1/96lcdOnT44osv3nnnHTAxDAPmG6WoWItaDVRr4Ie2MgR7YpKSSkkJIMJXVLI8ERgKmAvJgQou3lm6ccnu2XsLt0mHz8FaenjTfs0GtUvtEqUnCnIRC6suGQy/h5nIhtJZZ+vbPelCi42NHTNmzCOPPIKFhGtLXD1g98aqICKlrIaVUnD78XrVAz2thpRy79697733HkwMPiT94he/GDVqlNvthv8CwGRwKJyoEzsTMQwNTMyjjz7at2/fL7/8El+ddu7cCZWCp82/OoHXEznUpn9sGrgMrAwMDZlE0lJ9yE5gUkollZLEZoVZuCFn+bytM/cV7/ApL5l6k8Tmw9oM65LWNU6PY6VbBgk1rcsYhnUhEmydszSNHRprOgsdfg4Rs/X/wx43bhwuFJo0aTJ16lRcQOBbLFYCoJTC8hDiB9cGXYIAY4r+oiEcIbdu3Yov1jC77dq1+9///d8RI0a4jv8Tk9BYNUBcDWRCUYhhZZCJ2xmcsHr27ImjKL5M2f/spt0EaNAQ1AuyWvyYNfADryucaEKAGIIUMyBJkOWBmJqvROZuObhqw/ZlBYU5OP2Eqej0xLZdWg1uVK95mDOa2SlYE7Arx3GGgcRcx4wPCwvr16/f73//+969e8PPf+qppzZs2BAIBFCRmUGDxMXAZcUTPQ0GgzAEMDG4qFq8eDG08fDDD8PQ2IZDCAGbezYygwmq2IYG56xVq1Y9//zz8GjQBKpDn9A5uCFdix+zBrBIf9juw7AIglWBfVFMyhZGmSpYbORvyF62dvfi/JIDrAIu09kwoVnv1iOaJnZ1iXimMJI6KjOFah2raFevIVa46iHrcARDg1Vx33334UPJ0qVL8YV78+bNWHVYDEANNa+6LA7Z002bNr300kurV6/u378/DpJdunSBvYAG7FIkzqbfOFWBHnHbtm1/+tOfwoIvWbIETuKOHTtgu8EEpdA8cDbcammuVg2IH7hjjNUvFQ5HkAMGA/4E+Q3lKfTkbs5avSZzydHyLEXBcD28bUaH/h2GNUlq5zRjWblJ6YI0qwbBzIRwRkODGU9EiDHvsSpatmyJy+Drr78eH0fg0SxYsKCqqkqdEEB8NcHuGXqEREVFxZw5c/7xj3/A0FxzzTX2X35BPpQDAugHCQDp7wRqgQZVoNKmTZvCdo8cORKG5rHHHoOTCE+n2p0BpZ1GjCq1+FFp4Ie2Mgr3MUqxIgvSgIkhb37V4fWZy9ZuX1pcmc9ChGvRzeu37dqsb8O4pi4Z7lCaIMGEuY2fDWZCAnHN3WFmEQpIAESE24c2bdpgVdx+++0HDx7E3cT06dMrKyvtkwKWBFYIyK4O2N2xY6/Xu3Tp0v/+97+7du0aPXo0PvDD4MJGANAMlIQYOMuO2/SIAbhC8GjAcNiwYWvXrsXn7S1btthqrLYs1Ymz5F9Ldjlq4NxlqnlZnjuf71NDMklTBiTA/iJf7qaDKzYeXFHizSdTROixrRp269l6eFpMCydFCYJ9UTj6nAJkWDc7dBYBqwgAYVpa2s033zxhwoTS0lJcKMDQlJeXYyVgQWLZgOCqAXoEwMTAa4PvVlBQcNttt915550ZGRmwL+gmFAICJM4b4AC0atUK38Lh0dh3NHCXYLhha6BVlNrxeTdRW/EK1cAPbWXghJApyRBCmezPL89el7l8476VRTJbaYEoZ0y7jO492wyrG9HMoWKFcgjBSpiEr9zwgY4BRkcSMSn0xWJH3xUw12FEsLqA5OTkO0LB4XC8+OKLn3zyif2/QPyeS+67RLik5egL+ltcXPzZZ589/vjjRUVF8OBgZRo1aoSVD1EQgwYx0ucNcEArYALLhYsefK5auHAhPm+vX78+GAwiH5yhcJAhUYsflQawMi9NfxWuXk+ENdsUMkkoWA4VkN4D+ZnLN83ftm9Dqb9Q6maUO6Zzi57dWvZNiWigq3BhaixZKoMFbIptWZCwcW5dwGLA7oo6MhQSEhJgZ3BNEx8fj2+6uLzcu3evgmxwj/AIAcSXH6AEKBCQhIsthW/6ltDVuSHBrQiSl5SUvPfee1jzOBXiw/OkSZPq1KmDfAA6QPz9gZbABNyg3tTUVHg0cBLXrVuHz1jr1q0NBPyGEQQBMa7iQAtY93F4nAIrH7q3iGt/V4UGLpWVqZ7/dHwVWIuC2GQt4FYkD5fvWrpv5qaCJcUyR1OOFD29a+MRXRsPiXPWdZBurSKNcNvLmiZZIws6sQ0NBUSMPxbouwMz2Gh2jCUBREZG4kPsT37yExiaqVOnwtYcOHAArj7WjA2shO/m+wNQQJkmWX/bCDEUainXNjkmmQEZDCoVVFRQUPzee+8joEcwphMnTkxJSUH3IS+cCwAaAOwcZJ4fwAGAS4gYdzRNmjTBV6dx48Zt3brlxeef2bh+NUYZp+KgJBgbZUlqSBlQMkhQLvoBu4JJAlspA6R8Skk6PznKpi0EAAAQAElEQVRqa11+GrhUVoaYjkNKMpVSzIaUpqAKzZNZtHfR5iV7cveYZOjkrB/XoHeb/p2b9YhyJpJykLIsAiGAB+LjfKg6gXwbdM4hJAgqU3h4+KBBg37729/iOzcuaJ555pmNm7Zg4QKKWGENnIBzbuYiVoDwGESYWoEUkxIkBZlIOAQJGTx88MBLL734+uuvwZL+/ve/x2e16OhoiAObAiBx8ZCamooPWNddd92Wbdv+8a/HFi1ehus3ZmKGT2pNAcGWX2MahpJKmswkFAqFINaoNlxFGhCXqi9MdAzMmGSs8C5EWVXF9txtXy75fOf+nQG/6Qi602LTuzfv2yGte6yeyKwL5SSlS6wdOhaEtQ2i9rHX7/mAMLahQULX9V69emEp4k5h3rx5Tz755MKFi/x+//ds4kJXR99xTrS4Kpg/6wApJGKGYpiRRQqKJtMgJffu3fPKSy9+8MGUBg0awIsZNWqU0+lEfwH0FzFgMboIP7hIYF63bt0775w8fsKNh7LznnvhxfkLF1VWVgmpzGDQ6/FWlJVVVVYE/D7TgLQKUqBjphKSdIXu4L0WV4UGLpmVCWnLmv4Ea6NM8+iR/NUrV3728Qev/feprz74cN3c5TuWbC3MLE4Lz2iS2C6a6+omPlq7HAxfhgUqAoSAuQggcWGAxQZGiKWUtqvftm1b3Fxcc801+BD7t7/9DYbG6/WB5nKDgh5hZQBmLE7AZJJMimBu4AtoO3dkvvDCK9NmfNmxU9df/vKXAwcOxPd7dBMdQX+VUkhcPNj8EeND3l1333f7HZMP7D/w3DNPL1+8YMvGtV9M//T1l55/+vHHnn3yiddfefHzzz7esXlDeUkRRCcWMDRk9Y5qw9WhgUtkZXDuAExTGoHA0dzseV/PeOXZJ576x//O/uTD4L7sBjKqni/CmWPuXbR7zrvz53y8cP+OXH+lCZ9HWp415uoxG4MHcGFVL+CiE8HEMDNieDS4U7jnnnvGjhl1JC/n5ZdeWLJ4YWVFhYFbDgnP3oI8HiDZhRXmO7nBOEiJZhUhBWqoFUfQUBwIGGUV3pKSioKjhZvWb3rqqWe/+mp22w4d7n3gwe49ekRERIAcHUQ3TwQyLzjAXyllxw6Ho17dujdOGH/dmJF7d2x+7ol/Pfb//vjBG69sWLboQObWAzs2r1sy/6O3Xnn6n/839Y1Xt29YX1JUoKRhGgZu6KtxwSWsZXgpNSAuTWNKWZeSnvKSVcsWvv3yf2dOfdtTeGh4z3b33TD217fc9Ze7fvaXux753aSf/uS6O1PDE1fMWfDiM0/P/PSj/OwsfH9iHN5DS0oxhLV+eFwoYCWAFWIACRVaG/D209MbPfTgfT/7yQM5WQefeeo/n370QV5OVmVZScDnMY0gyKqBWpcSShGsClqEACRx0DBkMBD0Vhzam7lw7uwP33vntRefffHpJ/77n38vnz/Hrck2LZrERYUHAwF0EFVgZVAXwCuAxMUAGgLQVqgJxdKsKMoP12RafGR6YmTPNhm3jx/50B0TH7n71p9OvuWh22+8bfzITs3S9mxc9eJT//r4vbd279xqBPyoC0hp+ZgXQ8hanpdMA5fIymC6eCrKF8yZ9cpzTxXlHBzRr+u9N465dmC33u0aN2uYWj8hLj05qUvzZsN6dL3lmmHXj+qfEqO+nvnBu2+/WnDksFIGCYWzgKUUuPkKbvUFtjUW59APc9qGkmaEU2/XqnnTxg22b9rw/DNPPvXYP99+45UZn3y4etXKgoICwzCwkIBQvUsXQZP4QhayNRKtqqCvMPfQ5x9PeeGJf3727su71i7w5R+IlhWt6sbcPLJ/3/ZNsnesfempf7791pt79uwJBoPSNlGoeZEBE2MrJxAIbFy78u1Xnj+wY9MdN4y7/9brb7lmyMCubVqmJaYnRTVJiWndIHlgp1YTRw+aPHFch+aNN65c8s4rL+3Ysc2WFhb/Iktay/6ia+DiWRkV8j/sDqhg0L948cL33nmracO0G8eN7N25Tb1Yd6zTcJjlQeGVTkNpQWlUOtibHM2dWtedeG3fIf07r1m99L133iguKVAKK8oyMCF2SISeFyYCN6xZXGdAXmWvjYqK8iWLF//3mSefeeKxkqNHunVu37p5k/KSwg1rVn445d1//O3/Hvv3v2fPnlVZWamUXT30uDDyfAcXOHS2ZjXBMug/uG83rjc+ef+tMGFcM6j75PFD7xw3+JZRfSdfN+TeG0b84o7rJ43pn54SPX/enP88/vjGjRtOuMy2JA99N/uOFs+j2DKFDBcUTdC2rVvfef3VguxDE8YMH96/R5N6CTFO5TCqwigQRn6H6XFTwC0CMW5umBI3duiACWNGlBbkvfX66zCL4BPScGh07MiKz0OiH0+Vy7GnF9LKYE7ZILLOR1Ka0jSUxOHa2LVj8ycfvNGiQZ2Jo4Zk1E0O1xmLREklWGcKKOljMoSOaxFcZhrC9MeGa0P7dh3Wp8vyRbPnz/nK66k0TUOClQxKZYDoAulSSWkoZUqlAqaUzF6fN3PHlo/ffWXKK09l71rfu13GL+68/k8P3v6He2/+3eSJD99y7UM3jR3Rra0nZ++Ul5599dn/bN20xuetkuAiTUNJdP8CCXZaNlIqUypDGoGAZ8v61W+88Exh1t4JIwbdNXFc/86tm9SJT4lyJUQ44sK05EhnenJsjxbN7hw3/M5rBrn8Ja//94lF82Z5qiqDwYBSUppBssz3ads6twJ0/hvAEko4oMVH876e+Rl5ym6bMLZT88ZxLhEmlJAGvoUphUgTQjclJJEkgy5dRepG11aNJwzrW5i154O338jJOgCWJpFJSkFUaZDEG/LOTbQflloRJkbNIKyUqwAYGowJcLKikQX/gC6klfl2E9h0sWyVInXkSN7bb7+qs++64f1S46PC2BSYLCxMzSVJw5dVlyKhQqYDlQjWxqEr3a3M4X2692jb6v03Xl+xbIlpBk10htGIwu9CgZn8fq/CPBDCHwwuW7Lwv//5+7bViwZ2a/XoA7fdMX7kwE4t2qXGp8e6sETa1I/r3Tr9tjGDHr1r4s1jBh09sOu5x/81D0bQWykxXyzZLpRcp+UjBBtYcKaxcuniF599IlBRdO9tEwf37pIcFeaSpq6kQF+gKIE1TPj45CSO08XADk3vv2lsWkL4u6++MOfrz4NBX9DwC42JT9vQ9yqAQg3DCAamf/zhnq2bxgzu17llk0gH6zCPJsQXrLmD5AxIR0A5lOaSmkMSfJ+gpoKRQnZr2WTC8IFbVi+d/vFHPr83aFkZCIq5JKHm7yVYbeUfQgMX0spgItiwOsKCGRNeBnzeRfPn7dy68Zrhg9PqJGMfUxLTxnJ8YS0U5hZZ6VAVwhuTEmRqynSRjHU6Rg7snxQZ8fX06eVFJRoJCTPEOl24ICU7nREkWfr9a5cv/fjdt8LInHjNmOH9+tRLSnA7dGvNQixFpikN05CmoZNZLzGmb9cON48fm14/6d3XXp7z9ReG38sSa+DCSXY6Tkrpyszav+eDd96Mdmp33Hxjelo9jZVGkqBNEpI0wCTNZA3mHIDT4GIzLSXu9huua92s0fSPpmzbtBHDEzTgw2HETtfS98hnYsG7d2ybN+vLdq1btG3Z1KWRGQxIgifjCJLuMSgAnQvNIOU3TKkIFUgxE8E2uRx6j47tRvbvvX75kj3btmoKppMIOyJ6acVIX0lgEqeD1SkSV3zMgpgsUM1B1Jx9nrmYLDYsttaaEyI/L2fhnK+bpaV2bNEsTCOH41gR6CRZS8JaDIyFAW/GapUVFgVmlelQRphQ9eNjRw8eUJybs33zJoXJqDRlTTW2SC/AD3wENn6Ykpx9+778cGpShPOO68e1bFQ/Qmc4WZqSLISJnVkICS9CaLquuTTsv0Gn8jdKib9m6MAWjVLh269evkQGA9UG8wKIdhoWTMrwVS6e85Wn5Oj114xITcLZSLkFcoOCoENNkW6SwyTdYEAYDPNj6KbfpQKJkY5rhvSLdvKsmdNKi4pIoQ1oAPF54ExVlKKA1ztv1lfS7+nWsU10mA4rLgSZig1yVARkVt7RdZu3Llm5es36jbsPHCirrILBU6F5qgm4YTLGqQ/s0SU+3Llx1cqgx8MKRybMHI0I4DO1feWUKcLQXCXA+BCZZE0pdMsGRgIjhVEj64e3CwerAesHzorwPXLX1s2FR3JHDOwXpQunRobPOp6YTFVBo9IPmJU+6Q0qQ2mm0iRqEmpiuViGRjeDMEyd27RMTY7fvG6dr8rDjDXPF05acBJKcXlx4WdT3/EU5Y3q1zO9bmK4RrppaKZJpiQWkrWg0IOkBRWbCvuSYhlwELytYIPkuHHDBqUlx3/x6cf45q1wxSAlmKpQqE7gzU7bMV5BaMfIORuAGEAtUvLA7l2b1qwc0q9nRmodhwyogA/r16HBvrApRZUvpNWArPAHPUHDsAwl6xo7lGUZ0xJjhvTufmjvzpXLl5mmxNqubh38q4FMO43EWQMzzRo/60eUm52zYvmSPt07Z9RPdrABCUmIIIu84rKZs+Y/9/IbL7/x9rtTP3zj3fdfe+OtRUuW+gJBYhK4M5YYenKxkRIT0bpp+vo1K0oLCxnSkFJwKkHEhIAMAImTgEzgpMxL/AoBvg2o2ZTqJBhSGWbNME1VI05Hj/wa6e1MlNYIu7TGuEZ6O/MUemuRYNKbCnu1sjqllAyZm2+0fqGtDGYCYJk0qw0jGDywd0/95ISmafUcymTDEJowFOUUFH72xayX33z3xdfffe3dDzDt9mTleALSkJpiYVocGDLjp5EZHxOZ0TDt4N7dpcWFmIXiworMpMzgkvnzViycO7BnlxaN6rvIFNJgJTVmJlyCiJzCkqz84uzCkpyjRTn5BaXl5Qw5lNTZdKpgWp2EMYMHeEsK1y9f5vf5VCiYJjqhoILQmxVJiTOZPy8vLzc3t7i4GK92KeLvBOqDHjFQVVk5f87sgLeyc7tWuER3kukU1v4ulTIVH8zJm/LJtJfefPuF19586bU3P//yq6OF+EKHBcoaC12abjI6tMyIDXfN/urLo0ePooOnto5WIL/d4qmlZ8zB9LLGHhx27dzh91S2a9k02q0JZSBHsVbuC345f/Eb73+UX1LSqXPn0WPHDB05KqN5C4OUxxcg6JtYIxZKChUMc1DDtLolRQUHD+63ZsTxmQtWtgxInAjIDFQX2YkfPMbaM1TQb/o8/spKb3mFt6zCipGwUOkrv3JR5Suv8ld4fBXeAHwGn5JY2VIp26P5luIv6JK15oK1tNCC9WDh9XpysrOaZTSKDHNrijg0UZTuyD5a9NHM2e99/PW8JavnLF751gef/felN1au31zlx94Lp4aVEJJYCmFKE5cOqfVSKsuLcg4fIiXBBPwvFGBk8o8cmf3ljMZpdbp1aBXhYmUGFGOmCwV1kZ5XWPzG1I//32NP/++/n/jb4089+eyL85euLKv0WK7ufgAAEABJREFUwYoIgfVghmnUPL1hs0ZpKxcvOpKXx4z7GWmLhzVgJzD7Dx8+/OGHH/7lL3/57W9/+8ILL2RnZ6NUiHPTP5hnHTq0euXKZhkZyQkJEFGQAguoVpHwE+/Yf+D19z79YNpXi5avXr5q7YYNmyvLK+AhmqxLOAoEe2TCxHRp1zZz27a9u3aFBsSWkcAcIkkp7XfIhhy8ItPO+Y7YGn2yIkVwoQ4c2BcTEd6wfopm+liZGNCgouwjRV/MWVRSGejTt9+ggQM6dGzfqVu3/oMGt+/YOTwykkIS2j0iMGKZmBDndjt37NjKrNA6YoUCCIRSvH8bEBj4dt4P/AZJMfSeYGWFv6zcV1ruK6vwlVUGykOoqApUeLBKa0C5x18jTkeP/Brp7UyU1gi7tMa4Rno78xv6SvTFW1phoQS2JmD4lDKsGY2PDmSNV7X2MUWr0xckcYy79WAqLy2pLC9LS8X1JIXmCUnGyZw9hqzwBSITEgcOH33DpMmde/bbvGv/B5/O2LXvIJa4EvjioBmKldCErhtmMD4+hsnMzclCN7imGXbeoitpbtuy6cC+zEH9e0ZFOASb+PIiCUJCM4KEXuU31m7avnLD9oogRcYlh0XHBcnhMyGbE31kaWq4qBbUoUXzIzlZ69evlxJdZHu6Y5JhoSI+cuTIW2+99dJLL6G0QYMGERERmHxnLzM4AKBH9V2ZmYWFRS1atNAY2z7yIAVWHm5khEHkMYwyny8lrf4Nt0y6594HRo0anRSfyIQip4kzE7FQSmfVJL2hznL71q2GgUpkBzTBzEgHQsHvh8m3SpGPzO8EhiUEK/L7g0fyjzRumBbmFBpMDARkDSMLZ/BgTkFsQlzLli09lWXz5sz5dPqMeQsXHSkotLpBZDWvCFMF3qIkioqNSUiMz9ydqcgkMCFFhGxCgFTQBuJq4BXAK0ovE2CUfX5/pa/Sa3iCFDBF0OSgQYEQ/IbymzUjYKoacTp65NdIb2eitEbYpTXGNdLbmd/QKw5KsgBpA4bP660KBGFoMFJQP0aKrOEKPbGWkPV9oezwDVuLt5JUVeUN+H1RYW63bn8YsvJJMWsOE3uw5khv2qRvv143XH99j169t+zYvWHL9kqPjxhSgQa3mMwCK1ZFRrg1wUVFBUrChzg2z85baFtYKyaFXXd35o6GqXVaNk3XQlOZmEwpiVkqZUr4+pbFiYqJGjhk6O13Tr5z8l29+vSLjI4lTTfRB4ELB9PtEGl1kxJjozesW+PzeZRCDxkBTJDGVNu9e/f06dPbtGkDRwaYPHlyWloa5Ecp4u8EWAFSSq/Xu2d3ZkSYK61eHaeGJamwICXBxCDNUA1OeqSzKzwS3kGXrl07dewUHRXNsC3ojkUGxRJLmZIY3zQ9/fChQ1WVVWgdYthAEwcPHvzss8+ee+65l19+ecmSJZWVlSgCzVlCEQGGGSwrK02pk+RyaKRMEkIJOKeiwuORSoa5XdHRUfiafjgra/GS5e9PnYZL4CqPBxXhqoQYIMnE7Ha7IiLC83JzCJMJBQr5yGaIBFFhDLOzs+Ek2jh06BCOotD2WYp6YckgeQiQkpiI4SQrGTQCXr/HtExGUJKhAGEqDFQIxOaVDawXdASdIsOQQU/A5wv4TKwdOhYwWgBerGmHxwUC5rymEEyJBSpJBAwK+AJRDtYEmdh62RQU1JXhNHHTiwsFM9Llr+8qS493dG7bNiD1fTkFpV4/1qgmrYgwqwyfU/ldGukOZ1m5V5qkCc2ayN9PYgXOIQ5ev/9g1sFGaXViw3WHpQysWOEUjFtVXcedr4EPHkwUDAQL844cyT5Ukn/Yhc9NJEkaQmgGrlsFpoo/PsrZNC3p8L7M0qIC0wiCvVQQH1WJlHk461BhYWGjRo3Kysp27NhRWlqKxuUJ44HXM0MIwcxer7cgP69JalJSOOuBcg1GEjKwU8EUU9CtmZDKJK2sKrh9x56tm7ccOngwgDOnYMEeJYKGIJPZqasIXbVo3KAgN6eirAximLCX0IhSsCnTpk177733vvzyy9dff/1vf/vbqlWrUHJm2exS1pjwB/oikmbQU1GWEBuDhmFWmAVa0AXFRoS7hPBVVZqG0SSj+XU3TOzYpbcUjpJKj89QkE0ymUKa8L0ooLER4dBi3G5PWbkZMMAbfCTsqrIbpG3btj366KN3HQ/33Xffk08+CQ2jR2cp8zFGF+ghMS+Py0ZkKja8siJAVUykkwZopGkKgH8HaIJOByGoRpyOHvk10tuZKK0RdmmNcY30duY39BwSUmMMPJaENJzSYwYD1qwWRBohsCKWeOId8fkDw4lBRX2sAcKPBSa89WQ8CUUgcDvd0kR7oCImDAUSeGpIQQTr47DDSawTC38wEAgG8KWGpUJlUDOTUpJZSKkM2BhmpUzU/57gUFBSeSqrvBUVjVLTdE0TAlqBUKEY7UJGQtp64OQ3a86cZ55++v0pU/bt22sEg0QMkcCG0CMpnQ69WZMm5WWl2YcOaZqlYgYHS3KQmWWlOMf4li1b9ve///2RRx75zW9+s3LlSlRktpgjcWYwW2TMbJpmSXFJfFyM2+W09GKNKKqGSolM09A0h5S8b9+Bt99844X/PvP15zMKC/IZtgXdQoUQrVLK5dCTkhKrvB6f32flgXUIuq53794dxgUmZuTIkTCIW7ZsCQQCoDkrWIJYhJgEGDLCylJMzGiZlamzSq2T1Lplo4L8wtWrVnp8vsSE5IT4OCUJsxCwauLHRJBYYdAZs0DTdWlKiflDBNuNQuuJFFFkZCSkHThwIGJN0yAqzLfb7WYOUdFlECAIQwXo0DFYGfRNmq6aUN2xYz3C+7EUHt8MLl7OD5i1qCgRsGFh+I/BmhOaw6U73H5DGiYMvQIZEcwEvEZNsUa6k4TLT46A0g5m5zBzbHS0E1ueZUck2KKCIhBz0FSGqcLDcUEItsimCxIgsgGr5vEmJcQLcFXWWpRsLUoTSwOiWvPBaio2LnLAgAGTbrt92MhRCYlJmNPMJNgKEEjTLbMSFx9fUVlRXlGB3FA9JjugJ6TQVuvWrX/6058OGzYMDsLMmTPt/1+CTXI2MdiCidfnC4uIYs1B2A6talYr1o9IheazUrJZ44Y3Trj27tsnDR7YNzE2yjLnlkCgAuCGEWlaWHik3x/wenGQxmnGmgZgjiXavn37pKQkLFefzxcfH5+SkiKEVWo19V0/Pk4gNM0ZFoZDkAmZWBMkNWVdYNVLSbh21Iim6fXnzpnz+htvvv/+e2tXLXdqpttSIBQv0QnwUJCWNUkcNEwIGRUVBfMnGLkoYRAA0EazZs0eeuihX/7yl/fccw/krFevHnQLSrsUcS0uEw2c7QQ6g7hCCAy5UipoGB6vP+APSmnC58CSDQsPd4SFl1RUmZgh1gxiTBOy0ljEHAyaPl+wuNK3fPW6JUuWJMbFNkqtGx0ZhjJiJqZQDZJKeP1GQFJsQgIzf3+JIarFGg+l/F6v4Q+EudwO3YEMYsJkN61YSIYpZEjBpFxOR9OmTQYMHNi1e886derqukNKbLRgg14qZlBRRHi4ktahQ6L7EF2F8pXCkouJicFSwV1Mr169OnTo4HQ6sYyDwWP/sr/F5Yw/S7DjBA6Hw5DsDxpCdxDBNjKassGClTQdguOiI3t26TCwT88OrVvgEkeZBkEWBUpL/1LB65E++IxCaA4dF8CeUIDPgjRuOh5//HF4W1999VVGRgYso37sTu24BN/1ZGIhRFhYRFFxqYEDjqajBhwZIYNRYc6+vbrePfnWTh3aFRQUZO7a6WI5qG+Pju1ahzsdghQoCWMACM1Uwm+Y5VVV8YmJmgOjQ4weEkl4a8xEhFZgFhHn5OTAkcG1V6dOnRwOBzOj9AoBRD0nXCHd+raY33/NWvww8F6vd8H8BY8/8cTrb7xeWFCgTCxVioiIdIdHHCkoViyIQ/ODSGPGvHMJ4S0vmz977iuvvv7OO+94Ksp6dO7QulnjCKfuwGpRCs4MJlDQMIXDWVpRSUJPTEpmq0jSseloNX0eP2aurgWvBGmG24IWJTjjjSAqWQFZJinDgelvGCWFR3G9gtvGwqIiw4CBgG0lhjW1Fq0JwXABYlUigtgSS5msUsIrUYO0BrGxsRvwYXmzFbBusYDDw8NRHQRnAxmSDZyjomNKyyvg2UnIzLAyRExWUApiwhEMcwi3gyNdephTuJ26gJhWM8wWHYPSlFIJUVhc4o6I0HUHBMJd77PPPvvKK6/gGhXWEMu1Z8+euEXCfery5csxsqj13VC2jbBihyssISHhwOFsX9BQMIVWEcSTugrGhrt6de10+y033XfP5HvvuvPeybdOuuG6zu1bh7udrCRaQX1FbMImsl7l9cFUNUpvjOkkpQz1ARcbGrNlyBCboYAtCjdK/fr1S0xMtDhYzeF5UaCUgiRKQSKrbaTxQAyc2B4I4Blb8emFQYlpSjsOBILwK30+P16JMEwspQoGDWR6PF4kkI8cxDbPU2OIEQwFbBXQjJTgrIisRSellUYV5Ns5+ICIBHIQAzIU8FoNZCINnihBwn5FAkD6VHwjGFzqU5anOLXCeeRAmt27d2OaPv/CC6+88mr24SyyZoyKiIhMTqm//3CuN2BIRdjVkS+UmRIfN6hPz/bNM4JVZUVHjzSon3LzhGvGDO3frGFdt6aUNEjogjVpmE6XO2jK/IJihzssNa2hEHD/pTUK5yHlt6tA44DT5XS4nB6vJ2gEdV2HfrDdW2tXKaEkK9PJsm5iTEyYvn7Vivfeen3Ke+8uW7oUn2ZCc8gaQnAFHyllRUUljk7R0dHQODKrgQWBD88TJkwoKCh4/vnnd+3aNW7cuGuvvRb7sFLWPKimPEMCTYA4IiIiISExKyfX4w9KuAlsTUebBVJOodLqJA7u161z25YRLk1jS1EoVQT7A94gAaBCBzzOnPwjsQkJcDZhRPBpprCwEO4VepGcnHzrrbf+4he/+MlPfsLMuAbGfSoqnwVCTUGDREKIhumNc3LyCotK8XFFwtAQM8Eu4twUjHRyap2ENs0zurRv1bldq6bpafExkU6dLAJCfbbMie6AI1NSWo4NplXrNkLXmGGFFLNtNfEGcsIjMzNz7ty5TZs2hSPjcrmIrEzk08UMGAs0AaARdBYxchCfO3DXTdJUmbv2TJ8249NPpuVk5wrMfFMZQXPbth0ff/Tp5zO/OHgwC6+kBBOjCbQLIAGgdTSN12AwuHr16l27dmExAihCJoqqE/YrinDdBkqPx4MiEABgomkaYtBUZyKhadZVABKgQYxXmwDpc8L3tTJoHnJjgmI6lpaWJSYmY9ZishJb6ggPd6c2bLj3QFZeQRFcEswgaNQhKL1+yqQJ4x65946fTJ704N133HvnreNGDm7VJC0Ok40lOqAYn28sO68k/vC+A4eSU+rCl8Gq5OM9B9l5A2IDUKvT7XaGh+UXFQrNUgWEhonBlQBsnQYrY16f1n0AABAASURBVAbqJMXdPGHcPXfcPGxQv57dOnfp1L5+/ToOp0OakjHvFeY9Iw0UFxfBCuAuAwtBgruCdAp6EJqWnJJ89913//rXvx4/fjxW78MPP9y8eXMhBDiA6DsBZjYNDFOjxuk5efmFJWWmIqHphJVLkBo/pSmjddP0++68dczwgdHhLo0tfZuEox/I0DuQhcBcUVm1K3N3vfqp8QkJXbta/yrw7373O0gFE4PdoqSkhAhXNxrEQ9PWaOL9bABtKIIo6Fnjps2wPezZdyBgKpN1yQL5TLigMRxkuNgIEzJcpzAHOzXSGQYdNRVsN1mGRhimUkLLyc2DljIymkhTgafCXAAJKI7DMIwZM2bs27evR48ejRs3tpeB+jbNcdoL87SZ27EJV0RaQw0xIOe5NqAUO3TrfKcUBQKBBQsWPvPMs4jhuTALj8c7f978559/cfHiJUbQ0G3KUBtSWo1idAAppY7dkaiiogI+3Zo1a2BuoAcQoggEAKSFeIghMACfGna5qqoKNDZACaAIAD2q28SIURE0doxuIgev5wpxrhVOoodMkA+n4qVLl/bo2SPN+msgHFo9mFdKd+jNW7YylFq/cZPEyQLrlpUyAk4h6yZEt0pv0K5Z4+aNGzSql5IUExET5tCkoZHENMOPNXgGmiHNvfsP7jtwsHXbdrFxcUqhNRSeJMU5v6pQgPDOMHdsYsK+gwcCBsRUTCSUEkSaInRDKBnpdnZp33bkkIFjRw4bO3rk8MGDunbuHOYOExoKTQ4FYoIrtG/f/tjYONxBYnFDA1gVllhKgQRdwfVk7969R40a1adPn7p166J95KMzFs1Z/EAMKgx282Yt4CHu2btPCE0qSAltKfwAOC/hDk6tm5iakhTmhICsiCW6ImA5UdsCdMdCHDqcVVpW2rR5M2coJCYmxoUCdog33njjP//5zz/+8Y+XXnoJsw0+F84+Vs2z+imbCn3PaJzRpGmzdRs2VVR6TArZbbKssiAYGlNXhk5BTRmw0EKa2HsYByK7MkH9zELH1+3tmbtbtmqTlJRMVlXozBp+qNcmxPv+/fsx8SIjI7t164bY1ifybYKLEdsDgRht7dmzB1/TsVyFENVSnX2jkNPAhYAQuEtq0qRJ167dMAhLly7Lzz8qpQJbvz8Q8Pvr1aufnp4OtoFAEDmGYf0VCimtvzwVCATsBDLDwsJhatu37+ByupAPwGQgtg9HwSDq+iE2+LRr165//wFQFwQAAQY9EEC5gSKMOFIejweUMF4Bq30/mCMBbsgEzXkAI3rOtdAxACLayM/Px37i8/n69esbGQaXFXsXYzYrSVgFDTMat+zYdcXazYdyjgZMnR0RmtA06XdrQadLOt2amx1uYrcgIQ0mzSTdFM6gJkjXTBalXvnVwuXkiujUtZvQhInFREzfO0BfADi5XM4G6Q33QbhSj2In5rqA+JjMrEzFQncKpVy6iA5zR4W5ItzuqMgotzuCmDWBiaUQmdhnNUe519yfk9+oSfO4pBRFtoTKejAiwcIKmExOpxMpjCXAbGWfTVdACTLEUDiuSxpnNNu9P6vUB305iYSQpoY5zkyMY6aAj+Bkv6CgYqmIsDxJKYmHwmklQCro9QU279gdk1S/ZbtODDk0jUNBKYVZjs80EPLIkSMNGjSA8wUrg/sjOqvARALtMYQhGR0XM2rsdZkHcjbuzPKb8Eyt2aApGBdTsCmJg0oPEJsCn99NhQ5ohHkMxevYmU3lC8gdmftyjhR16z0gIjYBcpJiEZLTlgXSYhJineO4h9XVqlUrqDdUbkU2zTnF4AYBsKLsBPjXCPAEAWKsRvgOf//733GriF22pKwEO41dRaJ/oPguYPKwMKXE9iZdLlebNm2HDx91OCt3y+YdAZ+/tLgkDLkOl0t3uByOvJzcVcuXr121ZvPGbUUFJbmHj6xYugrIy85HzuFDuVXlHo0cDnb6PYHMHXuWL1m5Z+deJDas3XRoX9bObZnr12xEraDX9FcFdXaoIJUXV25at2X1irXzZs/fsWVnVZm3otSzbdOOjes279qxp7iwFNXXrFx3YO+hzRu37s3cbwbRJcbvXCHOtQLorWFkqzEpJUZl5cqV69evHzJkSP169cwgrq9UICglrjWUxASOiY0bO/4GLSJ62pdzqwzd68cGKwQrTRgkzICyLCizqSjIQhJhZVpziUiy0D2GmL9iw4ZdB3oNHp7WKJ0E67qmrKat1iHJ+YGZBUTAg9jp0Fu0al1U4d2wNdMfhNXQNbSPdaDIZF0xXC/rr+SHlocUlniKFBLMUsKbIVIOp8tQYsf+Q4UVvk7dejqcbkgF9mCDFgA6tjrYDkJYOrfTiEF8lgAx6sYlxI8cMzY7v3jTzv1+KUysPYiFmWoqkxwm6VCNIEmMHxFbbUNIWBxLycqAf7jnUPa2PYdGjp3QsFG6OC4lrA34Y1YPHjz4t7/97RNPPPF///d/1113XZ06daSUdFZBEGvESrBE4w5NdO/Vu1vvwfOWrNl7KIcdLigdixDaAzNFQgkNAD1DYoAI9kUp4fcGMHl2Hzj80Yyv0jKad+jSQ3M4FRN6IjQoALW/AYzLX//6VxxCISdyUczoshBInytQEeLhFnndunW48z4DVqxYgVJMezgySOOTHMzx0089jdNKeUU5mBCfVeOwL8ym0KTQLHqHw9G3T7+GDRvPnTs/53D2kdy8hLj4yHC3GQwa/mDBkfxdO3auX7Ph7Tff3bfnQHlZ1YL5i194/uVVK9eWFpcL0oM+c9H8JTOnf1FWUpmTlff8sy/On7uopLDs3bfe/3zGV4X5xV/O/Hr+nIWeSt+Obbvee3tKbnZ+1sHs7Vt3otazTz23bs0Gvzf46Uefvf/u1L2796OVVSvW7tt78PnnXlqyePmaVetXLF9t4o7tLPtG3wrnOR4YEpuNz+eDrnNzc9euXfv000/jYuno0aMff/wxjsoggMYx8JgK198yaf3OzMVrN3hIBKARk02TSTGaNwWSpsJ6IUMIUyiDgz4R9Acl7z5cMGvR8raduo8eOw4XKOBm1TmvfkKYU6GQJWBl2jdt2Wbh0pWF5ZWGZEOSVIpZwMAQKBTMCh5SkGJlspJCmQKihlaxIvYGpSdoZu49WCetQefOXcDyggMdtwFlul3hHbv3qNcwfdGK1TCOJuNQSZat0TRFgK7IAmEZhxLSsjuMo6hhSOkIK6pSyzbudEUnDhg4KMLlhMmvlhZjCoOCGN/dk5KS4Ndg3iMHjVbTnGWCmYg5Ki7+hok3QcJlazYcLfN6MLCkSw0f4Ekja6Ad0nCYSjcVDlRMDA9ACqd0uHKLy2fOWVhpqLHXT4xLTpJMoaCITECFNI8cCIajxIgRI3AECFkoECD7PAFHhpmzsrJgXmE1Hj19sEthi7/44gtYJVycY/K/+dabf/rTn1544YV9e/fS2QmC5oiwW0nDCAJKyeSUpO7du23atOHrr2aZhoyMiDJNJYR1rVa3bv2MjKaRUZFZ2Vm4E2/SrMnYa8bCyVm8ZHFGk4z6qfUTExOio6OwHnE5mJKSHB4elpSU2KxZM5fLqWmiTZvWyMzLy3U49Hr16lVUlDNTvXp1W7duVVJSXL9+vW7duhYVFc6YMT0zc1dW1qF9+/ftP7A/OjZa6CIxKXHosKGdu3TW9JA5pHMOWObnXEeFgl3N4XDgInPQoEGYlDjOBQIBjBYSiJktDYLM5Xb3GzK826Bhs5evWr5hW1FlwNTcQg9XSmMLzMREjJVtwH9UrDnD4FXsOJD9wedzopJTJ919b3xSCguhaUJJxeLsxpDONsTEJY6+9vrygLlgxdoSLxx5FxYt2rBkImLIRbAsEiZGI6mRoVFAoyCRlMRYQgbrm+GaHszuP3hYYlISEQkhQhoCD7xdAHAoHGMkRFRMwqhrJxzIzlu0fE1RhU9qTiV0A3pRxJIIegxBKEZaSNibkJZ1vSKoLd+yZ+XW/YPHXFcvrYEuiJU6xhb1lEI7mqZBfiTsGAn0pZrmjAmwUkwEEJIswLJpmzajr71u655Dn81amFviNfTwoNRMGBlSOpm6kg4JwyMEFKw0QzkMzXW4sPzzBUtzSysn3nlP83btlcWHrGD1TVabGAgGQEgtFJDAq0V2vj9UBzCBK/CxEMbjNCgPBRSCLBgMmqap6zpU5PP6SktLcdJEOUzz2UiB5kJkmNg6TlslJSU+n7dz5w6wC4uXLk2pU0/THVYLUvn8gdlz5i5btiIsIjwiMgLE0HKjxo369uu778C+1WtX+4N+RVJ3YJuRphlUGACm2LhYd5hTkUQVFhgW5Xa7hMaA0+WQ0gwLd+/Zu7ugsGDM2DF16qZUVlaY0kxKTurdt8+vf/vrocOHOmGhdA22rEGjBu06tGNNgEtI5nOLMBXOrQKooVMACSGEy+W65ppr/vWvf/3nP//5y1/+0qtXr6ZNm95yyy0ZGRlQoqZZxo9BFh510533ZLTpNHPeki8WLttz+GhFkANKl/jCIJ0sHcp0mNIt9ehKDjtU6pu9etP7M2eTO+6uBx9u3LQlC40Uh5aEIoUpjMYvGDRN69G734Dho1Zv3rEpc39FQJrsxFlKokGsU0XoCBYMkjAsrCQ0DWMoiTGYAXbs2Jc1c86CpLRGXXr2cTidEAv0NpC+IPg2N4Wjeut2HceMv2HRqnXzlq8+WuH1Kt0gy2joygytXlzB4DQVhAsjpEESOyKXeYILV22YPm9p5z4D+wwYissXZRroYrWEGNPqhuxEdVxNc4aEgoKOzUE8oCRm0ljTBwwdPmLc9Vv3Hv7o8zkbdh0s9asgW/+BODZpSZh+DgU7Q06TXGV+tWH73o+/mLM7++iYG28ZOuoazeFWMEFKQv8hEEL1+HMoIAdAEvH3ATgopfD54pFHHvnjGcMf/vAHlCPG5opLKywBbLQ33HjDH37/h1/84ufw3DGjzk4SKIqxiPx+/8EDB9asWbVt2+aExLghQwfBcYiIiszJyyNNHM7J2XfgANLZeblevx+cc/NyMzMzV61eFRcfh+ZmzZ61YOGC/QcPHC0srPRU5ebnFRQVVHk9eflH9u7fh8SRo0dy8nKOFhUWlhQfOnz4YNZBj893pODo4ZzsZStWxMTF4rS9ZNkyh9sFywKbUlhUCOsJzwUGqMpTdejQIeRIJTFDFJo/d2CYz7kS9AJgVAAk4KHhMwS+U6Smpk6ePPnnP/95ixYtoHqUAiBAzEKrU7/BHffcP3DkNZhqr33w2byVa/fmFmB7C2ITY4ehh5UGaF9hxbKte1+fNuuDeSsiUhreetd9bdt3djgcxCQEFC6EJsCKLlywxpk5LCISi7ZOetNZi1du2Z3lV84gORQ7rAXAumGSYWIXhX2DniloKiWcQeH0KufOA7kfzvzaT47R192QUr+BpukCghKhy3ShA3gCxMRMcfHxI8deO3TMtfOXrZkxZ3FWQakHJltoWIowKWhZwlTiignXWEpQQwr0AAAQAElEQVTC08kt9c1ZtnbaV/NbtOl0w823JiYnoye45EKXQGwDkvNpgk1wFjEmIbYBsmRkmBiHEI6oOHhe19921wNVpvbOxzOnzV66KfPw0cpgpdR95PZRWJXpzK8IbN13eNqsBa9O+bjAY4yfdOfg4WPCI2N0h2W1NWHP0hBXtsSslsR6YdY0zRa8Ov88EmAFYBqPGTNm/Pjx158m3BAKKJwwYQJOavg2NHHiROyvv/rVr3F2a5DWwOVyEZ9t+2x5oDCk7HA62rZrExUdERUdPu7asRNuGB+XENOsRdO7771r4OAB7nCs/yFjrhnVsmWL8ddf16RpBhxUd5i7UXqja64dO2jwoLDwMNZEl25dLOKIsJS6KTfedGPjJumuMNewkcPbdWyPRI/ePXr06q47tSbNmk64YUJMXDQyBw0ZOHT4kKjY6MTkxNQGqddNuO7a8ddGxUCO8KjoyPqp9a697lo4MkJjwh/ML8IQn23vquns8at+PecEJmv1AMPc9OvXD0pPSko6yWkUzLqmJ6fUHT9x0m33PuROqPvhV/OffWvKB1/P/nz9ksW7N67cu/2LVUtf+/jjNz+ZllVQMXrCbQ/+7NEOnTq63C70i6UUeFhrghW6e85i1lzB4qUUVKcU1U1rdN1NtwYdYR99Pnvtlt2lHtMvBQ4jknVyuFh3KQws5gQOGZoroLnKfHLXoSMfzJxVbvDNd97TsWsP1mGVam7oQuZC48qA45BUp+61N9x8zcRJKzftnDp9FuKsgrIKg6uk8LLDqxyVBhd7AgUVvg2ZBz/8eumcFZu69R105933pDdqiI4L3DpKqS6sZNYAhVgiwi0WdAWNMUfGxPQbNOT2ex9Kb9lh0dqtL77/2Zufzv5i0bp5a7bNWrP50/nL35729fNvf7Bsw7b23fvc//Cv+g4aHhsbL2BQYOYJeldCWbyQDOFCCl3NC3pFWgjhCAWcg2pEqNCBIqfT2bZtW+ypv/vd7/BhLr1RI5xmwAHgs56imHigB6umTTOGDx/au3fPqKjw9PQGGU0axcZF9+7T8+abbxw1ejhe27ZrNXTo4I6dO4waNbJrty7NWzTr169P27atu3bresMNE3r26p7RJH3Y8CEjRg5v2DCtVeuWMFXde3Rr2rzp6NEj+/fv2zgjfciQQYOHDm7arEmPnt3GT7i2WfOmqWn1rxk3FlX69uuDzOiYyHr16w4aPLBP314tWjRPTEzAbc6NN14/cNCAuPg4IYgZwp4PxPlUOk0djBAMOYYBCS20vdiEkA0HDTJNh+4Ii4jq2nfAQ7/83V0P/6pDv8EHKys+2jhn5o5Fc3av3F5wMCG93g2Tbvnd//zh+utuSKufCseApSlIaoxJJkPcMN8uoMxYrYQmGKw1vUW7jpMf/FlSWsbncxdP/2rejt0HSiq8PkMZkiULrGyTOGCokirfzv3ZXy1YNnXal46ohLvu/2nvAYPJ6bLlA6eLDIXbLIF7UObI2ISR195wz09/LiJjv1yw9O1Pv5r61aJ5a7cv2rhr8ebdc1ZvnbFw9Ssff/HO9HlHfNp1t95z2133paalMkkNWoTVFjrzBVQmOFZ3XSjJSuHeihR2GGaHw9m6fce7H3rkZ7/986BxE42w+NU7Dz3+ynu/f+yZF6d+llcVGDB2/M9//+f7f/Zoy3btHWFhGBGrPhFikoqJiYRSuHfApsD0QweYJGbGnjpu3Lg6depgtockUiwEYLlzoffvir7piMvldFvBCW+UyGSNWFPuMIcr3BEe6dYcDCDhcjtdYW53WJjucDjdLofL6XRZObj6dLpcdqw7HJqugwY5TqczPCIiMioKRcgBCYocTideEYMSNMjHuQ8JFOFQhBjuAgm0qIdFhOtOh8uNNpwmnGLIC3xXr04t/76TjI8HWBaoHrAzTmoJsmnMmIYs2Ol2pqU3HjZ6zJ33PXTdbbc27t0mqmWiq3FUlxE9bn/wrgk33Ni2TdvoiDCWJikAn3wMOv5ZAWzBCvGFgcVLEhYEWynd6erYudv9P32k/7BR+7OPvvfJ9FffmTJ/6aotu/fvzsrbn1uwY9/hRas3TJn+1RsffLZ2W2bbrj3ufehnPXr3wzigd1hUZyvV96CDoKyws4dYCBEVHdN/yLCHf/m762+dXK9p6wNFVV8sWfuv598Ennz1vdU7D0bXbzL2lsn3P/Kb0eOuT0ypo6Rk9JckAllLF/zoQoUQr1B0nOOxFyYW1p86qak9+vS/5c57Hvr5b4dfe6NHOYo8RmGVr06jJuNuvLlrrz5RcfESa1RZ9QXBHTIxaVDTer9UP8xhNMWnCXaRHWPRYk+FJjH5pbJ2GUYBRickP5JnBlogQmsYE6suwfprGqpAAUgzw2YhKZXFGQSSWDKUopSu4asT7ACjXbTIhGwOkRGjmlKmaUIqdTzg1U4yg71FwwhoQ2LyKzChY2KYyLZfkcDRG0xEaOBQ3dosrNqn/9m9RqwwaGAZQoj8+1qZEJNjEeSDUYd8No7lhh5C01lo+CMEQVE6W7uSW3d5Sr3e8gqpeXzOolIqki43O2IU66bwKR0W3cG6k3UcdKFWjQm1UZ0uXGAWGusOIVhndpDShKjfKH30jRMn//LXHQaPPmI4psxb9qf/vvHzfz33yD+f+/WTr7w0c8G2fE/TLv0f/M1fbpn8QJMWbbCDWHWZnYJCg3jhpKuRE0ODTsEOwUIXDIEhQEr91P5DR9x+34M//90f+wwdnVPq3Zl9dN+Rkrbd+95230PDRo1p3qRxmBv7JLPmIOFAVfj8mmC+cBIzCUEak0ZkKQK7sdDIfmcWxII1gQZ1XTh0LTEpPjv7sMdT2bxZ08jIqC+/mrVq1dpgEH4rOQU7WDETob7QCYyI8Qfg0JMuTuDjQYTC8beTnyhEFrSHhKZpiI+lhUbMhJ8QLJCgswhYkQQOAKGi1VMkcZ3mEGQ5rAw/EOUWNA0zFAZBoYCUNLCIsJSPxZa6QqRWBcxhcuhC11gDF0EilMkkkWBSTPBksf5NIQgEiJEj2Eprwqpik2FqMSmNCdaLSR5ryKpOpwmMMWYFeiYCCIGJmQRR6IfHJQWMPaF9PpJ3ZMa0Gds37taUg0gWlh0pKs+TCp9uiEgjS2wiBpgYoIsTwJnBGT8OBaTDIiJbt2s/+Z77//7Yk3ATbrvrPs0VtXH7bqWH3XDLHX/88/8+8uivWrdtHxUTKzBKRFbdUEyXInzTmpViwj4DwXXdERUVbZhy+cpVQneMGDnaHR6xcNHikpJSHSsbc0epkLSoBCntGIkLixBbRDboBM0gh44FCJybm7tw4UKn0zl58uQ777wTX39ffPHFrVu3osgwDHTJIkWValjvtT9LA9UqOSlhlV2430nM7dczsAcBHR/tUJpODJalOfH9EqQx16WU+Ho3e/bs5ctW1U/ICHfEmYbyByuy8nZVGUXKOs47mPRLIMyJTaiQ+bNzBOtCc8bFJ/fpMyA+PrmsrCI8LDI/v6i8rMr6iwyaZrvK6IhN/0PF1TJDq5WVlV988cWKFSsGDx7805/+dPTo0du3b585c2ZZWZlNZsc/lKh2u4ZhQIylS5fu2bOnW7du+C5z4403Tpo0CaK+9dZb+fn56IhNWRtfIRr4bjF/ACuDSQa5tm3b9tlnnyXGJ9849ta6cfjqoQXJl3V0V2Ug3yTr75iTPNUmot5FBDwCcLfFg/mAc0qkHc7O++TT6eUV3qHDR8UlJH/48WcrVq40QwH0P/iSgJyQGcDq3bdv31dffQUH4ZprrunatSt8hMaNG8PurFmzJhAIQFpIjd4hAfofCtAYrB5EguTDhw9PSUmpW7cuvg4PHToUpmfq1KkVFRU/lGy17V4kDVwiK4Mphfltz3IkMJO+/PLL/fv39+nVp3fHfmkpTcLc0TgylvuLcgr2BaUHB0V1kXr8XWw1TcNKIGZi4fX6lixZunr1mm7duj/44EPDhg0vKCj86MOPsOWCDTO+sEskfkBAmWgdivX5fIsWLTpw4MCAAQO6deumaVqnTp2wektKSj755JOcnBybEsTVCaQvDezRRww50WJWVtb69etbtGjRvXt3nOagRljDe+6x/lXNd955B73weKx/+gTEqALreekFhpAXBEzEOKsSjoAKfQGu3L7QdwX0jhk9tjp7Eu0lsjIcWpCIoWXsq9jKFixYgE+AY8eMjY9IaFyvSZgzzmThCVRlFx70S+tvOp8k6CV4hXiA3ZCAnWPKOpw1bfr02Pi4m26+qX3H9jdOvLFbj+5r1q6dNWsWTnxYBpY9siv8QDEEgEohNk4c8+fPT0tLu+mmmxISEpCDokGDBsHirFq16uOPPy4sLEQO8i+9pJh/1Y1CafPmzSsoKBgyZEhycjLyIRJsTbt27W655RbYlFdffXX16tWYJMhH6ZUIpY5JDYVLqZS03tEd4FjB1fhA77C3AUic1L9LZGXsVlUo4KoPbnxRUdGECRNat2oFfyAxOiUhrr4Q4X4ljxTlllUVSQ6yZRbtej9MXFlZ/uVXX+zes+vaa6/p3aen0+lo0rTxXXfdGRsb/dFHH+3atQtzCB36YYQ73iqHzDd8Q5yVDh48OGbMmPbt20MwLGaQ1K9fH0qOiYmZPn36unXrkAmgCoouJSAPFAWg0cOHD3/++eeNGjWCI4PDnS0Milwu18iRI2Fo9uzZ8/777+/du1dKLFBlE6Ai0RUWMTGsp6YJuwt2fIX14VzERQc1fApjPrXSpbYyUkp4y7ihxN6F68nIyAhI5dJdafUbk8IXa63SU15UclRREN/E4HuFcKrYFz3HNI1169dM/eC9jCaNxl4zKjomEsvZ6dS7des8ZsxY+Pw4hpSE/k25iy7KGRuAPoGNGzfOmTMHS3fgwIERERFYtBwKuKLu1asX9FxYWIi1feTIESEESs/I8qIU2o3CAYQ1PHToEKSC24VFiPyQpNbUhGsDK4Ora/gyOFAXFRVBWuCiCHQxmbLVG1KkHLrD7XLr+DYdUjs6i9yrEoIFJhu2DU1op6pWnJp1UXOKi4vhyMAxHjt2bGpqKuFDrGbqFF4/qkmCKwUroNIsOVJx2GcGQm4nbj1MIsTSGpvQ03q7OCJiEpimiRji5eTkTp3yQWFh0ejRY5s1ba4JnVkIoUVEROJutU2bNri6ts9NoMc6RwxcHLm+xRWtoDkACYCZYTtwIIJi4Qs0bNgQ1HY+YqRjYmLGjx+PVb1s2TKcUnF9gz6iOgACADQXG9Vt4XoIHxYhEs5xUVFRaF2Ib7Z6vEJ++9IaRhzqhY+GTLs6xLbTF1va8+YviPHneHWNSXOwO9IZE65HhGlhbuEGXMLlZBtOJzt1USNcuqgRNRLbmTXS25k2wamxXVpjfCqxleMQkNkWPhQLF7oDuIUrQo+KccWHaxGCdSZB3w4nv3+79EK+MTMO219//fXy5csx6Xv27AknmWFlWOnsTnbVTQmvqxEHRVVOSVZFoBLusmVZrGR9FgAAEABJREFUFBMe1sH2QgpTIy9MYkx6zGZMbmy5S5Ys69ql+/BhI5xON7MmLEOj4RN2eno6tlxmfu+997Zu3QqThGWAWohrZHsxMtE6pEWLaH3hwoX4OtO6dWvbkUFzkBIxaAAk4OPccccd8BTefvvtDRs2oBQVUQSZEYPgYgNaRUPBYBCntt27d7dq1apDhw66rkMMNI0iAAmQIUYRboLDwsJeeOEFjALmDHqKfIiNhE2J18sNTBwCEQPMLDR2aOR0ifAod0x0eFxsREJcZGIISFiIjUyIszKtdBzSlz3QBUvm43LGRsTHRiTYiHLFhmlROrsFacRMTMdAVrh0VgatYYZNmTIFcwWODK4MkEAmKWZF0WFRSbGJunAQ89GSI0VVuSYHkCay5SUrIGk9LtaPGXdEkojwpWbGjBmRkZG33norlijkRFF1q3AL+/Xrhy7AxGAZwIkQoXAiTTXxRUpAJADN5ubmwjuAvYDD0qRJE03T0CKKsIARIw0aCNylSxd8KsZHvddff/3o0aPItEtBBpqLDTSHJnDAhD+FQ9ONN94YGxuLHFtaJGxAGEgFxxvqvfbaa3FD/Omnn+KaBvnoIGKU2pRXVsykCVgczanrLl37Fhy6y6FdOdBdJ8mvaU4bQlgTj+ARYJBCxxCkq3GJrAyarqqqmjt3bmZmZv/+/fGRVQihaRqzYHIIg9zCWSeuTrQ7VpnkMysPHt0eUFUq9NebiQQpADIrYtMCKbxcJMCRwbrF3cG4cePwjUaIk1UEsePi4mCAsOviNmTlypU4hkAYdYpykXkxAHOGthCjXdxw7dixo3fv3rjOwPpEJgRGKdpFGjGA1/DwcJyncBcGRxIG1Ov1IhOUKL0EgMOF5vbt24crOSitb9++EBXtIhNxNWBHIDMyo6Ojofzx48djtsBhhLmxRUUpaKrpr5AEE2mk9BA0K41XCzqRnXlqDPoacSpldU6N9HZmNc1JCbu0xvgkyhNeLcmP90LhcHQcjO4cGxCM4LHU8Yc4nrjwTzQGYFrYMRwZrMm6detim0pMTMSMQZNYmCyZJGtKq5dYPy4iSShHUPkPF+4u9R81SUqyLkpABmIYSlwJK8b1TOjtQkSQrRoQFYDVgJVp3rw57l/gztiNgMZOIAYNJj3c/ttvv93v9+NOBOvnRAKkAVBeJNgCQIH4XoP7C/gFOMElhL5eV7cIUwgC+xXSIt2sWTNceeA2BFXw2RtMAOSDBtLaQPqCANzAHDG4IYYA2GNwrCstLb3uuutgRJCDIrt1JGzo+rGZinzcDd911104VuMWD1/0UBF8ABTZxFdQjK2UiAGlrG2zOibFVyK+kd/qFAyIDYwM+kg1BlDUmH8BMjEnqoFJBhMD9x4mpmPHjphP9jKwZpvQhNCYOCY8oX5C4zA9RkqjpDLvcOG+IAVhaBTBrCiC+xKKLoBkJ7ColhB5QgiclfAZFb49TExGRgYysVqgPySqATLU0jQNezKA/RmGBucmkIEYRdWUFymBhtAK/JFp06Zt2bIF1zG4jYZK0RyKAEiIuBrIRw7chwEDBmCR4wyCpVtWVoZMFF08QEhbIUhAsbg/wuUu7n0hKpq2xatu3X5FPhRrx9D/xIkT69Spg1M27D4MejXxFZcQgmsAw5O/6BAXvJUT+sJYt8dhDwqjOXGyVTn53Sa9sDGm2s6dO3HvizsOWBlsp9X8YTok/BNoQnEYRzZIaerWYgXplVXFOQUHvUY5zkfKsjJkBdv2k7DSF+gHpWANgBmE9Hq9+K6xdu1aePW4GrDlBAFKTwKWAXKSkpLQHXhn+EiMG4dAIIBM8LGr2GyRczGAMwhUinbhwuBYB3cG7Z65IUgFsuuvv75ly5Y4usJlw4HLFhJFZ657HqXgCdgVoRk4MtnZ2TAxmAOwI8ivLkX6VKAUxggna1zieDyeV199Ffb0O/t4Kp/LIwfT/KrHmTR9IVfsSe1goiAH87iwsHD69On5+flYk/CE7SWKIhsSByF4jkpo5EqKqp8UW08oJ15y87OKKwukChKsjD1GxGT9M/04FjJdoICJa8uDBM4RX375JU5JY8aMweU0ctCI3QskTgQ6BWia1rlz5wkTJmC5wq3AVQ6qIBNFwIn0FzyNE8Snn36KdYs7XXxdQheAMzSK21MQQDwscpybsOzfeOMNXOggx66FbgIXUE6bM3iCP06U8+bNi42Nhe3GVTRaQSbi70RERMTo0aNhaKBb+JhZWVlnWfE7OV9aAnv6nhRj4p8OJ1FWv56OHvnVNKcmUFojTqWszqmRPpTJ1TQnJVB6WqVeRCtjTwh8v4SrjG8x2EJxQ4mv13b+cYkgNcNHsV6VFu2OT0tuLEwds7OoLK+4Is8gv/VJ2yrGz+4YEhcMaAjyYBGWl5fPnDkTsxkmBicLnC/Qhl2KxElAFTsHt6q4p8RS37hxI/wg3ByjyF5gNsEFicGzGmAIR2bz5s0wiPiodPPNN+OaA3Ii346ROAnIt20fEnAQcPuODuKgN3XqVFirEzmfVPG8X9EQjJrNGR4irpxh0WANcVhGPvQDzqABARI1AjQgQBFcxUmTJo0aNWrBggW4oCkqKkKtaoDgSgDmLRbhSVBw4sm+CDg5Pomy+lWdhh751TSnJlBaI06lrM6pkd7OrKY5KXGmcbiIVgbNYq7ghhL7PHZ7rMZ69eph6gAossGKnIrgnOC6nYXAoSk1ulFseKKPpU8vOVq+x6/8FPq8Tbj0ZZPJ+oeO7LoXJIYwmLKIt23bhsM/1i3uAmJiYsAcKxP5WBUAEsixgTSKAOQDWAZY6nXq1EE3sfjBDb22KS9UDJ5gBVOIBGJccsFwwyzi+NOiRQsYDogBQDCQ1QiUApAZxDjowZI2btx4yZIlq0P/xRCqQGYAifPGiRVtOZEDnrALsDKQDdYN3+aQCTEgDBJ2jMSpsGlg65GA/zV58mTc6cCdwVkPcwlKAGfg1IqXZQ5WGeb41Q308bS6P1PZaSuddQEmBD61btq0qUuXLtiO4Mhgtp2+NrMSSTFJiXHJ+LZEgvOO5lT5K3EBTLBG1iEJ1tR6nJ7D+ZRgyh49evTNN9/Eur3pppuw/DC5z7AATm2jffv2uFXNy8t79913YVWxMM7YzVMZfEcOuGHdgi3WFYCbI2zsOKzBWJyTnHYzqNKjR4877rgDPhHcGQgMnsi0Sy9UDJnBCmLDfO/atQv307AyyASQf05Ax1EdHg1M5CuvvIK+Y8jOg885NXpBiTFpTwNmurJATDWDzhAuopXBVMjJycHnDFyj4i4AX68x5zCzT5UGxgNAPhNHuqKS41LcFEFSFJYWllYVEgXxNZusvgkrogsZIBLOdHDFcX2LZdC7d29MZaw65J9NMyDD+kSVYcOGYenCO8C6xRkB+WdT/SxpmBnKBE8kcKbDlo4PLritgFdylhxOJEPvYO5h9HHlAYOF+x2YV2SC+Ylk3zNtc4Mq4MgghkGEtHYXzpUzakHJ0PBtt91WUFCA7uP8hcxz5VNL/0NpQFy8hjG3cOe3e/duXPp2794d8xjAvlRDi7j9PZYrHJq7fmLDaGccmZonUJWbfzAgK5UwQuWCrCscGUpfmAgiYbP95JNPcLsBOXH8wYQGa3uRIPGdACU6lZqaCj8ICwn33LjyuEhrAL4hjgw45thfwWDdvlO80xHA6I8dOxaHkRkzZuADEKwYOnI64vPIhwbAEKO/atWqZs2awXzDQ0Qr58EKVcAtPj4eh9kRI0bgY9Nnn32Ggxjya3FFaOBCWhlMBSxaG3AQtm/fjn0yOTkZuxDcGSxFLGAAk+9E1Vi1lJIEf0XhoKSzMzmmbpwrUWNnUAUPH93vMYsV+RXhDytFikxC+kQW55g2TRMulWmaELWyshKXvjg1jBw5slevXtjkIaGNs+EKSpAhRkUsJNipo0ePwn3DGgBzGyoUQHbegKjQHmJ8rJkzZw6WKxYbLNp5M0RFjEKzZs3gzuDGGge9/fv3V0uLhpAGzfcEHK7Fixfj2yIUC/MNblAUmCNxToCoeugv7KWkpNx+++1t27bFzffHH39su2BgCAVDYMTnxLaW+JJp4EJaGQiNwcacwHjj6zU2nNzc3EGDBuGGEpmYYQASACi/jdCBCZEiVjocmdTEdPgyBhtF5UfySw+bHJDWvwFhV1L24/vEtgwwhTgyYCXg2A9PBKYQ+TbOnrlNjxjVcTuDYxdukRctWgRXztYGlgFKz57hqZTQG1h5PB6YGHgHUGmfPn3AE5mIT6U/yxy4b7Zt3bBhA0wtBEZFm+f3YQsmNg4ePAhnFj4IPFl8jEMvkG/HSJw9bGEwqWBq8aXylltuwUfxt956C8wxghAYrFCKuBaXpwYusJWxO4mxh5+MlYbvAth1McPs/O+MmXAmEi4RnpbUSNecJhsV3qKc/P1B6bWOSiEfBi4Nfb+AGYmJi9mJbXbKlClwZ3AVmp6e/v24WrXT0tLAyu124y4ZBzE0hFZQgATi7wMIDHcDH8vRBD4tYVe3uZ0HZ1QBN1THgm/QoAEWLeLPP/8cl/QwiBdKYMwB3FLhFglX4xmhv0WNFu12kTgn2CJBWkgOQwOf8cYbb8SoQcmwj8iB2OfH+ZzEqCU+bw2cn5WBN2HjWLvVL9ZUIIVTA/ZzzINrrrkGmw8yj9HV8LCrIpbEBE+GJGvkTImtl5SQojRlUODwkQMVnnI6HkB6Io5nf9dTfWOdIA8mZSAQhJC49O3atevgwYPDwsIwic+H8/GWwdPpdHbs2HH48OE7d+7EaRFXleCJ5hBbhzxwP058rk84MriRwWesAQP641IGbcHkYoEhPgEWVzRiw3qp6Qd5kA0OkAonEXyrwqLFEQ+3quAPnszEzKD5PgCr+fPnm6YBzyshIQFs0RyaRvwNW1tQxN9kIYV3a7SsR6hvyIKhYXyBVAoxXDCcTCdMmLB3796PPvwQDSETNMdQXc1OHMv9IR+2IDXHoQ5eBUVn1u95WxlcjpiKJCCVwp0KXkzioJRIrNu4afXaNT179Rg+YpjDIULl0ORpJBHWf3AtKDStBb4ssWRXVHi9hnXakOmSunm0PLug/AjmmWlaSxX8JVE1wBc4DevqbJCgsiQlMcuVIsOQa9Zt+PDDz8LCI8ZPmBAVHR0wgpjC6I8pLSIJuuraZ5cAW1QPD4/AGoBt/frrrxcvXhTw+5SSAhxw9QRICZ2B0gJZ3UFJjTClaZhBqWTQCBhmYO3aVV9+9XmDBqkjRg4PD3cLoaQ0CWpQEvwBKU2oSKrQA6OiLOahCELZIDsLzaF1S4FYt6QiIsJGjRreu1eP+fPmLFgw11NVAR4gleBoYmCVBFNLaghOEB91weFUID9EqRCCwcDWzRu3blrfpUObbp3aa8ymIc2giVhJZRiGUtJ6ATuJMQlBgYEtIESzBhnCIwWYZP1FBhQL1kGhlIyPi73t1lsGDug7d87X0z79qKqilLAfKTINqUzAtAVVSlktYCboSu8AABAASURBVPBPFfcS5iiy9f+tWJIlWo1xjfTIrJHYzkTp6WATnBqfjh75pxJX56D0dDiDRq35f4bi0xfBKAChAWQsTyImTFpsWUeOHJk27VMhGI5MWmp97Ja6hj2MqcbAqAXAf8GGpJRQpOFVd4nohkktYtyJpgyW+QsPHNnjNT1CEGP6k1TW02IXerUS3/HDDMX0DK1JVCHFR/MLv/j8ywMHDl5zzbgePboJwbqOtQA6hc5gjhum/A6epxQrUghCE61bt8a5CffBH3304e7dmVhQhKYthARHR+26igiw06fElpxgKE1NE3m5uVOmTsnNzRk//rr0Ro0CwUBZeXlZeWlpWWlZRUUgGJSkJNpWJjgKYfGyhLGe+KENmLcQv9AbbBdEUKAAdSi7Xr36o8eOYU17/Y03V65eVenxBA37ox7MsZVQtvCESlALGILRKWAyLaskg8FgIOBftHBh0O8bNWKEGQwsW7bys88+f+e9qR99/Oms2XP37t1XWloOLmB3jIsiI6hOpw1NQF5hEwsraJquN87IuPXW2+rVr//88y9MmzajsLDY5w+ysEgZ3QWgEdOSONTFY+38QA+IcDKY+HQg4hrBdM5VwOd0tVB0OpyuCvJPVyWUT6cLoSl5usLT5FvzI7S9WK1i8BX2aqmRKZSUfu8X0z7duHrVkAEDenbv7tAdprVcxekmkM2KiEPAQ2Ku6qwcQtWJjqsblaTB0XHQkdLDFYHioCmxjpwkNKtFFChWCjUpFEKsQqlTIhRJzLnQGCmF2Wxu2rB24bw5rZo3nXjDhJjoaCapC0SmIFMjQyfDoVUzPoXdaTJQQRPgQvgGNGbMmFGjRm3fvmPWrNnl5RUQXEprxmPyWwIQenoMdJrAzIIExCbJy5evWrRwWZMmLZo3b71m/eaX3njvz3/99y9/95df/s+fn3zupQ8/+3zjtswyb5BYIzQgTVZBQSZbSkdvWRFEA461BLOlTIOkwUp6fMGd+7KmfTV35fqt4TGJW3ft+88zLz71/MtzFizZf+AQDpVC0yUYElhA1RgdRacJaE5YswkE6uDBQ+s3b4tMqLN976E//O3f//f4U6+8/d6H0z5/c8pHTzz74s9/9fsnnnlh9dpNHl/AUKYi6EbqDgaHEKwGmPAKDZBAD6QS6IRFidkEqPIKz+atu3buOaiFx+YWV/772Zf++NfHXn3rvUVLV+QdLYC9grIlqggFLgZ8YIvlD/az+gJBrmoQMZ0+WPPi9KWnKxGKUBHDaBHggfmKjUwG/Ht27vhoypT4mOjhg4cmxCcwYZQF/FgippoD8sEKsChYhgyHwjoxI/XwejH1XRyulCjxFh8tzzXJK0hxEOvHZIVFggTm0pmm/vE2mbACCezJNMzcnJwvZs5wajzpphsyGqcHAoFgwPB6vUYwqLCilArNdbA9XvusnwqLnNnj8/kDwa7de8bEJc744usly1flHikoK68KBLGiSClrHRIdj/E8lT8yTYWjoyb0rKzsWV/PK6/wOt3RH3w888VX3l64dHVBqZedUVIL37H70NRPZj725AvPvvD64mXLi4uKCGaJVKgLthsSGiw0AZ6kiE2SsEfK66navHnTW+9+8M8n/vv62x9k7stu2qpjz35DI+JSNu/Y9/wrb/z7P0++O/XDHbsy0RnUttgqaBvukgy9nhxBdQJNs+X+zF+wOHP/oXKfXLlppyM6qf+IsRPuuGvyTx6+6c57r7nxlhbtO+/YffDxp194490pOzJ3Bc0gM3iaGB8iCREVwapwaF6hI2jUYMIhy1BklpaXL1y64r8vvfr4089N+3JueExyx54Dk9KaFnrM2YuWPv3Ci48//ey0L748nJtnSCkhMMNCnSzqJX5ndImIr24oOkOwlvcZik8tAjcsE1MpawPCBMBaUOT1BcvKK3Jycz/68KP9+w9069azecuWQjhCa1sQY0NSCFJKxMA3bC121ptSrKw0VgfB8fZ5/cVHSv2lJAMRSoWXlHmXrlq+ePniPXv2VFb6pRUggCSsWUI1iwOS3+IcyjshssYaTXh9/hkzZ65Ytapjp04N0xuvXrPhk2mfv/P+Bx9+PG3homU7d+wuLi4NwhxImx9YHsMJrL5JogyyILZA5PEHdu89MP3zr/7zzHPTv/ianeEFpVWvvv3+Px9/5unnX/5q7oKDh3Mx+y2JIYqC/OY3vE5JKanMgLl06Yqly1eT5i6t9Lsi44aNvu6mO+69+c57b7j1zom33YXExNvubt2p277DR1545c33pnx4KCvblCahskI4pnC0FkpBWFMJysnJm/LBx8/898WV6zc3bNpq3I2Tbr3r/lvvfuDen/588n0/vWHS5PETb0tObbRo+erHn3p2xhdfVnm8SkoFttA2eJ0iqp2hQGSaO3fthgac4dEDh4++ZfKDE269q/eQEU3bdUpu2CSjRZuO3XqPue7GG26+vU37rrAXL7766rZdO2BopAyieghoAxMG80EhEJqDF6Ok0MXOXZnPv/Lqq2+8eyinoG2nHjfffvekyQ888PCv77j/kZtuv++WO+8ZPGKMdIRN/Xj6v596dtnK1aaSSkmYKxkKKhRsUS9BHGrNjmA6MeZXPSyl2h22Uif8xAnps00qrA64uQRzoIrLKzds3v7ulI+eee7l//vXk9O/nu8xREGZZ+Xajbv3Hajy+i3VwoKEeNsSIA69HYtUaAbgRUrMJlHlCWzdnvnWO1P+9venPvlgbnmh06FSSwt4yeL1L7/27p//+q9nX3xt7vwlxaUVUglTspRkVTRNpbDvgU3NkJitCrLw+g0bP/jo0wpP4Ghx+fMvv/HMS69/+sWc2YtWfDF7wStvvv///v7YE888P2f+4sLiMsPA/gmuqFUzz+pcKSUsY15e/vQvZv31n49P/Xja4bzCuDppI64Zj6XbqWc/LSJm575Dr78z9X///u/ZcxcWF5dJzH8wltjhqtl8O8HMgg9n53z62UxfwOw9YPB1N04aOnp8yw7d6jfIiElIiYhJBOKTUxtmtOjVb8jY625s2qbT7CUr4YYcyjp8nBfkR0uEZgA0SMyFRSUffDrt0y9mxySlDR99Heq2atcpsW4D8ExISY1OSKnXoHGz/8/eeQBoVVyLf2bu/dp2yi4sS++99yagFCkKogj2HrsxaqImeUnee8n7v/Ru7F0UUAQRFLDRe++97tKWZfvu99078//d7+KGwGIoGn1mr+ebPXfmzJkzZ845c2auMW069B88fNDQEXYk+bWJk6dMfbeouNTFWQRsPud9+l+aZN6JE5Pfnrpp245uvfoOHXVVk9btwyk1jRUyKiiskLZC4OHE1KyGTQZcNuzSoSMP5Ra8/NpbW7ZuN6ye0TxwdeN/jCcu+4gWUjqO3rBp61+eeX7pynUt23cedsXYnv0G1m/SsnqtuhlZ9Rs2blajdp2shk3bdek1cOjInpcMzi0o++NTzyxdvqrc+4/+SHiiTso4Y/5+tYDSgYoxtHAMIF0j4gDy7QAmJRxtHFfHXO1o7a9bxbz/jpx3lGHFjGA7lPn5xWvWb/zbsy/9/Je/nTRt1vrt+6Iq0qZHvwEjRh8tjj79yuv//cvfvPDK69v37C2L3+yxwNzcUfrr/bkIMAMkZhSNabb6Nya/+4tf/fGd9+e6KqV5y75tWw1p0fDSnp2uGjJgQs8+QzPqN1+wasOv//i3X/3hqcUrVucXl2GDxhh4Gk1e4Bvm57w//yulUEIyTG7eiXemv7dt194yrXKLoim16vYadPnQKyeMHn/LiLE3DLx8dIPm7bbuyfnLs688/fwrmzdvjXo26sUncZaHoWnRWpNkPf3ss69OnGQCkSEjrrz2plvxsf5DRva+9PJ+g0cOv2r8Vdfd0n/w8HJj//XZF1+ZOGl/9iFvTSqXF5YMKsqjzodzP1q+ek3nnr3HTrihQ/c+CdUztB1xpeUKD7SwlB0yVkDawZq1s3oOGta1/9Alaza/+NqkI8fi/4UEVyspuWKSBAhkNaawqOS9D+fM/nRhmy69Lxs5rmGz1uGEJMcox8ioK3y2XqmCVmK1pm06X3HNhKat27/+1jufzFsYdVC2FFJ58p35U6qgqHTuR5/NX7S0feeufS4ZmF67Dpy1tI2wBCbDHYuMD2RkTKhQckrbTt0GXDpi89bdU6fO4D5Y8hiPr6vjG9nfx5G5eQWvv/nOph0HLrl0ZL8BQ2tlNbTCScIKaU8YSwgpDEdBWwQTU9KzuvS6ZPiV13DAfO6FV7Zv2+E6GIZw4/uQil8dia/+QdmfD2IwPUfEoro8qstipjymsfRvA0SZiIm6fFhWLnM0OBi/z6d96t+/r+SptV+Ms6SHDx+dPHnKU888v27j5iat2l993S1jr79t3E3fGXf7PeNvv/u6O+4eNnpstVqZHy9Y8Ndnnpn7ySdFxSWYEGxZZnwS5O8gvf0KI1iwcOmf/vrMhx/Pz2rcYtxNd44ef/OgIVc3bdQnq1qXJhk9Wzfr17ffiFHjbhh323d6Xzpsd/axv73w2tvT3j9yLE8bg0hKwejvXE/FjDd/NxaNffTRJx99Mi8tI3PkVdfecMfdo665oVu/wc3ad81q2rZRy45tu/YePuZazgvd+126bvP2vzz11IcfflhSUnIqq9NwJhWLxdasWfPqq6/u2LmrV/+B42+8pWO33ik1atuRFBVK8iCSGkisltmwedfel1x3y+3tuvTAY5965rn1G7e6ZGKVSi2F47q79u79YM6cxs2bD79idP3GzR0ViKmAtgIG14oDCF+HCSBSWdKyQyk1egwcdumIMavWb37/g9lFxcVoWwhv8pQGvWt30bJlU6bPaIV7D7syXCPTVR43ZdkATEScLaWRlggkxFQwLT1zyIgr6jVs8uakd9at3+i4WuDSopIHMbbt3vf+7I86dOl2y+13tmvfUQsllBLSUoYzM6CkkVIpRJXBQEwKGQi1atOl/4Bhi5esnDXzg7KSUgmJgEgYJTj1GeSWsrQ8OnXajHWbdowaPb591z7BpLSoK5QVhCs8WHrJfZBAsIAjAlHXVqHkhk1ajbxibHFR2WuvTsw+mC1gFBcZHcT/fuWFH2UoHdcp1+WlseKi0vyC0vwTxXnfGsgrPn6i+DiTKiovLHfKmKyUEs2CUJ4K6tSXf8RZGQ+8H4vt2SrdPTiRd+LFl17GjjPrNhgz7rrhV4xt2aZTZr0m4dSakdSayel1Mhs27di99/DRV105dlxJ1H3quRfefnd6fkEhZxCGkByUPTbezxeKMDFv4ZJnX3rleGHpkJGjh44a26xNh5SatY2VYHSCpVOFmyx1orISVSipfrMWfS8deu2Nt2bUazxl2oxXJ751+Ohx4ggyCm8LZAQPPO6n/HDnXXv2vPjqq8Vl0avGTbhi7LhmrTuEktJchWnajrDxYWOFVTipVt3GfQYMIQzFjHrq2ec/m7+w/POMBn6IGtcEf30QGzZu/uvfnt174NBcIUShAAAQAElEQVSIK6/uP3BINcS2Q1oFtbRdaTlCxbTU0ianFHYoIbXm4GEjRo4eu3nrztffnHQw57AxHh+EN//4FBQVvjl5cm5+/rXX39C8TVvXskQcOBnGienl9cRp8RxU6rqukThYYo/e/Zu37vD+rLnbt+/WnqyeNryflLt273nl9Ymp1TL6XHJZQmoNY4Wk585au166i3N7a40qPUk0DAkJEo2n1Bg64sqCkrKJk6bkHDoKK6/9jB9X3guXLCsqd/oPGly/UdNAJEl7YUBph3t6I08ujbfgrvaOolobYkUoIaVbj74tWnV4862p+/cfhDkiMS7Tg8BIUR6NLVu+6o1J73Tp3rd1h66ctoyyvVl7ckLuAUyVd24WUtpGWlrYKLxRsxb9B166dMXK6TNmFhYWEnCZp1Ke8k7++OP1/nJ+cU0j00mmSklvexduzI0WlXJ3X1hUXlwaK4265eVuWSXglJU7pV69X3pkUPpAU9kpTXG8EiY+cWWlU1mlNwSs4oPCjXGRwassL4few2ktK69AoPlHiLnlZU55SbSkqLSwoDi/tLzINY7xwr0RniWhCv+PQOtfoGWIvFYtBL3xE23Esdzjr7722oxZH3btP6TviGsyGrRSoUQcwPX2Kq57g0IEjAhIOykhOaN+03aDhl1Vs06TF16bNPujT+HgutiPMdoRQlMaUCM3bt350huTA8k1ho0Z17RNp1BydUfi9paxhLe38VXJipZaZeUiaiklaQslpabXGTBkBJcU77w/Z8q09wuKSwwPscST1/vF37Rfaq3zCoumTH1vx96D3fsN6Nanf1K1ap7vK0cpb45oxUjJFLS0tR20EpKzmrW5fPwdaXWbv/rWO3v37ndi5cY42uiYi9xGG+R3XDd27PjxiZOmHjxa0v/y8XWadVah5JjBypUwUgk0YmxhAlKzMUtiq+cFYTshrVmbTpdefiXCoJOyoiK4GljyYwAjtDaO427csn3xyjW9Lrm0TaduViRJowlpjFNqmajlbfMkFcaFWEgVwLUMCUPA6JAW4UCkZ6/+ReVmzqeL8wrLMHytHSmc8mj5rNmfbN+d3X/g5TWq1wpIJaMlZSeyD+3flLN/R0FhvqMFowhjdDnVe4/v33L84O5ocbFr7IzMRn0HDFm+ev3ipctiTgz96riqiUQm/oAczM5ZvHxZ87btqmXVj9mRmAgGAiERi6poSSwK81K6SGEbI2KxUu2UeUJr4QRUICWtU69LCsr1ktWrHe0ggC2EpVl8Y7QpKCqbOGVqMDG1fdduoaQUrZQwjmVitinj00BUm3KtjEDpjiUd4ZZZSgsTc41WgVDLjl2bd+g2+9P52Tk5rsPXfZpcgfaEEeJk2GMuXxbA3WMMOwTSDqsVFaXFbn7UKRXIrIySeJIrRSUghKO1YylWP6akMa4GpBESjsY1hhWkjArpmrOCNnQ8CdwA8cqCMk2tJdZCR+3omOHwfBKoiRoVMzJqcDHhGFSn6KW18YQXxlFQxoeuVGYpNQQ0CenGZGm+m1vs5LsmKgTTRAs+GP4ofmcBKQStklb+eIsrZXFp6bvT3nv3vffJojkdsF9JO2DZWAXG7ulEGoyDbijHGCEDwVD9+o3GT7ihWcs2r77xJhd4MdeVHku4CimZvck+dOTpZ58vKCq+fMTIevUbKivALKVUqFdJS0r07rm0bUvLtoxxtdauq40Q1apXv2zw0L79Lpk996OFi5dFo65ESo+x95OwIIQYo5QqK49Om/b+zA/mjr/uxutvvKVGei2hbCltIS2jXSlcSwrGEWyuUggZ/0lVs3adK8dcXVBU9PIrr+YeP+7ihTQKHgZHBtdx3BkzZm7csnXw5SPatu8kraARSiC5V8o4HyV5hJBMBpCCFk1NINSxW/c2HTpPnzlr0bLlxtCuhPd4mDE6Gi1fuXp1KJLYp98AKxBiPBq11nF2RrsxBFZS+HzF54+SVPGi6tSt17lr9/fen7lx0yaNjUmWRuzh/DV7bteuPVq3aauUJY0pLyt5f9rU//rxD3/y5PenvTM5VlYi0YB2du/Y+uxf//yjHzzy1J//cODAPsuy7UCoQ+du6bWzZn/86ZGjxxjDB8uyDNJLGY1GFyxccDwvv1WrtuFwout6hua6Tv6JE/M/+3jOrPd2bN6gnJiJlRfn53784axdO7ZHy6PKUgbRLKtug0at2rZbvGRpQYH3PyVhGsxFeuahlyxbhoYvHTK0Vu0sKXECw6CWJS1hLOkWFeQdztl/6MDeY4cOlBflWcJVeIh2bNsqj8USU1IHDB4W02r23LnFJSWeGrVX+MJ/paVUklATdaLRWNScw5hMVkrhODGlFHpDNsmqGcPy+d1BLMs2mihJY6Wghad1r8RNlPIcx+fhuq7PjbKSnqhbeD+aYjEH9QphpBQS/XsdqT4HkIjqlEfLHB2T8nR637hPr63knbkas3rN+vc/nN2xW89LLhumghFjlBEYTwzJtDb8YxnXuFHt8FXSU63ktk/rpJS0ESOvSEytxqeK0rIyIeJSsAhCEbbeefe9zdt2jLpyTFa9eqhQG8MKSenRGIOmjG2pID/jateRUtpYkM2AFvE5MSVl0GWD6zVsNHXa9APZOQgjPn+MMTruYJSbNm2eOn1m+45dLh08Iq1aLSFtxxEuPiss5m8JLQnbRithhNEeCA0bfplZdQdcNnjxspWLFi01QhpEg0hro8Hsw0ePfTxvfpt2HTt16coWDL1HA9lJgIcPhmUDNLOBOyHFsrSyCDSBSOLEtyYfPnLMVwnUxkAsjh49tnnL1s5du6V6OZcQUnrg/ZWlxcUrly1dtmRRUWGBrYQUpzxGQyiUkspu176zFuqjjz4uKyuHJwFx/YaNpVGne6++0iblVI4bc6LlB/fv3btrZ/aB/Z/Nnb1vx5aAiTqlBStXLFqxfNHRg/t3bdtyIveY0do1IiGler+BQw4dL9i6baeD+pgPfA3mKDHi0lLufT+pWSOzdu16juMFAikRRh86tPf111742+9/9drzf9u7Y6NtyvZs3/TKi88tmDevtBRLUPSVUlqBQJfuPQ4fyUWlzAcFw14KWVRUvGTZ8vSM2p27dBPMS0ol2Xa1cd3iwvx5H8999q9/+s3//Pf//vxnf/rdrya//tLmNcvdksKggodQgVC5I7MaNGnTscuqNeuOHM2VyhJKeW3/ip8XZZxYTGvs4pzGQw/5+flz586dM2fOrFmzpk9/7/333//wg9lz5szdsmWrMUZrI4QUZ30YCAeKA/YsecUqncL8/JXLV+zfu09oL6Rj46cAtoimPY62FYiVxzau3zj17akbNmx0HFInhhNI5TX/8x9pj3YcR3vzPV3IsyqdEXzwexhtysrK5i9eIuxQnwGDQ4mp7LFayLLSkpzs7EPZB1l4KE2s9NihnCOHsp3yMmGo01i8soN8Hu3Vb9DmrTtWrlqDKL7MWpudu/fN+Wxe736XkOxYgYgQliRgC6E9WfEEraQUrpt37EjOwf1FRSd4i2nHdV3H1a7WRqik1DT27exDRxctW4HAPmdK8/lTWFi4cOHimCMGD7vCDiQYzkTaUlZQSEu7kjApnKgbLTMu+SHhwVsJSX8PlGtUq7Yda2XVfW/mh0Qx6bVrCqWUkGr12o3Hjue3aNs+mJDouZQQzNYHI6GVgvX0sgMthCukK4T2uCuSVGMCgdT09M49em7cun3V2vWOi+yARs9CquxDh48cPd6oSTOpbByZpVZKWZaSwhTkn5g6ZdJbE1/PObDPiUalgLknKz9DkDQGupiWmfXqN2rSdO269RiupVQ0Ftuzdz85TkZmXSNsqWCFroXU2jKmcf26hXlHd2xeGyspKDpxbNum9WkpiZm1amqnXCAQfFkUFWjSqi3rvn3nLsdxpCTmGr9k6Ozs7AMHsuvWaxRJSLYU2ahAQa4bKy/nyJ4bLS/auHr5ikXzdGmhLisuKcwrKy2ir9auDWfElnatzLoxI3bt2eNoo2gTMBccSLfv2NWqTbtQJEGgBTRKvRDRaNmnH81+8em/fvz+tN1bN+7bvWP5koVTXn/l1ef/tmHNSteJIqGrjR0KayvUtGXrw0ePZx8+aoTS6Fh4XMRX8pzOFBtkLucyIJTAjh07Fi9ezJLxyfKpp55asmRpWVnZzp271q5dG+MUiPBopXLwBmFiPgiWDePmj9F79ux54YWXYOW6RilLClkJGIlHSanKy6OTJ0/5+KOPY7Go1hi1t8qnz+os7x5beFfWqiqr/Ic6Jo8pM+S+Azmr125o36lbas1aMYMHeiwP7t/z3DN/fXvym+Suyrh5Rw+/+Nzf/vSH3+zYtgUbMlJpKbVUMpjQqHmrcGLKu9Nn5ObmwhN/Ki2Lrl67LuYKzg6BcILGCCCmTXgCGymF8PJOJczCeZ/88fe/Wbt6peNGFR4iLa9USkhlJPl249pZdT9bsDj70BF6A0grpYSGmRw7dmzDpk0duvZIx8GUBb2RtsdZSqGkdmLZ+/bM+eD9bVs2u1GcypUi/kj2IiXtYEq1mj36XLJ9996Va9Y5riO0ZlSMNea4CxYvzahTr1adupAZ4fVjaInnOjE3Gj2ck33owH6nvJT8rjg/L3v/nhPHj0mjodEYgVAqEGnepkO19MyFS5dHiYKCIQ0Tcl1n5+49Wqnk1GrSDsh4oPFnRF83Fs0/kXf0UE60vMy2FMPJuLyC7nFMIxyRxg61btu+LBo7dOgQvUpKSrMPH6lTr0FCcrKWnrNBy3opKcOhcPNmTaolJaxfvaK4IHffnp0E9MaNGtbKSJcSKgMzbVhEmZySll67zu69e8lcXNcV8QfmUkqiTCzmZNWrLy1bowuqpLCUUEIHbKtOncxg0F62dBFKMLEyqR1PD9pVUhntIjjKCCckAbv37o/FvHsfHMRxXRKQkvJY3QaNlR0kDmvtQk8QWbdmNaEW2+vRs/sDD97/+BNPjhs/ITUpsm7lsiUL5xUXnLCkQDAtpVBW9Zq1gpEEOEcdKixvOOE9yiu+up/xWWt81cfOoUxLSxsxYsSwYZd37tzFdU1WVtaAAQOvvOLKTh07S6nQsOuiA1ga13Edh0XQhn9cHYvGtKO1g3V4CLarXe3GuKtSNarXaN+2ff16DYxrMEwnSoPxSkcYLYSWbkxQL40M2sFmTZrWrF6zqLBIayM/f85BcGEMupXG+LP2y7/3+yJVI0MFuTF60aJFZTGneZt2gRAZgQUPnLS8pGjPts17dmyJlhZZwo2WFu7cvGHX5o2FBSeEgYEQUmkUZFRCao2W7dqvWr1mw4YNUgoZPy6tXrehcbOWGZlZUcdgzlowWSWk9xgjpbCEEU552ZGc7C0b1h3KOeji51TRXUqIAWkFEpNSWrfvuGvv/tVr1mqtRfyR8YfXAwcOHMvNbdaytRUMCTvgCmHQhjDsoIwmjLtuzYpn//zHT+Z+WF5arGhEBDhIoYXUli2sUMt2HaqnZ65Zs66oQMiM3gAAEABJREFUuEQpJWnV5sSJwpVr1tdr3DQxtXrUSIKCtGnSuG5AiaKCvBlT35769luHD+wtK8xbOv/Tl599ZuWSxcaLJkaRRhmprEC16hlNW7Xbvmvvifx8KePzFqKkpGTHzp2RxJSEpGShbAR2DdIyqgfIZZEZCVcaAiLrA3j1RkhhjPRmxwSUq6zmLVsHg6EjR45o7RYWF+flF5DIaBUw0hKSR0ijNb4rVO1amU2aNN6yYf2u7ds3blgXc2ItW7dKTErWRgipIIGvlDIQDGSkZxzPPU6U4VUIjw2igR89yrcnk5qWqj0h/IX3WhU0RjZt1qJL954HDx5ctWK5Ey1FfstomrTrGK0NKyEtFQzboUju8RPUMAmPjRDH8/KEFUhOq66lZSSTk6g4Fi1ft2bVzm1b6tfNGjP6yksHD+nWs++Ya67r0bOndqLbt246euSQ0CiH+cFbhCKRlGo1Dh056rjehET8gVf871dSeJL6jP+O+e//pGzYsGHHjh1TU1MikcRAIBAKhSORSJ06dZo2bZZ/In/58pWLFy05eCD7RF7+0iXLli1dvmPbjk8+/nTD+o3z5y387LP5u3fvW7Rwyfr1G/fs3r9wweI1a9YXFpY4jlu3bt1IOEKKtHTJ0uXLl+/csXPJkiXbtm0rLy/ft+8A2dNnn85bs2ZtUVFROBwBpGRxhJTnqaSzk3vszjZ1bOxkk9ElJSWrVq1Oq1ajFhmBZ6ZCCs+jbONd+Fs6apuYdMqEG5U6JrTrAf0xICONINBYMhBq3rItqTvZIFFWSHksL2/v/oPNWrYOhBKkFXDjlEJIQUfPBTxLU0J5IuINTky7MWVLWsTJR2J5Ma5nrEDDJs2NFVyxag1yYvd+O4jjOHv37g0Gg+m1azG0kUJY9DLeUFILgVPE3Fh54YnjRQUntOaaGRLjiQAFli1UWcxNSEpt0KTp3gMH8/LzpfTEk1Jt3bY9v7CodlZ9FeDDjpBKGSGUcJVxA8qUFeavWb5ozfLFJ44e2r5p3bQpk/fu2Ba2lNLaMlIJjwnkoXBCwybN8guLj+YeR1ohvNGROSfnUFJyihUMO9poiGHslf60wBBOx1kwpg/yZBsshDLScrVMq5FuhCwu9v59HxLvkrLy5NRqWihASEl3QEhLSysYCrdq2fJE/omPPpm7aMnitBo1mjRrHk5IdDUKsnBNicjIp3VKcmJBQX4sxg3fyRFl/OFYKi0VTgwbekCtFPKgaElENSoxtQa3sDXSay9avPTY0WOMa7SjpLEkTIwQUtLZDnAGP1FQwDgi/rjaLSoptYPhcEKyQAAhJT21LisuOpR9kF27Vq2Meg0aWKFEHYgk1axdr0Ej3LIYxyouNsJISeEKowN2IBxJyDuRr41hLnHe37hCSskG5oPrIrZwXQMYI7Q2ubnH33pr0qeffLpt67b3pk3PPnBww/oNr7/62qYNG2dMf2/JosWfffLpM089u2bl2uVLVz71l6dXLFu1ZeO2V158bfuWnXlH86a/O33ep/OKCormfzb/6b8+zeXLsiXLXnnp5aOHj23euHHzxs2bN22eMmny/r378Qnjalbly1WQZw3nwvHo4cMHs7PTMzICobDxlhxn5+7XtYQTIu0tLzmwZ9eendtyDuxzycAwNaMxCYG83moTK2xOhanVqjds3IQgWlRS7Lju9u3cI7qZWXVdLE0pg+/A1ZMGA6HnSdnYvmxLWjbLIF3X0RpTMXHfg1QqK2CkSkxOqd+g4abNmwnY1Jr4I4QksuzevTs1LS05NVnE44urtRYMBQPPEBFSkhQoqaQkMkph+McDYRDKdV0r4Fl/wyZNy8rK2cYFxDRpifDBUEJatZpaKqGUZxeGCdDdldpVwhHasXTs4L5d77791oljhwf269e+deugZUkXMkkf4wpXi4xamUZaeXknXNK0uNiO4+CKls2EbeNpUBnx+RPHpCARQPnw0dIwohdahEcpfMwIadksVEQovq+VMWPH0dFoLBjkc5UyUgkBGCYLpVR2JJzQoEGj5JTU+fMW7Nuzp2mz5jXSM4QVhMyNU8DXA+2EgoFYNMoe6L0ymPEuerXWyOzEYsqSHEm1cVwvXkMihWAgJe1wgyakM732Hti/adMmgpRSkk7GGOmZR1zfXvgTmkggPLm8emMYyLLtAGJLzIOIJSVcjS4vLVGWCoZCgWDYFZarAq4MBSOJUkrHcWMkjHD2KD0VBWxLWYHS8qjjOiwd1d9AQBUuxmZZTMEDJSV6EJSeAjdv3jJjxoyCggKUsXHjpmNHjnGuKcgvyKyd2b17j5YtWlVLq37saF7drAb1shru3L4HXXTs0PnggUO7d+2tUSPdiTmFBYWRcCQpMenIkSPV0qrVyaxDZCkpLmnSuEmXzl0SExJ2bN+Rf4IQL5RnHuetIXNKj1Nxv5o5+EglJW1SCEAIi/vI4uLSOpl1pbBMvI5I4DmBEVHX2bZrx+RJE19+4fnJk946kn1QQSSlFPgAHq0l6b0mgxWRSELDxs0OHj5WVBLFfHMO5SQmRRKTki0rqF3IMCXAH1ZgdUQebTilu9o4RrtCMLClJNHCWMa1tKu00EY5ImSHkmvVzszOOVRSUi55INSCJxp1j50oSqtRyxXK4AGGzsoSEiaYtjFC8blHQ8igvrtSamGQ3CgcgDdpuUbWql2nPOaWlJbR1TAx7eYezxPCSkhMkQJ5pNRGCCll0Bhv87cQ08SO5x5a8Onc9auXd+jUrffAYWnpWVoFhRWQhmkKhfxGM306Hj/BxbYU/COlApRUylKKn41kUiCRNlrT5IcVrR0pnIAw6EERNmkyeBQyxEEaAQhj2xaUwpOOmQi4WsgIPa1SxbQ2yo46BpEys+o3bNSs8ERRJJLarGmL1ORqRiOXUtJ4vXVMoS8pFVIbbYwR8QdEaw3L5ORkpVRpSamQEkQisaADZCys67giHE7q1btXzfSaq9euLS0qF8IWUkhLOSYgleXGdybtuAmRRLoLDEYYRDWO1g7LAa2g3o2PZSs7ITFVG7u0pIyrtLB0baMhKyrI166TkBCJhINKevSIB2gjLDsoTHyJlBBCx8HTkERAKk4Bj54paW+O4GeC1ppwQD0I4RIEAKcUBmv0OmqGPIXnOaKWZUHpOMzZONGY0TpaVmZgpUVpcWlJUakSFgFi8GWD69evD3FCJKFmzfQrRl3RrVs3rXVSUkqtWpmhUDgcjqSmVgsGw5FIgnfqCoWDwZDWRik0qmrUqNmgQUPqlbKJPpyqNm3abKHShATNWn0O/hylxNzO0BFSVgao1Uh08Pc2egK8e1rnT6UgT9byV57IKygpLWe7U1IJ6dVYwltKI6W2ZGJKcuOmTVu3bNWsaTPmZozW2hXCYJqAJbQy2haCDwqpadXzC0uKy8qNIQ88ihWjAnBUoLS0THztT45rpEJy9+SAsIPOGEwNVAodMK4CM5ZWAWEFklOSiwmE5VGBfJJHCCHLo7HcvKJQYoqybMuyhZHSSJv7VMfFi4wUDCgZALaupg+vcaAe1tqymKOHhyMJjjFl5YQwFSczecfzlLRCgRDNqEPxE0IQZYQtpCXgLHVRYf76datj5eXNWrWqU7+JVkGjbPgawWPoAgSCuJkqKytTSgkpYWPbKr1mDe04TjRKdEFgSyk6gAhj0KxU0laWxKZj5VLHAlIEFArGHk1cfSjNOE6stKREaxevg2mQQ2kkUsaXHZQmWRphpFLE5mrVaterF0xITqmR3rFbj6zGzZu0bFu/YbNQOCk1tVrN9Ay0hkhw0OhLyNKy0lAQqw0iTwVIKatXr25ZdkF+oXaE1sbQZoT0pBFIq1QoGIw0aNigT78+hSVlQtjSDrlGOEa45GS82yJWXuxEYzWq1bAs5dXRWcjEhIgU2ikvF1oYffIJhAKZDepZdiA75+Du7Zt16QkZK9qzc9P6dWtxezabtLRqgsEFj5RSuViMoxMSEpiLpag0/AD+ACBnAt3OrKyoodUYw4U3N5VcNiGWVxNvlp7YQsbx8yqk9DohfyAQyMvLW79uzbGjR/bs3rVv724nFq1Xt26D+g3Ky8oz0jOaNm0SjoQKCvJzj+dm52TbtlVeXgZeVlZ85MihnJyDpaXFublH+ehXUlJ05MhhoLCwID8/7/DhQ7m5x8rKSnNyso8ePVxSUrx33761a9YwkWgsmp9/gl4Hsw+cyD+em5t74kSeG3+k9AQ7j7lAfirEe3pajyNfULAWprCogMkkJkQkfsqaQ24E1mSkFNLKrFt/+Mgrrr52/JBhw9NqpgtpS1w6bmRxQgoPLMtKTkqETzlBWpjiwiI62wHLGC29B36QeU7CnwowQmrP7pTwaKTyXE76rURaib8YAp1IikRisXLHcfwmiLUXmB20SZ5JV7/eGAMNkliWotKJlQtDIAOVRirNWFKBAIQDj3l8sgHbVoIPqFEmjf8rpRKT2HWN110YnzMlGAAiGF6opJTUzDr1XCN3bt9WeOKIko7h0grZpfa8Bu7wLCvVThQvFDzG6x2wArUyMspKi4XrEDwEAhgjhYy3GyMIEopb0o8++XTSlHdmvDfzwMGDjuNIZTEHTxYojEHagoK8WLQ8EvGWDP7hUKikqFAgAERGowfSyMHDRtxx931cbxOIBw25/J4Hv3vt9TfWa9QklJh02eUjr7/ltsx6DQ05oJRGCPgXFRYlJnoXk+Lzh0rcrE6dOq7j5Bw8GLQs4xhL2MawrCq1Ws1evfs1bd5SSyuSkta7/6Ahw0f1HjS4UZPmdjjBCKmk0trRrlNaXFhaVNigQX0jhOQfbaSU5CU65rhO1EJXRlgwVyaYEGjaqnlm43rZOftff+NFYMqkV55/7k8rVq9Oqp7RumPntJq1NBkoU4SPlK7r4GXJSUQZpeEuPn+koF18/qAQJkLJuD4CfibQBFC/a9eun//85z/96U/nzJlz9OhRJ0Zq6GoG9Zboc6bn/Fdrr6dt29FolG/PJWXFQy+/LDk1cfO2TaVlxS1bN3/goXvrNcjavHVTlJFiMaFku/btDh0+VFJWyv1DVt2sHr26HT6aE4zY3Xt0cU2stLyoU5cO0tKHj+W079g2M6v2oaPZ6bVqtGnX6sixnHBCoFv3LtFYtFOXzjVq1kjPSB946SA4b9u+jUQps07t48e9KIMqDNM551mcjRBrPFuTEMJvYmUMh7qATWbruPrkzR+1QiiD/2MqdtAKRdgvrWDEqIAWytGG0ghp4GEkhdauFJozfTBghfgJkZKSjAs5DgwJWBoHFjgApJRSC7xLCCPBcH5AevNlMfBQrMPjC6mhVgkjtFNWWhwJ8bDNGiniILFLOykpMRotq1AWiiNGaK0dx2VFC/LzC/NP8GZxuPCIGA43tjXLKBjeCEOpY7EoPMOhOHNLSSUya6UbJxYtKVZMFPG9mUrh9fbk0wK5RHJy2oBBQzgkrlyxbMniebHyIgVv4XrCKU4FEqSspBD5U1OTvdkxmpDGA1MAABAASURBVDHBULBhg/rFBflkyUJo6YGREmk8CHPqbNIspUbG8lWrZ8yaNefjj3MOHUZG5DSoRUBo6MJAO7ZucV0HA5JCJiclVUtNPn7siGYi2stlXMNCBes2bNy2Y9faWQ2kHa5RK6t77368ktpoO1yvUdNuPfuk1qzpCoSWQqlotBx3ysysHYl4kQttKXIoT26RlZVVv169A3v3lpWU2JJjlhAC07Lq1Ws84fqb+/S7JBhJJOWs06DJ9bfccfcDD3fp2ccORYRUlhSWNCFb5h8/KtxYsyaNLamYiBHMRFVPS9NuNPfYEYm2UJMQdFGhcJt2Ha4ef32L9h327Nv/6isvvfTCs5vWrqpTr9HlV47t3ru/HU50hTISAVgFwzZTWHA8s3YGBsw7LOKyiTMfZkTsWLFixcqzP2vWrFm9evWqVas2bty4b9++KVOmPP744//v//2/2XNmH8g+GMP/pTQa8c9k/0U18vPHsqy2bdvcdsctT/zw+48+9vDgIYPSaqQIpbv16HLX3Xdcc+3VHTt1yKybNfaasY8+9ujwEcOr16xRO7P2Lbfd/P3HH7t08IAJ1137w/94csSoYcOGD33ksYevnXB1v/69H37kwbvvvatvv1633HrjYz/43qWDB1474ZrvP/HokKFDRo4aed3114Hcededwy4fNnTY0Icf+d69993bunUrQh5CfZHQ59zGSnwxLfryICU1KRQKciTBP+ngVUnP88ORxHoNG9fOqifJgZUdSkxu0KR5g6bNU1KrCWWx0gZ/E0IKYVwX7XOIiIQjnrtKUbNmdTfGeaLcspTWrpRGCNxTC4GfUAijWS5GUclp1TKy6kUSk6WXyEAmRJytEOTnWgojdKwwP4+AwiEUWzF09Zxf2gG7evU07IxKrTVaA0DoCLJp48YXX3zxs3nz06rXaNioUSAUFlIJKT2I/xBaSW+MkuJi/oZDIakJn54ATZs0iZaVnDh+1BKGSikkPLVGYEEi4RqjpS2scNOWba8Yc4201JwPZ27dvFFrx3XZ8bSRBCT46ONHDknj4k7SG1rBIBgMNGnSSDvR/LxcAhmzgzVgjMGr06pVH3nlVffc9+Att915+x3fuXb89Vl16xkmLAQEQvIPgd91yko2b1yXEArVycyUUiYlJmTUrJm9f69TXio51SCdkNpIFeAAFJGBoLFsoyxpBVGZkZawAiYQolLZQa0sKYUS3gHw6OEcoklCQgKzkEwBcQ1TkampqT26dzt+5PDR7IOcS4U2SllaSLrXzKiTmlbTCoZcYVvhpMS09Nr1GqVUqyFUQCnLgjQWdctL1q9aXrNacp3MWpbFoVIKIZlORkbNhFDw0IF9RjtSe4+rOQGFIknpAwaNvPvex2689d6rxt04egwZ2O133fvgyDHX1KrTQFhBFQgjFjzQSl7uMTdW2phDlpTwFYY6dCVOexgO837zzTeJGk888cQPzvI8+uijEDz22GPPPfccMRc9kHq8/vrrP/vZz375y18uWDC/tKREKm+c0/h/8auU3nwplVKhUCg5JSkpOTGcEIwkhLRx7IBiLuCJiRErYAeDdkJiQmJSQiQxgkXZAYvXcCSUTJdIMDEJDwtBnACDhHBiYgSnSEwKJyRwYxNMSIzAORIJJSSGE5IigaAdSYxEEsI+wCQhKSExMTEYDAYCAWQ2Bn3x96JA/bPejKGF0GlpqYGAfeTIIctGg4YFl+xjQtSqkzX+uhsvH3lFUmo1x6jq6Zljr73u+ptuadC4meD6A93AQLCyGrFJN44cPpyWmsKuYilZN6uOw/5eVOBw+SeFlEIAQtCJHp7ahdEGmw906Nx93PjrWrdpa3kP2xQ0HikeaFmQa+7JDh3cX7dOZmJCAn0Bj5vwBs3ISM/LO441iPiD1mT8gca2A1HX1KxVZ/DQ4e07dA6F2aI9hUijlTCSkCcgpZvJyT7I9BMTCENelVJ2y+bNkxMTcg7s125Ua9cjgqPRIi6XZQcIuOHE5ITktC49+3bt1mPv3n2LvX+Vs1x4E4M5c9NuLLZ317bEcCC9Zg04aDgwoFJ1MmsTd3bv2O5JAk+thRFSEZiEHQo3bdG6c/dePXr17dazd8dOXarXTLfsuGdKZQwsjHFjx48e2bJ5Y+tWLVNSUqmzbbte3Tp7d+86djgnQNAwBBBbS6mNlMQXIeHugVJSWUJZRkhajeWpmmGlcKVxdm7dVHjiWJPGDQOBgIJSStd1QZAcoxzQv19Q6j27tjmxUiGIpDGJsyklFMmN8ARTyjHCCkUM/BnGUkY7SnL9a3IPZ69fs7JT+7apyUmKKiYipKVUakpy/azMjevXlJUU82pZlpSWMCElExMS01u07j5i1IRx195x7fjbr7xyfMcuPTE/mxRJqRgJshAKydzY9i0b0pIjdTIzLCkk3b1qWqSm9RTAMJhOdnb2jh07+Ay68yzP9u3b/dacnJwYn9XwAmO4VjtESnnoUElJKUwM63UK53NEpZTIAPFJBGmVkh5INhGUqSxe0aQrJFQskbAs5eHxV2VJ17AjnKzxu6BER7v0dbXGhngF97rAib5Ce6+ebfEz4BpjEx5yUgYhlFIMdpHwT1kYbwAp6tbNSs+ouY/N0Ilp7VIZtxsrFE7g1N2oafMAx2x2p2C4Rau2rdt1TEhKMUIZJiSlkNJxHEvJwsLCnTu2N2pQPzEpUQrRtHFj27YOHtxPq1ISPUArhImDBlee3oUKBOs1aNSrT//69RuwDEZrKBDAB2nQjEMis2/PrnZt26SkpAhYS6TTEEci4QYNG5zIP5Gf733E0dpj63cUUjZt1uy6G26+/Z4Hrhg7LqtBYyHoKeiq4k5Fd9vzBFdJsWfPrtTk5BrVq3kUHolJTU3BK7L37yktKmBq3qJKHjxIsqJJKamjRo8ZNWZsjZp1qtfMvPKq8dfdcGvjpi1dIy1vqaXUBuc7cTx3z/YtLZo0rl6tGsMJoaS0sKNaGelNGzfctHFt3vFjrhOzLBnXifR0I5SWth3fdILhSDAcVkqhEUObxxVb0rY0mzasla7bv1+/hEiClLAV7du2CVpy+dJF0bISo11jpLRsT5OGrmcA3IT3MKQULvGgMO/YmhWLM6qnNGva2LIsBsWdKJmz9rQqqe/YruXmDasLThzTblSyLsxECIPswiihvb9SiTiAU6OkIGUrKy1asXRReXFhz26dg7YlBI1SSA9Qcq8e3Q5lH1izcrl2Y47DWqAL5iilCljBSDCSklo9I61G7XBiaiDMPh8U8MfyGNG4winPPZyzbdOGLp3a16pR3XWIlUIIxU9Irzj1J6VMTEy87rrrfvWrX/36178mMakUfvvb31IPwR133JGenq6UqlGjRvfu3TllPPHkk4MGDUxISJAqPsSp3M8TZ10MZnY6oEyJPo00Z4AwqPpzeimVlJbjYhdSUwgk4ppMSi98+5SUZ2MFp/MU95+Rf4E6GCwO8fVITUlp164dl8/5+floViqswTMiyw4EQmFlB4SyNUBDMGgHg8Lbr4SQ0gMhgoGA6zqHc3Jyc4+1atUqKTFRCpORXrNu3brr162Pxfh2w7SJC9rTlfAeY7SUsLPQFQwTkpIJN94uKv9BZomDOLHt27bYSnbu3CEUCmgvCHproZRA1Fq1MhzHIbkF1xr+HnP/xw5cp37DBk1aZNSpG05IxOuQyhLaMi6gpIAe4M59x/Yd9erVJYQxmvDmJJll166dj+AB+/Z6iy6lAZiEByKSkNCv/4ABAy+rkVFbWaHGTVqOvPKaXr0HhENJrsYWiKnGxGIb16zJPXKoT68ewYAtpJI8ShljIqFQj+7d8nJzly1ZJAx3o44vsKCrkJ6cyhZoWEihvHGFkEoq7WpLWdp1Dx3KWbp44cAB/Tt17GBZlhDCslSjhg0uGzRw9crlO7ZtlRIpkdcCAa0UhNBCGCm8j/rGKSPX2L1j88C+PWtnpGvNSmEbsMV2DYoFEhMiA/r3KjqRu3TxAuOW01FIbZQ2UoMDcBPG6+WVxkjW17jR8rLtWzcvX7zw8iGXEaeMcNGwYV6AEcFAAD20adni47mzc48dpaMSriWjSpYJ5QjLaEs40jhSC5ufcbVrjCsFEVwGLVlanD/vkzk6Vtq3d8+kpIgVV4Uw6KNywLp69+599dVXjx07dtxZHlqvueYaykGDBtWrV69///4PPfQQd8B33XVXh/YdwuGwlFKzxpWPcE61cQEx8jOBpZRnZ/F3es2aWAEpbaUCMceUlTtGWEISd+htCXAPoJe8nwlxAc6svvAaRjpLZ8Nya88y4u3BUKhP794OF+A7twvtTcLEHyGk4xpL2UYbi+U1wrNATEsyASWkNIiMrQr2lfK1q1dlpKe3adNGCKGN4ITStl277ds252QfkAKedPHIaRWG/tJ1HQ8XQiqs1fvjaO0aTavHVUhKpUR+/vG1a1a2aNG8Q/v2lvJ8VRgBIwC29bKy0qtX27B2VVlJEbkJXBDciTukEAhoSdYDp2UQ3gSPoZeABfy1MY6zbfOGovy8Ht26JiUmuQ5ugJzI5nbp1CEctLdsXM/3EQycHsjDoHFOdiDkHXaJj1pIYfGWHEpIsgNYIXoSlpQnjh1dvnhBs6ZNunbtEvD2cGRGNCOklJbVvl3bnt27LZz/2eaN66WnLY1IzBw1uUa6RrhCSsvWVAspLYnQuDr93WjZ4vmfBpS4YsTl7A3omTCtNYdH++qrRtetXevDme/xsdJhJhryOMAaQGmUzDoOQvAHrkYZ58De3Qs++7hLhw6DBvQPBAIMJITwSxAA/sqSHTu269unx6KFny5fulDrKMwMP9gAZDNCCiBepYQgmirjHjm4Z+4HM+rXy7rmmrGpaamsrfSIjYvQQmjXrVEjbcL4cUWFeYsXfGqcciFigDZRLYCYwS6UEZ7jSGXZSoIJo7USmpupTevWLl84b9CAfq1atlCYonb5R5zlYTooHmAulGcDevuUDRo0uP/++3/yk5/ccsst3bt3r1atGl0si92CvxKyiwMp0NjpQCVcNTNEN8IzOLTJX1YOoPUk2Pijy9rJokLv3/edPu29vXv2s194+qH670Avup8BDPKlAstdOT/0JAUZpo43SyXtVs2aNq1Ta/PyRaa0KFYe08JRAYOhBkRQOVZAuwG31DKGRWdF0YDQQgrLaCGkrR19OAdb3T6wb59GDRrYUtkW2XGgU7tOyUG5ZvmiaEmBZwaSTkprZfAhwaAqLgZa9bRp4CdZRVsZaGxHcaGojI4e2L3txLFDl/Trl14zQ2FsKiCRTGBwUglZL7NW9w5tNq9cmLt/p8L0jRY4BPIaI6XEPS3hWEKTExghtJRaKFdYWgUcYytlleYdW/HZnHaN6nVo2VxKJe2wlgFtpGWprMz0vj27bN2wevf2LTrmSC2lQR7GtY0JGD7lStsoqZUWUnhj2TZmLoVhOKekYPuGVdHi/MsvH16zZk3BY7QVf5SylRVIS0u+9upO3DrPAAAQAElEQVTR1VIiH334Xu6RgzpWZoRwDcA4lpG2FiqmTXyFXMeNGUmFcWKlWzetWbN0/phhA9u1aBJC0UoJFSANtAOBelm1brp2TP6h/WuXLXCLi2xhjDCOcLU0wlJGMXHlGuloEUNobRstg0KWHM9duXC+dJxxV4+rk9VASUvFH4RF6jiqwKUQqclJY0YNb1Yvc/a0KetWLIqWFhOTY8aOmUCMBFHYUqBs19La0q6JlR0/uHPZnHfs8rwbrr2qgfdvmgVtO6iktKUMMIgUdkCGwoHu3TuNGnbpptWLD2xZLcqKYaVlyAhWwRJGGm1g5rjC0QFXhITAPIyIlubm7F/y6ex2LRuPGTkiOTlVWQHLDijbEggqvUKJSh6WiTssplNJW7yK+UIDmpWVNXr06E6dOqWmcmUZUJIWBWPvj1UpbzqdE0iBeEbifaeDVkJbRhNCpetK9mDHYcHwOOFqdGGccsknYB0zbnnAMrxawj2wd8/rL7+6f/ceRV/0pekYU8bxKA0DVQIXJb2o5Dk7w/hcheQP3byyWlpav759dm/fvnblioASQUto1/EIpDIAmxPOiaPFESGkHbDQtjSuLXVZ8YkF8z5JToqMHnNFQgRTwLzppBo3anDF8KFrli1Zu3KpU16CyUDPmMoOCC2UlqeB1IoaKaTFw8JKzdfZFUuXtGjSmAM85iZOPhDYkqAgZSQc5mIyPTV55vR3ivJyhRNVwgBxQmmk9MdBGiOkACSVlodrxyktWrliSe7Rw6NGDs2olW4RkwyeKYwQGHdCYsKokcMa1a8ze8a7+7ZvsnUUtUjjSkgwBSGEx0ppYQkrIKQyRtuWhIdwo7t3bFm5bNHQywZykpfxR/zjo6Rs0bzx/ffcU1pU+P70qceP5OjyYhwIrSuBtbkgtiQQinAwYFtEoFjxiaNL53809c3XunVsO/LyYUlJiYhpjNQ0GoEXSCn69+s9dvSI5Qs+XfDxB0W5OWgjYClbCuKTdqPIxhABSzIRmCu+Ih8+OGfWjG2bN10/4dounToilTHmHyX9+5uUqn6DBt976MEObVt9MnvWp7Nn5h3ab+nyoNLhAFrAssssEQ3bujDvyKrlC9989aWCvNw7b7+tT+9eSikh4vqP/xGnPKFQYML4a/lINP3dt9etXm6ipcxdakcRY4Wx4g89UYs0MaUdW7gH9+6a8tbr4aB95623NKhXR/qcpfD/ivjjv8XR8ygqps+wUsLjPPqeOyl8zwLKdbQl2QBI+SzFhucKS3orZlxts7mySxhsjJVUlrRDgVCt9FoKT3JcBSHG4BijPQKIkafSUaj/coGlPQtDbAn4vNEYg0C9evbo1LH9tKlT9u3cbGLlNr2ZnBCukK60HGlpabvK1hJa4zoxN1puG0eXF61bvXTD+uVXjBxWt05tI10jtPCM3xBxxo25sne3Th+8P23Hlg0WJiK94KW1kUZZxlJGnQkIpbXDANztzXh3SnH+sWvHjqlRLVUaTZMPWmtkBpdSNm7U8LpxV2fv3b1o3kfSKWcUaVyahJRGKCOskyDBPfCahA4H9Z6dmxcu+GTYsMt69+mpCBfCuC4djZBCMneh62Zl3nnbzTWSwx+8++aeLWtMtAiPsozraQYX90ChjahD6me049Cky4rWr1o6/e23GtetPeaKkVxRKaXibOPDfl6gBlvKHl06PnDPXcey97/58vPrVi6OFeYGdFlQkTK5SscsAzixkgJTXpp7+OC8OTPnf/hej05t77jlxhrV07zBjTBCKCl8VSglw+HQVVeOurR/nyWffojMB3dvjZUWubESW7pBaSwdE05U6ljAxKKFx3dtWf/Wqy9uWLVswtVXjhg62LaEpzABy8+lPOWvYSzpjdS8edOHH7hvQO/u65YtnPTSM3Onvblj47Ljh3aXFRwuPn7w6MFd8z+aOXniix/Neq9+Vq177r1n4MCBgUDgFE4+Kv0/zEIak16zxu233ppZK/39d9/+ZNa0vEN7bbeMIKhYR+0I10vppFMa0uXlBccXz/to0msvO2XF37n9lvbtWrMZfc7qS/sr4w8Lx1+Yol4A5KsGlOzExOJFS6dPm7lmzfq5cz95f8asnOwjUthbt+6cOfPD6dNnrlixuqiovKwstnnztqlT31u3fnMspl1XaFds27pjzuy5M2d+sGvXPmqEqFCy+Eofz1cqHwABPE/y/gghMdBAwM5Irzl+3DXVUxKnTnotZ98OEyv1ljludviSlngUIOKP94UySPYdLd6wZumcWdM6tmnRr2+vYMjGbrTRRtDDCyHp1VNvu/mGxvXqfDRrxr6dW4wXvKTFxiSEKz0i6E4FKpU0Sjv5xw599MH07ZvWXjl8SId2LQN4NsLGx/YLKaXWWikVDAYHX3oJjrJ0wWerli0UsRLLONJoTxKiHWILpUG8brgQoKUb3bFx9Xvvvtkgq9aVVwxPS0tRlhLGtdnrDVyRHOauVIKM4947b6lTPWnGlNfXLFtYWpCrdJlwy5VxoBdCC0HGoZTQlnILjh9e+Nmcd956tXG92jdMuKZuVm14ISc2SumNf/KHejTdicJ9e3W77zu3pSUGp731xvTJb2xZu+Lo/t3kLcotM+VFZSeOHTm4d8XieZNefWHDigXDL+2LMI0a1peEFiEcx0ElGmULJoXcLhtcekb168aPuWn8VUf2bZ/8+osLPvnw4O4dZQXHvWgVLREOMzi0Z9vGzz6c8c7El6OFeffddeuVw4clRUK2UmgehidlPO0PajRSeAPLrDq1b7lh/Pfuu6tZvYwNyxe8+cJTf/71f//hf3/259/+4pm//GbW9CnKLblxwpiH7r+7c6fOgUBASgzsFFOUQkgppOCJFyZoyRbNGj903z39e3VfvXT+pFeeW7bwk+OH9pUV5OryEjdWVlJUUHT88Nb1K9+d/OoH096uVTPlkYfu79qlYyhoGSIRs4fXlwFSehLJ+PNl8DtfHlJrkXe8YNJbU+bPW3g898Q770xbvHjp1q3bX3j+5R3bd23ftvNPf3pq0aIlmzZtffaZ53ft3BOLOmWlMcsKbt++67XXJm7Zsu3wocNvT3mH7yHnO/YF05+ytP/Iwwj2eQAC1BpXqhSBgNWyRfN777rN0mWfzpm5c/M67lOMUyZNTEm8wpHGlWQZmv0wqp2S/NxDq5ct/PTDGc3q17npumszM2oGbKKMVJYlYCmEJYUUpmnj+rfddF0kID54751VSxecOHaIWKOUjomoq2IVoC2chqQgWlaYd2DXtrnvv3vkwO4brhnDNpsQOvmvulRMAvaAxUBC4HHJycnXXH1VhzYtFnwyZ9mCT/MOHyRE2kQNaSThQJNpx2yhpXakhv+JzetWfzh9ioiWXD/+mob1cVo8TOFBUsJNsqsTO5SlhJSBoN2ubcubrh9XP7Pmx7Pfn/XelM3rVh7N3luSf0yXF5nyYresqKggN3vfjnUrFs+aNnn10vk9O7e/7ebrW7VqTsyylCWEsCxLSglSAcpSUkrLkkl8u+nb+/sPP3jliCEnjhz4cMbUGVMnfTj97Tkz3v3wvXdmTn97+pSJCz6eXT0pdMeNE26+YUJWZi3btqRSXnebfEhYSsAnLrCkXhjDl/Jrxo5+8J47Wzaqt37FkrffeGXa5Dfmznz3o5nvwnn65DemTZ64c9Paru1bP/bw/cMuG5SWmmRZQvyDgOL0h/GUpTxQtpLVUhIv6dPjew/e++T3H77myuF9u3Zo3aRB57Ythwzs++C9d/7oB4+OGXV5VmZGKBSknw+nM2S8+IhKSSVNOGg1bdzg7jtvuePG8WmRwMKPPnjnzVc/mP7ORzOnz5313uwZU6dOenXG2xNLThweM2rI9x/9bof2rcPhgGR940zOYH6BFWcR9QK5nW83KVUknFC3bv2EhKS0tOpt2rQtL48eOXzsk08+W7t2fZs27Xv27HPwQM6nn8yb99n83bv38tquXQdujow2mzZtWr58heO4MCHEnDiRf06jfxlE6guYGKE+ByzTsB2yXqTcl/Tp+dDdd5KnTJsykX1p/87N0eI8XVpgaw4j5bYpt7jPyDuyZd3K9955a8n8j7t2bPPwg/e1a9kyoBSMmKSUVhyUFPxjCSM7tW/7wHdub94ga/7cme9NmYhDHj2817jFRpdYMipFGUi0PL+s9PjO7evnzpw65fUXo4W5t0y4ZsK4q6pXS8EMBT+JK5yckDzlEYwrVa2MWvfcdWfndq0WfPwhQ2xbt/LEkYNOaYGlY2GlAyKmnJLSvMP7t2/89IPpH7w7KSMl6ZEH7uvZrasXAgSKgiNiKyxeElIRXHo/IZUdDLbv0P6B++4Zf/Xo8qKCmdMmvz3xlffenjhz6ltzZkyZ+c7EaZNefXviy3NnTQuK6I3XXnXf3bcTYpQShHKpZMVzUnTvD5yVVEyHRhEM2M2bNrr1puufeOyRG8dfja+mRALEcOWUZ1ZPubRfr+/ee+cTj3738qFD09LSjFRCWcbQ0ZIS7kJJocgLPX+DrZC2TSPr2Lt3j0cffuD7Dz9wzegRjerWCko3xiKaaLsWTcddNer733vwwXvv6ta5QyQcgpcQFEqgYSnFWR4ppUclvWajXWJdes3q3bt2vuXG6x97+MH/ePIHjz/26H13fWf40CEN6zcI2cH4/KX/eH0q+cHLsA9JadCWJUX1lJThQy97/JHvPvzAPYP69apdPcmUF+rSEzUTA13atbzt5ut+8OjDN15/bYN6WSgNzkIisxSyEtYXWSXjj88kjn4FY/jcTy0NLyS+muXLzMwMh8Pei9GlpSVlZaVYVEpKUkJCxMRrotHy+N2ctm0VSQiWlhZrHUtIjLRt12bUFSPT0+PfHOD31YM6+xDSnExnUJ80higTX2+B0LJn9y533XZzv97dd2/b9Narz7898aXl8+duWbN0x4aVG1Yt/mT2e2+89Mx7b7+Zn3to1IjBt9x4XfPGDS2FqTAa3CxhcFUlWXypXEEsk8FAoH3bVrffdN31V49WsRL2/Ff+9udZU95YNf/jLSsX71izfNPyRYvnzpr80rPvvPbCrk1rerZv9cBdt1x2Se+kRE+nhqsNYWlMihEqAx0fi6PEbTffeMP4sSJaRAqAkB/Pmk5ysWX9yvUrFi+Y+/47E1+a9NLTO9cvH9ir83133da3V8+gshWu5QmJnKhLSgEvQ2pgPP14lS6ebdkNGzW8YsSwB9htrx/folFdU5afvWvzzo0rDu/ZHDTlXdq1uue2G+6/85bLhwzKrJ2ONoSkrzSikodKBDYefwgYUEgp01IS27ZuPnzIZTdcO/bu22958J677r/7ju/cdjOhjbjfIKt2JCEipGWEB0LaRiivmxCelwpTIbDWEjJB0mEHMmqkde/Y9qpRw2+7ccK9d9z64N13ATdfN27UsMs6dWxXs0Z1xUJxoBc8UsDpJIh/+khFGmVxVlOWHQ6FkhIS01JSkxOTIpFIIBCEl5BKSvVPpPP9NwAAEABJREFU+XgEJ20PuY0Umuv8+vXr9u3Ta9zY0XfffvP937ntwbtuvvu262+aMG74sMtatWiWmpqC2NKyGCKuBPTssfkW/AwfDmJlBw7uP3L0cE5O9q5dO4qLiwoK8jp27NCiRbNFixauWLGsYcP6Q4Zc2rlzx/T0GrNnf7Bz57YT+cf27NnVoEHdBg3r5+QcJCQlJycoT/dYxb9CK95QZxsHEQC/VRIi4hcZQruWpWxLtGrZlFtGUuK+PboWHMn5ZPb7OO3Lz/3lzZefXTb/k7BlBg+65MkfPHr16CvSa6Rhq7Zladd4PDyPxXkwew+MkMLbe7npldxTjBox9OH77xk3ZmTTrIy9G9bNeXvSxGf/9uZzT09//ZXVn31ilxYN6dXjkfu/c/89d7Rt2TQSDihDBii1FhigEZU/xnjDSSWUJWul1xg1fNhj33to9IghSSFr9bJFUye9/sozf5302gvz58wsL8jt273TQ/fccdsNE+L/yz1slZhId/wC8ATmjxTeUPyILw7Gb9lGWa4QCZFwsyYNh1426KH7v/OzHz/x85888fMfP/Grn//4J48/cu8dNw0d1K9Rg6xQSMm41vFD9CHO8njMhdDCG8kY3ii8QB+wZbWUpJrVU2pnVM8kSKQmogRLemEblyZkC8tGJC0kcsEbUaUA1eBw0SjfE1VCCc5clNAJQat6ajKaqVOrJovFYScSDkopjKGjUZ/bo69hA6MvhM8JpBZSKlsT7ATjxDcqDUuBGWhWxEhXfyEjGg0/gIl7pJKJIJanE2++iZEQkReZszLTM6onJyWGlVKMhNwSgzOC1dHMV8bVLb6WxzAqv0qBpvMGKchQLEt269YlITHsONFevXpkZtZu3qLprbfenJlZy7Ktm266oWfPHj16dh8/YTw0GRnpQ4YMDoYCDRs3HD9hXFZW5v4De+yACkcC5z26p3lx5lxO5VPRemrlFy0AbYC3bEJIKQUrKKW0bCmksngCqampvXv1eOCeu0iGn3zs4ccevOfhe+/8wXcf+I8nHvvpDx+/+87bW7dsGQ6HLcsWWKjXy+sneCS/k2BJKQWmDEOPczgYbNOq6Q0Trv7Zfzz5kx89/vhjj3CNxxDEhR8+/igD3Xv3Hb1690hOSfJuR5QlLAtpsC4lhGSKovJHCclDmxWwwpEQ30FuvfnG//qPH/30yUef+N79D9592yPcIPzg0Z/8+IkHH7y/b7++adXTOAgJ4Qmq6CxOe5QQSgplKUDGXyTvrIKUIhIJp6ak1KxRo1GjRs2bNcmqk5leIy0tJdmyLMKFEZaSlrIseNsWXUWljxSCNimgEtJ7lFKWVPRSeKoV9yIamLGUVAr8VykJvaUEe4BUAlycfJQQlhBKeuDRQKmU96IsSylLKh6bnxbw4whvtIYfL1JIpY32eEnhPZSAh53+oxo4WSu9h9hARwZwtQuTouLi7JxsoKS0REoEJiwz3Mke4rS/Hi9+QFx4aQtvSkryj4XUlhCSp6y8jC394IEDB3Nycg4dys4+ePTYUdd1EV0IQWcfxL/kUQzIeBhBfDhpNFIit6A+bpva0wiiYacXDgnJyQMuHfTAww+NGDXy0iGXfe+xh68Zf3XtzFrde/cYf8OE8ddd26lb50AkmJiSNHjY4Dvvvmv89RMeeuS7I64YWbtO7b79+918261XjR3bsnVrKxBCMOMJdu7CIDwmzDxOB2+K/LxlxVwg87QQ5+tpRImzPDTSBoB4IDFFS0glFGAJz7Kl9wiRmJjQskWzAf36jBw+bMyoEaOGD+3ZrUvdrMxQMGBZmK5FV2nRxfsrpMcgzlCASyksD5SUSipbWgC4DAXs5KSE9h3aDbp0wMhRI64cfcXQoYN79OxOyhcIBpRlCUsJKyCULaRNXyWlBSgYizMfqi3pDaSUlEoIJSgti5ua9G6dOw67bMBY5L58SL9+fZo2bZqQkKAsS8APahAlheQRUsSBP8ISwpYClkoJ7w9YHKSSUqBeY6SHgksDH4kD04UWJZBZWELaQnh96S6pPgOopMkHcHnyoUIqZUFOEKCMxRwhiAJ4rIKnFMJWQgkPrHgpIRIU1J0qsKTVA0mbomMcQCRsi0tKNm3etHjJkgV8qFi6dPmKFdFYDDZSQHwSxNmfv5NJYUmphJACbUiCy8Q3Jz7+5BOPP/GDZ597JjvnIHqyLMjFWR8aPQZWXDzbK5k7apNSSClBlNq778B//PRnDzz08IMPPfzQd7/78Pe+9+e//CU7J0fxSAl7IC7DWQf5shqkEN5MheCPYG5CIKMtkFJQL5SQSgLCozvp2idjjjBx8nMupSExCYUCIY6eISsYtgFhaalMOBIMRYIoCVxIbdkyFA4EoOEOLGRLJSybFCYUSUxEGmUhkzi/oSGXRihxJkgeYQnGUN4xmclAGwcPpUccv9BCKZQn/d7GeHug1nyc904xfuUFl/LzBw6gxnjigtu2TXkxgIQw9CUH8Vn5r4xCKwDi1597SRc6woeS7ZQyFotRgtMEH0paQS4SCgsL58+f/4c//OF3v/vdxIkTDx06VDGLi+GMeJZlZWdn/9d//dcdd9zxyCOPfO973/vNb35z8CAR4fwYwwrw+6CB/Pz8l19++ZlnngkGuYMsfeqpp6ZMmVJUVESTT3PBJQxbtmzZrl27Vq1aoYRPP/1048aNKPziOV+wSCc7GuKJCgSCSni5p9Ekc9oLNyeb4394/78GgmkxjzNAGktoEbBCQfZRb+7i5BOPDRcbZbT2YgocCwoK1q9fP3369O3bt/OKkQEgFwM+c58PJdYDUHkxPP2+Pp+ysrLjx48fOXIEN/AjApZKIKC8sFHoCGdKuO3cufPDDz985513MP28vDzkB/zRL6aE8/LlyydNmrRq1arZs2f/53/+5xtvvMEs/HEvhjN9kbC8vJxAw1nv+9///n//938/9NBDmZmZNJ0vwMrvgibx/JkzZ9aqVevJJ5/84Q9/WK1aNXSSm5uLonyaCy7r169///33P/EE59wH27Rpk5iYSFmzZs0LZvhldZTs6kIG7FAknGBbASUV7mbi5wyyAR+E+bJG+xfy0ZzVuQY8HYRRQSYbjFjCUso6TSB12vu5vGJAPkCslMJW9u3b99prr2FAjz/++Mcff+w4DpUABBcMdK+AXbt2zZkzZ9GiRWyADH3BPL2O8R+mv2fPnrfeeusXv/gFNvq///u/8+bNw8Fo9PkzL/ALA4LXu+++i4u+/vrrc+fORSGHDx9mRLhRMimQfwqI4QOUIHT0Ebo3btz41ltvJeO49957kXnFihXFxcWWdfrSQv9PAc4AzCkB6Jk4AYuI0CP+dO3aNRTiAM+NKu0nAbJ/CpBCQwlzzIOEi8iF/3MmrVevHiHGj7zQXAwgbSAQCIfDrObixYurV6/ev39/zrwXw/Mi+hI2AMEaCUFUkUrZ4VBCJBjmfBOwgpa0ACVUHKQUZwMlRaVwNnrqK6X3K2mtFPzWSstK6am0FEHkDLCkHbbDyfxjhz3JtZBCeD+JNgBxgVEG08GAMMdoNEq5ZcsW3Ank2LFjhYWFNIkv44EPA5ElvfTSS2ytv/zlLwk3VF4kbziQEZB5bd26NSUlBYHh/+c//xlnYAoXwxxppZRo49lnnyWyTJgwgVzg2muv9dMBmhgaOJchfDK/hC1dUDWIUgovxWMJ5WRhvDZo0IBAcMGSwxNWQElJCaOA2LaNcjiRPffcc4QwxkUMHyA4X0AwUkXYkmggLZCUlEQgLi0tPV9WZ9IjFQz9UEvy2KlTJ3IZas6k/OprcKc4xAspWG3PgS0rGAklJ4VTEsOUyUmRlOSE1DikpSSkJUcqhdTkSKVQKbFfWSm9X+kTnFn6rZWWZxL7NSnJiSlx4b0pJCWkMJ3ESHJKojeXSCBiS+6CLEuqU9I01HFBUYYFYyGxThSJRYJzNuYMP2bMGLYR6qmB5ksBbPSzzz5bsGDBiRMnduzYQXT4Uthynu/cuTMZwYMPPjh+/Hj2Q/yK/RbhmRS2S3kBAzFx+q5evZpA0759+xYtWhDFCApJSUlwhiGtAMg/BV8ASujxImQDOMvgsfjn+++/T67EZQfxBb9C7T7lP2V7GgHMCSIcvmbMmMH5i7MYDPv27ctJhJMvwfd//ud/li1bxirA/7S+X/AKMQABJUMwd6IMryRc/isIlgNO5cWAz5+9jUQGJQwdOpR05mIYfnl9pfCcyxICxwsFVUIkkJQQSk0IpiQEkysgMZh8JiQFkyuFMykraiql9ysraE5D/NZKy9MoT3n1hU9MCHqQGGJGSZThQCSgAsooQBophQDE5xfLIBeSy2A02AfbEYk6GyCeX7du3W7dumVkZFgWaoWtB1L6Y3n4BfwYQkrJ1ePkyZPT0tLItEmM/coL4HZaFxXPCOCZnJwciUSweJgnJCQwIkNA7Jcg5ws45IEDBzjZ5eTkvPLKK7/97W+5oN29e3eFZhj6vHiibeILDg8rEi6SC4Rs2LBhly5dOB0QLrnjYEQqz4utT8w0iVkEF5Q8bdo0WOGlDzzwwB//+EdufOC/ZMkSojyTgh5iynMBKAEoKdFtamoq6uWURLhkOBBqiLwXJjNsTwWG2LRpE5GdsN69e3cUQuuXwhk+5wPepv0P9Ab7l1IoKSxAiYAl4yCClgcB21QOlglWCpXRn+RQKb1febZefmul5dm62Ma2jWXJzwFcKItPqIJrGimFEgBqAETF473QUPF+rohlWZg1GynXGXyDINHwdyr64xLS+/f3WHoPqLlgoD+B7IMPPti2bdtll12Wnp4Ocwai/oJ5+h19P/f5cBxbuHAhhyZuIYiVfpNf+sTnVcITIQm7uCU8cSTSeD6pkHogOZUQnCND1FhBiaMy/Tp16tSuXRueOFKvXr1uv/32u+++m+CO/NxKMOi5M6/gzCjE2dGjR3OnRjZ6zTXXEA4SExNr1apFOsNwqILQcCpnulR0/6cIU8ZaSHUJ6Kzj0qVLCWTEXPIvwtk/7X4uBKwgp3VMZcCAAexz6P+8JDyXIS6CRgqhVPwiQxpcMQ5CSQ+80PP3yopWD+GGtVKId/cIzkQqpfcrzyT2a/zWSkufoLLSk9yXn29npCt4uwdMMw6i0udCogw2RxazYcMGcumVK1dynYELVXDHLrGtiteLQUgHiDLNmjVjm8K1YAVzyosE5Pc5kIixUXNY4DvoTTfdxN0k9b6N+iWv5w5+F5wKUQGM/q677sKByWvQFRqjCW4Vo4N/McAQoFdWVtYNN9zAXS8MO3TosH//fnSO8Bx2KIkLhCE0A/EXMzyzlV6cFjnT4fZt27YFISzyXYwbayIjOQ6xhvjLEDBHEsozmZxZA5lPDHNkI8pcddVVZDHcWJMlEQuGDBlCeWbHC6ghwpJwcThFMwznczh3Jfv0X0aJK1mep0nhHRj8Uvz9kVL4cEqVEPL/HDDNk6CUDUhpxUEJfy5KCEAKHimYsffvnVDB63Vm6QkAABAASURBVPmBlLJJkyZk1KTxTz/9NBsgq8uOx3bKTsKuQpQBLnKliVxkSfgnKcb+/fs5NcCZ16NHj56fuGdQIxhTwD/5bvW73/2OTfXJJ5/s2bMnlfgGrfQApzxfoBdACsDhi6tZdMIscDO81GcL7iPny5mwRYoBHzSMU3F04i4cp+U6fOzYsURJOJ8vz9PokZygwxCcUvlSPmvWLKIbH+AGDhx4GuX5vqKNcePGIS1XYLfccgsp8CWXXIKqGfF8WZ1GDwcOX9dff/13v/vd5s2bfyk8TxvinF+lEIA4v4ce/7fgQqbnhZ3z6+dTY47s/GxHZPLca2zcuPFXv/oVpsmOTUqM6xIOfMoLLnEnbjq5PSVjeuaZZ2CI9ZN3cAd8wTz9jghPQPR9FS8dOXIk7gRzLpgJCj7NBZcYOjcmrVu3Jh346U9/ik5Q1KBBgzjpEF/wCuB8mSMwQC/6EgW4LunXrx/frTp27Pjoo49yh01cowmCiwGGQOf46ne+851HHnmEyPujH/1oxIgRRDchLoYxZwZFLODYSy5Gzkhy5MfEi5eZzYxs67bbbiNz5OiHhgFkvXjOMKmCL0sDF5LLYItYJMuJR7GcICTD3PPjAMOGDcNjwTkmQHYxUrJ7c9z4y1/+wh7IlyDyYZKaK6+8ktz4YtjSF8EQjyhDwOLQ8fbbb+NUbIZcf5Lg+DNiUlBeAGD3ZBakAAQCYhli//jHP8bBfF3RCv8LYHtqFy5o+JhyZ/whCvBK6wULTN8KYFkB7tqZAoGSQEaWevECIxtMANYU/rz6JQtRMfQFI7AFfPXCFhz+F8ytquNXoYFzjTKsHDZBySkAAGc52fkp2ZfYvfmwSgrzpz/9iU8hHKa4lWThL0ZiLIZrgt69e/fp04cEu3fv3uyBfESoUaPGxbClLzLzvRZWBC/iC7GMnZB0g2Mgc4GAaVJeAMCZWXNAQGDuU7kaJ8QMHjyYbZZ6WpnUBbD1u9AdgA9Ckl/AkwSBRNKvoQnwKS+4hBVM/BJRwX24YIZ+R58JDHmtYA4CUHMxAAfYUjIEqwbAjRJg/2AvIayDU1kFX6MGziPKsJAEF04W3A5mZ2ezeCywLzpOi/NzNOAARclNB3mN33TBJcMBDAHgTlx/PvbYY6THvF4wT78js0A8AgH3qQQa4OGHH+aYQCCjnnkxrk95viUdEY+SQIAS0AmSs4FTcypcAFu604vyCwCCi4RTmfus/Bofv+DSZ3JaecHcKjqeyZC1o5V69j8+HfDtiS9QfiX1VfB1aeBcowzy4ZyUXF5MnTqVTzNkNLwCLCpQgfj4hS4tbCoBNqsGDRrwEcS/3aiE4nyqKgIBwZGwQhQgIwAhNPhsmMKXIj98YPilsIJPFXyxBrBPFI62AaLMvHnzuBrji8EX96pq/Rdo4DyiDNKwimQTjRs3njlz5tq1a7mO8ZeWJpa2AniFkvLLArgRGhiLEvwi2SKnzwFWADypAamo5NXHL76EeQXni+dWxeELNICeWTiATxB8MeAbWcOGDcklMZsv6FXV9C/QwLlGGZYQh2EJOQjccccdfNR48cUXp0+ffuDAAQ7ALCRNZ4rrV1ICZ7aebw0Zzfl2qZSeiVBPyaR8wXycEqAJoInyYsDnfDEcqvr6GkCTGBgAAlBJySsAAlQgpDB8NHzrrbdeeOEFLvWuuOIK0tWLX0pGrIKL0cB5RBlWCz/HD5s1a3bfffdxVzplyhQ+AFEeOXKExa6QA5yF94HrN4CaitYLQBgaoCMlAHIxAAdmQQn4yKncKq08leAc8QrOMATOsVcV2ZkawHhQIACCLQEgAIhvY3QB2bdv35tvvvmrX/3q008/5WM/F23kMjSxEJRfC1QN6mvgXKOMT+2XLDDrx9UpC8mXjjfeeINY88orr6xbt+7w4cPc17ClsOoQs8A+YCK8VkGVBi5MA5gTMQXD883JZ0IlZ/ajR4+uXr36b3/7G0b4+uuv8/3h/vvvHz9+PCaK1dHFJ64qv0YNXEiUYfFYbL7X8vX38ccf5wMNByhOwr///e//8Ic/cJLibn/79u0sf0lJCcbxNU6vauhvgQZ8eyOPZi6YE9cubGYbNmz46KOP2Nv+93//949//COv7dq1++EPf8gXw65du3KdTy9CDIbKnkfHKvgaNXCBUcZfQj7KsHWQnXKAYnXHjh3LZ+ytW7fyqfvXv/717373O47H3BP7/1GFoqIibnBYctYeYCMCQCrAf0UXfg3IqVBR6SOnlj6ZX+PjFWWllQyEsfpN4AA4pQ/glUIFz28HUjFHZg1OCYBUQMU0qfFxEMDHKy1phQkAAgEl4CNU+ohfU4H7r35JJWQ+XoGwUmTHhYWF2dnZq1ateu+99zAqrIv9DDPbsmVLo0aNrr322u9+97u33XZbnz59MjIyiCzYJ+AjWCmcq+Br1MCFRxn2Fn8hWUWuhFu0aDF48OBbbrmFcHPrrbcOHDiQb8OLFi3661//+otf/OI//uM/sIy3336b5JbzM3sRX8RLSkqIO7H4fxxXa40WsDAQSgDzAvxXv6TSR6CsAL+SemoqcF59oMZn4r/6JZQATQBIBTCdCtxHIADo5b9+Y8svFowp+EoAgZISAAFATp01rxVAFx+Yvo/4TbyeDWAIQAYBJTjgI34NOAjcKMF98F+pAWETAogpmEdOTs6OHTsWL17MbS63LT/60Y9++ctfEmKWL1+elpaGsRFWvve97914443k1NwS8jkJUySyYJmUDE3J7ADwKvgaNXAhUeZUcf0lxFxAuM9n+fnU3bNnT/IaLm5+/OMfP/LIIyQ71apVO3ToECepp59+mqDDRoS5YD1sTVQuXLiQbYp9affu3WxZxKDc3FxMraysjBjkA8aHIQKMdRogDzXYKAiG5QM1ADXYHLL5lX7JK0CTX4JACU7p4yA+UAnQi/r/08AsAKbAvPwSBAAHfASCCqASnIn7JQgA7gP4mUATfAAQuvsrRQmwdhXAMnGZkp+ff/z4cUxi//79LDr578qVK+fPn//xxx/z4XLSpEnPPfcc56Df/OY3L7300rx58zh9cyofOnQoOQuH9LvvvhsD69GjB8ZGcAkGg6wyg1bBN1MDFxtlsCoAwwKYoW984EQcDlOtWrW65JJLbr75Zg7MTz75JAer66+//vLLLyfxYdvhKzi2xema1JcD9p/+9Ce2LGyL9Of5559/9dVXuVcmEk2bNs2PRBCvXbuWYEQ2VAGY6bFjxzirY7uUnMt8IFECqKGkibICePUjF6m4n0xh+rgB/sAUfGBSIH4J8n8dmIgPTOTUafLKxJk+lb5OKkqUg6II9JQ+oED0CfgaPq1kVyAWsBx7P3/27NmzadOmNWvWrFixgo1kzpw577777uTJkydOnPjyyy8TR7iy5VhNksuiE01oJcqQqrDTYD8YCQkLqQqRBeN57LHHuNPFnFq2bEnujP0gPJbmA7PjtQq+mRq42ChTMSuWGah4Ze3BqQkEAv7/6KZu3bodO3Ykrxk+fPg111xz00033XPPPXfddRd579VXXz1q1CgOWSRB9erV4+qOhJn9benSpVzrYJd8OyDukAf9+c9//v3vf8+F3/875fnP//xP0mkM8VTw49pPfvITIhe9sOMKwMT55En88mHq1Kk4ABsmF9gbN25k3F27dhHFyNhxGyTBu3w/xBV9YF5nA2YNVLSC++DX+Pi5l36vU0u/76k1Z8N9UStK4gVzOXLkCPNidsyRmRIFUDKffj/88MMpU6agEDQDkE2gJTRWoToQMgv0+cQTT5yq5wqcJWAh/ud//odzDQsE/Pa3v/U5PPPMM6Sur732GkO8//776Jn8hSCFYTRr1qxXr16XXXbZFVdcQRDhxM1WxLdLzMO3ir59+xJuMB7SZAyDbQwNYF3MmpLZsTR+DWUVfDM1cH5R5sw5sNIsvF+eioD7QBPg45RktuS3mBfbERd1fG5ka8LOLr30UnLgCRMm3H777Ry1OGdhzRy4+Dz53/H/vw6C0ejRo4lEvXv35hCeFX8wPhJptjU2WGIBjkTpg1+Tl5fH2Z5P7ISPCuCoj1NxWJsRf8iVCGEEL9zjBz/4AUPjMIxLDa717LPPklJBM2vWLFJ6Tnbbtm0j1edMh9OyybP5Y+gAFn8a4Al+PYgPPsGZajyzxqesKOkODSUMKcFpAgFAAFIS8jISCv8wcvDgQYII0pJEfPDBB0RSYgeu/pe//IVgwey4KXv00UdJEJg1WeTzzz/PHAkBqAUg7BJ90BjJI5f3BCN0uHPnTvTJlH0Nn1ZSz8qyLKwIWwXAMrGyLBkry7ISPhgXYFk59ZChEE3IcwkurCwGwB7TunVrOmIYHLGTk5PZonyDwXIAcB983C9ZfQzMB9RSBd9ADVxslLnIKWEcvt1UlKTKnLQ5bWVmZmJwWGrTpk07d+5MqsxRiyTouuuuu//++x991PMQIgJxgf0TP+Guh7jA5ukDNQCVJOQ///nPuQyqAAydPdlPdggocIAPl9ac9u+8807sfsSIEZz5cRg2T7ZcwgqZPB5IVsUOz4GOjRpfJeEnBpH/k3Bxz41XkylAT7DD+X3N4AkgvBIIQJgvOMg/BSgBugMg0PsceIUDscaPKdxhbd68mbg5e/ZsxOPgSRxhyohH6oe0iIfkn3zyCZGCyEt8R6vdunXjjoN8AT9HmQ899BDXqHg+gFqIApSoiHyRGITeCPTokFmjT1+9Z5YoHxqUCZNHH30UlbJbMAQ7B2OxfN27dydzYV9hb6hVqxbbTEpKChomlDApf45Mswq+fRr4mqMMDnMq+NZGje9RqBvjA/z9ipLvVhglAEI8omT/9JGEhARMtgJooh6nYmPkjhDLPhWIXO3atevQoUObNm1AiCl8p+AWgIMbiTqOgXvccccdbL84DG7Dzk+J25DSE+nI8OnIWBypOGq9+OKLuB/Bi5hFyY0SlRxJyHfIdPxZMDUQpsZ0QP4pQAlA5pcgcCBhgSecFyxYwAGEKEDGh28zOtccJCAkWaQAbdu2ZS5jxowhYj7wwAPQEDKQn2jCKZVIyizIIK666irmS64xYMAAMsT2nz90JxwQjMhKAPQGTknoR8kolomfCX4Ta8SK+AsEUrF5IDxNzILp+wAO+DglBLxWwbdSA19zlDlNp1gbUFHpO5gfcU6t93H2cwjAKaGhBEAqAD6ntUIAUFkBuEEFDj22zislEQq3YbNNSkoieydU4Wb4HiGJPRkfJhjhq4QhP7KQB7FjN2rUiESGgxWXmmQEXExwqcnVNTfWnDWIOMgMfwb6p+CTEVZgyNGMcx9BhCMP10wkGiQOBLKCggJyPcYlcPzsZz/jWoTEhMhCfOEAQuDo1KkTlxokZQQI/z9DwXQIEMyOEIDbMwoaYL5nykMlrQAIKvURcBTIa6UAEwgoIYbMB3BqfBzkNKDVb6I8rekrf60a4F+lgW9WlPFnjeX54JusX/pNlDRRQ4l7UIKD4DB5PsiaAAAO40lEQVSUpwFNgF8JcirQEYAbAALQCiUleAVUtPo1jMIujX8COConO7Z6jgDcJpARkAE9/PDDhAAuO4g++Dmes2TJEq5UOWRxxcPdJxefXL5yo0G4AfBVSgAE4oqSGq45uFvhYuXtt98mVeGEwvXQ6tWrGZq0i6DGkYSbV1ItjpDUkICQsnESITISHyFD2orpMDWm4E/HxyteQQAoK+rBqYEYBACnyUd8nNczwSegFwDZFwAEQAUBHX2gsgq+lRr4mqNMhamdF+KvhN/Fx88sz6XVp/HLCg7+62klrafVnPqKk+DSODanCbIG8h2OVDg/JxSiwA033MCJjFY+6HKYIs3hAoXLVD/WwIfu8CfKUBJfyFC4cCWmkLCQvHDnQgLCNSqpEzemZCvXX389/DnfcHXFiHBmdJjAygf4+EhFSQ3wxa8VBKci4OcIFcxPQ+h+Ws2pr7RWwbdeA19zlPmW6df3HyaFz+P/ZBZ8QeNbLDcgfLPnqpXoQD1fc7hV5fM8X5TLy8uJLHQBwDkZcV/L9S0fhkhJoOdamvjCV5h+/fpx/KlZsyb18GcsulRBlQa++RqoijJf5hr5+Qj+XwFwV0pxvOJyhzuUkSNHcoXMeYoDDt+YOUnxbYgrGzpykcyXLA5W3Ow2b96ca1riy/Dhw7mo5nMMHGDlswUB6AKAVEGVBr7hGqiKMl/mApFiVLCrwEEAAgTnGhIZEhwucTj4EEc4CvGpiMMRX8FBuCrmooePyhy1+O5DcCFt4QbE7wviM+cVAPdLkCqo0sA3WQNVUeZLWx18HvADCgh8KStewQEqfSB88K2KpIaj0GeffcbXaD5FkenwtYhrHaIPHQkrdAHA/V4+TglQCYD4TVVllQa+sRqoijJfw9IQGvwAwTHqiiuu4MJl6dKlQ4YM4es435tJeWj9GsSqGrJKA/9cAxdCURVlLkRrF9OHEMN9CiVANOHCpUuXLp07d+7Tpw9fi6iBuU8AUgVVGvgWaKAqyvyrF5EIwpCEGICYAmRlZRFi6tatyxGpogmkCqo08O3QQFWU+VevI2EFIMRUAPfBHJo4K1FT0fSvFqtqvCoNfGUaqIoyX5lqz5lxJBJp06aNn8icc6dvPWHVBL89GqiKMl/nWnJ6In+hDAQCZDFfpyhVY1dp4CvTQFWU+SLV4v8+fBHRObT5TCrKih7UgBNoCDE6/l8+5vVMgOxUOJOgqqZKA99kDfy7R5lTvfc0HLen5itdPIIL4J+V+IBNuPmKhmMip8JXNEoV2yoNVKqBf/coI0SlajlZ6bu9X56suqA/rusSs+h6Yazo5QMcCBaU5wt0pwt9fTHAq6BKA/8yDfy7Rxkc72yAZ/qAZ0JzMUtCwgKrC+bA6D5cMAe/IzIgiY9XlVUa+Jdp4N89yjiOU372h1bc++IXA/eGTzQajcViIOfLkDCHJCRE9IXVBXRnXLrDBw7n272KvkoDF6mBf8cog7P5UFpaOn/+/Pfff3/hwoWfffbZ2/EHZMGCBR988MEnn3xSXFwMJSrGOUEqgFcfqKlAwAFeKX0ArwBYLVmyZN68eSUlJX5rRenTEAVAqKQEQACiw/Hjx3fs2LFixYpDhw5RD1Dvg4/75ak1sOKVwET33NzcnTt3rlmzZv/+/UyEeujdUx5qfKAe8HHaQfxXv/RfwWFSBd9YDXwzBft3jDJ+OoDD4IFTp07dvHkzDnns2LGn4k92djbOiU/OmTPn4MGDEONglKwfJScOSnAfYOKDX0npv9IKTlkBBQUFkyZNmjhx4okTJ6iktQJ4BXitKEHgQ4m3b9my5dlnn/35z39OpPArqfeJefURaiqAGoSkiZJ5bd269cUXX/zFL36xatUqvxICHyAAoRIA8TmAADTxeurEqaQGSgCkCqo0cO4a+HeMMjgPrgJwVGrcuLH/v1fs0KEDLh2NRtu1a3fJJZeMHTu2X79+ft6BNmmC3ge6UwPwijdSUkPp11D634z8Sup9JC0tbcSIEcOGDUtKSoIGqGgCgT81lBCDUAOABwKBhg0bBoNBQszhw4epxNsBmiDz6Smp4ZVKCPxXanj1uycmJtI9JyeHJgigrADIfJwmgC6nEfDqA00A9IDfpaqs0sA5auDfMcqgGlwFyMjIGD16dOvWrRPi//8H4XA49PmTmZlJrMHD8TGyjyNHjuDknLDIDshK9u3bR+7DIYhkhxNNfn4+uQ9uTFTide/evTQRsOhFZgSOf+LDrVq16tKlC6NABj0M/f9yOEwKCwsZCJEghg81R48epRVRERKgO6NDQw0lOJwBxKCG7uDISXcOVgcOHIAJNDCsWbNm7dq1CXwMiki0Ijxk4IyCGD4ZTIi5DEolU6CVURiUdA9WTAQyapgIJcRVUKWBc9fAv2OUwfd8IK1o1KiRn4+gMipxIUqA15SUlNTU1HXr1r311luzZs3i0ubTTz/Ny8vbtGnTX//615deemnlypWU7777Lpcmr7766h/+8AfudJYtW8YJhcMRrdzCPPfcc9OmTSMM7dmz5/nnn+dMBkIUePnll8HpuHr16tdff33KlCnQEAg++ugjhvvwww/feOMNjmxFRUWIV+HbCIaEvBIdXnnllZ/97GfTp0+nI6eqN998k+FmzpxJ/dy5cxEMmWmiO3OhF30JRrNnz/7tb3/LoAQURmEiTIdWKHlFDHpNnjyZcxaBhvsgXrmf4uqKuyqiHkzgJoSoKqs0cO4a+HeMMjge3uKXOJiPozIQSgA3pqSJdONvf/vb8uXLCUbkILjuokWLOL/ghK+99hpJDbBr1y7yBRz4nXfe4Z6VvGP37t1//vOfcdH69evj/08//TRBoXr16iQRBAVSg5SUFHIK7miIRDVq1CB3IKYQekhGli5dSqxp1qwZQ7zwwgsIgDC+qBXigcAtEong/9xek2WQhnCXRNDkGhtuSAvnv/zlL8jjdyeXoRdHJ2DGjBnIRvpGXkbQYVzCB9Ht97//PTTNmzfnBodASUZGVAWYEcAEGQW1VEGVBs5XA/+OUeYLdERkObWVRAY3w8nZ2PFAfJ4aEpzk5GS8lxPQgw8++J3vfKdFixbp6emEIcIK5y98Er+tV68e3k49AYUMiGhSrVo1HBU+xAgoYQtN06ZNIYOAbAKCG264YfDgwaQwvHJ4gR6R6HKqVODENc569N2zZw9BjRNQnz59evbseffdd1955ZWMTqgifFAPMQcfxkJgjoOcnijBiTLIads2OGR8UyMI8gpOSZCiO6PzXYy7Z2To2rUrs4ZbFVRp4Hw1UBVlTmoMZ8MbyQtwM9+rKckL8DT2fBDc8uabb+ayhitVnJaoQVJTq1YtIgWvdMc5cX4cksQBYnwSfwZ4hZJ6yAAofSDW4OfUMCh9w+EwoYFkhIMPMnBbTA29fDgpZfwPglFZp04dAg3XMRxquJ0h/SHd4MgGgBCwGJSB6AE9CF0AXsl6GBSc0ElJExNngpSMS4AjWt11113cSQ0YMODqq68mX/v1r3/NxzhCId2roEoD56uBb3qUOd/5XBg9noaD4eT4J/ed+BsAKzyNzAV37datG5+iSBM6depEPfTkC0Qf3JVXfBV6IgUBBQQm4AQj3JgIUuHkvILT5NPQi+4w8VnBk0MKlzgMxyUxRxv6Qkk9lACID+B0ZKzLL7+cT2PcwkCMnJzdpkyZQphASMIcw0EPBx+Qk9Ep4c9MYU6SRQxFHmr41kZJlCSTGjNmzGWXXQZD4hFR5oc//GHdunUZBc4whEMVVGngvDRQFWUEfr5+/XpuKLgWwSE5InExgfvhky1btiS4cHbgQpTrTy5Z8ExiAZT4MHc0pACom1SCnAIP3LZtG+cX9nx8eO3atbg9MQs+1MOTAxcuDQ4fTkMEF+5NYAiOP2/cuBEO3LZQiTwMQTTZvHnzhg0bOBaR12zfvp1DDTSEGAYlypAKIR5nGY5sJE3EBVIYxONyl0jHuNy/IAYMGZd6hCT5IuuBLRfPHMoIhYwOt6FDh7Zv354LYC566QIxU4MMgIxzFkkczOEJcRVUaeC8NFAVZbwoQ0zBY++///7vfve7OCH+T+jBozi2cO1y5513cjyhkksWyAgEI0eOvPXWW8kXiA7EAjSOq9922220EgXw2DvuuAOfx4fB77nnHnwbbiQI9913HzR0GThwIGyph54rFUbBh3Hme++9l/QE/JprrqEjIzIu/v/oo4+S4FQMBzeYIMmQIUMYi5yLmkaNGsFn0KBBnOauu+66hx9+mNMcUyNWcn9EOkZk5Av9I488Aisyl2HDhj3wwAPcECF/3759f/SjHyEhwYu5w5D8hUo4EDE5Ol1//fXcLjMKxFVQpYHz0sC/e5TBbYgFHTt2HD9+PC4KcP/au3dvblXQI1lDVlbWqFGjaMUnmzRpwuchziM33ngjMYV6QgZkuO64ceNuv/32/v37t2nTBhzPh75du3Z4O/V4b69evegFf3A4QAMHIgJHFU4o3INw/MGx+/XrN2HCBIgvvfRSroFg2L17dzwcYmTguhdpGdEHxOOMQ1SikolwbiIcID/RYfjw4YwLEy5Z6EhMpGQsAhMBkSEIbf6skZNgSq7kv1511VWMzp0RlA0aNCA2kS4RK4mzDEdoA/zRq8rz1sC/a4d/9yjDunOaYAPnxIGvssPjXSA4Le5EooFr0UoNZFT69JBB79f4BNQAVPJKPU5LFzqCU8krfeHMKzj1lNRD49fQF5wR6Q5OST014CCU0FNSAx/IAB+BFcQANQCVkNGFeoh9YCAfqATAoaELAAHEdAQ/tS+vzJQaWiGm9F+pAcCroEoD566Bf/cog88A+B5+5Ze8ggO84l28ggDglNQD4ACIX0PpA5UArksTSEWlz4TKSoFW6iGmC+Ajfo3fBA6A+wAOgFMCIHQBofS7+zW8AtQDPuKX/iuUADUACF1Oq/dfK+r9V0pqzt28qiirNIAG/t2jDCqogioNVGngK9VAVZT5StX7NTGvGrZKA98kDVRFmW/SalTJUqWBb6MGqqLMt3FVq+ZUpYFvkgaqosw3aTWqZKnSwLdRAxcXZb6NGqmaU5UGqjTw5WqgKsp8ufqs4lalgSoNnK6B/w8AAP//glshrQAAAAZJREFUAwAyKHIbTXKehAAAAABJRU5ErkJggg==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155" y="1897939"/>
            <a:ext cx="5640880" cy="443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7015655" y="2556595"/>
            <a:ext cx="381525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solidFill>
                  <a:schemeClr val="bg1"/>
                </a:solidFill>
              </a:rPr>
              <a:t>The final path for Max A</a:t>
            </a:r>
            <a:r>
              <a:rPr lang="en-US" sz="3200" dirty="0" smtClean="0">
                <a:solidFill>
                  <a:schemeClr val="bg1"/>
                </a:solidFill>
                <a:sym typeface="Wingdings" pitchFamily="2" charset="2"/>
              </a:rPr>
              <a:t>BDI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16751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The minimax algorithm</a:t>
            </a:r>
            <a:endParaRPr/>
          </a:p>
        </p:txBody>
      </p:sp>
      <p:sp>
        <p:nvSpPr>
          <p:cNvPr id="223" name="Google Shape;223;p11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l="-1070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  <p:sp>
        <p:nvSpPr>
          <p:cNvPr id="224" name="Google Shape;22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225" name="Google Shape;22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Resource Limits</a:t>
            </a:r>
            <a:endParaRPr/>
          </a:p>
        </p:txBody>
      </p:sp>
      <p:sp>
        <p:nvSpPr>
          <p:cNvPr id="231" name="Google Shape;23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232" name="Google Shape;23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33" name="Google Shape;233;p1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688845" y="1825625"/>
            <a:ext cx="7096885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The minimax algorithm</a:t>
            </a:r>
            <a:endParaRPr/>
          </a:p>
        </p:txBody>
      </p:sp>
      <p:sp>
        <p:nvSpPr>
          <p:cNvPr id="239" name="Google Shape;239;p13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400"/>
              <a:buChar char="•"/>
            </a:pPr>
            <a:r>
              <a:rPr lang="en-US" sz="2400" dirty="0"/>
              <a:t>Problem: In realistic games, cannot search to leaves!</a:t>
            </a:r>
            <a:endParaRPr dirty="0"/>
          </a:p>
          <a:p>
            <a:pPr marL="685800" lvl="1" indent="-1397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</a:pPr>
            <a:endParaRPr sz="1400"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Char char="•"/>
            </a:pPr>
            <a:r>
              <a:rPr lang="en-US" sz="2400" dirty="0"/>
              <a:t>Solution: Depth-limited search</a:t>
            </a:r>
            <a:endParaRPr dirty="0"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Char char="•"/>
            </a:pPr>
            <a:r>
              <a:rPr lang="en-US" sz="2000" dirty="0"/>
              <a:t>Instead, search only to a limited depth in the tree</a:t>
            </a:r>
            <a:endParaRPr dirty="0"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Char char="•"/>
            </a:pPr>
            <a:r>
              <a:rPr lang="en-US" sz="2000" dirty="0"/>
              <a:t>Replace terminal utilities with an evaluation function</a:t>
            </a:r>
            <a:br>
              <a:rPr lang="en-US" sz="2000" dirty="0"/>
            </a:br>
            <a:r>
              <a:rPr lang="en-US" sz="2000" dirty="0"/>
              <a:t>for non-terminal positions</a:t>
            </a:r>
            <a:endParaRPr dirty="0"/>
          </a:p>
          <a:p>
            <a:pPr marL="685800" lvl="1" indent="-1397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</a:pPr>
            <a:endParaRPr sz="1400" dirty="0"/>
          </a:p>
          <a:p>
            <a:pPr marL="228600" lvl="0" indent="-2286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Char char="•"/>
            </a:pPr>
            <a:r>
              <a:rPr lang="en-US" sz="2400" dirty="0"/>
              <a:t>Example:</a:t>
            </a:r>
            <a:endParaRPr dirty="0"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Char char="•"/>
            </a:pPr>
            <a:r>
              <a:rPr lang="en-US" sz="2000" dirty="0"/>
              <a:t>Suppose we have 100 seconds, can explore 10K nodes / sec</a:t>
            </a:r>
            <a:endParaRPr dirty="0"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Char char="•"/>
            </a:pPr>
            <a:r>
              <a:rPr lang="en-US" sz="2000" dirty="0"/>
              <a:t>So can check 1M nodes per move</a:t>
            </a:r>
            <a:endParaRPr dirty="0"/>
          </a:p>
          <a:p>
            <a:pPr marL="685800" lvl="1" indent="-2286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000"/>
              <a:buChar char="•"/>
            </a:pPr>
            <a:r>
              <a:rPr lang="en-US" sz="2000" dirty="0"/>
              <a:t>α-β reaches about depth 8 – decent chess program</a:t>
            </a:r>
            <a:endParaRPr dirty="0"/>
          </a:p>
          <a:p>
            <a:pPr marL="228600" lvl="0" indent="-139700" algn="l" rtl="0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1400"/>
              <a:buNone/>
            </a:pPr>
            <a:endParaRPr sz="1400" dirty="0"/>
          </a:p>
        </p:txBody>
      </p:sp>
      <p:sp>
        <p:nvSpPr>
          <p:cNvPr id="240" name="Google Shape;24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241" name="Google Shape;24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pSp>
        <p:nvGrpSpPr>
          <p:cNvPr id="242" name="Google Shape;242;p13"/>
          <p:cNvGrpSpPr/>
          <p:nvPr/>
        </p:nvGrpSpPr>
        <p:grpSpPr>
          <a:xfrm>
            <a:off x="8204981" y="1019626"/>
            <a:ext cx="3554438" cy="4633912"/>
            <a:chOff x="7924800" y="1462088"/>
            <a:chExt cx="3962400" cy="4633912"/>
          </a:xfrm>
        </p:grpSpPr>
        <p:sp>
          <p:nvSpPr>
            <p:cNvPr id="243" name="Google Shape;243;p13"/>
            <p:cNvSpPr/>
            <p:nvPr/>
          </p:nvSpPr>
          <p:spPr>
            <a:xfrm>
              <a:off x="9296400" y="15240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13"/>
            <p:cNvSpPr/>
            <p:nvPr/>
          </p:nvSpPr>
          <p:spPr>
            <a:xfrm rot="10800000">
              <a:off x="8458200" y="19812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13"/>
            <p:cNvSpPr/>
            <p:nvPr/>
          </p:nvSpPr>
          <p:spPr>
            <a:xfrm rot="10800000">
              <a:off x="10134600" y="19812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3"/>
            <p:cNvSpPr txBox="1"/>
            <p:nvPr/>
          </p:nvSpPr>
          <p:spPr>
            <a:xfrm>
              <a:off x="10229850" y="198120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7" name="Google Shape;247;p13"/>
            <p:cNvCxnSpPr>
              <a:stCxn id="243" idx="3"/>
              <a:endCxn id="244" idx="3"/>
            </p:cNvCxnSpPr>
            <p:nvPr/>
          </p:nvCxnSpPr>
          <p:spPr>
            <a:xfrm flipH="1">
              <a:off x="8648700" y="1828800"/>
              <a:ext cx="8382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8" name="Google Shape;248;p13"/>
            <p:cNvCxnSpPr>
              <a:stCxn id="243" idx="3"/>
              <a:endCxn id="245" idx="3"/>
            </p:cNvCxnSpPr>
            <p:nvPr/>
          </p:nvCxnSpPr>
          <p:spPr>
            <a:xfrm>
              <a:off x="9486900" y="1828800"/>
              <a:ext cx="8382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49" name="Google Shape;249;p13"/>
            <p:cNvCxnSpPr>
              <a:stCxn id="244" idx="0"/>
              <a:endCxn id="250" idx="0"/>
            </p:cNvCxnSpPr>
            <p:nvPr/>
          </p:nvCxnSpPr>
          <p:spPr>
            <a:xfrm flipH="1">
              <a:off x="8305800" y="2286000"/>
              <a:ext cx="3429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51" name="Google Shape;251;p13"/>
            <p:cNvCxnSpPr>
              <a:stCxn id="244" idx="0"/>
              <a:endCxn id="252" idx="0"/>
            </p:cNvCxnSpPr>
            <p:nvPr/>
          </p:nvCxnSpPr>
          <p:spPr>
            <a:xfrm>
              <a:off x="8648700" y="2286000"/>
              <a:ext cx="3429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53" name="Google Shape;253;p13"/>
            <p:cNvCxnSpPr>
              <a:stCxn id="254" idx="3"/>
              <a:endCxn id="255" idx="0"/>
            </p:cNvCxnSpPr>
            <p:nvPr/>
          </p:nvCxnSpPr>
          <p:spPr>
            <a:xfrm flipH="1">
              <a:off x="10325100" y="27432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56" name="Google Shape;256;p13"/>
            <p:cNvCxnSpPr>
              <a:stCxn id="254" idx="3"/>
              <a:endCxn id="257" idx="0"/>
            </p:cNvCxnSpPr>
            <p:nvPr/>
          </p:nvCxnSpPr>
          <p:spPr>
            <a:xfrm>
              <a:off x="10629900" y="27432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58" name="Google Shape;258;p13"/>
            <p:cNvSpPr/>
            <p:nvPr/>
          </p:nvSpPr>
          <p:spPr>
            <a:xfrm>
              <a:off x="8153400" y="24384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8763000" y="24384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13"/>
            <p:cNvSpPr/>
            <p:nvPr/>
          </p:nvSpPr>
          <p:spPr>
            <a:xfrm>
              <a:off x="9829800" y="24384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10439400" y="24384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3"/>
            <p:cNvSpPr/>
            <p:nvPr/>
          </p:nvSpPr>
          <p:spPr>
            <a:xfrm>
              <a:off x="8458200" y="28956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13"/>
            <p:cNvSpPr/>
            <p:nvPr/>
          </p:nvSpPr>
          <p:spPr>
            <a:xfrm>
              <a:off x="8458200" y="38100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10134600" y="28956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13"/>
            <p:cNvSpPr/>
            <p:nvPr/>
          </p:nvSpPr>
          <p:spPr>
            <a:xfrm>
              <a:off x="10744200" y="28956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8153400" y="3352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64" name="Google Shape;264;p13"/>
            <p:cNvSpPr/>
            <p:nvPr/>
          </p:nvSpPr>
          <p:spPr>
            <a:xfrm>
              <a:off x="8763000" y="3352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265" name="Google Shape;265;p13"/>
            <p:cNvCxnSpPr>
              <a:stCxn id="245" idx="0"/>
              <a:endCxn id="260" idx="0"/>
            </p:cNvCxnSpPr>
            <p:nvPr/>
          </p:nvCxnSpPr>
          <p:spPr>
            <a:xfrm flipH="1">
              <a:off x="10020300" y="22860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66" name="Google Shape;266;p13"/>
            <p:cNvCxnSpPr>
              <a:stCxn id="245" idx="0"/>
              <a:endCxn id="254" idx="0"/>
            </p:cNvCxnSpPr>
            <p:nvPr/>
          </p:nvCxnSpPr>
          <p:spPr>
            <a:xfrm>
              <a:off x="10325100" y="22860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67" name="Google Shape;267;p13"/>
            <p:cNvCxnSpPr>
              <a:stCxn id="259" idx="3"/>
              <a:endCxn id="261" idx="0"/>
            </p:cNvCxnSpPr>
            <p:nvPr/>
          </p:nvCxnSpPr>
          <p:spPr>
            <a:xfrm flipH="1">
              <a:off x="8648700" y="27432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68" name="Google Shape;268;p13"/>
            <p:cNvSpPr/>
            <p:nvPr/>
          </p:nvSpPr>
          <p:spPr>
            <a:xfrm>
              <a:off x="9067800" y="38100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269" name="Google Shape;269;p13"/>
            <p:cNvCxnSpPr>
              <a:stCxn id="261" idx="3"/>
              <a:endCxn id="263" idx="0"/>
            </p:cNvCxnSpPr>
            <p:nvPr/>
          </p:nvCxnSpPr>
          <p:spPr>
            <a:xfrm flipH="1">
              <a:off x="8343900" y="32004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0" name="Google Shape;270;p13"/>
            <p:cNvCxnSpPr>
              <a:stCxn id="261" idx="3"/>
              <a:endCxn id="264" idx="0"/>
            </p:cNvCxnSpPr>
            <p:nvPr/>
          </p:nvCxnSpPr>
          <p:spPr>
            <a:xfrm>
              <a:off x="8648700" y="32004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1" name="Google Shape;271;p13"/>
            <p:cNvCxnSpPr>
              <a:stCxn id="264" idx="3"/>
              <a:endCxn id="262" idx="0"/>
            </p:cNvCxnSpPr>
            <p:nvPr/>
          </p:nvCxnSpPr>
          <p:spPr>
            <a:xfrm flipH="1">
              <a:off x="8648700" y="36576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272" name="Google Shape;272;p13"/>
            <p:cNvCxnSpPr>
              <a:stCxn id="264" idx="3"/>
              <a:endCxn id="268" idx="0"/>
            </p:cNvCxnSpPr>
            <p:nvPr/>
          </p:nvCxnSpPr>
          <p:spPr>
            <a:xfrm>
              <a:off x="8953500" y="36576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73" name="Google Shape;273;p13"/>
            <p:cNvSpPr/>
            <p:nvPr/>
          </p:nvSpPr>
          <p:spPr>
            <a:xfrm>
              <a:off x="7924800" y="5791200"/>
              <a:ext cx="533400" cy="304800"/>
            </a:xfrm>
            <a:prstGeom prst="rect">
              <a:avLst/>
            </a:prstGeom>
            <a:solidFill>
              <a:srgbClr val="CCCCCC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3"/>
            <p:cNvSpPr/>
            <p:nvPr/>
          </p:nvSpPr>
          <p:spPr>
            <a:xfrm>
              <a:off x="8763000" y="5791200"/>
              <a:ext cx="533400" cy="304800"/>
            </a:xfrm>
            <a:prstGeom prst="rect">
              <a:avLst/>
            </a:prstGeom>
            <a:solidFill>
              <a:srgbClr val="CCCCCC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13"/>
            <p:cNvSpPr/>
            <p:nvPr/>
          </p:nvSpPr>
          <p:spPr>
            <a:xfrm>
              <a:off x="9753600" y="5791200"/>
              <a:ext cx="533400" cy="304800"/>
            </a:xfrm>
            <a:prstGeom prst="rect">
              <a:avLst/>
            </a:prstGeom>
            <a:solidFill>
              <a:srgbClr val="CCCCCC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13"/>
            <p:cNvSpPr/>
            <p:nvPr/>
          </p:nvSpPr>
          <p:spPr>
            <a:xfrm>
              <a:off x="10591800" y="5791200"/>
              <a:ext cx="533400" cy="304800"/>
            </a:xfrm>
            <a:prstGeom prst="rect">
              <a:avLst/>
            </a:prstGeom>
            <a:solidFill>
              <a:srgbClr val="CCCCCC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13"/>
            <p:cNvSpPr/>
            <p:nvPr/>
          </p:nvSpPr>
          <p:spPr>
            <a:xfrm>
              <a:off x="8102600" y="4114800"/>
              <a:ext cx="508000" cy="1676400"/>
            </a:xfrm>
            <a:custGeom>
              <a:avLst/>
              <a:gdLst/>
              <a:ahLst/>
              <a:cxnLst/>
              <a:rect l="l" t="t" r="r" b="b"/>
              <a:pathLst>
                <a:path w="320" h="1440" extrusionOk="0">
                  <a:moveTo>
                    <a:pt x="320" y="0"/>
                  </a:moveTo>
                  <a:cubicBezTo>
                    <a:pt x="232" y="72"/>
                    <a:pt x="144" y="144"/>
                    <a:pt x="128" y="240"/>
                  </a:cubicBezTo>
                  <a:cubicBezTo>
                    <a:pt x="112" y="336"/>
                    <a:pt x="240" y="480"/>
                    <a:pt x="224" y="576"/>
                  </a:cubicBezTo>
                  <a:cubicBezTo>
                    <a:pt x="208" y="672"/>
                    <a:pt x="64" y="736"/>
                    <a:pt x="32" y="816"/>
                  </a:cubicBezTo>
                  <a:cubicBezTo>
                    <a:pt x="0" y="896"/>
                    <a:pt x="32" y="952"/>
                    <a:pt x="32" y="1056"/>
                  </a:cubicBezTo>
                  <a:cubicBezTo>
                    <a:pt x="32" y="1160"/>
                    <a:pt x="32" y="1300"/>
                    <a:pt x="32" y="1440"/>
                  </a:cubicBezTo>
                </a:path>
              </a:pathLst>
            </a:cu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8" name="Google Shape;278;p13"/>
            <p:cNvSpPr/>
            <p:nvPr/>
          </p:nvSpPr>
          <p:spPr>
            <a:xfrm>
              <a:off x="8890000" y="4114800"/>
              <a:ext cx="406400" cy="1676400"/>
            </a:xfrm>
            <a:custGeom>
              <a:avLst/>
              <a:gdLst/>
              <a:ahLst/>
              <a:cxnLst/>
              <a:rect l="l" t="t" r="r" b="b"/>
              <a:pathLst>
                <a:path w="256" h="1056" extrusionOk="0">
                  <a:moveTo>
                    <a:pt x="256" y="0"/>
                  </a:moveTo>
                  <a:cubicBezTo>
                    <a:pt x="140" y="148"/>
                    <a:pt x="24" y="296"/>
                    <a:pt x="16" y="384"/>
                  </a:cubicBezTo>
                  <a:cubicBezTo>
                    <a:pt x="8" y="472"/>
                    <a:pt x="208" y="456"/>
                    <a:pt x="208" y="528"/>
                  </a:cubicBezTo>
                  <a:cubicBezTo>
                    <a:pt x="208" y="600"/>
                    <a:pt x="32" y="728"/>
                    <a:pt x="16" y="816"/>
                  </a:cubicBezTo>
                  <a:cubicBezTo>
                    <a:pt x="0" y="904"/>
                    <a:pt x="56" y="980"/>
                    <a:pt x="112" y="1056"/>
                  </a:cubicBezTo>
                </a:path>
              </a:pathLst>
            </a:cu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79" name="Google Shape;279;p13"/>
            <p:cNvSpPr/>
            <p:nvPr/>
          </p:nvSpPr>
          <p:spPr>
            <a:xfrm>
              <a:off x="10515600" y="3200400"/>
              <a:ext cx="457200" cy="2590800"/>
            </a:xfrm>
            <a:custGeom>
              <a:avLst/>
              <a:gdLst/>
              <a:ahLst/>
              <a:cxnLst/>
              <a:rect l="l" t="t" r="r" b="b"/>
              <a:pathLst>
                <a:path w="256" h="1056" extrusionOk="0">
                  <a:moveTo>
                    <a:pt x="256" y="0"/>
                  </a:moveTo>
                  <a:cubicBezTo>
                    <a:pt x="140" y="148"/>
                    <a:pt x="24" y="296"/>
                    <a:pt x="16" y="384"/>
                  </a:cubicBezTo>
                  <a:cubicBezTo>
                    <a:pt x="8" y="472"/>
                    <a:pt x="208" y="456"/>
                    <a:pt x="208" y="528"/>
                  </a:cubicBezTo>
                  <a:cubicBezTo>
                    <a:pt x="208" y="600"/>
                    <a:pt x="32" y="728"/>
                    <a:pt x="16" y="816"/>
                  </a:cubicBezTo>
                  <a:cubicBezTo>
                    <a:pt x="0" y="904"/>
                    <a:pt x="56" y="980"/>
                    <a:pt x="112" y="1056"/>
                  </a:cubicBezTo>
                </a:path>
              </a:pathLst>
            </a:cu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80" name="Google Shape;280;p13"/>
            <p:cNvSpPr/>
            <p:nvPr/>
          </p:nvSpPr>
          <p:spPr>
            <a:xfrm>
              <a:off x="9944100" y="3200400"/>
              <a:ext cx="508000" cy="2590800"/>
            </a:xfrm>
            <a:custGeom>
              <a:avLst/>
              <a:gdLst/>
              <a:ahLst/>
              <a:cxnLst/>
              <a:rect l="l" t="t" r="r" b="b"/>
              <a:pathLst>
                <a:path w="320" h="1632" extrusionOk="0">
                  <a:moveTo>
                    <a:pt x="216" y="0"/>
                  </a:moveTo>
                  <a:cubicBezTo>
                    <a:pt x="268" y="108"/>
                    <a:pt x="320" y="216"/>
                    <a:pt x="312" y="336"/>
                  </a:cubicBezTo>
                  <a:cubicBezTo>
                    <a:pt x="304" y="456"/>
                    <a:pt x="192" y="576"/>
                    <a:pt x="168" y="720"/>
                  </a:cubicBezTo>
                  <a:cubicBezTo>
                    <a:pt x="144" y="864"/>
                    <a:pt x="192" y="1104"/>
                    <a:pt x="168" y="1200"/>
                  </a:cubicBezTo>
                  <a:cubicBezTo>
                    <a:pt x="144" y="1296"/>
                    <a:pt x="48" y="1224"/>
                    <a:pt x="24" y="1296"/>
                  </a:cubicBezTo>
                  <a:cubicBezTo>
                    <a:pt x="0" y="1368"/>
                    <a:pt x="12" y="1500"/>
                    <a:pt x="24" y="1632"/>
                  </a:cubicBezTo>
                </a:path>
              </a:pathLst>
            </a:cu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281" name="Google Shape;281;p13"/>
            <p:cNvCxnSpPr>
              <a:stCxn id="259" idx="3"/>
              <a:endCxn id="282" idx="0"/>
            </p:cNvCxnSpPr>
            <p:nvPr/>
          </p:nvCxnSpPr>
          <p:spPr>
            <a:xfrm>
              <a:off x="8953500" y="27432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282" name="Google Shape;282;p13"/>
            <p:cNvSpPr/>
            <p:nvPr/>
          </p:nvSpPr>
          <p:spPr>
            <a:xfrm>
              <a:off x="9067800" y="28956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13"/>
            <p:cNvSpPr/>
            <p:nvPr/>
          </p:nvSpPr>
          <p:spPr>
            <a:xfrm>
              <a:off x="8077200" y="2438400"/>
              <a:ext cx="457200" cy="304800"/>
            </a:xfrm>
            <a:prstGeom prst="rect">
              <a:avLst/>
            </a:prstGeom>
            <a:solidFill>
              <a:srgbClr val="0099FF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13"/>
            <p:cNvSpPr/>
            <p:nvPr/>
          </p:nvSpPr>
          <p:spPr>
            <a:xfrm>
              <a:off x="8763000" y="2438400"/>
              <a:ext cx="457200" cy="304800"/>
            </a:xfrm>
            <a:prstGeom prst="rect">
              <a:avLst/>
            </a:prstGeom>
            <a:solidFill>
              <a:srgbClr val="0099FF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13"/>
            <p:cNvSpPr/>
            <p:nvPr/>
          </p:nvSpPr>
          <p:spPr>
            <a:xfrm>
              <a:off x="9753600" y="2438400"/>
              <a:ext cx="457200" cy="304800"/>
            </a:xfrm>
            <a:prstGeom prst="rect">
              <a:avLst/>
            </a:prstGeom>
            <a:solidFill>
              <a:srgbClr val="0099FF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13"/>
            <p:cNvSpPr/>
            <p:nvPr/>
          </p:nvSpPr>
          <p:spPr>
            <a:xfrm>
              <a:off x="10439400" y="2438400"/>
              <a:ext cx="457200" cy="304800"/>
            </a:xfrm>
            <a:prstGeom prst="rect">
              <a:avLst/>
            </a:prstGeom>
            <a:solidFill>
              <a:srgbClr val="0099FF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13"/>
            <p:cNvSpPr/>
            <p:nvPr/>
          </p:nvSpPr>
          <p:spPr>
            <a:xfrm>
              <a:off x="9296400" y="15240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0099FF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82875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13"/>
            <p:cNvSpPr txBox="1"/>
            <p:nvPr/>
          </p:nvSpPr>
          <p:spPr>
            <a:xfrm>
              <a:off x="11223625" y="1919288"/>
              <a:ext cx="663575" cy="366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min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13"/>
            <p:cNvSpPr txBox="1"/>
            <p:nvPr/>
          </p:nvSpPr>
          <p:spPr>
            <a:xfrm>
              <a:off x="11223625" y="1462088"/>
              <a:ext cx="663575" cy="366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13"/>
            <p:cNvSpPr/>
            <p:nvPr/>
          </p:nvSpPr>
          <p:spPr>
            <a:xfrm rot="10800000">
              <a:off x="8458200" y="19812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FF7575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13"/>
            <p:cNvSpPr txBox="1"/>
            <p:nvPr/>
          </p:nvSpPr>
          <p:spPr>
            <a:xfrm>
              <a:off x="8553450" y="198120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45700" anchor="ctr" anchorCtr="1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13"/>
            <p:cNvSpPr/>
            <p:nvPr/>
          </p:nvSpPr>
          <p:spPr>
            <a:xfrm rot="10800000">
              <a:off x="10134600" y="19812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FF7575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13"/>
            <p:cNvSpPr txBox="1"/>
            <p:nvPr/>
          </p:nvSpPr>
          <p:spPr>
            <a:xfrm>
              <a:off x="10229850" y="198120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45700" anchor="ctr" anchorCtr="1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The minimax algorithm</a:t>
            </a:r>
            <a:endParaRPr/>
          </a:p>
        </p:txBody>
      </p:sp>
      <p:sp>
        <p:nvSpPr>
          <p:cNvPr id="297" name="Google Shape;297;p14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400"/>
              <a:buChar char="•"/>
            </a:pPr>
            <a:r>
              <a:rPr lang="en-US" sz="2400" dirty="0"/>
              <a:t>Guarantee of optimal play is gone</a:t>
            </a:r>
            <a:endParaRPr dirty="0"/>
          </a:p>
          <a:p>
            <a:pPr marL="685800" lvl="1" indent="-139700" algn="l" rtl="0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1400"/>
              <a:buNone/>
            </a:pPr>
            <a:endParaRPr sz="1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Char char="•"/>
            </a:pPr>
            <a:r>
              <a:rPr lang="en-US" sz="2400" dirty="0"/>
              <a:t>Evaluation functions are always imperfect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Char char="•"/>
            </a:pPr>
            <a:r>
              <a:rPr lang="en-US" sz="2400" dirty="0"/>
              <a:t>The deeper in the tree the evaluation function is buried, </a:t>
            </a:r>
            <a:br>
              <a:rPr lang="en-US" sz="2400" dirty="0"/>
            </a:br>
            <a:r>
              <a:rPr lang="en-US" sz="2400" dirty="0"/>
              <a:t>the less the quality of the evaluation function matters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Char char="•"/>
            </a:pPr>
            <a:r>
              <a:rPr lang="en-US" sz="2400" dirty="0"/>
              <a:t>An important example of the tradeoff </a:t>
            </a:r>
            <a:br>
              <a:rPr lang="en-US" sz="2400" dirty="0"/>
            </a:br>
            <a:r>
              <a:rPr lang="en-US" sz="2400" dirty="0"/>
              <a:t>between complexity of features and </a:t>
            </a:r>
            <a:br>
              <a:rPr lang="en-US" sz="2400" dirty="0"/>
            </a:br>
            <a:r>
              <a:rPr lang="en-US" sz="2400" dirty="0"/>
              <a:t>complexity of computation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400"/>
              <a:buChar char="•"/>
            </a:pPr>
            <a:r>
              <a:rPr lang="en-US" sz="2400" dirty="0"/>
              <a:t>But do we </a:t>
            </a:r>
            <a:r>
              <a:rPr lang="en-US" sz="2400" b="1" dirty="0"/>
              <a:t>always</a:t>
            </a:r>
            <a:r>
              <a:rPr lang="en-US" sz="2400" dirty="0"/>
              <a:t> need to iterate the whole tree?</a:t>
            </a:r>
            <a:endParaRPr dirty="0"/>
          </a:p>
        </p:txBody>
      </p:sp>
      <p:sp>
        <p:nvSpPr>
          <p:cNvPr id="298" name="Google Shape;29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299" name="Google Shape;29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pSp>
        <p:nvGrpSpPr>
          <p:cNvPr id="300" name="Google Shape;300;p14"/>
          <p:cNvGrpSpPr/>
          <p:nvPr/>
        </p:nvGrpSpPr>
        <p:grpSpPr>
          <a:xfrm>
            <a:off x="8204981" y="1019626"/>
            <a:ext cx="3554438" cy="4633912"/>
            <a:chOff x="7924800" y="1462088"/>
            <a:chExt cx="3962400" cy="4633912"/>
          </a:xfrm>
        </p:grpSpPr>
        <p:sp>
          <p:nvSpPr>
            <p:cNvPr id="301" name="Google Shape;301;p14"/>
            <p:cNvSpPr/>
            <p:nvPr/>
          </p:nvSpPr>
          <p:spPr>
            <a:xfrm>
              <a:off x="9296400" y="15240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4"/>
            <p:cNvSpPr/>
            <p:nvPr/>
          </p:nvSpPr>
          <p:spPr>
            <a:xfrm rot="10800000">
              <a:off x="8458200" y="19812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3" name="Google Shape;303;p14"/>
            <p:cNvSpPr/>
            <p:nvPr/>
          </p:nvSpPr>
          <p:spPr>
            <a:xfrm rot="10800000">
              <a:off x="10134600" y="19812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14"/>
            <p:cNvSpPr txBox="1"/>
            <p:nvPr/>
          </p:nvSpPr>
          <p:spPr>
            <a:xfrm>
              <a:off x="10229850" y="198120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5" name="Google Shape;305;p14"/>
            <p:cNvCxnSpPr>
              <a:stCxn id="301" idx="3"/>
              <a:endCxn id="302" idx="3"/>
            </p:cNvCxnSpPr>
            <p:nvPr/>
          </p:nvCxnSpPr>
          <p:spPr>
            <a:xfrm flipH="1">
              <a:off x="8648700" y="1828800"/>
              <a:ext cx="8382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06" name="Google Shape;306;p14"/>
            <p:cNvCxnSpPr>
              <a:stCxn id="301" idx="3"/>
              <a:endCxn id="303" idx="3"/>
            </p:cNvCxnSpPr>
            <p:nvPr/>
          </p:nvCxnSpPr>
          <p:spPr>
            <a:xfrm>
              <a:off x="9486900" y="1828800"/>
              <a:ext cx="8382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07" name="Google Shape;307;p14"/>
            <p:cNvCxnSpPr>
              <a:stCxn id="302" idx="0"/>
              <a:endCxn id="308" idx="0"/>
            </p:cNvCxnSpPr>
            <p:nvPr/>
          </p:nvCxnSpPr>
          <p:spPr>
            <a:xfrm flipH="1">
              <a:off x="8305800" y="2286000"/>
              <a:ext cx="3429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09" name="Google Shape;309;p14"/>
            <p:cNvCxnSpPr>
              <a:stCxn id="302" idx="0"/>
              <a:endCxn id="310" idx="0"/>
            </p:cNvCxnSpPr>
            <p:nvPr/>
          </p:nvCxnSpPr>
          <p:spPr>
            <a:xfrm>
              <a:off x="8648700" y="2286000"/>
              <a:ext cx="3429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1" name="Google Shape;311;p14"/>
            <p:cNvCxnSpPr>
              <a:stCxn id="312" idx="3"/>
              <a:endCxn id="313" idx="0"/>
            </p:cNvCxnSpPr>
            <p:nvPr/>
          </p:nvCxnSpPr>
          <p:spPr>
            <a:xfrm flipH="1">
              <a:off x="10325100" y="27432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14" name="Google Shape;314;p14"/>
            <p:cNvCxnSpPr>
              <a:stCxn id="312" idx="3"/>
              <a:endCxn id="315" idx="0"/>
            </p:cNvCxnSpPr>
            <p:nvPr/>
          </p:nvCxnSpPr>
          <p:spPr>
            <a:xfrm>
              <a:off x="10629900" y="27432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16" name="Google Shape;316;p14"/>
            <p:cNvSpPr/>
            <p:nvPr/>
          </p:nvSpPr>
          <p:spPr>
            <a:xfrm>
              <a:off x="8153400" y="24384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7" name="Google Shape;317;p14"/>
            <p:cNvSpPr/>
            <p:nvPr/>
          </p:nvSpPr>
          <p:spPr>
            <a:xfrm>
              <a:off x="8763000" y="24384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4"/>
            <p:cNvSpPr/>
            <p:nvPr/>
          </p:nvSpPr>
          <p:spPr>
            <a:xfrm>
              <a:off x="9829800" y="24384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4"/>
            <p:cNvSpPr/>
            <p:nvPr/>
          </p:nvSpPr>
          <p:spPr>
            <a:xfrm>
              <a:off x="10439400" y="24384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14"/>
            <p:cNvSpPr/>
            <p:nvPr/>
          </p:nvSpPr>
          <p:spPr>
            <a:xfrm>
              <a:off x="8458200" y="28956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4"/>
            <p:cNvSpPr/>
            <p:nvPr/>
          </p:nvSpPr>
          <p:spPr>
            <a:xfrm>
              <a:off x="8458200" y="38100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3" name="Google Shape;313;p14"/>
            <p:cNvSpPr/>
            <p:nvPr/>
          </p:nvSpPr>
          <p:spPr>
            <a:xfrm>
              <a:off x="10134600" y="28956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/>
            <p:nvPr/>
          </p:nvSpPr>
          <p:spPr>
            <a:xfrm>
              <a:off x="10744200" y="28956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4"/>
            <p:cNvSpPr/>
            <p:nvPr/>
          </p:nvSpPr>
          <p:spPr>
            <a:xfrm>
              <a:off x="8153400" y="3352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2" name="Google Shape;322;p14"/>
            <p:cNvSpPr/>
            <p:nvPr/>
          </p:nvSpPr>
          <p:spPr>
            <a:xfrm>
              <a:off x="8763000" y="33528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23" name="Google Shape;323;p14"/>
            <p:cNvCxnSpPr>
              <a:stCxn id="303" idx="0"/>
              <a:endCxn id="318" idx="0"/>
            </p:cNvCxnSpPr>
            <p:nvPr/>
          </p:nvCxnSpPr>
          <p:spPr>
            <a:xfrm flipH="1">
              <a:off x="10020300" y="22860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24" name="Google Shape;324;p14"/>
            <p:cNvCxnSpPr>
              <a:stCxn id="303" idx="0"/>
              <a:endCxn id="312" idx="0"/>
            </p:cNvCxnSpPr>
            <p:nvPr/>
          </p:nvCxnSpPr>
          <p:spPr>
            <a:xfrm>
              <a:off x="10325100" y="22860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25" name="Google Shape;325;p14"/>
            <p:cNvCxnSpPr>
              <a:stCxn id="317" idx="3"/>
              <a:endCxn id="319" idx="0"/>
            </p:cNvCxnSpPr>
            <p:nvPr/>
          </p:nvCxnSpPr>
          <p:spPr>
            <a:xfrm flipH="1">
              <a:off x="8648700" y="27432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26" name="Google Shape;326;p14"/>
            <p:cNvSpPr/>
            <p:nvPr/>
          </p:nvSpPr>
          <p:spPr>
            <a:xfrm>
              <a:off x="9067800" y="38100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27" name="Google Shape;327;p14"/>
            <p:cNvCxnSpPr>
              <a:stCxn id="319" idx="3"/>
              <a:endCxn id="321" idx="0"/>
            </p:cNvCxnSpPr>
            <p:nvPr/>
          </p:nvCxnSpPr>
          <p:spPr>
            <a:xfrm flipH="1">
              <a:off x="8343900" y="32004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28" name="Google Shape;328;p14"/>
            <p:cNvCxnSpPr>
              <a:stCxn id="319" idx="3"/>
              <a:endCxn id="322" idx="0"/>
            </p:cNvCxnSpPr>
            <p:nvPr/>
          </p:nvCxnSpPr>
          <p:spPr>
            <a:xfrm>
              <a:off x="8648700" y="32004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29" name="Google Shape;329;p14"/>
            <p:cNvCxnSpPr>
              <a:stCxn id="322" idx="3"/>
              <a:endCxn id="320" idx="0"/>
            </p:cNvCxnSpPr>
            <p:nvPr/>
          </p:nvCxnSpPr>
          <p:spPr>
            <a:xfrm flipH="1">
              <a:off x="8648700" y="36576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330" name="Google Shape;330;p14"/>
            <p:cNvCxnSpPr>
              <a:stCxn id="322" idx="3"/>
              <a:endCxn id="326" idx="0"/>
            </p:cNvCxnSpPr>
            <p:nvPr/>
          </p:nvCxnSpPr>
          <p:spPr>
            <a:xfrm>
              <a:off x="8953500" y="36576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31" name="Google Shape;331;p14"/>
            <p:cNvSpPr/>
            <p:nvPr/>
          </p:nvSpPr>
          <p:spPr>
            <a:xfrm>
              <a:off x="7924800" y="5791200"/>
              <a:ext cx="533400" cy="304800"/>
            </a:xfrm>
            <a:prstGeom prst="rect">
              <a:avLst/>
            </a:prstGeom>
            <a:solidFill>
              <a:srgbClr val="CCCCCC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8763000" y="5791200"/>
              <a:ext cx="533400" cy="304800"/>
            </a:xfrm>
            <a:prstGeom prst="rect">
              <a:avLst/>
            </a:prstGeom>
            <a:solidFill>
              <a:srgbClr val="CCCCCC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9753600" y="5791200"/>
              <a:ext cx="533400" cy="304800"/>
            </a:xfrm>
            <a:prstGeom prst="rect">
              <a:avLst/>
            </a:prstGeom>
            <a:solidFill>
              <a:srgbClr val="CCCCCC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10591800" y="5791200"/>
              <a:ext cx="533400" cy="304800"/>
            </a:xfrm>
            <a:prstGeom prst="rect">
              <a:avLst/>
            </a:prstGeom>
            <a:solidFill>
              <a:srgbClr val="CCCCCC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?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8102600" y="4114800"/>
              <a:ext cx="508000" cy="1676400"/>
            </a:xfrm>
            <a:custGeom>
              <a:avLst/>
              <a:gdLst/>
              <a:ahLst/>
              <a:cxnLst/>
              <a:rect l="l" t="t" r="r" b="b"/>
              <a:pathLst>
                <a:path w="320" h="1440" extrusionOk="0">
                  <a:moveTo>
                    <a:pt x="320" y="0"/>
                  </a:moveTo>
                  <a:cubicBezTo>
                    <a:pt x="232" y="72"/>
                    <a:pt x="144" y="144"/>
                    <a:pt x="128" y="240"/>
                  </a:cubicBezTo>
                  <a:cubicBezTo>
                    <a:pt x="112" y="336"/>
                    <a:pt x="240" y="480"/>
                    <a:pt x="224" y="576"/>
                  </a:cubicBezTo>
                  <a:cubicBezTo>
                    <a:pt x="208" y="672"/>
                    <a:pt x="64" y="736"/>
                    <a:pt x="32" y="816"/>
                  </a:cubicBezTo>
                  <a:cubicBezTo>
                    <a:pt x="0" y="896"/>
                    <a:pt x="32" y="952"/>
                    <a:pt x="32" y="1056"/>
                  </a:cubicBezTo>
                  <a:cubicBezTo>
                    <a:pt x="32" y="1160"/>
                    <a:pt x="32" y="1300"/>
                    <a:pt x="32" y="1440"/>
                  </a:cubicBezTo>
                </a:path>
              </a:pathLst>
            </a:cu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8890000" y="4114800"/>
              <a:ext cx="406400" cy="1676400"/>
            </a:xfrm>
            <a:custGeom>
              <a:avLst/>
              <a:gdLst/>
              <a:ahLst/>
              <a:cxnLst/>
              <a:rect l="l" t="t" r="r" b="b"/>
              <a:pathLst>
                <a:path w="256" h="1056" extrusionOk="0">
                  <a:moveTo>
                    <a:pt x="256" y="0"/>
                  </a:moveTo>
                  <a:cubicBezTo>
                    <a:pt x="140" y="148"/>
                    <a:pt x="24" y="296"/>
                    <a:pt x="16" y="384"/>
                  </a:cubicBezTo>
                  <a:cubicBezTo>
                    <a:pt x="8" y="472"/>
                    <a:pt x="208" y="456"/>
                    <a:pt x="208" y="528"/>
                  </a:cubicBezTo>
                  <a:cubicBezTo>
                    <a:pt x="208" y="600"/>
                    <a:pt x="32" y="728"/>
                    <a:pt x="16" y="816"/>
                  </a:cubicBezTo>
                  <a:cubicBezTo>
                    <a:pt x="0" y="904"/>
                    <a:pt x="56" y="980"/>
                    <a:pt x="112" y="1056"/>
                  </a:cubicBezTo>
                </a:path>
              </a:pathLst>
            </a:cu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10515600" y="3200400"/>
              <a:ext cx="457200" cy="2590800"/>
            </a:xfrm>
            <a:custGeom>
              <a:avLst/>
              <a:gdLst/>
              <a:ahLst/>
              <a:cxnLst/>
              <a:rect l="l" t="t" r="r" b="b"/>
              <a:pathLst>
                <a:path w="256" h="1056" extrusionOk="0">
                  <a:moveTo>
                    <a:pt x="256" y="0"/>
                  </a:moveTo>
                  <a:cubicBezTo>
                    <a:pt x="140" y="148"/>
                    <a:pt x="24" y="296"/>
                    <a:pt x="16" y="384"/>
                  </a:cubicBezTo>
                  <a:cubicBezTo>
                    <a:pt x="8" y="472"/>
                    <a:pt x="208" y="456"/>
                    <a:pt x="208" y="528"/>
                  </a:cubicBezTo>
                  <a:cubicBezTo>
                    <a:pt x="208" y="600"/>
                    <a:pt x="32" y="728"/>
                    <a:pt x="16" y="816"/>
                  </a:cubicBezTo>
                  <a:cubicBezTo>
                    <a:pt x="0" y="904"/>
                    <a:pt x="56" y="980"/>
                    <a:pt x="112" y="1056"/>
                  </a:cubicBezTo>
                </a:path>
              </a:pathLst>
            </a:cu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9944100" y="3200400"/>
              <a:ext cx="508000" cy="2590800"/>
            </a:xfrm>
            <a:custGeom>
              <a:avLst/>
              <a:gdLst/>
              <a:ahLst/>
              <a:cxnLst/>
              <a:rect l="l" t="t" r="r" b="b"/>
              <a:pathLst>
                <a:path w="320" h="1632" extrusionOk="0">
                  <a:moveTo>
                    <a:pt x="216" y="0"/>
                  </a:moveTo>
                  <a:cubicBezTo>
                    <a:pt x="268" y="108"/>
                    <a:pt x="320" y="216"/>
                    <a:pt x="312" y="336"/>
                  </a:cubicBezTo>
                  <a:cubicBezTo>
                    <a:pt x="304" y="456"/>
                    <a:pt x="192" y="576"/>
                    <a:pt x="168" y="720"/>
                  </a:cubicBezTo>
                  <a:cubicBezTo>
                    <a:pt x="144" y="864"/>
                    <a:pt x="192" y="1104"/>
                    <a:pt x="168" y="1200"/>
                  </a:cubicBezTo>
                  <a:cubicBezTo>
                    <a:pt x="144" y="1296"/>
                    <a:pt x="48" y="1224"/>
                    <a:pt x="24" y="1296"/>
                  </a:cubicBezTo>
                  <a:cubicBezTo>
                    <a:pt x="0" y="1368"/>
                    <a:pt x="12" y="1500"/>
                    <a:pt x="24" y="1632"/>
                  </a:cubicBezTo>
                </a:path>
              </a:pathLst>
            </a:cu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39" name="Google Shape;339;p14"/>
            <p:cNvCxnSpPr>
              <a:stCxn id="317" idx="3"/>
              <a:endCxn id="340" idx="0"/>
            </p:cNvCxnSpPr>
            <p:nvPr/>
          </p:nvCxnSpPr>
          <p:spPr>
            <a:xfrm>
              <a:off x="8953500" y="2743200"/>
              <a:ext cx="304800" cy="1524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340" name="Google Shape;340;p14"/>
            <p:cNvSpPr/>
            <p:nvPr/>
          </p:nvSpPr>
          <p:spPr>
            <a:xfrm>
              <a:off x="9067800" y="28956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CCCCCC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8" name="Google Shape;308;p14"/>
            <p:cNvSpPr/>
            <p:nvPr/>
          </p:nvSpPr>
          <p:spPr>
            <a:xfrm>
              <a:off x="8077200" y="2438400"/>
              <a:ext cx="457200" cy="304800"/>
            </a:xfrm>
            <a:prstGeom prst="rect">
              <a:avLst/>
            </a:prstGeom>
            <a:solidFill>
              <a:srgbClr val="0099FF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14"/>
            <p:cNvSpPr/>
            <p:nvPr/>
          </p:nvSpPr>
          <p:spPr>
            <a:xfrm>
              <a:off x="8763000" y="2438400"/>
              <a:ext cx="457200" cy="304800"/>
            </a:xfrm>
            <a:prstGeom prst="rect">
              <a:avLst/>
            </a:prstGeom>
            <a:solidFill>
              <a:srgbClr val="0099FF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9753600" y="2438400"/>
              <a:ext cx="457200" cy="304800"/>
            </a:xfrm>
            <a:prstGeom prst="rect">
              <a:avLst/>
            </a:prstGeom>
            <a:solidFill>
              <a:srgbClr val="0099FF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10439400" y="2438400"/>
              <a:ext cx="457200" cy="304800"/>
            </a:xfrm>
            <a:prstGeom prst="rect">
              <a:avLst/>
            </a:prstGeom>
            <a:solidFill>
              <a:srgbClr val="0099FF"/>
            </a:solidFill>
            <a:ln w="1270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9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14"/>
            <p:cNvSpPr/>
            <p:nvPr/>
          </p:nvSpPr>
          <p:spPr>
            <a:xfrm>
              <a:off x="9296400" y="15240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0099FF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182875" rIns="91425" bIns="45700" anchor="b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14"/>
            <p:cNvSpPr txBox="1"/>
            <p:nvPr/>
          </p:nvSpPr>
          <p:spPr>
            <a:xfrm>
              <a:off x="11223625" y="1919288"/>
              <a:ext cx="663575" cy="366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min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5" name="Google Shape;345;p14"/>
            <p:cNvSpPr txBox="1"/>
            <p:nvPr/>
          </p:nvSpPr>
          <p:spPr>
            <a:xfrm>
              <a:off x="11223625" y="1462088"/>
              <a:ext cx="663575" cy="366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6" name="Google Shape;346;p14"/>
            <p:cNvSpPr/>
            <p:nvPr/>
          </p:nvSpPr>
          <p:spPr>
            <a:xfrm rot="10800000">
              <a:off x="8458200" y="19812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FF7575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7" name="Google Shape;347;p14"/>
            <p:cNvSpPr txBox="1"/>
            <p:nvPr/>
          </p:nvSpPr>
          <p:spPr>
            <a:xfrm>
              <a:off x="8553450" y="198120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45700" anchor="ctr" anchorCtr="1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-2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4"/>
            <p:cNvSpPr/>
            <p:nvPr/>
          </p:nvSpPr>
          <p:spPr>
            <a:xfrm rot="10800000">
              <a:off x="10134600" y="1981200"/>
              <a:ext cx="381000" cy="304800"/>
            </a:xfrm>
            <a:prstGeom prst="triangle">
              <a:avLst>
                <a:gd name="adj" fmla="val 50000"/>
              </a:avLst>
            </a:prstGeom>
            <a:solidFill>
              <a:srgbClr val="FF7575"/>
            </a:solidFill>
            <a:ln w="9525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14"/>
            <p:cNvSpPr txBox="1"/>
            <p:nvPr/>
          </p:nvSpPr>
          <p:spPr>
            <a:xfrm>
              <a:off x="10229850" y="1981200"/>
              <a:ext cx="190500" cy="15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45700" anchor="ctr" anchorCtr="1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0" i="0" u="none" strike="noStrike" cap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9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Iterating with Limited Resources</a:t>
            </a:r>
            <a:endParaRPr/>
          </a:p>
        </p:txBody>
      </p:sp>
      <p:sp>
        <p:nvSpPr>
          <p:cNvPr id="355" name="Google Shape;355;p15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6BE0B"/>
              </a:buClr>
              <a:buSzPts val="2800"/>
              <a:buChar char="•"/>
            </a:pPr>
            <a:r>
              <a:rPr lang="en-US" b="1" u="sng" dirty="0">
                <a:solidFill>
                  <a:srgbClr val="D6BE0B"/>
                </a:solidFill>
              </a:rPr>
              <a:t>Pruning</a:t>
            </a:r>
            <a:r>
              <a:rPr lang="en-US" dirty="0">
                <a:solidFill>
                  <a:schemeClr val="accent3"/>
                </a:solidFill>
              </a:rPr>
              <a:t> allows us to ignore portions of the search tree that make no difference to the final choice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6BE0B"/>
              </a:buClr>
              <a:buSzPts val="2800"/>
              <a:buChar char="•"/>
            </a:pPr>
            <a:r>
              <a:rPr lang="en-US" b="1" u="sng" dirty="0">
                <a:solidFill>
                  <a:srgbClr val="D6BE0B"/>
                </a:solidFill>
              </a:rPr>
              <a:t>Heuristic evaluation functions</a:t>
            </a:r>
            <a:r>
              <a:rPr lang="en-US" u="sng" dirty="0">
                <a:solidFill>
                  <a:schemeClr val="accent3"/>
                </a:solidFill>
              </a:rPr>
              <a:t> </a:t>
            </a:r>
            <a:r>
              <a:rPr lang="en-US" dirty="0">
                <a:solidFill>
                  <a:schemeClr val="accent3"/>
                </a:solidFill>
              </a:rPr>
              <a:t>allow us to approximate the true utility of a state without doing a complete search</a:t>
            </a:r>
            <a:r>
              <a:rPr lang="en-US" dirty="0"/>
              <a:t>. </a:t>
            </a:r>
            <a:endParaRPr dirty="0"/>
          </a:p>
        </p:txBody>
      </p:sp>
      <p:sp>
        <p:nvSpPr>
          <p:cNvPr id="356" name="Google Shape;3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357" name="Google Shape;35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Game Tree Pruning</a:t>
            </a:r>
            <a:endParaRPr/>
          </a:p>
        </p:txBody>
      </p:sp>
      <p:sp>
        <p:nvSpPr>
          <p:cNvPr id="363" name="Google Shape;36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364" name="Google Shape;364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365" name="Google Shape;365;p1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926895" y="1825625"/>
            <a:ext cx="6620784" cy="4351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Minimax Search: Pruning</a:t>
            </a:r>
            <a:endParaRPr/>
          </a:p>
        </p:txBody>
      </p:sp>
      <p:sp>
        <p:nvSpPr>
          <p:cNvPr id="371" name="Google Shape;371;p17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 dirty="0"/>
              <a:t>The problem with </a:t>
            </a:r>
            <a:r>
              <a:rPr lang="en-US" dirty="0" err="1"/>
              <a:t>minimax</a:t>
            </a:r>
            <a:r>
              <a:rPr lang="en-US" dirty="0"/>
              <a:t> search is that the number of game states it has to examine is exponential in the depth of the tree.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 dirty="0"/>
              <a:t>We can’t eliminate the exponent,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 dirty="0"/>
              <a:t>But it turns out </a:t>
            </a:r>
            <a:r>
              <a:rPr lang="en-US" dirty="0">
                <a:solidFill>
                  <a:schemeClr val="accent3"/>
                </a:solidFill>
              </a:rPr>
              <a:t>we can effectively cut it in half</a:t>
            </a:r>
            <a:r>
              <a:rPr lang="en-US" dirty="0"/>
              <a:t>. 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 dirty="0"/>
              <a:t>The trick is that it is possible to compute the correct </a:t>
            </a:r>
            <a:r>
              <a:rPr lang="en-US" dirty="0" err="1"/>
              <a:t>minimax</a:t>
            </a:r>
            <a:r>
              <a:rPr lang="en-US" dirty="0"/>
              <a:t> decision without looking at every node in the game tree. </a:t>
            </a:r>
            <a:endParaRPr dirty="0"/>
          </a:p>
        </p:txBody>
      </p:sp>
      <p:sp>
        <p:nvSpPr>
          <p:cNvPr id="372" name="Google Shape;3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373" name="Google Shape;3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Minimax Search: Pruning</a:t>
            </a:r>
            <a:endParaRPr/>
          </a:p>
        </p:txBody>
      </p:sp>
      <p:sp>
        <p:nvSpPr>
          <p:cNvPr id="379" name="Google Shape;379;p18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</a:pPr>
            <a:r>
              <a:rPr lang="en-US">
                <a:solidFill>
                  <a:schemeClr val="accent6"/>
                </a:solidFill>
              </a:rPr>
              <a:t>Alpha–beta pruning. 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/>
              <a:t>When applied to a standard minimax tree, it returns the same move as minimax would, but prunes away branches that cannot possibly influence the final decision.</a:t>
            </a:r>
            <a:endParaRPr/>
          </a:p>
          <a:p>
            <a:pPr marL="1143000" lvl="2" indent="-101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6EEF2"/>
              </a:buClr>
              <a:buSzPts val="2000"/>
              <a:buNone/>
            </a:pP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 b="1"/>
              <a:t>α</a:t>
            </a:r>
            <a:r>
              <a:rPr lang="en-US"/>
              <a:t> = the value of the best (i.e., highest-value) choice we have found so far at any choice point along the path for </a:t>
            </a:r>
            <a:r>
              <a:rPr lang="en-US" b="1">
                <a:solidFill>
                  <a:srgbClr val="D6BE0B"/>
                </a:solidFill>
              </a:rPr>
              <a:t>MAX</a:t>
            </a:r>
            <a:r>
              <a:rPr lang="en-US"/>
              <a:t>.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9F6F9"/>
              </a:buClr>
              <a:buSzPts val="2400"/>
              <a:buChar char="•"/>
            </a:pPr>
            <a:r>
              <a:rPr lang="en-US" b="1"/>
              <a:t>β</a:t>
            </a:r>
            <a:r>
              <a:rPr lang="en-US"/>
              <a:t> = the value of the best (i.e., lowest-value) choice we have found so far at any choice point along the path for </a:t>
            </a:r>
            <a:r>
              <a:rPr lang="en-US" b="1">
                <a:solidFill>
                  <a:srgbClr val="D6BE0B"/>
                </a:solidFill>
              </a:rPr>
              <a:t>MIN</a:t>
            </a:r>
            <a:r>
              <a:rPr lang="en-US"/>
              <a:t>.</a:t>
            </a:r>
            <a:endParaRPr/>
          </a:p>
        </p:txBody>
      </p:sp>
      <p:sp>
        <p:nvSpPr>
          <p:cNvPr id="380" name="Google Shape;380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381" name="Google Shape;381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Alpha Beta pruning</a:t>
            </a:r>
            <a:endParaRPr/>
          </a:p>
        </p:txBody>
      </p:sp>
      <p:sp>
        <p:nvSpPr>
          <p:cNvPr id="387" name="Google Shape;387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388" name="Google Shape;3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389" name="Google Shape;389;p1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 l="15693" t="1985" r="14365" b="34502"/>
          <a:stretch/>
        </p:blipFill>
        <p:spPr>
          <a:xfrm>
            <a:off x="2339599" y="2264840"/>
            <a:ext cx="7795376" cy="34729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endParaRPr/>
          </a:p>
        </p:txBody>
      </p:sp>
      <p:sp>
        <p:nvSpPr>
          <p:cNvPr id="395" name="Google Shape;395;p22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None/>
            </a:pPr>
            <a:endParaRPr/>
          </a:p>
        </p:txBody>
      </p:sp>
      <p:sp>
        <p:nvSpPr>
          <p:cNvPr id="396" name="Google Shape;39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397" name="Google Shape;39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398" name="Google Shape;39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7098" y="4284"/>
            <a:ext cx="9697803" cy="68494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endParaRPr/>
          </a:p>
        </p:txBody>
      </p:sp>
      <p:sp>
        <p:nvSpPr>
          <p:cNvPr id="404" name="Google Shape;404;p23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None/>
            </a:pPr>
            <a:endParaRPr/>
          </a:p>
        </p:txBody>
      </p:sp>
      <p:sp>
        <p:nvSpPr>
          <p:cNvPr id="405" name="Google Shape;405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406" name="Google Shape;406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407" name="Google Shape;407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47098" y="4284"/>
            <a:ext cx="9697803" cy="6849431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23"/>
          <p:cNvSpPr txBox="1"/>
          <p:nvPr/>
        </p:nvSpPr>
        <p:spPr>
          <a:xfrm>
            <a:off x="9430326" y="6418263"/>
            <a:ext cx="303288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3"/>
          <p:cNvSpPr txBox="1"/>
          <p:nvPr/>
        </p:nvSpPr>
        <p:spPr>
          <a:xfrm>
            <a:off x="4696689" y="6484383"/>
            <a:ext cx="303288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3"/>
          <p:cNvSpPr txBox="1"/>
          <p:nvPr/>
        </p:nvSpPr>
        <p:spPr>
          <a:xfrm>
            <a:off x="4854502" y="5449749"/>
            <a:ext cx="303288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4"/>
          <p:cNvSpPr txBox="1"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Example of Alpha Beta Pruning</a:t>
            </a:r>
            <a:endParaRPr/>
          </a:p>
        </p:txBody>
      </p:sp>
      <p:sp>
        <p:nvSpPr>
          <p:cNvPr id="416" name="Google Shape;416;p24"/>
          <p:cNvSpPr txBox="1">
            <a:spLocks noGrp="1"/>
          </p:cNvSpPr>
          <p:nvPr>
            <p:ph type="body" idx="1"/>
          </p:nvPr>
        </p:nvSpPr>
        <p:spPr>
          <a:xfrm>
            <a:off x="839788" y="4850581"/>
            <a:ext cx="10514012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1600"/>
              <a:buNone/>
            </a:pPr>
            <a:endParaRPr/>
          </a:p>
        </p:txBody>
      </p:sp>
      <p:sp>
        <p:nvSpPr>
          <p:cNvPr id="417" name="Google Shape;41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418" name="Google Shape;41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5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4" name="Google Shape;424;p25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5" name="Google Shape;425;p25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6" name="Google Shape;426;p25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7" name="Google Shape;427;p25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8" name="Google Shape;428;p25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29" name="Google Shape;429;p25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30" name="Google Shape;430;p25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25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25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25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25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5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5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5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8" name="Google Shape;438;p25"/>
          <p:cNvCxnSpPr>
            <a:stCxn id="424" idx="0"/>
            <a:endCxn id="423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39" name="Google Shape;439;p25"/>
          <p:cNvCxnSpPr>
            <a:stCxn id="423" idx="3"/>
            <a:endCxn id="425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0" name="Google Shape;440;p25"/>
          <p:cNvCxnSpPr>
            <a:stCxn id="424" idx="2"/>
            <a:endCxn id="426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1" name="Google Shape;441;p25"/>
          <p:cNvCxnSpPr>
            <a:stCxn id="424" idx="2"/>
            <a:endCxn id="427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2" name="Google Shape;442;p25"/>
          <p:cNvCxnSpPr>
            <a:stCxn id="425" idx="2"/>
            <a:endCxn id="428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3" name="Google Shape;443;p25"/>
          <p:cNvCxnSpPr>
            <a:stCxn id="425" idx="2"/>
            <a:endCxn id="429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4" name="Google Shape;444;p25"/>
          <p:cNvCxnSpPr>
            <a:stCxn id="426" idx="3"/>
            <a:endCxn id="430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5" name="Google Shape;445;p25"/>
          <p:cNvCxnSpPr>
            <a:stCxn id="426" idx="3"/>
            <a:endCxn id="431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6" name="Google Shape;446;p25"/>
          <p:cNvCxnSpPr>
            <a:stCxn id="427" idx="3"/>
            <a:endCxn id="432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7" name="Google Shape;447;p25"/>
          <p:cNvCxnSpPr>
            <a:stCxn id="427" idx="3"/>
            <a:endCxn id="433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8" name="Google Shape;448;p25"/>
          <p:cNvCxnSpPr>
            <a:stCxn id="428" idx="3"/>
            <a:endCxn id="434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49" name="Google Shape;449;p25"/>
          <p:cNvCxnSpPr>
            <a:stCxn id="428" idx="3"/>
            <a:endCxn id="435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0" name="Google Shape;450;p25"/>
          <p:cNvCxnSpPr>
            <a:stCxn id="429" idx="3"/>
            <a:endCxn id="436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51" name="Google Shape;451;p25"/>
          <p:cNvCxnSpPr>
            <a:stCxn id="429" idx="3"/>
            <a:endCxn id="437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452" name="Google Shape;452;p25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453" name="Google Shape;453;p25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454" name="Google Shape;454;p25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455" name="Google Shape;455;p25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456" name="Google Shape;456;p25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457" name="Google Shape;457;p25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458" name="Google Shape;458;p25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459" name="Google Shape;459;p25"/>
          <p:cNvGraphicFramePr/>
          <p:nvPr/>
        </p:nvGraphicFramePr>
        <p:xfrm>
          <a:off x="4351864" y="1612053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460" name="Google Shape;460;p25"/>
          <p:cNvGraphicFramePr/>
          <p:nvPr/>
        </p:nvGraphicFramePr>
        <p:xfrm>
          <a:off x="6925733" y="1619676"/>
          <a:ext cx="8006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461" name="Google Shape;461;p25"/>
          <p:cNvGraphicFramePr/>
          <p:nvPr/>
        </p:nvGraphicFramePr>
        <p:xfrm>
          <a:off x="2429932" y="3228341"/>
          <a:ext cx="8974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48725"/>
                <a:gridCol w="4487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462" name="Google Shape;462;p25"/>
          <p:cNvGraphicFramePr/>
          <p:nvPr/>
        </p:nvGraphicFramePr>
        <p:xfrm>
          <a:off x="3725331" y="3235539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463" name="Google Shape;463;p25"/>
          <p:cNvGraphicFramePr/>
          <p:nvPr/>
        </p:nvGraphicFramePr>
        <p:xfrm>
          <a:off x="7333319" y="3138171"/>
          <a:ext cx="7966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464" name="Google Shape;464;p25"/>
          <p:cNvGraphicFramePr/>
          <p:nvPr/>
        </p:nvGraphicFramePr>
        <p:xfrm>
          <a:off x="8883905" y="3122510"/>
          <a:ext cx="7758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pic>
        <p:nvPicPr>
          <p:cNvPr id="465" name="Google Shape;465;p25"/>
          <p:cNvPicPr preferRelativeResize="0"/>
          <p:nvPr/>
        </p:nvPicPr>
        <p:blipFill rotWithShape="1">
          <a:blip r:embed="rId3">
            <a:alphaModFix/>
          </a:blip>
          <a:srcRect r="34833" b="15217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6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1" name="Google Shape;471;p26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2" name="Google Shape;472;p26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3" name="Google Shape;473;p26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4" name="Google Shape;474;p26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5" name="Google Shape;475;p26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6" name="Google Shape;476;p26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477" name="Google Shape;477;p26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26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26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26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26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26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26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6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5" name="Google Shape;485;p26"/>
          <p:cNvCxnSpPr>
            <a:stCxn id="471" idx="0"/>
            <a:endCxn id="470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6" name="Google Shape;486;p26"/>
          <p:cNvCxnSpPr>
            <a:stCxn id="470" idx="3"/>
            <a:endCxn id="472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7" name="Google Shape;487;p26"/>
          <p:cNvCxnSpPr>
            <a:stCxn id="471" idx="2"/>
            <a:endCxn id="473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8" name="Google Shape;488;p26"/>
          <p:cNvCxnSpPr>
            <a:stCxn id="471" idx="2"/>
            <a:endCxn id="474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89" name="Google Shape;489;p26"/>
          <p:cNvCxnSpPr>
            <a:stCxn id="472" idx="2"/>
            <a:endCxn id="475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90" name="Google Shape;490;p26"/>
          <p:cNvCxnSpPr>
            <a:stCxn id="472" idx="2"/>
            <a:endCxn id="476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91" name="Google Shape;491;p26"/>
          <p:cNvCxnSpPr>
            <a:stCxn id="473" idx="3"/>
            <a:endCxn id="477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92" name="Google Shape;492;p26"/>
          <p:cNvCxnSpPr>
            <a:stCxn id="473" idx="3"/>
            <a:endCxn id="478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93" name="Google Shape;493;p26"/>
          <p:cNvCxnSpPr>
            <a:stCxn id="474" idx="3"/>
            <a:endCxn id="479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94" name="Google Shape;494;p26"/>
          <p:cNvCxnSpPr>
            <a:stCxn id="474" idx="3"/>
            <a:endCxn id="480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95" name="Google Shape;495;p26"/>
          <p:cNvCxnSpPr>
            <a:stCxn id="475" idx="3"/>
            <a:endCxn id="481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96" name="Google Shape;496;p26"/>
          <p:cNvCxnSpPr>
            <a:stCxn id="475" idx="3"/>
            <a:endCxn id="482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97" name="Google Shape;497;p26"/>
          <p:cNvCxnSpPr>
            <a:stCxn id="476" idx="3"/>
            <a:endCxn id="483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498" name="Google Shape;498;p26"/>
          <p:cNvCxnSpPr>
            <a:stCxn id="476" idx="3"/>
            <a:endCxn id="484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499" name="Google Shape;499;p26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00" name="Google Shape;500;p26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01" name="Google Shape;501;p26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02" name="Google Shape;502;p26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03" name="Google Shape;503;p26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04" name="Google Shape;504;p26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05" name="Google Shape;505;p26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06" name="Google Shape;506;p26"/>
          <p:cNvGraphicFramePr/>
          <p:nvPr/>
        </p:nvGraphicFramePr>
        <p:xfrm>
          <a:off x="4351864" y="1612053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-inf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07" name="Google Shape;507;p26"/>
          <p:cNvGraphicFramePr/>
          <p:nvPr/>
        </p:nvGraphicFramePr>
        <p:xfrm>
          <a:off x="6925733" y="1619676"/>
          <a:ext cx="8006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08" name="Google Shape;508;p26"/>
          <p:cNvGraphicFramePr/>
          <p:nvPr/>
        </p:nvGraphicFramePr>
        <p:xfrm>
          <a:off x="2429932" y="3228341"/>
          <a:ext cx="8974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48725"/>
                <a:gridCol w="4487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09" name="Google Shape;509;p26"/>
          <p:cNvGraphicFramePr/>
          <p:nvPr/>
        </p:nvGraphicFramePr>
        <p:xfrm>
          <a:off x="3725331" y="3235539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10" name="Google Shape;510;p26"/>
          <p:cNvGraphicFramePr/>
          <p:nvPr/>
        </p:nvGraphicFramePr>
        <p:xfrm>
          <a:off x="7333319" y="3138171"/>
          <a:ext cx="7966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11" name="Google Shape;511;p26"/>
          <p:cNvGraphicFramePr/>
          <p:nvPr/>
        </p:nvGraphicFramePr>
        <p:xfrm>
          <a:off x="8883905" y="3122510"/>
          <a:ext cx="7758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pic>
        <p:nvPicPr>
          <p:cNvPr id="512" name="Google Shape;512;p26"/>
          <p:cNvPicPr preferRelativeResize="0"/>
          <p:nvPr/>
        </p:nvPicPr>
        <p:blipFill rotWithShape="1">
          <a:blip r:embed="rId3">
            <a:alphaModFix/>
          </a:blip>
          <a:srcRect r="34833" b="15217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7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8" name="Google Shape;518;p27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19" name="Google Shape;519;p27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0" name="Google Shape;520;p27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1" name="Google Shape;521;p27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2" name="Google Shape;522;p27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3" name="Google Shape;523;p27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24" name="Google Shape;524;p27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27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27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27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27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27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27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27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2" name="Google Shape;532;p27"/>
          <p:cNvCxnSpPr>
            <a:stCxn id="518" idx="0"/>
            <a:endCxn id="517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3" name="Google Shape;533;p27"/>
          <p:cNvCxnSpPr>
            <a:stCxn id="517" idx="3"/>
            <a:endCxn id="519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4" name="Google Shape;534;p27"/>
          <p:cNvCxnSpPr>
            <a:stCxn id="518" idx="2"/>
            <a:endCxn id="520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5" name="Google Shape;535;p27"/>
          <p:cNvCxnSpPr>
            <a:stCxn id="518" idx="2"/>
            <a:endCxn id="521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6" name="Google Shape;536;p27"/>
          <p:cNvCxnSpPr>
            <a:stCxn id="519" idx="2"/>
            <a:endCxn id="522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7" name="Google Shape;537;p27"/>
          <p:cNvCxnSpPr>
            <a:stCxn id="519" idx="2"/>
            <a:endCxn id="523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8" name="Google Shape;538;p27"/>
          <p:cNvCxnSpPr>
            <a:stCxn id="520" idx="3"/>
            <a:endCxn id="524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39" name="Google Shape;539;p27"/>
          <p:cNvCxnSpPr>
            <a:stCxn id="520" idx="3"/>
            <a:endCxn id="525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0" name="Google Shape;540;p27"/>
          <p:cNvCxnSpPr>
            <a:stCxn id="521" idx="3"/>
            <a:endCxn id="526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1" name="Google Shape;541;p27"/>
          <p:cNvCxnSpPr>
            <a:stCxn id="521" idx="3"/>
            <a:endCxn id="527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2" name="Google Shape;542;p27"/>
          <p:cNvCxnSpPr>
            <a:stCxn id="522" idx="3"/>
            <a:endCxn id="528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3" name="Google Shape;543;p27"/>
          <p:cNvCxnSpPr>
            <a:stCxn id="522" idx="3"/>
            <a:endCxn id="529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4" name="Google Shape;544;p27"/>
          <p:cNvCxnSpPr>
            <a:stCxn id="523" idx="3"/>
            <a:endCxn id="530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45" name="Google Shape;545;p27"/>
          <p:cNvCxnSpPr>
            <a:stCxn id="523" idx="3"/>
            <a:endCxn id="531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546" name="Google Shape;546;p27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47" name="Google Shape;547;p27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48" name="Google Shape;548;p27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49" name="Google Shape;549;p27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50" name="Google Shape;550;p27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51" name="Google Shape;551;p27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52" name="Google Shape;552;p27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53" name="Google Shape;553;p27"/>
          <p:cNvGraphicFramePr/>
          <p:nvPr/>
        </p:nvGraphicFramePr>
        <p:xfrm>
          <a:off x="4351864" y="1612053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-inf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54" name="Google Shape;554;p27"/>
          <p:cNvGraphicFramePr/>
          <p:nvPr/>
        </p:nvGraphicFramePr>
        <p:xfrm>
          <a:off x="6925733" y="1619676"/>
          <a:ext cx="8006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55" name="Google Shape;555;p27"/>
          <p:cNvGraphicFramePr/>
          <p:nvPr/>
        </p:nvGraphicFramePr>
        <p:xfrm>
          <a:off x="2429932" y="3228341"/>
          <a:ext cx="8974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48725"/>
                <a:gridCol w="4487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-inf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56" name="Google Shape;556;p27"/>
          <p:cNvGraphicFramePr/>
          <p:nvPr/>
        </p:nvGraphicFramePr>
        <p:xfrm>
          <a:off x="3725331" y="3235539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57" name="Google Shape;557;p27"/>
          <p:cNvGraphicFramePr/>
          <p:nvPr/>
        </p:nvGraphicFramePr>
        <p:xfrm>
          <a:off x="7333319" y="3138171"/>
          <a:ext cx="7966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58" name="Google Shape;558;p27"/>
          <p:cNvGraphicFramePr/>
          <p:nvPr/>
        </p:nvGraphicFramePr>
        <p:xfrm>
          <a:off x="8883905" y="3122510"/>
          <a:ext cx="7758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pic>
        <p:nvPicPr>
          <p:cNvPr id="559" name="Google Shape;559;p27"/>
          <p:cNvPicPr preferRelativeResize="0"/>
          <p:nvPr/>
        </p:nvPicPr>
        <p:blipFill rotWithShape="1">
          <a:blip r:embed="rId3">
            <a:alphaModFix/>
          </a:blip>
          <a:srcRect r="34833" b="15217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8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5" name="Google Shape;565;p28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6" name="Google Shape;566;p28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7" name="Google Shape;567;p28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8" name="Google Shape;568;p28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69" name="Google Shape;569;p28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0" name="Google Shape;570;p28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571" name="Google Shape;571;p28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28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28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28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28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28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28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28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9" name="Google Shape;579;p28"/>
          <p:cNvCxnSpPr>
            <a:stCxn id="565" idx="0"/>
            <a:endCxn id="564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80" name="Google Shape;580;p28"/>
          <p:cNvCxnSpPr>
            <a:stCxn id="564" idx="3"/>
            <a:endCxn id="566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81" name="Google Shape;581;p28"/>
          <p:cNvCxnSpPr>
            <a:stCxn id="565" idx="2"/>
            <a:endCxn id="567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82" name="Google Shape;582;p28"/>
          <p:cNvCxnSpPr>
            <a:stCxn id="565" idx="2"/>
            <a:endCxn id="568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83" name="Google Shape;583;p28"/>
          <p:cNvCxnSpPr>
            <a:stCxn id="566" idx="2"/>
            <a:endCxn id="569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84" name="Google Shape;584;p28"/>
          <p:cNvCxnSpPr>
            <a:stCxn id="566" idx="2"/>
            <a:endCxn id="570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85" name="Google Shape;585;p28"/>
          <p:cNvCxnSpPr>
            <a:stCxn id="567" idx="3"/>
            <a:endCxn id="571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86" name="Google Shape;586;p28"/>
          <p:cNvCxnSpPr>
            <a:stCxn id="567" idx="3"/>
            <a:endCxn id="572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87" name="Google Shape;587;p28"/>
          <p:cNvCxnSpPr>
            <a:stCxn id="568" idx="3"/>
            <a:endCxn id="573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88" name="Google Shape;588;p28"/>
          <p:cNvCxnSpPr>
            <a:stCxn id="568" idx="3"/>
            <a:endCxn id="574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89" name="Google Shape;589;p28"/>
          <p:cNvCxnSpPr>
            <a:stCxn id="569" idx="3"/>
            <a:endCxn id="575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0" name="Google Shape;590;p28"/>
          <p:cNvCxnSpPr>
            <a:stCxn id="569" idx="3"/>
            <a:endCxn id="576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1" name="Google Shape;591;p28"/>
          <p:cNvCxnSpPr>
            <a:stCxn id="570" idx="3"/>
            <a:endCxn id="577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92" name="Google Shape;592;p28"/>
          <p:cNvCxnSpPr>
            <a:stCxn id="570" idx="3"/>
            <a:endCxn id="578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593" name="Google Shape;593;p28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94" name="Google Shape;594;p28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95" name="Google Shape;595;p28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96" name="Google Shape;596;p28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4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4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97" name="Google Shape;597;p28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98" name="Google Shape;598;p28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599" name="Google Shape;599;p28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00" name="Google Shape;600;p28"/>
          <p:cNvGraphicFramePr/>
          <p:nvPr/>
        </p:nvGraphicFramePr>
        <p:xfrm>
          <a:off x="4351864" y="1612053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-inf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01" name="Google Shape;601;p28"/>
          <p:cNvGraphicFramePr/>
          <p:nvPr/>
        </p:nvGraphicFramePr>
        <p:xfrm>
          <a:off x="6925733" y="1619676"/>
          <a:ext cx="8006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02" name="Google Shape;602;p28"/>
          <p:cNvGraphicFramePr/>
          <p:nvPr/>
        </p:nvGraphicFramePr>
        <p:xfrm>
          <a:off x="2429932" y="3228341"/>
          <a:ext cx="8974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48725"/>
                <a:gridCol w="4487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-inf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03" name="Google Shape;603;p28"/>
          <p:cNvGraphicFramePr/>
          <p:nvPr/>
        </p:nvGraphicFramePr>
        <p:xfrm>
          <a:off x="3725331" y="3235539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04" name="Google Shape;604;p28"/>
          <p:cNvGraphicFramePr/>
          <p:nvPr/>
        </p:nvGraphicFramePr>
        <p:xfrm>
          <a:off x="7333319" y="3138171"/>
          <a:ext cx="7966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05" name="Google Shape;605;p28"/>
          <p:cNvGraphicFramePr/>
          <p:nvPr/>
        </p:nvGraphicFramePr>
        <p:xfrm>
          <a:off x="8883905" y="3122510"/>
          <a:ext cx="7758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pic>
        <p:nvPicPr>
          <p:cNvPr id="606" name="Google Shape;606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38412" y="3811"/>
            <a:ext cx="4353587" cy="177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9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2" name="Google Shape;612;p29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3" name="Google Shape;613;p29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4" name="Google Shape;614;p29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5" name="Google Shape;615;p29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6" name="Google Shape;616;p29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7" name="Google Shape;617;p29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18" name="Google Shape;618;p29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29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29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29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29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29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29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29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6" name="Google Shape;626;p29"/>
          <p:cNvCxnSpPr>
            <a:stCxn id="612" idx="0"/>
            <a:endCxn id="611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7" name="Google Shape;627;p29"/>
          <p:cNvCxnSpPr>
            <a:stCxn id="611" idx="3"/>
            <a:endCxn id="613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8" name="Google Shape;628;p29"/>
          <p:cNvCxnSpPr>
            <a:stCxn id="612" idx="2"/>
            <a:endCxn id="614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29" name="Google Shape;629;p29"/>
          <p:cNvCxnSpPr>
            <a:stCxn id="612" idx="2"/>
            <a:endCxn id="615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0" name="Google Shape;630;p29"/>
          <p:cNvCxnSpPr>
            <a:stCxn id="613" idx="2"/>
            <a:endCxn id="616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1" name="Google Shape;631;p29"/>
          <p:cNvCxnSpPr>
            <a:stCxn id="613" idx="2"/>
            <a:endCxn id="617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2" name="Google Shape;632;p29"/>
          <p:cNvCxnSpPr>
            <a:stCxn id="614" idx="3"/>
            <a:endCxn id="618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3" name="Google Shape;633;p29"/>
          <p:cNvCxnSpPr>
            <a:stCxn id="614" idx="3"/>
            <a:endCxn id="619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4" name="Google Shape;634;p29"/>
          <p:cNvCxnSpPr>
            <a:stCxn id="615" idx="3"/>
            <a:endCxn id="620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5" name="Google Shape;635;p29"/>
          <p:cNvCxnSpPr>
            <a:stCxn id="615" idx="3"/>
            <a:endCxn id="621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6" name="Google Shape;636;p29"/>
          <p:cNvCxnSpPr>
            <a:stCxn id="616" idx="3"/>
            <a:endCxn id="622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7" name="Google Shape;637;p29"/>
          <p:cNvCxnSpPr>
            <a:stCxn id="616" idx="3"/>
            <a:endCxn id="623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8" name="Google Shape;638;p29"/>
          <p:cNvCxnSpPr>
            <a:stCxn id="617" idx="3"/>
            <a:endCxn id="624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39" name="Google Shape;639;p29"/>
          <p:cNvCxnSpPr>
            <a:stCxn id="617" idx="3"/>
            <a:endCxn id="625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640" name="Google Shape;640;p29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41" name="Google Shape;641;p29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42" name="Google Shape;642;p29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43" name="Google Shape;643;p29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44" name="Google Shape;644;p29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45" name="Google Shape;645;p29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46" name="Google Shape;646;p29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47" name="Google Shape;647;p29"/>
          <p:cNvGraphicFramePr/>
          <p:nvPr/>
        </p:nvGraphicFramePr>
        <p:xfrm>
          <a:off x="4351864" y="1612053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-inf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48" name="Google Shape;648;p29"/>
          <p:cNvGraphicFramePr/>
          <p:nvPr/>
        </p:nvGraphicFramePr>
        <p:xfrm>
          <a:off x="6925733" y="1619676"/>
          <a:ext cx="8006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49" name="Google Shape;649;p29"/>
          <p:cNvGraphicFramePr/>
          <p:nvPr/>
        </p:nvGraphicFramePr>
        <p:xfrm>
          <a:off x="2429932" y="3228341"/>
          <a:ext cx="8974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48725"/>
                <a:gridCol w="4487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-inf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50" name="Google Shape;650;p29"/>
          <p:cNvGraphicFramePr/>
          <p:nvPr/>
        </p:nvGraphicFramePr>
        <p:xfrm>
          <a:off x="3725331" y="3235539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51" name="Google Shape;651;p29"/>
          <p:cNvGraphicFramePr/>
          <p:nvPr/>
        </p:nvGraphicFramePr>
        <p:xfrm>
          <a:off x="7333319" y="3138171"/>
          <a:ext cx="7966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52" name="Google Shape;652;p29"/>
          <p:cNvGraphicFramePr/>
          <p:nvPr/>
        </p:nvGraphicFramePr>
        <p:xfrm>
          <a:off x="8883905" y="3122510"/>
          <a:ext cx="7758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pic>
        <p:nvPicPr>
          <p:cNvPr id="653" name="Google Shape;653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38412" y="3811"/>
            <a:ext cx="4353587" cy="177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30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59" name="Google Shape;659;p30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0" name="Google Shape;660;p30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1" name="Google Shape;661;p30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2" name="Google Shape;662;p30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3" name="Google Shape;663;p30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4" name="Google Shape;664;p30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65" name="Google Shape;665;p30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6" name="Google Shape;666;p30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7" name="Google Shape;667;p30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0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30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0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30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0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73" name="Google Shape;673;p30"/>
          <p:cNvCxnSpPr>
            <a:stCxn id="659" idx="0"/>
            <a:endCxn id="658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4" name="Google Shape;674;p30"/>
          <p:cNvCxnSpPr>
            <a:stCxn id="658" idx="3"/>
            <a:endCxn id="660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5" name="Google Shape;675;p30"/>
          <p:cNvCxnSpPr>
            <a:stCxn id="659" idx="2"/>
            <a:endCxn id="661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6" name="Google Shape;676;p30"/>
          <p:cNvCxnSpPr>
            <a:stCxn id="659" idx="2"/>
            <a:endCxn id="662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7" name="Google Shape;677;p30"/>
          <p:cNvCxnSpPr>
            <a:stCxn id="660" idx="2"/>
            <a:endCxn id="663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8" name="Google Shape;678;p30"/>
          <p:cNvCxnSpPr>
            <a:stCxn id="660" idx="2"/>
            <a:endCxn id="664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79" name="Google Shape;679;p30"/>
          <p:cNvCxnSpPr>
            <a:stCxn id="661" idx="3"/>
            <a:endCxn id="665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0" name="Google Shape;680;p30"/>
          <p:cNvCxnSpPr>
            <a:stCxn id="661" idx="3"/>
            <a:endCxn id="666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1" name="Google Shape;681;p30"/>
          <p:cNvCxnSpPr>
            <a:stCxn id="662" idx="3"/>
            <a:endCxn id="667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2" name="Google Shape;682;p30"/>
          <p:cNvCxnSpPr>
            <a:stCxn id="662" idx="3"/>
            <a:endCxn id="668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3" name="Google Shape;683;p30"/>
          <p:cNvCxnSpPr>
            <a:stCxn id="663" idx="3"/>
            <a:endCxn id="669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4" name="Google Shape;684;p30"/>
          <p:cNvCxnSpPr>
            <a:stCxn id="663" idx="3"/>
            <a:endCxn id="670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5" name="Google Shape;685;p30"/>
          <p:cNvCxnSpPr>
            <a:stCxn id="664" idx="3"/>
            <a:endCxn id="671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686" name="Google Shape;686;p30"/>
          <p:cNvCxnSpPr>
            <a:stCxn id="664" idx="3"/>
            <a:endCxn id="672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687" name="Google Shape;687;p30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88" name="Google Shape;688;p30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89" name="Google Shape;689;p30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90" name="Google Shape;690;p30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91" name="Google Shape;691;p30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92" name="Google Shape;692;p30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93" name="Google Shape;693;p30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94" name="Google Shape;694;p30"/>
          <p:cNvGraphicFramePr/>
          <p:nvPr/>
        </p:nvGraphicFramePr>
        <p:xfrm>
          <a:off x="4351864" y="1612053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-inf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95" name="Google Shape;695;p30"/>
          <p:cNvGraphicFramePr/>
          <p:nvPr/>
        </p:nvGraphicFramePr>
        <p:xfrm>
          <a:off x="6925733" y="1619676"/>
          <a:ext cx="8006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96" name="Google Shape;696;p30"/>
          <p:cNvGraphicFramePr/>
          <p:nvPr/>
        </p:nvGraphicFramePr>
        <p:xfrm>
          <a:off x="3725331" y="3235539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97" name="Google Shape;697;p30"/>
          <p:cNvGraphicFramePr/>
          <p:nvPr/>
        </p:nvGraphicFramePr>
        <p:xfrm>
          <a:off x="7333319" y="3138171"/>
          <a:ext cx="7966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698" name="Google Shape;698;p30"/>
          <p:cNvGraphicFramePr/>
          <p:nvPr/>
        </p:nvGraphicFramePr>
        <p:xfrm>
          <a:off x="8883905" y="3122510"/>
          <a:ext cx="7758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699" name="Google Shape;699;p30"/>
          <p:cNvSpPr/>
          <p:nvPr/>
        </p:nvSpPr>
        <p:spPr>
          <a:xfrm rot="-1543011">
            <a:off x="2379133" y="3158067"/>
            <a:ext cx="520700" cy="254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700" name="Google Shape;70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7892" y="0"/>
            <a:ext cx="4450882" cy="181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31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6" name="Google Shape;706;p31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7" name="Google Shape;707;p31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8" name="Google Shape;708;p31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09" name="Google Shape;709;p31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0" name="Google Shape;710;p31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1" name="Google Shape;711;p31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12" name="Google Shape;712;p31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1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31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31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6" name="Google Shape;716;p31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7" name="Google Shape;717;p31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8" name="Google Shape;718;p31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31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20" name="Google Shape;720;p31"/>
          <p:cNvCxnSpPr>
            <a:stCxn id="706" idx="0"/>
            <a:endCxn id="705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1" name="Google Shape;721;p31"/>
          <p:cNvCxnSpPr>
            <a:stCxn id="705" idx="3"/>
            <a:endCxn id="707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2" name="Google Shape;722;p31"/>
          <p:cNvCxnSpPr>
            <a:stCxn id="706" idx="2"/>
            <a:endCxn id="708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3" name="Google Shape;723;p31"/>
          <p:cNvCxnSpPr>
            <a:stCxn id="706" idx="2"/>
            <a:endCxn id="709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4" name="Google Shape;724;p31"/>
          <p:cNvCxnSpPr>
            <a:stCxn id="707" idx="2"/>
            <a:endCxn id="710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5" name="Google Shape;725;p31"/>
          <p:cNvCxnSpPr>
            <a:stCxn id="707" idx="2"/>
            <a:endCxn id="711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6" name="Google Shape;726;p31"/>
          <p:cNvCxnSpPr>
            <a:stCxn id="708" idx="3"/>
            <a:endCxn id="712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7" name="Google Shape;727;p31"/>
          <p:cNvCxnSpPr>
            <a:stCxn id="708" idx="3"/>
            <a:endCxn id="713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8" name="Google Shape;728;p31"/>
          <p:cNvCxnSpPr>
            <a:stCxn id="709" idx="3"/>
            <a:endCxn id="714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29" name="Google Shape;729;p31"/>
          <p:cNvCxnSpPr>
            <a:stCxn id="709" idx="3"/>
            <a:endCxn id="715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0" name="Google Shape;730;p31"/>
          <p:cNvCxnSpPr>
            <a:stCxn id="710" idx="3"/>
            <a:endCxn id="716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1" name="Google Shape;731;p31"/>
          <p:cNvCxnSpPr>
            <a:stCxn id="710" idx="3"/>
            <a:endCxn id="717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2" name="Google Shape;732;p31"/>
          <p:cNvCxnSpPr>
            <a:stCxn id="711" idx="3"/>
            <a:endCxn id="718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33" name="Google Shape;733;p31"/>
          <p:cNvCxnSpPr>
            <a:stCxn id="711" idx="3"/>
            <a:endCxn id="719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734" name="Google Shape;734;p31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35" name="Google Shape;735;p31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36" name="Google Shape;736;p31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37" name="Google Shape;737;p31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38" name="Google Shape;738;p31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39" name="Google Shape;739;p31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40" name="Google Shape;740;p31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41" name="Google Shape;741;p31"/>
          <p:cNvGraphicFramePr/>
          <p:nvPr/>
        </p:nvGraphicFramePr>
        <p:xfrm>
          <a:off x="4351864" y="1612053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-inf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42" name="Google Shape;742;p31"/>
          <p:cNvGraphicFramePr/>
          <p:nvPr/>
        </p:nvGraphicFramePr>
        <p:xfrm>
          <a:off x="6925733" y="1619676"/>
          <a:ext cx="8006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43" name="Google Shape;743;p31"/>
          <p:cNvGraphicFramePr/>
          <p:nvPr/>
        </p:nvGraphicFramePr>
        <p:xfrm>
          <a:off x="3725331" y="3235539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-inf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44" name="Google Shape;744;p31"/>
          <p:cNvGraphicFramePr/>
          <p:nvPr/>
        </p:nvGraphicFramePr>
        <p:xfrm>
          <a:off x="7333319" y="3138171"/>
          <a:ext cx="7966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45" name="Google Shape;745;p31"/>
          <p:cNvGraphicFramePr/>
          <p:nvPr/>
        </p:nvGraphicFramePr>
        <p:xfrm>
          <a:off x="8883905" y="3122510"/>
          <a:ext cx="7758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pic>
        <p:nvPicPr>
          <p:cNvPr id="746" name="Google Shape;74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7892" y="0"/>
            <a:ext cx="4450882" cy="181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32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2" name="Google Shape;752;p32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3" name="Google Shape;753;p32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4" name="Google Shape;754;p32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5" name="Google Shape;755;p32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6" name="Google Shape;756;p32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7" name="Google Shape;757;p32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58" name="Google Shape;758;p32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32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32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32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32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32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32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32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6" name="Google Shape;766;p32"/>
          <p:cNvCxnSpPr>
            <a:stCxn id="752" idx="0"/>
            <a:endCxn id="751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67" name="Google Shape;767;p32"/>
          <p:cNvCxnSpPr>
            <a:stCxn id="751" idx="3"/>
            <a:endCxn id="753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68" name="Google Shape;768;p32"/>
          <p:cNvCxnSpPr>
            <a:stCxn id="752" idx="2"/>
            <a:endCxn id="754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69" name="Google Shape;769;p32"/>
          <p:cNvCxnSpPr>
            <a:stCxn id="752" idx="2"/>
            <a:endCxn id="755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0" name="Google Shape;770;p32"/>
          <p:cNvCxnSpPr>
            <a:stCxn id="753" idx="2"/>
            <a:endCxn id="756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1" name="Google Shape;771;p32"/>
          <p:cNvCxnSpPr>
            <a:stCxn id="753" idx="2"/>
            <a:endCxn id="757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2" name="Google Shape;772;p32"/>
          <p:cNvCxnSpPr>
            <a:stCxn id="754" idx="3"/>
            <a:endCxn id="758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3" name="Google Shape;773;p32"/>
          <p:cNvCxnSpPr>
            <a:stCxn id="754" idx="3"/>
            <a:endCxn id="759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4" name="Google Shape;774;p32"/>
          <p:cNvCxnSpPr>
            <a:stCxn id="755" idx="3"/>
            <a:endCxn id="760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5" name="Google Shape;775;p32"/>
          <p:cNvCxnSpPr>
            <a:stCxn id="755" idx="3"/>
            <a:endCxn id="761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6" name="Google Shape;776;p32"/>
          <p:cNvCxnSpPr>
            <a:stCxn id="756" idx="3"/>
            <a:endCxn id="762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7" name="Google Shape;777;p32"/>
          <p:cNvCxnSpPr>
            <a:stCxn id="756" idx="3"/>
            <a:endCxn id="763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8" name="Google Shape;778;p32"/>
          <p:cNvCxnSpPr>
            <a:stCxn id="757" idx="3"/>
            <a:endCxn id="764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779" name="Google Shape;779;p32"/>
          <p:cNvCxnSpPr>
            <a:stCxn id="757" idx="3"/>
            <a:endCxn id="765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780" name="Google Shape;780;p32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81" name="Google Shape;781;p32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82" name="Google Shape;782;p32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83" name="Google Shape;783;p32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84" name="Google Shape;784;p32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lt1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7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chemeClr val="lt1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chemeClr val="lt1"/>
                        </a:solidFill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85" name="Google Shape;785;p32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86" name="Google Shape;786;p32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87" name="Google Shape;787;p32"/>
          <p:cNvGraphicFramePr/>
          <p:nvPr/>
        </p:nvGraphicFramePr>
        <p:xfrm>
          <a:off x="4351864" y="1612053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-inf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88" name="Google Shape;788;p32"/>
          <p:cNvGraphicFramePr/>
          <p:nvPr/>
        </p:nvGraphicFramePr>
        <p:xfrm>
          <a:off x="6925733" y="1619676"/>
          <a:ext cx="8006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89" name="Google Shape;789;p32"/>
          <p:cNvGraphicFramePr/>
          <p:nvPr/>
        </p:nvGraphicFramePr>
        <p:xfrm>
          <a:off x="3725331" y="3235539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-inf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90" name="Google Shape;790;p32"/>
          <p:cNvGraphicFramePr/>
          <p:nvPr/>
        </p:nvGraphicFramePr>
        <p:xfrm>
          <a:off x="7333319" y="3138171"/>
          <a:ext cx="7966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791" name="Google Shape;791;p32"/>
          <p:cNvGraphicFramePr/>
          <p:nvPr/>
        </p:nvGraphicFramePr>
        <p:xfrm>
          <a:off x="8883905" y="3122510"/>
          <a:ext cx="7758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792" name="Google Shape;792;p32"/>
          <p:cNvSpPr/>
          <p:nvPr/>
        </p:nvSpPr>
        <p:spPr>
          <a:xfrm rot="-3629950">
            <a:off x="3988129" y="4944533"/>
            <a:ext cx="592667" cy="28786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793" name="Google Shape;79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38412" y="3811"/>
            <a:ext cx="4353587" cy="177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3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99" name="Google Shape;799;p33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0" name="Google Shape;800;p33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1" name="Google Shape;801;p33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2" name="Google Shape;802;p33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3" name="Google Shape;803;p33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4" name="Google Shape;804;p33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05" name="Google Shape;805;p33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33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33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33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33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33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33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2" name="Google Shape;812;p33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3" name="Google Shape;813;p33"/>
          <p:cNvCxnSpPr>
            <a:stCxn id="799" idx="0"/>
            <a:endCxn id="798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4" name="Google Shape;814;p33"/>
          <p:cNvCxnSpPr>
            <a:stCxn id="798" idx="3"/>
            <a:endCxn id="800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5" name="Google Shape;815;p33"/>
          <p:cNvCxnSpPr>
            <a:stCxn id="799" idx="2"/>
            <a:endCxn id="801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6" name="Google Shape;816;p33"/>
          <p:cNvCxnSpPr>
            <a:stCxn id="799" idx="2"/>
            <a:endCxn id="802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7" name="Google Shape;817;p33"/>
          <p:cNvCxnSpPr>
            <a:stCxn id="800" idx="2"/>
            <a:endCxn id="803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8" name="Google Shape;818;p33"/>
          <p:cNvCxnSpPr>
            <a:stCxn id="800" idx="2"/>
            <a:endCxn id="804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19" name="Google Shape;819;p33"/>
          <p:cNvCxnSpPr>
            <a:stCxn id="801" idx="3"/>
            <a:endCxn id="805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0" name="Google Shape;820;p33"/>
          <p:cNvCxnSpPr>
            <a:stCxn id="801" idx="3"/>
            <a:endCxn id="806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1" name="Google Shape;821;p33"/>
          <p:cNvCxnSpPr>
            <a:stCxn id="802" idx="3"/>
            <a:endCxn id="807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2" name="Google Shape;822;p33"/>
          <p:cNvCxnSpPr>
            <a:stCxn id="802" idx="3"/>
            <a:endCxn id="808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3" name="Google Shape;823;p33"/>
          <p:cNvCxnSpPr>
            <a:stCxn id="803" idx="3"/>
            <a:endCxn id="809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4" name="Google Shape;824;p33"/>
          <p:cNvCxnSpPr>
            <a:stCxn id="803" idx="3"/>
            <a:endCxn id="810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5" name="Google Shape;825;p33"/>
          <p:cNvCxnSpPr>
            <a:stCxn id="804" idx="3"/>
            <a:endCxn id="811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26" name="Google Shape;826;p33"/>
          <p:cNvCxnSpPr>
            <a:stCxn id="804" idx="3"/>
            <a:endCxn id="812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827" name="Google Shape;827;p33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28" name="Google Shape;828;p33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29" name="Google Shape;829;p33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30" name="Google Shape;830;p33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31" name="Google Shape;831;p33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7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32" name="Google Shape;832;p33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33" name="Google Shape;833;p33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34" name="Google Shape;834;p33"/>
          <p:cNvGraphicFramePr/>
          <p:nvPr/>
        </p:nvGraphicFramePr>
        <p:xfrm>
          <a:off x="4351864" y="1612053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-inf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35" name="Google Shape;835;p33"/>
          <p:cNvGraphicFramePr/>
          <p:nvPr/>
        </p:nvGraphicFramePr>
        <p:xfrm>
          <a:off x="6925733" y="1619676"/>
          <a:ext cx="8006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36" name="Google Shape;836;p33"/>
          <p:cNvGraphicFramePr/>
          <p:nvPr/>
        </p:nvGraphicFramePr>
        <p:xfrm>
          <a:off x="3725331" y="3235539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-inf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37" name="Google Shape;837;p33"/>
          <p:cNvGraphicFramePr/>
          <p:nvPr/>
        </p:nvGraphicFramePr>
        <p:xfrm>
          <a:off x="7333319" y="3138171"/>
          <a:ext cx="7966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38" name="Google Shape;838;p33"/>
          <p:cNvGraphicFramePr/>
          <p:nvPr/>
        </p:nvGraphicFramePr>
        <p:xfrm>
          <a:off x="8883905" y="3122510"/>
          <a:ext cx="7758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839" name="Google Shape;839;p33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840" name="Google Shape;840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5047" y="4782448"/>
            <a:ext cx="1920878" cy="2763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38412" y="3811"/>
            <a:ext cx="4353587" cy="177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34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47" name="Google Shape;847;p34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48" name="Google Shape;848;p34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49" name="Google Shape;849;p34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0" name="Google Shape;850;p34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34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2" name="Google Shape;852;p34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53" name="Google Shape;853;p34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34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34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34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7" name="Google Shape;857;p34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34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34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34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1" name="Google Shape;861;p34"/>
          <p:cNvCxnSpPr>
            <a:stCxn id="847" idx="0"/>
            <a:endCxn id="846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2" name="Google Shape;862;p34"/>
          <p:cNvCxnSpPr>
            <a:stCxn id="846" idx="3"/>
            <a:endCxn id="848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3" name="Google Shape;863;p34"/>
          <p:cNvCxnSpPr>
            <a:stCxn id="847" idx="2"/>
            <a:endCxn id="849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4" name="Google Shape;864;p34"/>
          <p:cNvCxnSpPr>
            <a:stCxn id="847" idx="2"/>
            <a:endCxn id="850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5" name="Google Shape;865;p34"/>
          <p:cNvCxnSpPr>
            <a:stCxn id="848" idx="2"/>
            <a:endCxn id="851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6" name="Google Shape;866;p34"/>
          <p:cNvCxnSpPr>
            <a:stCxn id="848" idx="2"/>
            <a:endCxn id="852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7" name="Google Shape;867;p34"/>
          <p:cNvCxnSpPr>
            <a:stCxn id="849" idx="3"/>
            <a:endCxn id="853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8" name="Google Shape;868;p34"/>
          <p:cNvCxnSpPr>
            <a:stCxn id="849" idx="3"/>
            <a:endCxn id="854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9" name="Google Shape;869;p34"/>
          <p:cNvCxnSpPr>
            <a:stCxn id="850" idx="3"/>
            <a:endCxn id="855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70" name="Google Shape;870;p34"/>
          <p:cNvCxnSpPr>
            <a:stCxn id="850" idx="3"/>
            <a:endCxn id="856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71" name="Google Shape;871;p34"/>
          <p:cNvCxnSpPr>
            <a:stCxn id="851" idx="3"/>
            <a:endCxn id="857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72" name="Google Shape;872;p34"/>
          <p:cNvCxnSpPr>
            <a:stCxn id="851" idx="3"/>
            <a:endCxn id="858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73" name="Google Shape;873;p34"/>
          <p:cNvCxnSpPr>
            <a:stCxn id="852" idx="3"/>
            <a:endCxn id="859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74" name="Google Shape;874;p34"/>
          <p:cNvCxnSpPr>
            <a:stCxn id="852" idx="3"/>
            <a:endCxn id="860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875" name="Google Shape;875;p34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76" name="Google Shape;876;p34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77" name="Google Shape;877;p34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78" name="Google Shape;878;p34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79" name="Google Shape;879;p34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7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80" name="Google Shape;880;p34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81" name="Google Shape;881;p34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82" name="Google Shape;882;p34"/>
          <p:cNvGraphicFramePr/>
          <p:nvPr/>
        </p:nvGraphicFramePr>
        <p:xfrm>
          <a:off x="4351864" y="1612053"/>
          <a:ext cx="9228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61425"/>
                <a:gridCol w="4614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-inf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83" name="Google Shape;883;p34"/>
          <p:cNvGraphicFramePr/>
          <p:nvPr/>
        </p:nvGraphicFramePr>
        <p:xfrm>
          <a:off x="6925733" y="1619676"/>
          <a:ext cx="8006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84" name="Google Shape;884;p34"/>
          <p:cNvGraphicFramePr/>
          <p:nvPr/>
        </p:nvGraphicFramePr>
        <p:xfrm>
          <a:off x="7333319" y="3138171"/>
          <a:ext cx="7966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885" name="Google Shape;885;p34"/>
          <p:cNvGraphicFramePr/>
          <p:nvPr/>
        </p:nvGraphicFramePr>
        <p:xfrm>
          <a:off x="8883905" y="3122510"/>
          <a:ext cx="7758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886" name="Google Shape;886;p34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87" name="Google Shape;887;p34"/>
          <p:cNvSpPr/>
          <p:nvPr/>
        </p:nvSpPr>
        <p:spPr>
          <a:xfrm rot="-9032514">
            <a:off x="4267200" y="3090333"/>
            <a:ext cx="584200" cy="23706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888" name="Google Shape;888;p34"/>
          <p:cNvPicPr preferRelativeResize="0"/>
          <p:nvPr/>
        </p:nvPicPr>
        <p:blipFill rotWithShape="1">
          <a:blip r:embed="rId3">
            <a:alphaModFix/>
          </a:blip>
          <a:srcRect r="34833" b="15217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35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4" name="Google Shape;894;p35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35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6" name="Google Shape;896;p35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7" name="Google Shape;897;p35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8" name="Google Shape;898;p35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9" name="Google Shape;899;p35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00" name="Google Shape;900;p35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35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35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35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35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35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6" name="Google Shape;906;p35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7" name="Google Shape;907;p35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8" name="Google Shape;908;p35"/>
          <p:cNvCxnSpPr>
            <a:stCxn id="894" idx="0"/>
            <a:endCxn id="893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09" name="Google Shape;909;p35"/>
          <p:cNvCxnSpPr>
            <a:stCxn id="893" idx="3"/>
            <a:endCxn id="895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0" name="Google Shape;910;p35"/>
          <p:cNvCxnSpPr>
            <a:stCxn id="894" idx="2"/>
            <a:endCxn id="896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1" name="Google Shape;911;p35"/>
          <p:cNvCxnSpPr>
            <a:stCxn id="894" idx="2"/>
            <a:endCxn id="897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2" name="Google Shape;912;p35"/>
          <p:cNvCxnSpPr>
            <a:stCxn id="895" idx="2"/>
            <a:endCxn id="898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3" name="Google Shape;913;p35"/>
          <p:cNvCxnSpPr>
            <a:stCxn id="895" idx="2"/>
            <a:endCxn id="899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4" name="Google Shape;914;p35"/>
          <p:cNvCxnSpPr>
            <a:stCxn id="896" idx="3"/>
            <a:endCxn id="900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5" name="Google Shape;915;p35"/>
          <p:cNvCxnSpPr>
            <a:stCxn id="896" idx="3"/>
            <a:endCxn id="901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6" name="Google Shape;916;p35"/>
          <p:cNvCxnSpPr>
            <a:stCxn id="897" idx="3"/>
            <a:endCxn id="902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7" name="Google Shape;917;p35"/>
          <p:cNvCxnSpPr>
            <a:stCxn id="897" idx="3"/>
            <a:endCxn id="903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8" name="Google Shape;918;p35"/>
          <p:cNvCxnSpPr>
            <a:stCxn id="898" idx="3"/>
            <a:endCxn id="904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19" name="Google Shape;919;p35"/>
          <p:cNvCxnSpPr>
            <a:stCxn id="898" idx="3"/>
            <a:endCxn id="905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20" name="Google Shape;920;p35"/>
          <p:cNvCxnSpPr>
            <a:stCxn id="899" idx="3"/>
            <a:endCxn id="906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21" name="Google Shape;921;p35"/>
          <p:cNvCxnSpPr>
            <a:stCxn id="899" idx="3"/>
            <a:endCxn id="907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922" name="Google Shape;922;p35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23" name="Google Shape;923;p35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24" name="Google Shape;924;p35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25" name="Google Shape;925;p35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26" name="Google Shape;926;p35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7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27" name="Google Shape;927;p35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28" name="Google Shape;928;p35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29" name="Google Shape;929;p35"/>
          <p:cNvGraphicFramePr/>
          <p:nvPr/>
        </p:nvGraphicFramePr>
        <p:xfrm>
          <a:off x="6925733" y="1619676"/>
          <a:ext cx="8006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00300"/>
                <a:gridCol w="4003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30" name="Google Shape;930;p35"/>
          <p:cNvGraphicFramePr/>
          <p:nvPr/>
        </p:nvGraphicFramePr>
        <p:xfrm>
          <a:off x="7333319" y="3138171"/>
          <a:ext cx="7966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31" name="Google Shape;931;p35"/>
          <p:cNvGraphicFramePr/>
          <p:nvPr/>
        </p:nvGraphicFramePr>
        <p:xfrm>
          <a:off x="8883905" y="3122510"/>
          <a:ext cx="7758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932" name="Google Shape;932;p35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33" name="Google Shape;933;p35"/>
          <p:cNvSpPr/>
          <p:nvPr/>
        </p:nvSpPr>
        <p:spPr>
          <a:xfrm rot="-1519068">
            <a:off x="4144096" y="1651773"/>
            <a:ext cx="584200" cy="23706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934" name="Google Shape;934;p3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7892" y="0"/>
            <a:ext cx="4450882" cy="181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36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0" name="Google Shape;940;p36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1" name="Google Shape;941;p36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2" name="Google Shape;942;p36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3" name="Google Shape;943;p36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4" name="Google Shape;944;p36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5" name="Google Shape;945;p36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46" name="Google Shape;946;p36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36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8" name="Google Shape;948;p36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9" name="Google Shape;949;p36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0" name="Google Shape;950;p36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36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2" name="Google Shape;952;p36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3" name="Google Shape;953;p36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54" name="Google Shape;954;p36"/>
          <p:cNvCxnSpPr>
            <a:stCxn id="940" idx="0"/>
            <a:endCxn id="939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55" name="Google Shape;955;p36"/>
          <p:cNvCxnSpPr>
            <a:stCxn id="939" idx="3"/>
            <a:endCxn id="941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56" name="Google Shape;956;p36"/>
          <p:cNvCxnSpPr>
            <a:stCxn id="940" idx="2"/>
            <a:endCxn id="942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57" name="Google Shape;957;p36"/>
          <p:cNvCxnSpPr>
            <a:stCxn id="940" idx="2"/>
            <a:endCxn id="943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58" name="Google Shape;958;p36"/>
          <p:cNvCxnSpPr>
            <a:stCxn id="941" idx="2"/>
            <a:endCxn id="944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59" name="Google Shape;959;p36"/>
          <p:cNvCxnSpPr>
            <a:stCxn id="941" idx="2"/>
            <a:endCxn id="945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60" name="Google Shape;960;p36"/>
          <p:cNvCxnSpPr>
            <a:stCxn id="942" idx="3"/>
            <a:endCxn id="946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61" name="Google Shape;961;p36"/>
          <p:cNvCxnSpPr>
            <a:stCxn id="942" idx="3"/>
            <a:endCxn id="947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62" name="Google Shape;962;p36"/>
          <p:cNvCxnSpPr>
            <a:stCxn id="943" idx="3"/>
            <a:endCxn id="948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63" name="Google Shape;963;p36"/>
          <p:cNvCxnSpPr>
            <a:stCxn id="943" idx="3"/>
            <a:endCxn id="949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64" name="Google Shape;964;p36"/>
          <p:cNvCxnSpPr>
            <a:stCxn id="944" idx="3"/>
            <a:endCxn id="950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65" name="Google Shape;965;p36"/>
          <p:cNvCxnSpPr>
            <a:stCxn id="944" idx="3"/>
            <a:endCxn id="951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66" name="Google Shape;966;p36"/>
          <p:cNvCxnSpPr>
            <a:stCxn id="945" idx="3"/>
            <a:endCxn id="952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967" name="Google Shape;967;p36"/>
          <p:cNvCxnSpPr>
            <a:stCxn id="945" idx="3"/>
            <a:endCxn id="953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968" name="Google Shape;968;p36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69" name="Google Shape;969;p36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70" name="Google Shape;970;p36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71" name="Google Shape;971;p36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72" name="Google Shape;972;p36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7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73" name="Google Shape;973;p36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74" name="Google Shape;974;p36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75" name="Google Shape;975;p36"/>
          <p:cNvGraphicFramePr/>
          <p:nvPr/>
        </p:nvGraphicFramePr>
        <p:xfrm>
          <a:off x="6925733" y="1619676"/>
          <a:ext cx="9144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57200"/>
                <a:gridCol w="4572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76" name="Google Shape;976;p36"/>
          <p:cNvGraphicFramePr/>
          <p:nvPr/>
        </p:nvGraphicFramePr>
        <p:xfrm>
          <a:off x="7333319" y="3138171"/>
          <a:ext cx="79665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98325"/>
                <a:gridCol w="398325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977" name="Google Shape;977;p36"/>
          <p:cNvGraphicFramePr/>
          <p:nvPr/>
        </p:nvGraphicFramePr>
        <p:xfrm>
          <a:off x="8883905" y="3122510"/>
          <a:ext cx="7758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978" name="Google Shape;978;p36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979" name="Google Shape;979;p36"/>
          <p:cNvPicPr preferRelativeResize="0"/>
          <p:nvPr/>
        </p:nvPicPr>
        <p:blipFill rotWithShape="1">
          <a:blip r:embed="rId3">
            <a:alphaModFix/>
          </a:blip>
          <a:srcRect r="34833" b="15217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37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5" name="Google Shape;985;p37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6" name="Google Shape;986;p37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7" name="Google Shape;987;p37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8" name="Google Shape;988;p37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89" name="Google Shape;989;p37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90" name="Google Shape;990;p37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991" name="Google Shape;991;p37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2" name="Google Shape;992;p37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37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4" name="Google Shape;994;p37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5" name="Google Shape;995;p37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37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7" name="Google Shape;997;p37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8" name="Google Shape;998;p37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99" name="Google Shape;999;p37"/>
          <p:cNvCxnSpPr>
            <a:stCxn id="985" idx="0"/>
            <a:endCxn id="984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00" name="Google Shape;1000;p37"/>
          <p:cNvCxnSpPr>
            <a:stCxn id="984" idx="3"/>
            <a:endCxn id="986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01" name="Google Shape;1001;p37"/>
          <p:cNvCxnSpPr>
            <a:stCxn id="985" idx="2"/>
            <a:endCxn id="987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02" name="Google Shape;1002;p37"/>
          <p:cNvCxnSpPr>
            <a:stCxn id="985" idx="2"/>
            <a:endCxn id="988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03" name="Google Shape;1003;p37"/>
          <p:cNvCxnSpPr>
            <a:stCxn id="986" idx="2"/>
            <a:endCxn id="989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04" name="Google Shape;1004;p37"/>
          <p:cNvCxnSpPr>
            <a:stCxn id="986" idx="2"/>
            <a:endCxn id="990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05" name="Google Shape;1005;p37"/>
          <p:cNvCxnSpPr>
            <a:stCxn id="987" idx="3"/>
            <a:endCxn id="991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06" name="Google Shape;1006;p37"/>
          <p:cNvCxnSpPr>
            <a:stCxn id="987" idx="3"/>
            <a:endCxn id="992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07" name="Google Shape;1007;p37"/>
          <p:cNvCxnSpPr>
            <a:stCxn id="988" idx="3"/>
            <a:endCxn id="993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08" name="Google Shape;1008;p37"/>
          <p:cNvCxnSpPr>
            <a:stCxn id="988" idx="3"/>
            <a:endCxn id="994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09" name="Google Shape;1009;p37"/>
          <p:cNvCxnSpPr>
            <a:stCxn id="989" idx="3"/>
            <a:endCxn id="995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0" name="Google Shape;1010;p37"/>
          <p:cNvCxnSpPr>
            <a:stCxn id="989" idx="3"/>
            <a:endCxn id="996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1" name="Google Shape;1011;p37"/>
          <p:cNvCxnSpPr>
            <a:stCxn id="990" idx="3"/>
            <a:endCxn id="997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12" name="Google Shape;1012;p37"/>
          <p:cNvCxnSpPr>
            <a:stCxn id="990" idx="3"/>
            <a:endCxn id="998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013" name="Google Shape;1013;p37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14" name="Google Shape;1014;p37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15" name="Google Shape;1015;p37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16" name="Google Shape;1016;p37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17" name="Google Shape;1017;p37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7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18" name="Google Shape;1018;p37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19" name="Google Shape;1019;p37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20" name="Google Shape;1020;p37"/>
          <p:cNvGraphicFramePr/>
          <p:nvPr/>
        </p:nvGraphicFramePr>
        <p:xfrm>
          <a:off x="6925733" y="1619676"/>
          <a:ext cx="9144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57200"/>
                <a:gridCol w="4572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21" name="Google Shape;1021;p37"/>
          <p:cNvGraphicFramePr/>
          <p:nvPr/>
        </p:nvGraphicFramePr>
        <p:xfrm>
          <a:off x="7333317" y="3138171"/>
          <a:ext cx="9132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56600"/>
                <a:gridCol w="4566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22" name="Google Shape;1022;p37"/>
          <p:cNvGraphicFramePr/>
          <p:nvPr/>
        </p:nvGraphicFramePr>
        <p:xfrm>
          <a:off x="8883905" y="3122510"/>
          <a:ext cx="7758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023" name="Google Shape;1023;p37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024" name="Google Shape;1024;p37"/>
          <p:cNvPicPr preferRelativeResize="0"/>
          <p:nvPr/>
        </p:nvPicPr>
        <p:blipFill rotWithShape="1">
          <a:blip r:embed="rId3">
            <a:alphaModFix/>
          </a:blip>
          <a:srcRect r="34833" b="15217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38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0" name="Google Shape;1030;p38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1" name="Google Shape;1031;p38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2" name="Google Shape;1032;p38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3" name="Google Shape;1033;p38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4" name="Google Shape;1034;p38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5" name="Google Shape;1035;p38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36" name="Google Shape;1036;p38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38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38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38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38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38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38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38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4" name="Google Shape;1044;p38"/>
          <p:cNvCxnSpPr>
            <a:stCxn id="1030" idx="0"/>
            <a:endCxn id="1029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45" name="Google Shape;1045;p38"/>
          <p:cNvCxnSpPr>
            <a:stCxn id="1029" idx="3"/>
            <a:endCxn id="1031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46" name="Google Shape;1046;p38"/>
          <p:cNvCxnSpPr>
            <a:stCxn id="1030" idx="2"/>
            <a:endCxn id="1032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47" name="Google Shape;1047;p38"/>
          <p:cNvCxnSpPr>
            <a:stCxn id="1030" idx="2"/>
            <a:endCxn id="1033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48" name="Google Shape;1048;p38"/>
          <p:cNvCxnSpPr>
            <a:stCxn id="1031" idx="2"/>
            <a:endCxn id="1034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49" name="Google Shape;1049;p38"/>
          <p:cNvCxnSpPr>
            <a:stCxn id="1031" idx="2"/>
            <a:endCxn id="1035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0" name="Google Shape;1050;p38"/>
          <p:cNvCxnSpPr>
            <a:stCxn id="1032" idx="3"/>
            <a:endCxn id="1036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1" name="Google Shape;1051;p38"/>
          <p:cNvCxnSpPr>
            <a:stCxn id="1032" idx="3"/>
            <a:endCxn id="1037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2" name="Google Shape;1052;p38"/>
          <p:cNvCxnSpPr>
            <a:stCxn id="1033" idx="3"/>
            <a:endCxn id="1038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3" name="Google Shape;1053;p38"/>
          <p:cNvCxnSpPr>
            <a:stCxn id="1033" idx="3"/>
            <a:endCxn id="1039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4" name="Google Shape;1054;p38"/>
          <p:cNvCxnSpPr>
            <a:stCxn id="1034" idx="3"/>
            <a:endCxn id="1040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5" name="Google Shape;1055;p38"/>
          <p:cNvCxnSpPr>
            <a:stCxn id="1034" idx="3"/>
            <a:endCxn id="1041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6" name="Google Shape;1056;p38"/>
          <p:cNvCxnSpPr>
            <a:stCxn id="1035" idx="3"/>
            <a:endCxn id="1042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57" name="Google Shape;1057;p38"/>
          <p:cNvCxnSpPr>
            <a:stCxn id="1035" idx="3"/>
            <a:endCxn id="1043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058" name="Google Shape;1058;p38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59" name="Google Shape;1059;p38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60" name="Google Shape;1060;p38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61" name="Google Shape;1061;p38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62" name="Google Shape;1062;p38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7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63" name="Google Shape;1063;p38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1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64" name="Google Shape;1064;p38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65" name="Google Shape;1065;p38"/>
          <p:cNvGraphicFramePr/>
          <p:nvPr/>
        </p:nvGraphicFramePr>
        <p:xfrm>
          <a:off x="6925733" y="1619676"/>
          <a:ext cx="9144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57200"/>
                <a:gridCol w="4572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66" name="Google Shape;1066;p38"/>
          <p:cNvGraphicFramePr/>
          <p:nvPr/>
        </p:nvGraphicFramePr>
        <p:xfrm>
          <a:off x="7333317" y="3138171"/>
          <a:ext cx="9132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56600"/>
                <a:gridCol w="4566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067" name="Google Shape;1067;p38"/>
          <p:cNvGraphicFramePr/>
          <p:nvPr/>
        </p:nvGraphicFramePr>
        <p:xfrm>
          <a:off x="8883905" y="3122510"/>
          <a:ext cx="7758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068" name="Google Shape;1068;p38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069" name="Google Shape;1069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38412" y="3811"/>
            <a:ext cx="4353587" cy="17741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p39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75" name="Google Shape;1075;p39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76" name="Google Shape;1076;p39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77" name="Google Shape;1077;p39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78" name="Google Shape;1078;p39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79" name="Google Shape;1079;p39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80" name="Google Shape;1080;p39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081" name="Google Shape;1081;p39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39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39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39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39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39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dk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39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39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9" name="Google Shape;1089;p39"/>
          <p:cNvCxnSpPr>
            <a:stCxn id="1075" idx="0"/>
            <a:endCxn id="1074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0" name="Google Shape;1090;p39"/>
          <p:cNvCxnSpPr>
            <a:stCxn id="1074" idx="3"/>
            <a:endCxn id="1076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1" name="Google Shape;1091;p39"/>
          <p:cNvCxnSpPr>
            <a:stCxn id="1075" idx="2"/>
            <a:endCxn id="1077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2" name="Google Shape;1092;p39"/>
          <p:cNvCxnSpPr>
            <a:stCxn id="1075" idx="2"/>
            <a:endCxn id="1078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3" name="Google Shape;1093;p39"/>
          <p:cNvCxnSpPr>
            <a:stCxn id="1076" idx="2"/>
            <a:endCxn id="1079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4" name="Google Shape;1094;p39"/>
          <p:cNvCxnSpPr>
            <a:stCxn id="1076" idx="2"/>
            <a:endCxn id="1080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5" name="Google Shape;1095;p39"/>
          <p:cNvCxnSpPr>
            <a:stCxn id="1077" idx="3"/>
            <a:endCxn id="1081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6" name="Google Shape;1096;p39"/>
          <p:cNvCxnSpPr>
            <a:stCxn id="1077" idx="3"/>
            <a:endCxn id="1082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7" name="Google Shape;1097;p39"/>
          <p:cNvCxnSpPr>
            <a:stCxn id="1078" idx="3"/>
            <a:endCxn id="1083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8" name="Google Shape;1098;p39"/>
          <p:cNvCxnSpPr>
            <a:stCxn id="1078" idx="3"/>
            <a:endCxn id="1084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099" name="Google Shape;1099;p39"/>
          <p:cNvCxnSpPr>
            <a:stCxn id="1079" idx="3"/>
            <a:endCxn id="1085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00" name="Google Shape;1100;p39"/>
          <p:cNvCxnSpPr>
            <a:stCxn id="1079" idx="3"/>
            <a:endCxn id="1086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01" name="Google Shape;1101;p39"/>
          <p:cNvCxnSpPr>
            <a:stCxn id="1080" idx="3"/>
            <a:endCxn id="1087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02" name="Google Shape;1102;p39"/>
          <p:cNvCxnSpPr>
            <a:stCxn id="1080" idx="3"/>
            <a:endCxn id="1088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103" name="Google Shape;1103;p39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04" name="Google Shape;1104;p39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05" name="Google Shape;1105;p39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06" name="Google Shape;1106;p39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07" name="Google Shape;1107;p39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7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08" name="Google Shape;1108;p39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2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09" name="Google Shape;1109;p39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10" name="Google Shape;1110;p39"/>
          <p:cNvGraphicFramePr/>
          <p:nvPr/>
        </p:nvGraphicFramePr>
        <p:xfrm>
          <a:off x="6925733" y="1619676"/>
          <a:ext cx="9144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57200"/>
                <a:gridCol w="4572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11" name="Google Shape;1111;p39"/>
          <p:cNvGraphicFramePr/>
          <p:nvPr/>
        </p:nvGraphicFramePr>
        <p:xfrm>
          <a:off x="7333317" y="3138171"/>
          <a:ext cx="9132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56600"/>
                <a:gridCol w="4566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12" name="Google Shape;1112;p39"/>
          <p:cNvGraphicFramePr/>
          <p:nvPr/>
        </p:nvGraphicFramePr>
        <p:xfrm>
          <a:off x="8883905" y="3122510"/>
          <a:ext cx="7758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113" name="Google Shape;1113;p39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114" name="Google Shape;1114;p39"/>
          <p:cNvPicPr preferRelativeResize="0"/>
          <p:nvPr/>
        </p:nvPicPr>
        <p:blipFill rotWithShape="1">
          <a:blip r:embed="rId3">
            <a:alphaModFix/>
          </a:blip>
          <a:srcRect r="34833" b="15217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40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20" name="Google Shape;1120;p40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21" name="Google Shape;1121;p40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22" name="Google Shape;1122;p40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23" name="Google Shape;1123;p40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24" name="Google Shape;1124;p40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40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26" name="Google Shape;1126;p40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7" name="Google Shape;1127;p40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8" name="Google Shape;1128;p40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9" name="Google Shape;1129;p40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40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40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40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40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4" name="Google Shape;1134;p40"/>
          <p:cNvCxnSpPr>
            <a:stCxn id="1120" idx="0"/>
            <a:endCxn id="1119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35" name="Google Shape;1135;p40"/>
          <p:cNvCxnSpPr>
            <a:stCxn id="1119" idx="3"/>
            <a:endCxn id="1121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36" name="Google Shape;1136;p40"/>
          <p:cNvCxnSpPr>
            <a:stCxn id="1120" idx="2"/>
            <a:endCxn id="1122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37" name="Google Shape;1137;p40"/>
          <p:cNvCxnSpPr>
            <a:stCxn id="1120" idx="2"/>
            <a:endCxn id="1123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38" name="Google Shape;1138;p40"/>
          <p:cNvCxnSpPr>
            <a:stCxn id="1121" idx="2"/>
            <a:endCxn id="1124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39" name="Google Shape;1139;p40"/>
          <p:cNvCxnSpPr>
            <a:stCxn id="1121" idx="2"/>
            <a:endCxn id="1125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0" name="Google Shape;1140;p40"/>
          <p:cNvCxnSpPr>
            <a:stCxn id="1122" idx="3"/>
            <a:endCxn id="1126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1" name="Google Shape;1141;p40"/>
          <p:cNvCxnSpPr>
            <a:stCxn id="1122" idx="3"/>
            <a:endCxn id="1127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2" name="Google Shape;1142;p40"/>
          <p:cNvCxnSpPr>
            <a:stCxn id="1123" idx="3"/>
            <a:endCxn id="1128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3" name="Google Shape;1143;p40"/>
          <p:cNvCxnSpPr>
            <a:stCxn id="1123" idx="3"/>
            <a:endCxn id="1129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4" name="Google Shape;1144;p40"/>
          <p:cNvCxnSpPr>
            <a:stCxn id="1124" idx="3"/>
            <a:endCxn id="1130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5" name="Google Shape;1145;p40"/>
          <p:cNvCxnSpPr>
            <a:stCxn id="1124" idx="3"/>
            <a:endCxn id="1131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6" name="Google Shape;1146;p40"/>
          <p:cNvCxnSpPr>
            <a:stCxn id="1125" idx="3"/>
            <a:endCxn id="1132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47" name="Google Shape;1147;p40"/>
          <p:cNvCxnSpPr>
            <a:stCxn id="1125" idx="3"/>
            <a:endCxn id="1133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148" name="Google Shape;1148;p40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49" name="Google Shape;1149;p40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50" name="Google Shape;1150;p40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51" name="Google Shape;1151;p40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52" name="Google Shape;1152;p40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7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53" name="Google Shape;1153;p40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2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54" name="Google Shape;1154;p40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55" name="Google Shape;1155;p40"/>
          <p:cNvGraphicFramePr/>
          <p:nvPr/>
        </p:nvGraphicFramePr>
        <p:xfrm>
          <a:off x="6925733" y="1619676"/>
          <a:ext cx="9144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57200"/>
                <a:gridCol w="4572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56" name="Google Shape;1156;p40"/>
          <p:cNvGraphicFramePr/>
          <p:nvPr/>
        </p:nvGraphicFramePr>
        <p:xfrm>
          <a:off x="8883905" y="3122510"/>
          <a:ext cx="7758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387900"/>
                <a:gridCol w="3879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157" name="Google Shape;1157;p40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58" name="Google Shape;1158;p40"/>
          <p:cNvSpPr/>
          <p:nvPr/>
        </p:nvSpPr>
        <p:spPr>
          <a:xfrm rot="3997793">
            <a:off x="7629811" y="3029374"/>
            <a:ext cx="211666" cy="474134"/>
          </a:xfrm>
          <a:prstGeom prst="upArrow">
            <a:avLst>
              <a:gd name="adj1" fmla="val 50000"/>
              <a:gd name="adj2" fmla="val 74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159" name="Google Shape;1159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47892" y="0"/>
            <a:ext cx="4450882" cy="181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41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65" name="Google Shape;1165;p41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66" name="Google Shape;1166;p41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67" name="Google Shape;1167;p41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68" name="Google Shape;1168;p41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69" name="Google Shape;1169;p41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70" name="Google Shape;1170;p41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71" name="Google Shape;1171;p41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41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3" name="Google Shape;1173;p41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4" name="Google Shape;1174;p41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5" name="Google Shape;1175;p41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41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41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8" name="Google Shape;1178;p41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9" name="Google Shape;1179;p41"/>
          <p:cNvCxnSpPr>
            <a:stCxn id="1165" idx="0"/>
            <a:endCxn id="1164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0" name="Google Shape;1180;p41"/>
          <p:cNvCxnSpPr>
            <a:stCxn id="1164" idx="3"/>
            <a:endCxn id="1166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1" name="Google Shape;1181;p41"/>
          <p:cNvCxnSpPr>
            <a:stCxn id="1165" idx="2"/>
            <a:endCxn id="1167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2" name="Google Shape;1182;p41"/>
          <p:cNvCxnSpPr>
            <a:stCxn id="1165" idx="2"/>
            <a:endCxn id="1168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3" name="Google Shape;1183;p41"/>
          <p:cNvCxnSpPr>
            <a:stCxn id="1166" idx="2"/>
            <a:endCxn id="1169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4" name="Google Shape;1184;p41"/>
          <p:cNvCxnSpPr>
            <a:stCxn id="1166" idx="2"/>
            <a:endCxn id="1170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5" name="Google Shape;1185;p41"/>
          <p:cNvCxnSpPr>
            <a:stCxn id="1167" idx="3"/>
            <a:endCxn id="1171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6" name="Google Shape;1186;p41"/>
          <p:cNvCxnSpPr>
            <a:stCxn id="1167" idx="3"/>
            <a:endCxn id="1172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7" name="Google Shape;1187;p41"/>
          <p:cNvCxnSpPr>
            <a:stCxn id="1168" idx="3"/>
            <a:endCxn id="1173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8" name="Google Shape;1188;p41"/>
          <p:cNvCxnSpPr>
            <a:stCxn id="1168" idx="3"/>
            <a:endCxn id="1174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89" name="Google Shape;1189;p41"/>
          <p:cNvCxnSpPr>
            <a:stCxn id="1169" idx="3"/>
            <a:endCxn id="1175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90" name="Google Shape;1190;p41"/>
          <p:cNvCxnSpPr>
            <a:stCxn id="1169" idx="3"/>
            <a:endCxn id="1176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91" name="Google Shape;1191;p41"/>
          <p:cNvCxnSpPr>
            <a:stCxn id="1170" idx="3"/>
            <a:endCxn id="1177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192" name="Google Shape;1192;p41"/>
          <p:cNvCxnSpPr>
            <a:stCxn id="1170" idx="3"/>
            <a:endCxn id="1178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193" name="Google Shape;1193;p41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94" name="Google Shape;1194;p41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95" name="Google Shape;1195;p41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96" name="Google Shape;1196;p41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97" name="Google Shape;1197;p41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7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98" name="Google Shape;1198;p41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2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199" name="Google Shape;1199;p41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200" name="Google Shape;1200;p41"/>
          <p:cNvGraphicFramePr/>
          <p:nvPr/>
        </p:nvGraphicFramePr>
        <p:xfrm>
          <a:off x="6925733" y="1619676"/>
          <a:ext cx="914400" cy="344600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57200"/>
                <a:gridCol w="457200"/>
              </a:tblGrid>
              <a:tr h="344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6</a:t>
                      </a:r>
                      <a:endParaRPr sz="14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u="none" strike="noStrike" cap="none"/>
                        <a:t>+inf</a:t>
                      </a:r>
                      <a:endParaRPr sz="12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201" name="Google Shape;1201;p41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02" name="Google Shape;1202;p41"/>
          <p:cNvSpPr/>
          <p:nvPr/>
        </p:nvSpPr>
        <p:spPr>
          <a:xfrm rot="3997793">
            <a:off x="7629811" y="3029374"/>
            <a:ext cx="211666" cy="474134"/>
          </a:xfrm>
          <a:prstGeom prst="upArrow">
            <a:avLst>
              <a:gd name="adj1" fmla="val 50000"/>
              <a:gd name="adj2" fmla="val 74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03" name="Google Shape;1203;p41"/>
          <p:cNvSpPr/>
          <p:nvPr/>
        </p:nvSpPr>
        <p:spPr>
          <a:xfrm>
            <a:off x="8986691" y="3075253"/>
            <a:ext cx="412495" cy="465667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204" name="Google Shape;1204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003101" y="2903439"/>
            <a:ext cx="1672701" cy="221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5" name="Google Shape;1205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47892" y="0"/>
            <a:ext cx="4450882" cy="1818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42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11" name="Google Shape;1211;p42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12" name="Google Shape;1212;p42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42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14" name="Google Shape;1214;p42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15" name="Google Shape;1215;p42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16" name="Google Shape;1216;p42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17" name="Google Shape;1217;p42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8" name="Google Shape;1218;p42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9" name="Google Shape;1219;p42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0" name="Google Shape;1220;p42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42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2" name="Google Shape;1222;p42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3" name="Google Shape;1223;p42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4" name="Google Shape;1224;p42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5" name="Google Shape;1225;p42"/>
          <p:cNvCxnSpPr>
            <a:stCxn id="1211" idx="0"/>
            <a:endCxn id="1210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26" name="Google Shape;1226;p42"/>
          <p:cNvCxnSpPr>
            <a:stCxn id="1210" idx="3"/>
            <a:endCxn id="1212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27" name="Google Shape;1227;p42"/>
          <p:cNvCxnSpPr>
            <a:stCxn id="1211" idx="2"/>
            <a:endCxn id="1213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28" name="Google Shape;1228;p42"/>
          <p:cNvCxnSpPr>
            <a:stCxn id="1211" idx="2"/>
            <a:endCxn id="1214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29" name="Google Shape;1229;p42"/>
          <p:cNvCxnSpPr>
            <a:stCxn id="1212" idx="2"/>
            <a:endCxn id="1215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30" name="Google Shape;1230;p42"/>
          <p:cNvCxnSpPr>
            <a:stCxn id="1212" idx="2"/>
            <a:endCxn id="1216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31" name="Google Shape;1231;p42"/>
          <p:cNvCxnSpPr>
            <a:stCxn id="1213" idx="3"/>
            <a:endCxn id="1217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32" name="Google Shape;1232;p42"/>
          <p:cNvCxnSpPr>
            <a:stCxn id="1213" idx="3"/>
            <a:endCxn id="1218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33" name="Google Shape;1233;p42"/>
          <p:cNvCxnSpPr>
            <a:stCxn id="1214" idx="3"/>
            <a:endCxn id="1219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34" name="Google Shape;1234;p42"/>
          <p:cNvCxnSpPr>
            <a:stCxn id="1214" idx="3"/>
            <a:endCxn id="1220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35" name="Google Shape;1235;p42"/>
          <p:cNvCxnSpPr>
            <a:stCxn id="1215" idx="3"/>
            <a:endCxn id="1221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36" name="Google Shape;1236;p42"/>
          <p:cNvCxnSpPr>
            <a:stCxn id="1215" idx="3"/>
            <a:endCxn id="1222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37" name="Google Shape;1237;p42"/>
          <p:cNvCxnSpPr>
            <a:stCxn id="1216" idx="3"/>
            <a:endCxn id="1223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38" name="Google Shape;1238;p42"/>
          <p:cNvCxnSpPr>
            <a:stCxn id="1216" idx="3"/>
            <a:endCxn id="1224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239" name="Google Shape;1239;p42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240" name="Google Shape;1240;p42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241" name="Google Shape;1241;p42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242" name="Google Shape;1242;p42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243" name="Google Shape;1243;p42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7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244" name="Google Shape;1244;p42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2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245" name="Google Shape;1245;p42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246" name="Google Shape;1246;p42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47" name="Google Shape;1247;p42"/>
          <p:cNvSpPr/>
          <p:nvPr/>
        </p:nvSpPr>
        <p:spPr>
          <a:xfrm>
            <a:off x="8986691" y="3075253"/>
            <a:ext cx="412495" cy="465667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48" name="Google Shape;1248;p42"/>
          <p:cNvSpPr/>
          <p:nvPr/>
        </p:nvSpPr>
        <p:spPr>
          <a:xfrm rot="-4155660">
            <a:off x="7505708" y="1293531"/>
            <a:ext cx="236109" cy="705037"/>
          </a:xfrm>
          <a:prstGeom prst="upArrow">
            <a:avLst>
              <a:gd name="adj1" fmla="val 50000"/>
              <a:gd name="adj2" fmla="val 74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249" name="Google Shape;1249;p42"/>
          <p:cNvPicPr preferRelativeResize="0"/>
          <p:nvPr/>
        </p:nvPicPr>
        <p:blipFill rotWithShape="1">
          <a:blip r:embed="rId3">
            <a:alphaModFix/>
          </a:blip>
          <a:srcRect r="34833" b="15217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43"/>
          <p:cNvSpPr/>
          <p:nvPr/>
        </p:nvSpPr>
        <p:spPr>
          <a:xfrm>
            <a:off x="5638801" y="660400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 w="12700" cap="flat" cmpd="sng">
            <a:solidFill>
              <a:srgbClr val="46682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5" name="Google Shape;1255;p43"/>
          <p:cNvSpPr/>
          <p:nvPr/>
        </p:nvSpPr>
        <p:spPr>
          <a:xfrm>
            <a:off x="3208866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56" name="Google Shape;1256;p43"/>
          <p:cNvSpPr/>
          <p:nvPr/>
        </p:nvSpPr>
        <p:spPr>
          <a:xfrm>
            <a:off x="8246532" y="2226733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57" name="Google Shape;1257;p43"/>
          <p:cNvSpPr/>
          <p:nvPr/>
        </p:nvSpPr>
        <p:spPr>
          <a:xfrm>
            <a:off x="184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58" name="Google Shape;1258;p43"/>
          <p:cNvSpPr/>
          <p:nvPr/>
        </p:nvSpPr>
        <p:spPr>
          <a:xfrm>
            <a:off x="435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59" name="Google Shape;1259;p43"/>
          <p:cNvSpPr/>
          <p:nvPr/>
        </p:nvSpPr>
        <p:spPr>
          <a:xfrm>
            <a:off x="6925734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60" name="Google Shape;1260;p43"/>
          <p:cNvSpPr/>
          <p:nvPr/>
        </p:nvSpPr>
        <p:spPr>
          <a:xfrm>
            <a:off x="9431867" y="3725334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61" name="Google Shape;1261;p43"/>
          <p:cNvSpPr/>
          <p:nvPr/>
        </p:nvSpPr>
        <p:spPr>
          <a:xfrm>
            <a:off x="1227667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2" name="Google Shape;1262;p43"/>
          <p:cNvSpPr/>
          <p:nvPr/>
        </p:nvSpPr>
        <p:spPr>
          <a:xfrm>
            <a:off x="2590799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3" name="Google Shape;1263;p43"/>
          <p:cNvSpPr/>
          <p:nvPr/>
        </p:nvSpPr>
        <p:spPr>
          <a:xfrm>
            <a:off x="380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4" name="Google Shape;1264;p43"/>
          <p:cNvSpPr/>
          <p:nvPr/>
        </p:nvSpPr>
        <p:spPr>
          <a:xfrm>
            <a:off x="516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5" name="Google Shape;1265;p43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6" name="Google Shape;1266;p43"/>
          <p:cNvSpPr/>
          <p:nvPr/>
        </p:nvSpPr>
        <p:spPr>
          <a:xfrm>
            <a:off x="774090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7" name="Google Shape;1267;p43"/>
          <p:cNvSpPr/>
          <p:nvPr/>
        </p:nvSpPr>
        <p:spPr>
          <a:xfrm>
            <a:off x="8883906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8" name="Google Shape;1268;p43"/>
          <p:cNvSpPr/>
          <p:nvPr/>
        </p:nvSpPr>
        <p:spPr>
          <a:xfrm>
            <a:off x="10247038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9" name="Google Shape;1269;p43"/>
          <p:cNvCxnSpPr>
            <a:stCxn id="1255" idx="0"/>
            <a:endCxn id="1254" idx="3"/>
          </p:cNvCxnSpPr>
          <p:nvPr/>
        </p:nvCxnSpPr>
        <p:spPr>
          <a:xfrm rot="10800000" flipH="1">
            <a:off x="3619500" y="1363033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0" name="Google Shape;1270;p43"/>
          <p:cNvCxnSpPr>
            <a:stCxn id="1254" idx="3"/>
            <a:endCxn id="1256" idx="0"/>
          </p:cNvCxnSpPr>
          <p:nvPr/>
        </p:nvCxnSpPr>
        <p:spPr>
          <a:xfrm>
            <a:off x="6046386" y="1363134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1" name="Google Shape;1271;p43"/>
          <p:cNvCxnSpPr>
            <a:stCxn id="1255" idx="2"/>
            <a:endCxn id="1257" idx="0"/>
          </p:cNvCxnSpPr>
          <p:nvPr/>
        </p:nvCxnSpPr>
        <p:spPr>
          <a:xfrm flipH="1">
            <a:off x="2253300" y="3014133"/>
            <a:ext cx="13662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2" name="Google Shape;1272;p43"/>
          <p:cNvCxnSpPr>
            <a:stCxn id="1255" idx="2"/>
            <a:endCxn id="1258" idx="0"/>
          </p:cNvCxnSpPr>
          <p:nvPr/>
        </p:nvCxnSpPr>
        <p:spPr>
          <a:xfrm>
            <a:off x="3619500" y="3014133"/>
            <a:ext cx="11400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3" name="Google Shape;1273;p43"/>
          <p:cNvCxnSpPr>
            <a:stCxn id="1256" idx="2"/>
            <a:endCxn id="1259" idx="0"/>
          </p:cNvCxnSpPr>
          <p:nvPr/>
        </p:nvCxnSpPr>
        <p:spPr>
          <a:xfrm flipH="1">
            <a:off x="7333266" y="3014133"/>
            <a:ext cx="13239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4" name="Google Shape;1274;p43"/>
          <p:cNvCxnSpPr>
            <a:stCxn id="1256" idx="2"/>
            <a:endCxn id="1260" idx="0"/>
          </p:cNvCxnSpPr>
          <p:nvPr/>
        </p:nvCxnSpPr>
        <p:spPr>
          <a:xfrm>
            <a:off x="8657166" y="3014133"/>
            <a:ext cx="11823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5" name="Google Shape;1275;p43"/>
          <p:cNvCxnSpPr>
            <a:stCxn id="1257" idx="3"/>
            <a:endCxn id="1261" idx="0"/>
          </p:cNvCxnSpPr>
          <p:nvPr/>
        </p:nvCxnSpPr>
        <p:spPr>
          <a:xfrm flipH="1">
            <a:off x="15366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6" name="Google Shape;1276;p43"/>
          <p:cNvCxnSpPr>
            <a:stCxn id="1257" idx="3"/>
            <a:endCxn id="1262" idx="0"/>
          </p:cNvCxnSpPr>
          <p:nvPr/>
        </p:nvCxnSpPr>
        <p:spPr>
          <a:xfrm>
            <a:off x="22533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7" name="Google Shape;1277;p43"/>
          <p:cNvCxnSpPr>
            <a:stCxn id="1258" idx="3"/>
            <a:endCxn id="1263" idx="0"/>
          </p:cNvCxnSpPr>
          <p:nvPr/>
        </p:nvCxnSpPr>
        <p:spPr>
          <a:xfrm flipH="1">
            <a:off x="411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8" name="Google Shape;1278;p43"/>
          <p:cNvCxnSpPr>
            <a:stCxn id="1258" idx="3"/>
            <a:endCxn id="1264" idx="0"/>
          </p:cNvCxnSpPr>
          <p:nvPr/>
        </p:nvCxnSpPr>
        <p:spPr>
          <a:xfrm>
            <a:off x="475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79" name="Google Shape;1279;p43"/>
          <p:cNvCxnSpPr>
            <a:stCxn id="1259" idx="3"/>
            <a:endCxn id="1265" idx="0"/>
          </p:cNvCxnSpPr>
          <p:nvPr/>
        </p:nvCxnSpPr>
        <p:spPr>
          <a:xfrm flipH="1">
            <a:off x="6686820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0" name="Google Shape;1280;p43"/>
          <p:cNvCxnSpPr>
            <a:stCxn id="1259" idx="3"/>
            <a:endCxn id="1266" idx="0"/>
          </p:cNvCxnSpPr>
          <p:nvPr/>
        </p:nvCxnSpPr>
        <p:spPr>
          <a:xfrm>
            <a:off x="7333320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1" name="Google Shape;1281;p43"/>
          <p:cNvCxnSpPr>
            <a:stCxn id="1260" idx="3"/>
            <a:endCxn id="1267" idx="0"/>
          </p:cNvCxnSpPr>
          <p:nvPr/>
        </p:nvCxnSpPr>
        <p:spPr>
          <a:xfrm flipH="1">
            <a:off x="9192953" y="4428068"/>
            <a:ext cx="6465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282" name="Google Shape;1282;p43"/>
          <p:cNvCxnSpPr>
            <a:stCxn id="1260" idx="3"/>
            <a:endCxn id="1268" idx="0"/>
          </p:cNvCxnSpPr>
          <p:nvPr/>
        </p:nvCxnSpPr>
        <p:spPr>
          <a:xfrm>
            <a:off x="9839453" y="4428068"/>
            <a:ext cx="716700" cy="13209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graphicFrame>
        <p:nvGraphicFramePr>
          <p:cNvPr id="1283" name="Google Shape;1283;p43"/>
          <p:cNvGraphicFramePr/>
          <p:nvPr/>
        </p:nvGraphicFramePr>
        <p:xfrm>
          <a:off x="4078817" y="754380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284" name="Google Shape;1284;p43"/>
          <p:cNvGraphicFramePr/>
          <p:nvPr/>
        </p:nvGraphicFramePr>
        <p:xfrm>
          <a:off x="189501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-inf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285" name="Google Shape;1285;p43"/>
          <p:cNvGraphicFramePr/>
          <p:nvPr/>
        </p:nvGraphicFramePr>
        <p:xfrm>
          <a:off x="6995840" y="2311399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2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286" name="Google Shape;1286;p43"/>
          <p:cNvGraphicFramePr/>
          <p:nvPr/>
        </p:nvGraphicFramePr>
        <p:xfrm>
          <a:off x="795610" y="3801535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287" name="Google Shape;1287;p43"/>
          <p:cNvGraphicFramePr/>
          <p:nvPr/>
        </p:nvGraphicFramePr>
        <p:xfrm>
          <a:off x="3293663" y="3725334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7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7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>
                          <a:solidFill>
                            <a:srgbClr val="FF0000"/>
                          </a:solidFill>
                        </a:rPr>
                        <a:t>6</a:t>
                      </a:r>
                      <a:endParaRPr sz="1100" u="none" strike="noStrike" cap="none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288" name="Google Shape;1288;p43"/>
          <p:cNvGraphicFramePr/>
          <p:nvPr/>
        </p:nvGraphicFramePr>
        <p:xfrm>
          <a:off x="5944997" y="3686383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2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6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strike="noStrike" cap="none"/>
                        <a:t>+inf</a:t>
                      </a: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graphicFrame>
        <p:nvGraphicFramePr>
          <p:cNvPr id="1289" name="Google Shape;1289;p43"/>
          <p:cNvGraphicFramePr/>
          <p:nvPr/>
        </p:nvGraphicFramePr>
        <p:xfrm>
          <a:off x="8429032" y="3680461"/>
          <a:ext cx="1230975" cy="639245"/>
        </p:xfrm>
        <a:graphic>
          <a:graphicData uri="http://schemas.openxmlformats.org/drawingml/2006/table">
            <a:tbl>
              <a:tblPr firstRow="1" bandRow="1">
                <a:noFill/>
                <a:tableStyleId>{B92FA301-CADB-4BE1-8AAD-E5D0DC4E26FB}</a:tableStyleId>
              </a:tblPr>
              <a:tblGrid>
                <a:gridCol w="410325"/>
                <a:gridCol w="410325"/>
                <a:gridCol w="410325"/>
              </a:tblGrid>
              <a:tr h="273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endParaRPr sz="1800" u="none" strike="noStrike" cap="none"/>
                    </a:p>
                  </a:txBody>
                  <a:tcPr marL="91450" marR="91450" marT="45725" marB="45725"/>
                </a:tc>
              </a:tr>
              <a:tr h="273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u="none" strike="noStrike" cap="none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1290" name="Google Shape;1290;p43"/>
          <p:cNvSpPr/>
          <p:nvPr/>
        </p:nvSpPr>
        <p:spPr>
          <a:xfrm>
            <a:off x="4960790" y="4931833"/>
            <a:ext cx="412495" cy="465667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91" name="Google Shape;1291;p43"/>
          <p:cNvSpPr/>
          <p:nvPr/>
        </p:nvSpPr>
        <p:spPr>
          <a:xfrm>
            <a:off x="8986691" y="3075253"/>
            <a:ext cx="412495" cy="465667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1270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id="1292" name="Google Shape;1292;p43"/>
          <p:cNvPicPr preferRelativeResize="0"/>
          <p:nvPr/>
        </p:nvPicPr>
        <p:blipFill rotWithShape="1">
          <a:blip r:embed="rId3">
            <a:alphaModFix/>
          </a:blip>
          <a:srcRect r="34833" b="15217"/>
          <a:stretch/>
        </p:blipFill>
        <p:spPr>
          <a:xfrm>
            <a:off x="9317923" y="0"/>
            <a:ext cx="2874077" cy="2935935"/>
          </a:xfrm>
          <a:prstGeom prst="rect">
            <a:avLst/>
          </a:prstGeom>
          <a:noFill/>
          <a:ln w="38100" cap="sq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2352"/>
              </a:srgbClr>
            </a:outerShdw>
          </a:effec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7" name="Google Shape;1297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Practice: alpha Beta pruning</a:t>
            </a:r>
            <a:endParaRPr/>
          </a:p>
        </p:txBody>
      </p:sp>
      <p:sp>
        <p:nvSpPr>
          <p:cNvPr id="1298" name="Google Shape;1298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299" name="Google Shape;1299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1300" name="Google Shape;1300;p44"/>
          <p:cNvSpPr/>
          <p:nvPr/>
        </p:nvSpPr>
        <p:spPr>
          <a:xfrm>
            <a:off x="5688414" y="1233055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4"/>
          </a:solidFill>
          <a:ln w="12700" cap="flat" cmpd="sng">
            <a:solidFill>
              <a:srgbClr val="46682C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1" name="Google Shape;1301;p44"/>
          <p:cNvSpPr/>
          <p:nvPr/>
        </p:nvSpPr>
        <p:spPr>
          <a:xfrm>
            <a:off x="3258479" y="2799388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2" name="Google Shape;1302;p44"/>
          <p:cNvSpPr/>
          <p:nvPr/>
        </p:nvSpPr>
        <p:spPr>
          <a:xfrm>
            <a:off x="8296145" y="2799388"/>
            <a:ext cx="821267" cy="787400"/>
          </a:xfrm>
          <a:prstGeom prst="flowChartMerge">
            <a:avLst/>
          </a:prstGeom>
          <a:solidFill>
            <a:schemeClr val="accent2"/>
          </a:solidFill>
          <a:ln w="12700" cap="flat" cmpd="sng">
            <a:solidFill>
              <a:srgbClr val="6EAA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3" name="Google Shape;1303;p44"/>
          <p:cNvSpPr/>
          <p:nvPr/>
        </p:nvSpPr>
        <p:spPr>
          <a:xfrm>
            <a:off x="1183123" y="4278939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4" name="Google Shape;1304;p44"/>
          <p:cNvSpPr/>
          <p:nvPr/>
        </p:nvSpPr>
        <p:spPr>
          <a:xfrm>
            <a:off x="4851307" y="4297989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5" name="Google Shape;1305;p44"/>
          <p:cNvSpPr/>
          <p:nvPr/>
        </p:nvSpPr>
        <p:spPr>
          <a:xfrm>
            <a:off x="6686807" y="4273069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6" name="Google Shape;1306;p44"/>
          <p:cNvSpPr/>
          <p:nvPr/>
        </p:nvSpPr>
        <p:spPr>
          <a:xfrm>
            <a:off x="10515088" y="4243533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7" name="Google Shape;1307;p44"/>
          <p:cNvSpPr/>
          <p:nvPr/>
        </p:nvSpPr>
        <p:spPr>
          <a:xfrm>
            <a:off x="1014705" y="5729816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8" name="Google Shape;1308;p44"/>
          <p:cNvSpPr/>
          <p:nvPr/>
        </p:nvSpPr>
        <p:spPr>
          <a:xfrm>
            <a:off x="1852484" y="5729816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9" name="Google Shape;1309;p44"/>
          <p:cNvSpPr/>
          <p:nvPr/>
        </p:nvSpPr>
        <p:spPr>
          <a:xfrm>
            <a:off x="4616195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0" name="Google Shape;1310;p44"/>
          <p:cNvSpPr/>
          <p:nvPr/>
        </p:nvSpPr>
        <p:spPr>
          <a:xfrm>
            <a:off x="5312965" y="5739342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1" name="Google Shape;1311;p44"/>
          <p:cNvSpPr/>
          <p:nvPr/>
        </p:nvSpPr>
        <p:spPr>
          <a:xfrm>
            <a:off x="6377773" y="574886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2" name="Google Shape;1312;p44"/>
          <p:cNvSpPr/>
          <p:nvPr/>
        </p:nvSpPr>
        <p:spPr>
          <a:xfrm>
            <a:off x="7247468" y="5739342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3" name="Google Shape;1313;p44"/>
          <p:cNvSpPr/>
          <p:nvPr/>
        </p:nvSpPr>
        <p:spPr>
          <a:xfrm>
            <a:off x="10142715" y="5694411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4" name="Google Shape;1314;p44"/>
          <p:cNvSpPr/>
          <p:nvPr/>
        </p:nvSpPr>
        <p:spPr>
          <a:xfrm>
            <a:off x="11044766" y="5708072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12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5" name="Google Shape;1315;p44"/>
          <p:cNvCxnSpPr>
            <a:stCxn id="1301" idx="0"/>
            <a:endCxn id="1300" idx="3"/>
          </p:cNvCxnSpPr>
          <p:nvPr/>
        </p:nvCxnSpPr>
        <p:spPr>
          <a:xfrm rot="10800000" flipH="1">
            <a:off x="3669113" y="1935688"/>
            <a:ext cx="24270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16" name="Google Shape;1316;p44"/>
          <p:cNvCxnSpPr>
            <a:stCxn id="1300" idx="3"/>
            <a:endCxn id="1302" idx="0"/>
          </p:cNvCxnSpPr>
          <p:nvPr/>
        </p:nvCxnSpPr>
        <p:spPr>
          <a:xfrm>
            <a:off x="6095999" y="1935789"/>
            <a:ext cx="2610900" cy="86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17" name="Google Shape;1317;p44"/>
          <p:cNvCxnSpPr>
            <a:stCxn id="1301" idx="2"/>
            <a:endCxn id="1303" idx="0"/>
          </p:cNvCxnSpPr>
          <p:nvPr/>
        </p:nvCxnSpPr>
        <p:spPr>
          <a:xfrm flipH="1">
            <a:off x="1590713" y="3586788"/>
            <a:ext cx="2078400" cy="692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18" name="Google Shape;1318;p44"/>
          <p:cNvCxnSpPr>
            <a:stCxn id="1301" idx="2"/>
            <a:endCxn id="1304" idx="0"/>
          </p:cNvCxnSpPr>
          <p:nvPr/>
        </p:nvCxnSpPr>
        <p:spPr>
          <a:xfrm>
            <a:off x="3669113" y="3586788"/>
            <a:ext cx="1589700" cy="7113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19" name="Google Shape;1319;p44"/>
          <p:cNvCxnSpPr>
            <a:stCxn id="1302" idx="2"/>
            <a:endCxn id="1305" idx="0"/>
          </p:cNvCxnSpPr>
          <p:nvPr/>
        </p:nvCxnSpPr>
        <p:spPr>
          <a:xfrm flipH="1">
            <a:off x="7094279" y="3586788"/>
            <a:ext cx="1612500" cy="686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0" name="Google Shape;1320;p44"/>
          <p:cNvCxnSpPr>
            <a:stCxn id="1302" idx="2"/>
            <a:endCxn id="1306" idx="0"/>
          </p:cNvCxnSpPr>
          <p:nvPr/>
        </p:nvCxnSpPr>
        <p:spPr>
          <a:xfrm>
            <a:off x="8706779" y="3586788"/>
            <a:ext cx="2215800" cy="656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1" name="Google Shape;1321;p44"/>
          <p:cNvCxnSpPr>
            <a:stCxn id="1303" idx="3"/>
            <a:endCxn id="1307" idx="0"/>
          </p:cNvCxnSpPr>
          <p:nvPr/>
        </p:nvCxnSpPr>
        <p:spPr>
          <a:xfrm flipH="1">
            <a:off x="1323709" y="4981673"/>
            <a:ext cx="267000" cy="748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2" name="Google Shape;1322;p44"/>
          <p:cNvCxnSpPr>
            <a:stCxn id="1303" idx="3"/>
            <a:endCxn id="1308" idx="0"/>
          </p:cNvCxnSpPr>
          <p:nvPr/>
        </p:nvCxnSpPr>
        <p:spPr>
          <a:xfrm>
            <a:off x="1590709" y="4981673"/>
            <a:ext cx="570900" cy="748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3" name="Google Shape;1323;p44"/>
          <p:cNvCxnSpPr>
            <a:stCxn id="1304" idx="3"/>
            <a:endCxn id="1309" idx="0"/>
          </p:cNvCxnSpPr>
          <p:nvPr/>
        </p:nvCxnSpPr>
        <p:spPr>
          <a:xfrm flipH="1">
            <a:off x="4925293" y="5000723"/>
            <a:ext cx="333600" cy="748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4" name="Google Shape;1324;p44"/>
          <p:cNvCxnSpPr>
            <a:stCxn id="1304" idx="3"/>
            <a:endCxn id="1310" idx="0"/>
          </p:cNvCxnSpPr>
          <p:nvPr/>
        </p:nvCxnSpPr>
        <p:spPr>
          <a:xfrm>
            <a:off x="5258893" y="5000723"/>
            <a:ext cx="363000" cy="7386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5" name="Google Shape;1325;p44"/>
          <p:cNvCxnSpPr>
            <a:stCxn id="1305" idx="3"/>
            <a:endCxn id="1311" idx="0"/>
          </p:cNvCxnSpPr>
          <p:nvPr/>
        </p:nvCxnSpPr>
        <p:spPr>
          <a:xfrm flipH="1">
            <a:off x="6686693" y="4975803"/>
            <a:ext cx="407700" cy="7731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6" name="Google Shape;1326;p44"/>
          <p:cNvCxnSpPr>
            <a:stCxn id="1305" idx="3"/>
            <a:endCxn id="1312" idx="0"/>
          </p:cNvCxnSpPr>
          <p:nvPr/>
        </p:nvCxnSpPr>
        <p:spPr>
          <a:xfrm>
            <a:off x="7094393" y="4975803"/>
            <a:ext cx="462000" cy="7635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7" name="Google Shape;1327;p44"/>
          <p:cNvCxnSpPr>
            <a:stCxn id="1306" idx="3"/>
            <a:endCxn id="1313" idx="0"/>
          </p:cNvCxnSpPr>
          <p:nvPr/>
        </p:nvCxnSpPr>
        <p:spPr>
          <a:xfrm flipH="1">
            <a:off x="10451674" y="4946267"/>
            <a:ext cx="471000" cy="748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28" name="Google Shape;1328;p44"/>
          <p:cNvCxnSpPr>
            <a:stCxn id="1306" idx="3"/>
            <a:endCxn id="1314" idx="0"/>
          </p:cNvCxnSpPr>
          <p:nvPr/>
        </p:nvCxnSpPr>
        <p:spPr>
          <a:xfrm>
            <a:off x="10922674" y="4946267"/>
            <a:ext cx="431100" cy="761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29" name="Google Shape;1329;p44"/>
          <p:cNvSpPr/>
          <p:nvPr/>
        </p:nvSpPr>
        <p:spPr>
          <a:xfrm>
            <a:off x="3200726" y="4254018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30" name="Google Shape;1330;p44"/>
          <p:cNvSpPr/>
          <p:nvPr/>
        </p:nvSpPr>
        <p:spPr>
          <a:xfrm>
            <a:off x="2879167" y="5708072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44"/>
          <p:cNvSpPr/>
          <p:nvPr/>
        </p:nvSpPr>
        <p:spPr>
          <a:xfrm>
            <a:off x="3634481" y="5708072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2" name="Google Shape;1332;p44"/>
          <p:cNvCxnSpPr>
            <a:stCxn id="1329" idx="3"/>
            <a:endCxn id="1330" idx="0"/>
          </p:cNvCxnSpPr>
          <p:nvPr/>
        </p:nvCxnSpPr>
        <p:spPr>
          <a:xfrm flipH="1">
            <a:off x="3188312" y="4956752"/>
            <a:ext cx="420000" cy="751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33" name="Google Shape;1333;p44"/>
          <p:cNvCxnSpPr>
            <a:stCxn id="1329" idx="3"/>
            <a:endCxn id="1331" idx="0"/>
          </p:cNvCxnSpPr>
          <p:nvPr/>
        </p:nvCxnSpPr>
        <p:spPr>
          <a:xfrm>
            <a:off x="3608312" y="4956752"/>
            <a:ext cx="335100" cy="751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34" name="Google Shape;1334;p44"/>
          <p:cNvCxnSpPr>
            <a:stCxn id="1301" idx="2"/>
            <a:endCxn id="1329" idx="0"/>
          </p:cNvCxnSpPr>
          <p:nvPr/>
        </p:nvCxnSpPr>
        <p:spPr>
          <a:xfrm flipH="1">
            <a:off x="3608213" y="3586788"/>
            <a:ext cx="60900" cy="667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35" name="Google Shape;1335;p44"/>
          <p:cNvSpPr/>
          <p:nvPr/>
        </p:nvSpPr>
        <p:spPr>
          <a:xfrm>
            <a:off x="8458875" y="4275763"/>
            <a:ext cx="815171" cy="702734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12700" cap="flat" cmpd="sng">
            <a:solidFill>
              <a:srgbClr val="2F7E89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36" name="Google Shape;1336;p44"/>
          <p:cNvSpPr/>
          <p:nvPr/>
        </p:nvSpPr>
        <p:spPr>
          <a:xfrm>
            <a:off x="8275174" y="572981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7" name="Google Shape;1337;p44"/>
          <p:cNvSpPr/>
          <p:nvPr/>
        </p:nvSpPr>
        <p:spPr>
          <a:xfrm>
            <a:off x="9077291" y="5729817"/>
            <a:ext cx="618067" cy="626533"/>
          </a:xfrm>
          <a:prstGeom prst="rect">
            <a:avLst/>
          </a:prstGeom>
          <a:solidFill>
            <a:schemeClr val="accent6"/>
          </a:solidFill>
          <a:ln w="12700" cap="flat" cmpd="sng">
            <a:solidFill>
              <a:srgbClr val="B7811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38" name="Google Shape;1338;p44"/>
          <p:cNvCxnSpPr>
            <a:stCxn id="1335" idx="3"/>
            <a:endCxn id="1336" idx="0"/>
          </p:cNvCxnSpPr>
          <p:nvPr/>
        </p:nvCxnSpPr>
        <p:spPr>
          <a:xfrm flipH="1">
            <a:off x="8584161" y="4978497"/>
            <a:ext cx="282300" cy="751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39" name="Google Shape;1339;p44"/>
          <p:cNvCxnSpPr>
            <a:stCxn id="1335" idx="3"/>
            <a:endCxn id="1337" idx="0"/>
          </p:cNvCxnSpPr>
          <p:nvPr/>
        </p:nvCxnSpPr>
        <p:spPr>
          <a:xfrm>
            <a:off x="8866461" y="4978497"/>
            <a:ext cx="519900" cy="7512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340" name="Google Shape;1340;p44"/>
          <p:cNvCxnSpPr>
            <a:endCxn id="1335" idx="0"/>
          </p:cNvCxnSpPr>
          <p:nvPr/>
        </p:nvCxnSpPr>
        <p:spPr>
          <a:xfrm>
            <a:off x="8743161" y="3669763"/>
            <a:ext cx="123300" cy="6060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Practice: alpha Beta pruning</a:t>
            </a:r>
            <a:endParaRPr/>
          </a:p>
        </p:txBody>
      </p:sp>
      <p:pic>
        <p:nvPicPr>
          <p:cNvPr id="1346" name="Google Shape;1346;p4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189192" y="1931522"/>
            <a:ext cx="8096190" cy="4139543"/>
          </a:xfrm>
          <a:prstGeom prst="rect">
            <a:avLst/>
          </a:prstGeom>
          <a:noFill/>
          <a:ln>
            <a:noFill/>
          </a:ln>
        </p:spPr>
      </p:pic>
      <p:sp>
        <p:nvSpPr>
          <p:cNvPr id="1347" name="Google Shape;1347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348" name="Google Shape;1348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CF5D9"/>
              </a:buClr>
              <a:buSzPts val="5400"/>
              <a:buFont typeface="Corbel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1354" name="Google Shape;1354;p48"/>
          <p:cNvSpPr txBox="1"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/>
              <a:t>AIMA Chapter 4.1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Previous year questions 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DEDED"/>
              </a:buClr>
              <a:buSzPts val="2800"/>
              <a:buNone/>
            </a:pPr>
            <a:endParaRPr/>
          </a:p>
        </p:txBody>
      </p:sp>
      <p:sp>
        <p:nvSpPr>
          <p:cNvPr id="1355" name="Google Shape;1355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Subangkar Karmaker Shanto, Lecturer, Dept. of CSE, UIU</a:t>
            </a:r>
            <a:endParaRPr/>
          </a:p>
        </p:txBody>
      </p:sp>
      <p:sp>
        <p:nvSpPr>
          <p:cNvPr id="1356" name="Google Shape;1356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rgbClr val="000000"/>
      </a:dk1>
      <a:lt1>
        <a:srgbClr val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1587</Words>
  <Application>Microsoft Office PowerPoint</Application>
  <PresentationFormat>Custom</PresentationFormat>
  <Paragraphs>612</Paragraphs>
  <Slides>46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Corbel</vt:lpstr>
      <vt:lpstr>Wingdings</vt:lpstr>
      <vt:lpstr>Calibri</vt:lpstr>
      <vt:lpstr>Depth</vt:lpstr>
      <vt:lpstr>Artificial Intelligence</vt:lpstr>
      <vt:lpstr>Multiagent environments</vt:lpstr>
      <vt:lpstr>Game Theory</vt:lpstr>
      <vt:lpstr>Adversarial search</vt:lpstr>
      <vt:lpstr>Adversarial search</vt:lpstr>
      <vt:lpstr>Games</vt:lpstr>
      <vt:lpstr>Games</vt:lpstr>
      <vt:lpstr>Game Tree</vt:lpstr>
      <vt:lpstr>The minimax algorithm</vt:lpstr>
      <vt:lpstr>The minimax algorithm</vt:lpstr>
      <vt:lpstr>Example </vt:lpstr>
      <vt:lpstr>Example </vt:lpstr>
      <vt:lpstr>The minimax algorithm</vt:lpstr>
      <vt:lpstr>Resource Limits</vt:lpstr>
      <vt:lpstr>The minimax algorithm</vt:lpstr>
      <vt:lpstr>The minimax algorithm</vt:lpstr>
      <vt:lpstr>Iterating with Limited Resources</vt:lpstr>
      <vt:lpstr>Game Tree Pruning</vt:lpstr>
      <vt:lpstr>Minimax Search: Pruning</vt:lpstr>
      <vt:lpstr>Minimax Search: Pruning</vt:lpstr>
      <vt:lpstr>Alpha Beta pruning</vt:lpstr>
      <vt:lpstr>PowerPoint Presentation</vt:lpstr>
      <vt:lpstr>PowerPoint Presentation</vt:lpstr>
      <vt:lpstr>Example of Alpha Beta Pruning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Practice: alpha Beta pruning</vt:lpstr>
      <vt:lpstr>Practice: alpha Beta pruning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</dc:title>
  <dc:creator>Fariha Tabassum Islam - 1018052029</dc:creator>
  <cp:lastModifiedBy>Dr. Nahid Ferdous Aurna</cp:lastModifiedBy>
  <cp:revision>3</cp:revision>
  <dcterms:created xsi:type="dcterms:W3CDTF">2021-07-02T18:31:02Z</dcterms:created>
  <dcterms:modified xsi:type="dcterms:W3CDTF">2026-08-11T03:51:21Z</dcterms:modified>
</cp:coreProperties>
</file>