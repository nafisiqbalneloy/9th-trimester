
<file path=[Content_Types].xml><?xml version="1.0" encoding="utf-8"?>
<Types xmlns="http://schemas.openxmlformats.org/package/2006/content-types"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61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  <p:sldMasterId id="2147483660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</p:sldIdLst>
  <p:sldSz cy="6858000" cx="12192000"/>
  <p:notesSz cx="7315200" cy="9601200"/>
  <p:embeddedFontLst>
    <p:embeddedFont>
      <p:font typeface="Roboto"/>
      <p:regular r:id="rId69"/>
      <p:bold r:id="rId70"/>
      <p:italic r:id="rId71"/>
      <p:boldItalic r:id="rId72"/>
    </p:embeddedFont>
    <p:embeddedFont>
      <p:font typeface="Nunito"/>
      <p:regular r:id="rId73"/>
      <p:bold r:id="rId74"/>
      <p:italic r:id="rId75"/>
      <p:boldItalic r:id="rId7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77" roundtripDataSignature="AMtx7mgP5wQzTjohrEtYLEaxpD0IAvu6m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3C57157-40EE-4277-B35B-02503DB2AC1F}">
  <a:tblStyle styleId="{D3C57157-40EE-4277-B35B-02503DB2AC1F}" styleName="Table_0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3.xml"/><Relationship Id="rId42" Type="http://schemas.openxmlformats.org/officeDocument/2006/relationships/slide" Target="slides/slide35.xml"/><Relationship Id="rId41" Type="http://schemas.openxmlformats.org/officeDocument/2006/relationships/slide" Target="slides/slide34.xml"/><Relationship Id="rId44" Type="http://schemas.openxmlformats.org/officeDocument/2006/relationships/slide" Target="slides/slide37.xml"/><Relationship Id="rId43" Type="http://schemas.openxmlformats.org/officeDocument/2006/relationships/slide" Target="slides/slide36.xml"/><Relationship Id="rId46" Type="http://schemas.openxmlformats.org/officeDocument/2006/relationships/slide" Target="slides/slide39.xml"/><Relationship Id="rId45" Type="http://schemas.openxmlformats.org/officeDocument/2006/relationships/slide" Target="slides/slide3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48" Type="http://schemas.openxmlformats.org/officeDocument/2006/relationships/slide" Target="slides/slide41.xml"/><Relationship Id="rId47" Type="http://schemas.openxmlformats.org/officeDocument/2006/relationships/slide" Target="slides/slide40.xml"/><Relationship Id="rId49" Type="http://schemas.openxmlformats.org/officeDocument/2006/relationships/slide" Target="slides/slide42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73" Type="http://schemas.openxmlformats.org/officeDocument/2006/relationships/font" Target="fonts/Nunito-regular.fntdata"/><Relationship Id="rId72" Type="http://schemas.openxmlformats.org/officeDocument/2006/relationships/font" Target="fonts/Roboto-boldItalic.fntdata"/><Relationship Id="rId31" Type="http://schemas.openxmlformats.org/officeDocument/2006/relationships/slide" Target="slides/slide24.xml"/><Relationship Id="rId75" Type="http://schemas.openxmlformats.org/officeDocument/2006/relationships/font" Target="fonts/Nunito-italic.fntdata"/><Relationship Id="rId30" Type="http://schemas.openxmlformats.org/officeDocument/2006/relationships/slide" Target="slides/slide23.xml"/><Relationship Id="rId74" Type="http://schemas.openxmlformats.org/officeDocument/2006/relationships/font" Target="fonts/Nunito-bold.fntdata"/><Relationship Id="rId33" Type="http://schemas.openxmlformats.org/officeDocument/2006/relationships/slide" Target="slides/slide26.xml"/><Relationship Id="rId77" Type="http://customschemas.google.com/relationships/presentationmetadata" Target="metadata"/><Relationship Id="rId32" Type="http://schemas.openxmlformats.org/officeDocument/2006/relationships/slide" Target="slides/slide25.xml"/><Relationship Id="rId76" Type="http://schemas.openxmlformats.org/officeDocument/2006/relationships/font" Target="fonts/Nunito-boldItalic.fntdata"/><Relationship Id="rId35" Type="http://schemas.openxmlformats.org/officeDocument/2006/relationships/slide" Target="slides/slide28.xml"/><Relationship Id="rId34" Type="http://schemas.openxmlformats.org/officeDocument/2006/relationships/slide" Target="slides/slide27.xml"/><Relationship Id="rId71" Type="http://schemas.openxmlformats.org/officeDocument/2006/relationships/font" Target="fonts/Roboto-italic.fntdata"/><Relationship Id="rId70" Type="http://schemas.openxmlformats.org/officeDocument/2006/relationships/font" Target="fonts/Roboto-bold.fntdata"/><Relationship Id="rId37" Type="http://schemas.openxmlformats.org/officeDocument/2006/relationships/slide" Target="slides/slide30.xml"/><Relationship Id="rId36" Type="http://schemas.openxmlformats.org/officeDocument/2006/relationships/slide" Target="slides/slide29.xml"/><Relationship Id="rId39" Type="http://schemas.openxmlformats.org/officeDocument/2006/relationships/slide" Target="slides/slide32.xml"/><Relationship Id="rId38" Type="http://schemas.openxmlformats.org/officeDocument/2006/relationships/slide" Target="slides/slide31.xml"/><Relationship Id="rId62" Type="http://schemas.openxmlformats.org/officeDocument/2006/relationships/slide" Target="slides/slide55.xml"/><Relationship Id="rId61" Type="http://schemas.openxmlformats.org/officeDocument/2006/relationships/slide" Target="slides/slide54.xml"/><Relationship Id="rId20" Type="http://schemas.openxmlformats.org/officeDocument/2006/relationships/slide" Target="slides/slide13.xml"/><Relationship Id="rId64" Type="http://schemas.openxmlformats.org/officeDocument/2006/relationships/slide" Target="slides/slide57.xml"/><Relationship Id="rId63" Type="http://schemas.openxmlformats.org/officeDocument/2006/relationships/slide" Target="slides/slide56.xml"/><Relationship Id="rId22" Type="http://schemas.openxmlformats.org/officeDocument/2006/relationships/slide" Target="slides/slide15.xml"/><Relationship Id="rId66" Type="http://schemas.openxmlformats.org/officeDocument/2006/relationships/slide" Target="slides/slide59.xml"/><Relationship Id="rId21" Type="http://schemas.openxmlformats.org/officeDocument/2006/relationships/slide" Target="slides/slide14.xml"/><Relationship Id="rId65" Type="http://schemas.openxmlformats.org/officeDocument/2006/relationships/slide" Target="slides/slide58.xml"/><Relationship Id="rId24" Type="http://schemas.openxmlformats.org/officeDocument/2006/relationships/slide" Target="slides/slide17.xml"/><Relationship Id="rId68" Type="http://schemas.openxmlformats.org/officeDocument/2006/relationships/slide" Target="slides/slide61.xml"/><Relationship Id="rId23" Type="http://schemas.openxmlformats.org/officeDocument/2006/relationships/slide" Target="slides/slide16.xml"/><Relationship Id="rId67" Type="http://schemas.openxmlformats.org/officeDocument/2006/relationships/slide" Target="slides/slide60.xml"/><Relationship Id="rId60" Type="http://schemas.openxmlformats.org/officeDocument/2006/relationships/slide" Target="slides/slide53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69" Type="http://schemas.openxmlformats.org/officeDocument/2006/relationships/font" Target="fonts/Roboto-regular.fntdata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29" Type="http://schemas.openxmlformats.org/officeDocument/2006/relationships/slide" Target="slides/slide22.xml"/><Relationship Id="rId51" Type="http://schemas.openxmlformats.org/officeDocument/2006/relationships/slide" Target="slides/slide44.xml"/><Relationship Id="rId50" Type="http://schemas.openxmlformats.org/officeDocument/2006/relationships/slide" Target="slides/slide43.xml"/><Relationship Id="rId53" Type="http://schemas.openxmlformats.org/officeDocument/2006/relationships/slide" Target="slides/slide46.xml"/><Relationship Id="rId52" Type="http://schemas.openxmlformats.org/officeDocument/2006/relationships/slide" Target="slides/slide45.xml"/><Relationship Id="rId11" Type="http://schemas.openxmlformats.org/officeDocument/2006/relationships/slide" Target="slides/slide4.xml"/><Relationship Id="rId55" Type="http://schemas.openxmlformats.org/officeDocument/2006/relationships/slide" Target="slides/slide48.xml"/><Relationship Id="rId10" Type="http://schemas.openxmlformats.org/officeDocument/2006/relationships/slide" Target="slides/slide3.xml"/><Relationship Id="rId54" Type="http://schemas.openxmlformats.org/officeDocument/2006/relationships/slide" Target="slides/slide47.xml"/><Relationship Id="rId13" Type="http://schemas.openxmlformats.org/officeDocument/2006/relationships/slide" Target="slides/slide6.xml"/><Relationship Id="rId57" Type="http://schemas.openxmlformats.org/officeDocument/2006/relationships/slide" Target="slides/slide50.xml"/><Relationship Id="rId12" Type="http://schemas.openxmlformats.org/officeDocument/2006/relationships/slide" Target="slides/slide5.xml"/><Relationship Id="rId56" Type="http://schemas.openxmlformats.org/officeDocument/2006/relationships/slide" Target="slides/slide49.xml"/><Relationship Id="rId15" Type="http://schemas.openxmlformats.org/officeDocument/2006/relationships/slide" Target="slides/slide8.xml"/><Relationship Id="rId59" Type="http://schemas.openxmlformats.org/officeDocument/2006/relationships/slide" Target="slides/slide52.xml"/><Relationship Id="rId14" Type="http://schemas.openxmlformats.org/officeDocument/2006/relationships/slide" Target="slides/slide7.xml"/><Relationship Id="rId58" Type="http://schemas.openxmlformats.org/officeDocument/2006/relationships/slide" Target="slides/slide51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1" y="0"/>
            <a:ext cx="3170138" cy="479539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4143427" y="0"/>
            <a:ext cx="3170138" cy="479539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457200" y="720725"/>
            <a:ext cx="64008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731194" y="4561576"/>
            <a:ext cx="5852814" cy="431882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1" y="9120172"/>
            <a:ext cx="3170138" cy="479539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4143427" y="9120172"/>
            <a:ext cx="3170138" cy="479539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b="0" i="0" lang="en-US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:notes"/>
          <p:cNvSpPr/>
          <p:nvPr>
            <p:ph idx="2" type="sldImg"/>
          </p:nvPr>
        </p:nvSpPr>
        <p:spPr>
          <a:xfrm>
            <a:off x="457200" y="720725"/>
            <a:ext cx="64008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64" name="Google Shape;164;p1:notes"/>
          <p:cNvSpPr txBox="1"/>
          <p:nvPr>
            <p:ph idx="1" type="body"/>
          </p:nvPr>
        </p:nvSpPr>
        <p:spPr>
          <a:xfrm>
            <a:off x="731194" y="4561576"/>
            <a:ext cx="5852814" cy="431882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/>
              <a:t>Please retain proper attribution, including the reference to ai.berkeley.edu.  Thanks!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5" name="Google Shape;165;p1:notes"/>
          <p:cNvSpPr txBox="1"/>
          <p:nvPr>
            <p:ph idx="12" type="sldNum"/>
          </p:nvPr>
        </p:nvSpPr>
        <p:spPr>
          <a:xfrm>
            <a:off x="4143427" y="9120172"/>
            <a:ext cx="3170138" cy="479539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:notes"/>
          <p:cNvSpPr/>
          <p:nvPr>
            <p:ph idx="2" type="sldImg"/>
          </p:nvPr>
        </p:nvSpPr>
        <p:spPr>
          <a:xfrm>
            <a:off x="457200" y="720725"/>
            <a:ext cx="64008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4" name="Google Shape;174;p2:notes"/>
          <p:cNvSpPr txBox="1"/>
          <p:nvPr>
            <p:ph idx="1" type="body"/>
          </p:nvPr>
        </p:nvSpPr>
        <p:spPr>
          <a:xfrm>
            <a:off x="731194" y="4561576"/>
            <a:ext cx="5852814" cy="431882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2:notes"/>
          <p:cNvSpPr txBox="1"/>
          <p:nvPr>
            <p:ph idx="12" type="sldNum"/>
          </p:nvPr>
        </p:nvSpPr>
        <p:spPr>
          <a:xfrm>
            <a:off x="4143427" y="9120172"/>
            <a:ext cx="3170138" cy="479539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>
                <a:latin typeface="Arial"/>
                <a:ea typeface="Arial"/>
                <a:cs typeface="Arial"/>
                <a:sym typeface="Arial"/>
              </a:rPr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3:notes"/>
          <p:cNvSpPr txBox="1"/>
          <p:nvPr>
            <p:ph idx="1" type="body"/>
          </p:nvPr>
        </p:nvSpPr>
        <p:spPr>
          <a:xfrm>
            <a:off x="731194" y="4561576"/>
            <a:ext cx="5852814" cy="431882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2" name="Google Shape;182;p3:notes"/>
          <p:cNvSpPr/>
          <p:nvPr>
            <p:ph idx="2" type="sldImg"/>
          </p:nvPr>
        </p:nvSpPr>
        <p:spPr>
          <a:xfrm>
            <a:off x="457200" y="720725"/>
            <a:ext cx="64008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4:notes"/>
          <p:cNvSpPr txBox="1"/>
          <p:nvPr>
            <p:ph idx="1" type="body"/>
          </p:nvPr>
        </p:nvSpPr>
        <p:spPr>
          <a:xfrm>
            <a:off x="731194" y="4561576"/>
            <a:ext cx="5852814" cy="431882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8" name="Google Shape;188;p4:notes"/>
          <p:cNvSpPr/>
          <p:nvPr>
            <p:ph idx="2" type="sldImg"/>
          </p:nvPr>
        </p:nvSpPr>
        <p:spPr>
          <a:xfrm>
            <a:off x="457200" y="720725"/>
            <a:ext cx="64008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5:notes"/>
          <p:cNvSpPr txBox="1"/>
          <p:nvPr>
            <p:ph idx="1" type="body"/>
          </p:nvPr>
        </p:nvSpPr>
        <p:spPr>
          <a:xfrm>
            <a:off x="731194" y="4561576"/>
            <a:ext cx="5852814" cy="431882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5" name="Google Shape;195;p5:notes"/>
          <p:cNvSpPr/>
          <p:nvPr>
            <p:ph idx="2" type="sldImg"/>
          </p:nvPr>
        </p:nvSpPr>
        <p:spPr>
          <a:xfrm>
            <a:off x="457200" y="720725"/>
            <a:ext cx="64008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6:notes"/>
          <p:cNvSpPr txBox="1"/>
          <p:nvPr>
            <p:ph idx="1" type="body"/>
          </p:nvPr>
        </p:nvSpPr>
        <p:spPr>
          <a:xfrm>
            <a:off x="731194" y="4561576"/>
            <a:ext cx="5852814" cy="431882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1" name="Google Shape;201;p6:notes"/>
          <p:cNvSpPr/>
          <p:nvPr>
            <p:ph idx="2" type="sldImg"/>
          </p:nvPr>
        </p:nvSpPr>
        <p:spPr>
          <a:xfrm>
            <a:off x="457200" y="720725"/>
            <a:ext cx="64008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7:notes"/>
          <p:cNvSpPr txBox="1"/>
          <p:nvPr>
            <p:ph idx="1" type="body"/>
          </p:nvPr>
        </p:nvSpPr>
        <p:spPr>
          <a:xfrm>
            <a:off x="731194" y="4561576"/>
            <a:ext cx="5852814" cy="431882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9" name="Google Shape;229;p7:notes"/>
          <p:cNvSpPr/>
          <p:nvPr>
            <p:ph idx="2" type="sldImg"/>
          </p:nvPr>
        </p:nvSpPr>
        <p:spPr>
          <a:xfrm>
            <a:off x="457200" y="720725"/>
            <a:ext cx="64008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8:notes"/>
          <p:cNvSpPr/>
          <p:nvPr>
            <p:ph idx="2" type="sldImg"/>
          </p:nvPr>
        </p:nvSpPr>
        <p:spPr>
          <a:xfrm>
            <a:off x="457200" y="720725"/>
            <a:ext cx="64008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235" name="Google Shape;235;p8:notes"/>
          <p:cNvSpPr txBox="1"/>
          <p:nvPr>
            <p:ph idx="1" type="body"/>
          </p:nvPr>
        </p:nvSpPr>
        <p:spPr>
          <a:xfrm>
            <a:off x="731194" y="4561576"/>
            <a:ext cx="5852814" cy="431882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6" name="Google Shape;236;p8:notes"/>
          <p:cNvSpPr txBox="1"/>
          <p:nvPr>
            <p:ph idx="12" type="sldNum"/>
          </p:nvPr>
        </p:nvSpPr>
        <p:spPr>
          <a:xfrm>
            <a:off x="4143427" y="9120172"/>
            <a:ext cx="3170138" cy="479539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9:notes"/>
          <p:cNvSpPr txBox="1"/>
          <p:nvPr>
            <p:ph idx="1" type="body"/>
          </p:nvPr>
        </p:nvSpPr>
        <p:spPr>
          <a:xfrm>
            <a:off x="731194" y="4561576"/>
            <a:ext cx="5852814" cy="431882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2" name="Google Shape;252;p9:notes"/>
          <p:cNvSpPr/>
          <p:nvPr>
            <p:ph idx="2" type="sldImg"/>
          </p:nvPr>
        </p:nvSpPr>
        <p:spPr>
          <a:xfrm>
            <a:off x="457200" y="720725"/>
            <a:ext cx="64008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10:notes"/>
          <p:cNvSpPr txBox="1"/>
          <p:nvPr>
            <p:ph idx="1" type="body"/>
          </p:nvPr>
        </p:nvSpPr>
        <p:spPr>
          <a:xfrm>
            <a:off x="731194" y="4561576"/>
            <a:ext cx="5852814" cy="431882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0" name="Google Shape;260;p10:notes"/>
          <p:cNvSpPr/>
          <p:nvPr>
            <p:ph idx="2" type="sldImg"/>
          </p:nvPr>
        </p:nvSpPr>
        <p:spPr>
          <a:xfrm>
            <a:off x="457200" y="720725"/>
            <a:ext cx="64008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12:notes"/>
          <p:cNvSpPr txBox="1"/>
          <p:nvPr>
            <p:ph idx="1" type="body"/>
          </p:nvPr>
        </p:nvSpPr>
        <p:spPr>
          <a:xfrm>
            <a:off x="731194" y="4561576"/>
            <a:ext cx="5852814" cy="431882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6" name="Google Shape;266;p12:notes"/>
          <p:cNvSpPr/>
          <p:nvPr>
            <p:ph idx="2" type="sldImg"/>
          </p:nvPr>
        </p:nvSpPr>
        <p:spPr>
          <a:xfrm>
            <a:off x="457200" y="720725"/>
            <a:ext cx="64008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3:notes"/>
          <p:cNvSpPr/>
          <p:nvPr>
            <p:ph idx="2" type="sldImg"/>
          </p:nvPr>
        </p:nvSpPr>
        <p:spPr>
          <a:xfrm>
            <a:off x="457200" y="720725"/>
            <a:ext cx="64008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79" name="Google Shape;279;p13:notes"/>
          <p:cNvSpPr txBox="1"/>
          <p:nvPr>
            <p:ph idx="1" type="body"/>
          </p:nvPr>
        </p:nvSpPr>
        <p:spPr>
          <a:xfrm>
            <a:off x="731194" y="4561576"/>
            <a:ext cx="5852814" cy="431882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For any search problem, you know the goal.  Now, you have an idea of how far away you are from the goal.</a:t>
            </a:r>
            <a:endParaRPr/>
          </a:p>
        </p:txBody>
      </p:sp>
      <p:sp>
        <p:nvSpPr>
          <p:cNvPr id="280" name="Google Shape;280;p13:notes"/>
          <p:cNvSpPr txBox="1"/>
          <p:nvPr>
            <p:ph idx="12" type="sldNum"/>
          </p:nvPr>
        </p:nvSpPr>
        <p:spPr>
          <a:xfrm>
            <a:off x="4143427" y="9120172"/>
            <a:ext cx="3170138" cy="479539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>
                <a:latin typeface="Arial"/>
                <a:ea typeface="Arial"/>
                <a:cs typeface="Arial"/>
                <a:sym typeface="Arial"/>
              </a:rPr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14:notes"/>
          <p:cNvSpPr txBox="1"/>
          <p:nvPr>
            <p:ph idx="1" type="body"/>
          </p:nvPr>
        </p:nvSpPr>
        <p:spPr>
          <a:xfrm>
            <a:off x="731194" y="4561576"/>
            <a:ext cx="5852814" cy="431882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04" name="Google Shape;304;p14:notes"/>
          <p:cNvSpPr/>
          <p:nvPr>
            <p:ph idx="2" type="sldImg"/>
          </p:nvPr>
        </p:nvSpPr>
        <p:spPr>
          <a:xfrm>
            <a:off x="457200" y="720725"/>
            <a:ext cx="64008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15:notes"/>
          <p:cNvSpPr/>
          <p:nvPr>
            <p:ph idx="2" type="sldImg"/>
          </p:nvPr>
        </p:nvSpPr>
        <p:spPr>
          <a:xfrm>
            <a:off x="457200" y="720725"/>
            <a:ext cx="64008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10" name="Google Shape;310;p15:notes"/>
          <p:cNvSpPr txBox="1"/>
          <p:nvPr>
            <p:ph idx="1" type="body"/>
          </p:nvPr>
        </p:nvSpPr>
        <p:spPr>
          <a:xfrm>
            <a:off x="731194" y="4561576"/>
            <a:ext cx="5852814" cy="431882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Notes: these images licensed from iStockphoto for UC Berkeley use.</a:t>
            </a:r>
            <a:endParaRPr/>
          </a:p>
        </p:txBody>
      </p:sp>
      <p:sp>
        <p:nvSpPr>
          <p:cNvPr id="311" name="Google Shape;311;p15:notes"/>
          <p:cNvSpPr txBox="1"/>
          <p:nvPr>
            <p:ph idx="12" type="sldNum"/>
          </p:nvPr>
        </p:nvSpPr>
        <p:spPr>
          <a:xfrm>
            <a:off x="4143427" y="9120172"/>
            <a:ext cx="3170138" cy="479539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>
                <a:latin typeface="Arial"/>
                <a:ea typeface="Arial"/>
                <a:cs typeface="Arial"/>
                <a:sym typeface="Arial"/>
              </a:rPr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16:notes"/>
          <p:cNvSpPr txBox="1"/>
          <p:nvPr>
            <p:ph idx="12" type="sldNum"/>
          </p:nvPr>
        </p:nvSpPr>
        <p:spPr>
          <a:xfrm>
            <a:off x="4143427" y="9120172"/>
            <a:ext cx="3170138" cy="479539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>
                <a:latin typeface="Arial"/>
                <a:ea typeface="Arial"/>
                <a:cs typeface="Arial"/>
                <a:sym typeface="Arial"/>
              </a:rPr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0" name="Google Shape;320;p16:notes"/>
          <p:cNvSpPr/>
          <p:nvPr>
            <p:ph idx="2" type="sldImg"/>
          </p:nvPr>
        </p:nvSpPr>
        <p:spPr>
          <a:xfrm>
            <a:off x="457200" y="720725"/>
            <a:ext cx="64008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21" name="Google Shape;321;p16:notes"/>
          <p:cNvSpPr txBox="1"/>
          <p:nvPr>
            <p:ph idx="1" type="body"/>
          </p:nvPr>
        </p:nvSpPr>
        <p:spPr>
          <a:xfrm>
            <a:off x="974924" y="4561576"/>
            <a:ext cx="5365352" cy="431882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g3c5a5f0e809_0_0:notes"/>
          <p:cNvSpPr/>
          <p:nvPr>
            <p:ph idx="2" type="sldImg"/>
          </p:nvPr>
        </p:nvSpPr>
        <p:spPr>
          <a:xfrm>
            <a:off x="457200" y="720725"/>
            <a:ext cx="6400800" cy="3600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5" name="Google Shape;395;g3c5a5f0e809_0_0:notes"/>
          <p:cNvSpPr txBox="1"/>
          <p:nvPr>
            <p:ph idx="1" type="body"/>
          </p:nvPr>
        </p:nvSpPr>
        <p:spPr>
          <a:xfrm>
            <a:off x="731194" y="4561576"/>
            <a:ext cx="5852700" cy="4318800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6" name="Google Shape;396;g3c5a5f0e809_0_0:notes"/>
          <p:cNvSpPr txBox="1"/>
          <p:nvPr>
            <p:ph idx="12" type="sldNum"/>
          </p:nvPr>
        </p:nvSpPr>
        <p:spPr>
          <a:xfrm>
            <a:off x="4143427" y="9120172"/>
            <a:ext cx="3170100" cy="479400"/>
          </a:xfrm>
          <a:prstGeom prst="rect">
            <a:avLst/>
          </a:prstGeom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17:notes"/>
          <p:cNvSpPr txBox="1"/>
          <p:nvPr>
            <p:ph idx="1" type="body"/>
          </p:nvPr>
        </p:nvSpPr>
        <p:spPr>
          <a:xfrm>
            <a:off x="731194" y="4561576"/>
            <a:ext cx="5852814" cy="431882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03" name="Google Shape;403;p17:notes"/>
          <p:cNvSpPr/>
          <p:nvPr>
            <p:ph idx="2" type="sldImg"/>
          </p:nvPr>
        </p:nvSpPr>
        <p:spPr>
          <a:xfrm>
            <a:off x="457200" y="720725"/>
            <a:ext cx="64008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18:notes"/>
          <p:cNvSpPr txBox="1"/>
          <p:nvPr>
            <p:ph idx="1" type="body"/>
          </p:nvPr>
        </p:nvSpPr>
        <p:spPr>
          <a:xfrm>
            <a:off x="731194" y="4561576"/>
            <a:ext cx="5852814" cy="431882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25" name="Google Shape;425;p18:notes"/>
          <p:cNvSpPr/>
          <p:nvPr>
            <p:ph idx="2" type="sldImg"/>
          </p:nvPr>
        </p:nvSpPr>
        <p:spPr>
          <a:xfrm>
            <a:off x="457200" y="720725"/>
            <a:ext cx="64008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19:notes"/>
          <p:cNvSpPr txBox="1"/>
          <p:nvPr>
            <p:ph idx="1" type="body"/>
          </p:nvPr>
        </p:nvSpPr>
        <p:spPr>
          <a:xfrm>
            <a:off x="731194" y="4561576"/>
            <a:ext cx="5852814" cy="431882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43" name="Google Shape;443;p19:notes"/>
          <p:cNvSpPr/>
          <p:nvPr>
            <p:ph idx="2" type="sldImg"/>
          </p:nvPr>
        </p:nvSpPr>
        <p:spPr>
          <a:xfrm>
            <a:off x="457200" y="720725"/>
            <a:ext cx="64008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20:notes"/>
          <p:cNvSpPr txBox="1"/>
          <p:nvPr>
            <p:ph idx="1" type="body"/>
          </p:nvPr>
        </p:nvSpPr>
        <p:spPr>
          <a:xfrm>
            <a:off x="731194" y="4561576"/>
            <a:ext cx="5852814" cy="431882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49" name="Google Shape;449;p20:notes"/>
          <p:cNvSpPr/>
          <p:nvPr>
            <p:ph idx="2" type="sldImg"/>
          </p:nvPr>
        </p:nvSpPr>
        <p:spPr>
          <a:xfrm>
            <a:off x="457200" y="720725"/>
            <a:ext cx="64008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21:notes"/>
          <p:cNvSpPr txBox="1"/>
          <p:nvPr>
            <p:ph idx="1" type="body"/>
          </p:nvPr>
        </p:nvSpPr>
        <p:spPr>
          <a:xfrm>
            <a:off x="731194" y="4561576"/>
            <a:ext cx="5852814" cy="431882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59" name="Google Shape;459;p21:notes"/>
          <p:cNvSpPr/>
          <p:nvPr>
            <p:ph idx="2" type="sldImg"/>
          </p:nvPr>
        </p:nvSpPr>
        <p:spPr>
          <a:xfrm>
            <a:off x="457200" y="720725"/>
            <a:ext cx="64008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22:notes"/>
          <p:cNvSpPr txBox="1"/>
          <p:nvPr>
            <p:ph idx="1" type="body"/>
          </p:nvPr>
        </p:nvSpPr>
        <p:spPr>
          <a:xfrm>
            <a:off x="731194" y="4561576"/>
            <a:ext cx="5852814" cy="431882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72" name="Google Shape;472;p22:notes"/>
          <p:cNvSpPr/>
          <p:nvPr>
            <p:ph idx="2" type="sldImg"/>
          </p:nvPr>
        </p:nvSpPr>
        <p:spPr>
          <a:xfrm>
            <a:off x="457200" y="720725"/>
            <a:ext cx="64008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23:notes"/>
          <p:cNvSpPr txBox="1"/>
          <p:nvPr>
            <p:ph idx="1" type="body"/>
          </p:nvPr>
        </p:nvSpPr>
        <p:spPr>
          <a:xfrm>
            <a:off x="731194" y="4561576"/>
            <a:ext cx="5852814" cy="431882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78" name="Google Shape;478;p23:notes"/>
          <p:cNvSpPr/>
          <p:nvPr>
            <p:ph idx="2" type="sldImg"/>
          </p:nvPr>
        </p:nvSpPr>
        <p:spPr>
          <a:xfrm>
            <a:off x="457200" y="720725"/>
            <a:ext cx="64008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p24:notes"/>
          <p:cNvSpPr txBox="1"/>
          <p:nvPr>
            <p:ph idx="1" type="body"/>
          </p:nvPr>
        </p:nvSpPr>
        <p:spPr>
          <a:xfrm>
            <a:off x="731194" y="4561576"/>
            <a:ext cx="5852814" cy="431882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93" name="Google Shape;493;p24:notes"/>
          <p:cNvSpPr/>
          <p:nvPr>
            <p:ph idx="2" type="sldImg"/>
          </p:nvPr>
        </p:nvSpPr>
        <p:spPr>
          <a:xfrm>
            <a:off x="457200" y="720725"/>
            <a:ext cx="64008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5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p25:notes"/>
          <p:cNvSpPr txBox="1"/>
          <p:nvPr>
            <p:ph idx="1" type="body"/>
          </p:nvPr>
        </p:nvSpPr>
        <p:spPr>
          <a:xfrm>
            <a:off x="731194" y="4561576"/>
            <a:ext cx="5852814" cy="431882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07" name="Google Shape;507;p25:notes"/>
          <p:cNvSpPr/>
          <p:nvPr>
            <p:ph idx="2" type="sldImg"/>
          </p:nvPr>
        </p:nvSpPr>
        <p:spPr>
          <a:xfrm>
            <a:off x="457200" y="720725"/>
            <a:ext cx="64008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9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p26:notes"/>
          <p:cNvSpPr txBox="1"/>
          <p:nvPr>
            <p:ph idx="1" type="body"/>
          </p:nvPr>
        </p:nvSpPr>
        <p:spPr>
          <a:xfrm>
            <a:off x="731194" y="4561576"/>
            <a:ext cx="5852814" cy="431882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21" name="Google Shape;521;p26:notes"/>
          <p:cNvSpPr/>
          <p:nvPr>
            <p:ph idx="2" type="sldImg"/>
          </p:nvPr>
        </p:nvSpPr>
        <p:spPr>
          <a:xfrm>
            <a:off x="457200" y="720725"/>
            <a:ext cx="64008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27:notes"/>
          <p:cNvSpPr txBox="1"/>
          <p:nvPr>
            <p:ph idx="1" type="body"/>
          </p:nvPr>
        </p:nvSpPr>
        <p:spPr>
          <a:xfrm>
            <a:off x="731194" y="4561576"/>
            <a:ext cx="5852814" cy="431882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33" name="Google Shape;533;p27:notes"/>
          <p:cNvSpPr/>
          <p:nvPr>
            <p:ph idx="2" type="sldImg"/>
          </p:nvPr>
        </p:nvSpPr>
        <p:spPr>
          <a:xfrm>
            <a:off x="457200" y="720725"/>
            <a:ext cx="64008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8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p28:notes"/>
          <p:cNvSpPr txBox="1"/>
          <p:nvPr>
            <p:ph idx="1" type="body"/>
          </p:nvPr>
        </p:nvSpPr>
        <p:spPr>
          <a:xfrm>
            <a:off x="731194" y="4561576"/>
            <a:ext cx="5852814" cy="431882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40" name="Google Shape;540;p28:notes"/>
          <p:cNvSpPr/>
          <p:nvPr>
            <p:ph idx="2" type="sldImg"/>
          </p:nvPr>
        </p:nvSpPr>
        <p:spPr>
          <a:xfrm>
            <a:off x="457200" y="720725"/>
            <a:ext cx="64008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4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p29:notes"/>
          <p:cNvSpPr/>
          <p:nvPr>
            <p:ph idx="2" type="sldImg"/>
          </p:nvPr>
        </p:nvSpPr>
        <p:spPr>
          <a:xfrm>
            <a:off x="457200" y="720725"/>
            <a:ext cx="64008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46" name="Google Shape;546;p29:notes"/>
          <p:cNvSpPr txBox="1"/>
          <p:nvPr>
            <p:ph idx="1" type="body"/>
          </p:nvPr>
        </p:nvSpPr>
        <p:spPr>
          <a:xfrm>
            <a:off x="731194" y="4561576"/>
            <a:ext cx="5852814" cy="431882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Semi-lattice: x &lt;= y &lt;-&gt; x = x ^ y</a:t>
            </a:r>
            <a:endParaRPr/>
          </a:p>
        </p:txBody>
      </p:sp>
      <p:sp>
        <p:nvSpPr>
          <p:cNvPr id="547" name="Google Shape;547;p29:notes"/>
          <p:cNvSpPr txBox="1"/>
          <p:nvPr>
            <p:ph idx="12" type="sldNum"/>
          </p:nvPr>
        </p:nvSpPr>
        <p:spPr>
          <a:xfrm>
            <a:off x="4143427" y="9120172"/>
            <a:ext cx="3170138" cy="479539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>
                <a:latin typeface="Arial"/>
                <a:ea typeface="Arial"/>
                <a:cs typeface="Arial"/>
                <a:sym typeface="Arial"/>
              </a:rPr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6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Google Shape;567;g3da464f938d_0_0:notes"/>
          <p:cNvSpPr/>
          <p:nvPr>
            <p:ph idx="2" type="sldImg"/>
          </p:nvPr>
        </p:nvSpPr>
        <p:spPr>
          <a:xfrm>
            <a:off x="457200" y="720725"/>
            <a:ext cx="6400800" cy="3600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8" name="Google Shape;568;g3da464f938d_0_0:notes"/>
          <p:cNvSpPr txBox="1"/>
          <p:nvPr>
            <p:ph idx="1" type="body"/>
          </p:nvPr>
        </p:nvSpPr>
        <p:spPr>
          <a:xfrm>
            <a:off x="731194" y="4561576"/>
            <a:ext cx="5852700" cy="4318800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9" name="Google Shape;569;g3da464f938d_0_0:notes"/>
          <p:cNvSpPr txBox="1"/>
          <p:nvPr>
            <p:ph idx="12" type="sldNum"/>
          </p:nvPr>
        </p:nvSpPr>
        <p:spPr>
          <a:xfrm>
            <a:off x="4143427" y="9120172"/>
            <a:ext cx="3170100" cy="479400"/>
          </a:xfrm>
          <a:prstGeom prst="rect">
            <a:avLst/>
          </a:prstGeom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4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g3da464f938d_0_7:notes"/>
          <p:cNvSpPr/>
          <p:nvPr>
            <p:ph idx="2" type="sldImg"/>
          </p:nvPr>
        </p:nvSpPr>
        <p:spPr>
          <a:xfrm>
            <a:off x="457200" y="720725"/>
            <a:ext cx="6400800" cy="3600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6" name="Google Shape;576;g3da464f938d_0_7:notes"/>
          <p:cNvSpPr txBox="1"/>
          <p:nvPr>
            <p:ph idx="1" type="body"/>
          </p:nvPr>
        </p:nvSpPr>
        <p:spPr>
          <a:xfrm>
            <a:off x="731194" y="4561576"/>
            <a:ext cx="5852700" cy="4318800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7" name="Google Shape;577;g3da464f938d_0_7:notes"/>
          <p:cNvSpPr txBox="1"/>
          <p:nvPr>
            <p:ph idx="12" type="sldNum"/>
          </p:nvPr>
        </p:nvSpPr>
        <p:spPr>
          <a:xfrm>
            <a:off x="4143427" y="9120172"/>
            <a:ext cx="3170100" cy="479400"/>
          </a:xfrm>
          <a:prstGeom prst="rect">
            <a:avLst/>
          </a:prstGeom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2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Google Shape;583;p30:notes"/>
          <p:cNvSpPr txBox="1"/>
          <p:nvPr>
            <p:ph idx="1" type="body"/>
          </p:nvPr>
        </p:nvSpPr>
        <p:spPr>
          <a:xfrm>
            <a:off x="731194" y="4561576"/>
            <a:ext cx="5852814" cy="431882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84" name="Google Shape;584;p30:notes"/>
          <p:cNvSpPr/>
          <p:nvPr>
            <p:ph idx="2" type="sldImg"/>
          </p:nvPr>
        </p:nvSpPr>
        <p:spPr>
          <a:xfrm>
            <a:off x="457200" y="720725"/>
            <a:ext cx="64008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9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Google Shape;590;p31:notes"/>
          <p:cNvSpPr txBox="1"/>
          <p:nvPr>
            <p:ph idx="1" type="body"/>
          </p:nvPr>
        </p:nvSpPr>
        <p:spPr>
          <a:xfrm>
            <a:off x="731194" y="4561576"/>
            <a:ext cx="5852814" cy="431882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91" name="Google Shape;591;p31:notes"/>
          <p:cNvSpPr/>
          <p:nvPr>
            <p:ph idx="2" type="sldImg"/>
          </p:nvPr>
        </p:nvSpPr>
        <p:spPr>
          <a:xfrm>
            <a:off x="457200" y="720725"/>
            <a:ext cx="64008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Google Shape;602;p32:notes"/>
          <p:cNvSpPr txBox="1"/>
          <p:nvPr>
            <p:ph idx="1" type="body"/>
          </p:nvPr>
        </p:nvSpPr>
        <p:spPr>
          <a:xfrm>
            <a:off x="731194" y="4561576"/>
            <a:ext cx="5852814" cy="431882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03" name="Google Shape;603;p32:notes"/>
          <p:cNvSpPr/>
          <p:nvPr>
            <p:ph idx="2" type="sldImg"/>
          </p:nvPr>
        </p:nvSpPr>
        <p:spPr>
          <a:xfrm>
            <a:off x="457200" y="720725"/>
            <a:ext cx="64008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9" name="Shape 6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" name="Google Shape;670;p33:notes"/>
          <p:cNvSpPr txBox="1"/>
          <p:nvPr>
            <p:ph idx="1" type="body"/>
          </p:nvPr>
        </p:nvSpPr>
        <p:spPr>
          <a:xfrm>
            <a:off x="731194" y="4561576"/>
            <a:ext cx="5852814" cy="431882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71" name="Google Shape;671;p33:notes"/>
          <p:cNvSpPr/>
          <p:nvPr>
            <p:ph idx="2" type="sldImg"/>
          </p:nvPr>
        </p:nvSpPr>
        <p:spPr>
          <a:xfrm>
            <a:off x="457200" y="720725"/>
            <a:ext cx="64008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5" name="Shape 6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6" name="Google Shape;676;p34:notes"/>
          <p:cNvSpPr txBox="1"/>
          <p:nvPr>
            <p:ph idx="1" type="body"/>
          </p:nvPr>
        </p:nvSpPr>
        <p:spPr>
          <a:xfrm>
            <a:off x="731194" y="4561576"/>
            <a:ext cx="5852814" cy="431882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77" name="Google Shape;677;p34:notes"/>
          <p:cNvSpPr/>
          <p:nvPr>
            <p:ph idx="2" type="sldImg"/>
          </p:nvPr>
        </p:nvSpPr>
        <p:spPr>
          <a:xfrm>
            <a:off x="457200" y="720725"/>
            <a:ext cx="64008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1" name="Shape 7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2" name="Google Shape;722;p35:notes"/>
          <p:cNvSpPr txBox="1"/>
          <p:nvPr>
            <p:ph idx="1" type="body"/>
          </p:nvPr>
        </p:nvSpPr>
        <p:spPr>
          <a:xfrm>
            <a:off x="731194" y="4561576"/>
            <a:ext cx="5852814" cy="431882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23" name="Google Shape;723;p35:notes"/>
          <p:cNvSpPr/>
          <p:nvPr>
            <p:ph idx="2" type="sldImg"/>
          </p:nvPr>
        </p:nvSpPr>
        <p:spPr>
          <a:xfrm>
            <a:off x="457200" y="720725"/>
            <a:ext cx="64008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0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1" name="Google Shape;741;p36:notes"/>
          <p:cNvSpPr txBox="1"/>
          <p:nvPr>
            <p:ph idx="1" type="body"/>
          </p:nvPr>
        </p:nvSpPr>
        <p:spPr>
          <a:xfrm>
            <a:off x="731194" y="4561576"/>
            <a:ext cx="5852814" cy="431882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42" name="Google Shape;742;p36:notes"/>
          <p:cNvSpPr/>
          <p:nvPr>
            <p:ph idx="2" type="sldImg"/>
          </p:nvPr>
        </p:nvSpPr>
        <p:spPr>
          <a:xfrm>
            <a:off x="457200" y="720725"/>
            <a:ext cx="64008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6" name="Shape 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" name="Google Shape;747;p37:notes"/>
          <p:cNvSpPr txBox="1"/>
          <p:nvPr>
            <p:ph idx="1" type="body"/>
          </p:nvPr>
        </p:nvSpPr>
        <p:spPr>
          <a:xfrm>
            <a:off x="731194" y="4561576"/>
            <a:ext cx="5852814" cy="431882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48" name="Google Shape;748;p37:notes"/>
          <p:cNvSpPr/>
          <p:nvPr>
            <p:ph idx="2" type="sldImg"/>
          </p:nvPr>
        </p:nvSpPr>
        <p:spPr>
          <a:xfrm>
            <a:off x="457200" y="720725"/>
            <a:ext cx="64008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7" name="Shape 7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" name="Google Shape;768;g3a9054157b4_0_0:notes"/>
          <p:cNvSpPr txBox="1"/>
          <p:nvPr>
            <p:ph idx="1" type="body"/>
          </p:nvPr>
        </p:nvSpPr>
        <p:spPr>
          <a:xfrm>
            <a:off x="731194" y="4561576"/>
            <a:ext cx="5852700" cy="431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69" name="Google Shape;769;g3a9054157b4_0_0:notes"/>
          <p:cNvSpPr/>
          <p:nvPr>
            <p:ph idx="2" type="sldImg"/>
          </p:nvPr>
        </p:nvSpPr>
        <p:spPr>
          <a:xfrm>
            <a:off x="457200" y="720725"/>
            <a:ext cx="6400800" cy="3600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2" name="Shape 7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3" name="Google Shape;773;g3a9054157b4_0_42:notes"/>
          <p:cNvSpPr/>
          <p:nvPr>
            <p:ph idx="2" type="sldImg"/>
          </p:nvPr>
        </p:nvSpPr>
        <p:spPr>
          <a:xfrm>
            <a:off x="457200" y="720725"/>
            <a:ext cx="6400800" cy="3600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4" name="Google Shape;774;g3a9054157b4_0_42:notes"/>
          <p:cNvSpPr txBox="1"/>
          <p:nvPr>
            <p:ph idx="1" type="body"/>
          </p:nvPr>
        </p:nvSpPr>
        <p:spPr>
          <a:xfrm>
            <a:off x="731194" y="4561576"/>
            <a:ext cx="5852700" cy="4318800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5" name="Google Shape;775;g3a9054157b4_0_42:notes"/>
          <p:cNvSpPr txBox="1"/>
          <p:nvPr>
            <p:ph idx="12" type="sldNum"/>
          </p:nvPr>
        </p:nvSpPr>
        <p:spPr>
          <a:xfrm>
            <a:off x="4143427" y="9120172"/>
            <a:ext cx="3170100" cy="479400"/>
          </a:xfrm>
          <a:prstGeom prst="rect">
            <a:avLst/>
          </a:prstGeom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1" name="Shape 7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2" name="Google Shape;782;g3a9054157b4_0_49:notes"/>
          <p:cNvSpPr/>
          <p:nvPr>
            <p:ph idx="2" type="sldImg"/>
          </p:nvPr>
        </p:nvSpPr>
        <p:spPr>
          <a:xfrm>
            <a:off x="457200" y="720725"/>
            <a:ext cx="6400800" cy="3600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3" name="Google Shape;783;g3a9054157b4_0_49:notes"/>
          <p:cNvSpPr txBox="1"/>
          <p:nvPr>
            <p:ph idx="1" type="body"/>
          </p:nvPr>
        </p:nvSpPr>
        <p:spPr>
          <a:xfrm>
            <a:off x="731194" y="4561576"/>
            <a:ext cx="5852700" cy="4318800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4" name="Google Shape;784;g3a9054157b4_0_49:notes"/>
          <p:cNvSpPr txBox="1"/>
          <p:nvPr>
            <p:ph idx="12" type="sldNum"/>
          </p:nvPr>
        </p:nvSpPr>
        <p:spPr>
          <a:xfrm>
            <a:off x="4143427" y="9120172"/>
            <a:ext cx="3170100" cy="479400"/>
          </a:xfrm>
          <a:prstGeom prst="rect">
            <a:avLst/>
          </a:prstGeom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9" name="Shape 7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0" name="Google Shape;790;g3a9054157b4_0_57:notes"/>
          <p:cNvSpPr/>
          <p:nvPr>
            <p:ph idx="2" type="sldImg"/>
          </p:nvPr>
        </p:nvSpPr>
        <p:spPr>
          <a:xfrm>
            <a:off x="457200" y="720725"/>
            <a:ext cx="6400800" cy="3600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1" name="Google Shape;791;g3a9054157b4_0_57:notes"/>
          <p:cNvSpPr txBox="1"/>
          <p:nvPr>
            <p:ph idx="1" type="body"/>
          </p:nvPr>
        </p:nvSpPr>
        <p:spPr>
          <a:xfrm>
            <a:off x="731194" y="4561576"/>
            <a:ext cx="5852700" cy="4318800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2" name="Google Shape;792;g3a9054157b4_0_57:notes"/>
          <p:cNvSpPr txBox="1"/>
          <p:nvPr>
            <p:ph idx="12" type="sldNum"/>
          </p:nvPr>
        </p:nvSpPr>
        <p:spPr>
          <a:xfrm>
            <a:off x="4143427" y="9120172"/>
            <a:ext cx="3170100" cy="479400"/>
          </a:xfrm>
          <a:prstGeom prst="rect">
            <a:avLst/>
          </a:prstGeom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6" name="Shape 7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7" name="Google Shape;797;p38:notes"/>
          <p:cNvSpPr txBox="1"/>
          <p:nvPr>
            <p:ph idx="1" type="body"/>
          </p:nvPr>
        </p:nvSpPr>
        <p:spPr>
          <a:xfrm>
            <a:off x="731194" y="4561576"/>
            <a:ext cx="5852814" cy="431882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98" name="Google Shape;798;p38:notes"/>
          <p:cNvSpPr/>
          <p:nvPr>
            <p:ph idx="2" type="sldImg"/>
          </p:nvPr>
        </p:nvSpPr>
        <p:spPr>
          <a:xfrm>
            <a:off x="457200" y="720725"/>
            <a:ext cx="64008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3" name="Shape 8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4" name="Google Shape;804;p39:notes"/>
          <p:cNvSpPr txBox="1"/>
          <p:nvPr>
            <p:ph idx="1" type="body"/>
          </p:nvPr>
        </p:nvSpPr>
        <p:spPr>
          <a:xfrm>
            <a:off x="731194" y="4561576"/>
            <a:ext cx="5852814" cy="431882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05" name="Google Shape;805;p39:notes"/>
          <p:cNvSpPr/>
          <p:nvPr>
            <p:ph idx="2" type="sldImg"/>
          </p:nvPr>
        </p:nvSpPr>
        <p:spPr>
          <a:xfrm>
            <a:off x="457200" y="720725"/>
            <a:ext cx="64008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9" name="Shape 8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0" name="Google Shape;810;p40:notes"/>
          <p:cNvSpPr txBox="1"/>
          <p:nvPr>
            <p:ph idx="1" type="body"/>
          </p:nvPr>
        </p:nvSpPr>
        <p:spPr>
          <a:xfrm>
            <a:off x="731194" y="4561576"/>
            <a:ext cx="5852814" cy="431882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11" name="Google Shape;811;p40:notes"/>
          <p:cNvSpPr/>
          <p:nvPr>
            <p:ph idx="2" type="sldImg"/>
          </p:nvPr>
        </p:nvSpPr>
        <p:spPr>
          <a:xfrm>
            <a:off x="457200" y="720725"/>
            <a:ext cx="64008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6" name="Shape 8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7" name="Google Shape;817;g3f9607d75ea_0_100:notes"/>
          <p:cNvSpPr/>
          <p:nvPr>
            <p:ph idx="2" type="sldImg"/>
          </p:nvPr>
        </p:nvSpPr>
        <p:spPr>
          <a:xfrm>
            <a:off x="457200" y="720725"/>
            <a:ext cx="6400800" cy="3600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8" name="Google Shape;818;g3f9607d75ea_0_100:notes"/>
          <p:cNvSpPr txBox="1"/>
          <p:nvPr>
            <p:ph idx="1" type="body"/>
          </p:nvPr>
        </p:nvSpPr>
        <p:spPr>
          <a:xfrm>
            <a:off x="731194" y="4561576"/>
            <a:ext cx="5852700" cy="4318800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9" name="Google Shape;819;g3f9607d75ea_0_100:notes"/>
          <p:cNvSpPr txBox="1"/>
          <p:nvPr>
            <p:ph idx="12" type="sldNum"/>
          </p:nvPr>
        </p:nvSpPr>
        <p:spPr>
          <a:xfrm>
            <a:off x="4143427" y="9120172"/>
            <a:ext cx="3170100" cy="479400"/>
          </a:xfrm>
          <a:prstGeom prst="rect">
            <a:avLst/>
          </a:prstGeom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3" name="Shape 8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4" name="Google Shape;824;g3f601a604c6_0_415:notes"/>
          <p:cNvSpPr/>
          <p:nvPr>
            <p:ph idx="2" type="sldImg"/>
          </p:nvPr>
        </p:nvSpPr>
        <p:spPr>
          <a:xfrm>
            <a:off x="142313" y="720798"/>
            <a:ext cx="7030800" cy="3600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5" name="Google Shape;825;g3f601a604c6_0_415:notes"/>
          <p:cNvSpPr txBox="1"/>
          <p:nvPr>
            <p:ph idx="1" type="body"/>
          </p:nvPr>
        </p:nvSpPr>
        <p:spPr>
          <a:xfrm>
            <a:off x="731193" y="4561581"/>
            <a:ext cx="5853000" cy="4318800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6" name="Google Shape;826;g3f601a604c6_0_415:notes"/>
          <p:cNvSpPr txBox="1"/>
          <p:nvPr>
            <p:ph idx="12" type="sldNum"/>
          </p:nvPr>
        </p:nvSpPr>
        <p:spPr>
          <a:xfrm>
            <a:off x="4143427" y="9120183"/>
            <a:ext cx="3170100" cy="479700"/>
          </a:xfrm>
          <a:prstGeom prst="rect">
            <a:avLst/>
          </a:prstGeom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1" name="Shape 8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2" name="Google Shape;832;g3f601a604c6_0_422:notes"/>
          <p:cNvSpPr/>
          <p:nvPr>
            <p:ph idx="2" type="sldImg"/>
          </p:nvPr>
        </p:nvSpPr>
        <p:spPr>
          <a:xfrm>
            <a:off x="142313" y="720798"/>
            <a:ext cx="7030800" cy="3600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3" name="Google Shape;833;g3f601a604c6_0_422:notes"/>
          <p:cNvSpPr txBox="1"/>
          <p:nvPr>
            <p:ph idx="1" type="body"/>
          </p:nvPr>
        </p:nvSpPr>
        <p:spPr>
          <a:xfrm>
            <a:off x="731193" y="4561581"/>
            <a:ext cx="5853000" cy="4318800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4" name="Google Shape;834;g3f601a604c6_0_422:notes"/>
          <p:cNvSpPr txBox="1"/>
          <p:nvPr>
            <p:ph idx="12" type="sldNum"/>
          </p:nvPr>
        </p:nvSpPr>
        <p:spPr>
          <a:xfrm>
            <a:off x="4143427" y="9120183"/>
            <a:ext cx="3170100" cy="479700"/>
          </a:xfrm>
          <a:prstGeom prst="rect">
            <a:avLst/>
          </a:prstGeom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0" name="Shape 8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1" name="Google Shape;841;g3f601a604c6_0_430:notes"/>
          <p:cNvSpPr/>
          <p:nvPr>
            <p:ph idx="2" type="sldImg"/>
          </p:nvPr>
        </p:nvSpPr>
        <p:spPr>
          <a:xfrm>
            <a:off x="142313" y="720798"/>
            <a:ext cx="7030800" cy="3600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2" name="Google Shape;842;g3f601a604c6_0_430:notes"/>
          <p:cNvSpPr txBox="1"/>
          <p:nvPr>
            <p:ph idx="1" type="body"/>
          </p:nvPr>
        </p:nvSpPr>
        <p:spPr>
          <a:xfrm>
            <a:off x="731193" y="4561581"/>
            <a:ext cx="5853000" cy="4318800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3" name="Google Shape;843;g3f601a604c6_0_430:notes"/>
          <p:cNvSpPr txBox="1"/>
          <p:nvPr>
            <p:ph idx="12" type="sldNum"/>
          </p:nvPr>
        </p:nvSpPr>
        <p:spPr>
          <a:xfrm>
            <a:off x="4143427" y="9120183"/>
            <a:ext cx="3170100" cy="479700"/>
          </a:xfrm>
          <a:prstGeom prst="rect">
            <a:avLst/>
          </a:prstGeom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0" name="Shape 8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1" name="Google Shape;851;g3f601a604c6_0_439:notes"/>
          <p:cNvSpPr/>
          <p:nvPr>
            <p:ph idx="2" type="sldImg"/>
          </p:nvPr>
        </p:nvSpPr>
        <p:spPr>
          <a:xfrm>
            <a:off x="142313" y="720798"/>
            <a:ext cx="7030800" cy="3600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2" name="Google Shape;852;g3f601a604c6_0_439:notes"/>
          <p:cNvSpPr txBox="1"/>
          <p:nvPr>
            <p:ph idx="1" type="body"/>
          </p:nvPr>
        </p:nvSpPr>
        <p:spPr>
          <a:xfrm>
            <a:off x="731193" y="4561581"/>
            <a:ext cx="5853000" cy="4318800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3" name="Google Shape;853;g3f601a604c6_0_439:notes"/>
          <p:cNvSpPr txBox="1"/>
          <p:nvPr>
            <p:ph idx="12" type="sldNum"/>
          </p:nvPr>
        </p:nvSpPr>
        <p:spPr>
          <a:xfrm>
            <a:off x="4143427" y="9120183"/>
            <a:ext cx="3170100" cy="479700"/>
          </a:xfrm>
          <a:prstGeom prst="rect">
            <a:avLst/>
          </a:prstGeom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8" name="Shape 8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9" name="Google Shape;859;g3f601a604c6_0_446:notes"/>
          <p:cNvSpPr/>
          <p:nvPr>
            <p:ph idx="2" type="sldImg"/>
          </p:nvPr>
        </p:nvSpPr>
        <p:spPr>
          <a:xfrm>
            <a:off x="142313" y="720798"/>
            <a:ext cx="7030800" cy="3600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0" name="Google Shape;860;g3f601a604c6_0_446:notes"/>
          <p:cNvSpPr txBox="1"/>
          <p:nvPr>
            <p:ph idx="1" type="body"/>
          </p:nvPr>
        </p:nvSpPr>
        <p:spPr>
          <a:xfrm>
            <a:off x="731193" y="4561581"/>
            <a:ext cx="5853000" cy="4318800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1" name="Google Shape;861;g3f601a604c6_0_446:notes"/>
          <p:cNvSpPr txBox="1"/>
          <p:nvPr>
            <p:ph idx="12" type="sldNum"/>
          </p:nvPr>
        </p:nvSpPr>
        <p:spPr>
          <a:xfrm>
            <a:off x="4143427" y="9120183"/>
            <a:ext cx="3170100" cy="479700"/>
          </a:xfrm>
          <a:prstGeom prst="rect">
            <a:avLst/>
          </a:prstGeom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6" name="Shape 8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7" name="Google Shape;867;g3f601a604c6_0_453:notes"/>
          <p:cNvSpPr/>
          <p:nvPr>
            <p:ph idx="2" type="sldImg"/>
          </p:nvPr>
        </p:nvSpPr>
        <p:spPr>
          <a:xfrm>
            <a:off x="142313" y="720798"/>
            <a:ext cx="7030800" cy="3600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8" name="Google Shape;868;g3f601a604c6_0_453:notes"/>
          <p:cNvSpPr txBox="1"/>
          <p:nvPr>
            <p:ph idx="1" type="body"/>
          </p:nvPr>
        </p:nvSpPr>
        <p:spPr>
          <a:xfrm>
            <a:off x="731193" y="4561581"/>
            <a:ext cx="5853000" cy="4318800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9" name="Google Shape;869;g3f601a604c6_0_453:notes"/>
          <p:cNvSpPr txBox="1"/>
          <p:nvPr>
            <p:ph idx="12" type="sldNum"/>
          </p:nvPr>
        </p:nvSpPr>
        <p:spPr>
          <a:xfrm>
            <a:off x="4143427" y="9120183"/>
            <a:ext cx="3170100" cy="479700"/>
          </a:xfrm>
          <a:prstGeom prst="rect">
            <a:avLst/>
          </a:prstGeom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1" name="Shape 8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2" name="Google Shape;882;g3f601a604c6_0_467:notes"/>
          <p:cNvSpPr/>
          <p:nvPr>
            <p:ph idx="2" type="sldImg"/>
          </p:nvPr>
        </p:nvSpPr>
        <p:spPr>
          <a:xfrm>
            <a:off x="142313" y="720798"/>
            <a:ext cx="7030800" cy="3600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3" name="Google Shape;883;g3f601a604c6_0_467:notes"/>
          <p:cNvSpPr txBox="1"/>
          <p:nvPr>
            <p:ph idx="1" type="body"/>
          </p:nvPr>
        </p:nvSpPr>
        <p:spPr>
          <a:xfrm>
            <a:off x="731193" y="4561581"/>
            <a:ext cx="5853000" cy="4318800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4" name="Google Shape;884;g3f601a604c6_0_467:notes"/>
          <p:cNvSpPr txBox="1"/>
          <p:nvPr>
            <p:ph idx="12" type="sldNum"/>
          </p:nvPr>
        </p:nvSpPr>
        <p:spPr>
          <a:xfrm>
            <a:off x="4143427" y="9120183"/>
            <a:ext cx="3170100" cy="479700"/>
          </a:xfrm>
          <a:prstGeom prst="rect">
            <a:avLst/>
          </a:prstGeom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5" name="Shape 8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6" name="Google Shape;896;g3f601a604c6_0_480:notes"/>
          <p:cNvSpPr/>
          <p:nvPr>
            <p:ph idx="2" type="sldImg"/>
          </p:nvPr>
        </p:nvSpPr>
        <p:spPr>
          <a:xfrm>
            <a:off x="142313" y="720798"/>
            <a:ext cx="7030800" cy="3600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7" name="Google Shape;897;g3f601a604c6_0_480:notes"/>
          <p:cNvSpPr txBox="1"/>
          <p:nvPr>
            <p:ph idx="1" type="body"/>
          </p:nvPr>
        </p:nvSpPr>
        <p:spPr>
          <a:xfrm>
            <a:off x="731193" y="4561581"/>
            <a:ext cx="5853000" cy="4318800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8" name="Google Shape;898;g3f601a604c6_0_480:notes"/>
          <p:cNvSpPr txBox="1"/>
          <p:nvPr>
            <p:ph idx="12" type="sldNum"/>
          </p:nvPr>
        </p:nvSpPr>
        <p:spPr>
          <a:xfrm>
            <a:off x="4143427" y="9120183"/>
            <a:ext cx="3170100" cy="479700"/>
          </a:xfrm>
          <a:prstGeom prst="rect">
            <a:avLst/>
          </a:prstGeom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3" name="Shape 9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4" name="Google Shape;904;g3f601a604c6_0_487:notes"/>
          <p:cNvSpPr/>
          <p:nvPr>
            <p:ph idx="2" type="sldImg"/>
          </p:nvPr>
        </p:nvSpPr>
        <p:spPr>
          <a:xfrm>
            <a:off x="731520" y="900113"/>
            <a:ext cx="5852100" cy="2430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05" name="Google Shape;905;g3f601a604c6_0_487:notes"/>
          <p:cNvSpPr txBox="1"/>
          <p:nvPr>
            <p:ph idx="1" type="body"/>
          </p:nvPr>
        </p:nvSpPr>
        <p:spPr>
          <a:xfrm>
            <a:off x="731520" y="3465433"/>
            <a:ext cx="5852100" cy="2835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6" name="Google Shape;906;g3f601a604c6_0_487:notes"/>
          <p:cNvSpPr txBox="1"/>
          <p:nvPr>
            <p:ph idx="12" type="sldNum"/>
          </p:nvPr>
        </p:nvSpPr>
        <p:spPr>
          <a:xfrm>
            <a:off x="4143587" y="6839605"/>
            <a:ext cx="3170100" cy="3615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9" name="Shape 9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0" name="Google Shape;940;g3f601a604c6_0_522:notes"/>
          <p:cNvSpPr/>
          <p:nvPr>
            <p:ph idx="2" type="sldImg"/>
          </p:nvPr>
        </p:nvSpPr>
        <p:spPr>
          <a:xfrm>
            <a:off x="731520" y="900113"/>
            <a:ext cx="5852100" cy="2430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41" name="Google Shape;941;g3f601a604c6_0_522:notes"/>
          <p:cNvSpPr txBox="1"/>
          <p:nvPr>
            <p:ph idx="1" type="body"/>
          </p:nvPr>
        </p:nvSpPr>
        <p:spPr>
          <a:xfrm>
            <a:off x="731520" y="3465433"/>
            <a:ext cx="5852100" cy="2835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2" name="Google Shape;942;g3f601a604c6_0_522:notes"/>
          <p:cNvSpPr txBox="1"/>
          <p:nvPr>
            <p:ph idx="12" type="sldNum"/>
          </p:nvPr>
        </p:nvSpPr>
        <p:spPr>
          <a:xfrm>
            <a:off x="4143587" y="6839605"/>
            <a:ext cx="3170100" cy="3615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7" name="Shape 9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8" name="Google Shape;978;g3f601a604c6_0_559:notes"/>
          <p:cNvSpPr/>
          <p:nvPr>
            <p:ph idx="2" type="sldImg"/>
          </p:nvPr>
        </p:nvSpPr>
        <p:spPr>
          <a:xfrm>
            <a:off x="731520" y="900113"/>
            <a:ext cx="5852100" cy="2430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79" name="Google Shape;979;g3f601a604c6_0_559:notes"/>
          <p:cNvSpPr txBox="1"/>
          <p:nvPr>
            <p:ph idx="1" type="body"/>
          </p:nvPr>
        </p:nvSpPr>
        <p:spPr>
          <a:xfrm>
            <a:off x="731520" y="3465433"/>
            <a:ext cx="5852100" cy="2835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0" name="Google Shape;980;g3f601a604c6_0_559:notes"/>
          <p:cNvSpPr txBox="1"/>
          <p:nvPr>
            <p:ph idx="12" type="sldNum"/>
          </p:nvPr>
        </p:nvSpPr>
        <p:spPr>
          <a:xfrm>
            <a:off x="4143587" y="6839605"/>
            <a:ext cx="3170100" cy="3615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5" name="Shape 10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Google Shape;1026;g3f601a604c6_0_606:notes"/>
          <p:cNvSpPr/>
          <p:nvPr>
            <p:ph idx="2" type="sldImg"/>
          </p:nvPr>
        </p:nvSpPr>
        <p:spPr>
          <a:xfrm>
            <a:off x="731520" y="900113"/>
            <a:ext cx="5852100" cy="2430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27" name="Google Shape;1027;g3f601a604c6_0_606:notes"/>
          <p:cNvSpPr txBox="1"/>
          <p:nvPr>
            <p:ph idx="1" type="body"/>
          </p:nvPr>
        </p:nvSpPr>
        <p:spPr>
          <a:xfrm>
            <a:off x="731520" y="3465433"/>
            <a:ext cx="5852100" cy="2835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8" name="Google Shape;1028;g3f601a604c6_0_606:notes"/>
          <p:cNvSpPr txBox="1"/>
          <p:nvPr>
            <p:ph idx="12" type="sldNum"/>
          </p:nvPr>
        </p:nvSpPr>
        <p:spPr>
          <a:xfrm>
            <a:off x="4143587" y="6839605"/>
            <a:ext cx="3170100" cy="3615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5" name="Shape 10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6" name="Google Shape;1076;g3f601a604c6_0_655:notes"/>
          <p:cNvSpPr/>
          <p:nvPr>
            <p:ph idx="2" type="sldImg"/>
          </p:nvPr>
        </p:nvSpPr>
        <p:spPr>
          <a:xfrm>
            <a:off x="731520" y="900113"/>
            <a:ext cx="5852100" cy="2430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77" name="Google Shape;1077;g3f601a604c6_0_655:notes"/>
          <p:cNvSpPr txBox="1"/>
          <p:nvPr>
            <p:ph idx="1" type="body"/>
          </p:nvPr>
        </p:nvSpPr>
        <p:spPr>
          <a:xfrm>
            <a:off x="731520" y="3465433"/>
            <a:ext cx="5852100" cy="2835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8" name="Google Shape;1078;g3f601a604c6_0_655:notes"/>
          <p:cNvSpPr txBox="1"/>
          <p:nvPr>
            <p:ph idx="12" type="sldNum"/>
          </p:nvPr>
        </p:nvSpPr>
        <p:spPr>
          <a:xfrm>
            <a:off x="4143587" y="6839605"/>
            <a:ext cx="3170100" cy="3615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9" name="Shape 1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0" name="Google Shape;1130;g3f601a604c6_0_708:notes"/>
          <p:cNvSpPr/>
          <p:nvPr>
            <p:ph idx="2" type="sldImg"/>
          </p:nvPr>
        </p:nvSpPr>
        <p:spPr>
          <a:xfrm>
            <a:off x="731520" y="900113"/>
            <a:ext cx="5852100" cy="2430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31" name="Google Shape;1131;g3f601a604c6_0_708:notes"/>
          <p:cNvSpPr txBox="1"/>
          <p:nvPr>
            <p:ph idx="1" type="body"/>
          </p:nvPr>
        </p:nvSpPr>
        <p:spPr>
          <a:xfrm>
            <a:off x="731520" y="3465433"/>
            <a:ext cx="5852100" cy="2835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2" name="Google Shape;1132;g3f601a604c6_0_708:notes"/>
          <p:cNvSpPr txBox="1"/>
          <p:nvPr>
            <p:ph idx="12" type="sldNum"/>
          </p:nvPr>
        </p:nvSpPr>
        <p:spPr>
          <a:xfrm>
            <a:off x="4143587" y="6839605"/>
            <a:ext cx="3170100" cy="3615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2"/>
          <p:cNvSpPr txBox="1"/>
          <p:nvPr>
            <p:ph type="ctrTitle"/>
          </p:nvPr>
        </p:nvSpPr>
        <p:spPr>
          <a:xfrm>
            <a:off x="0" y="1044578"/>
            <a:ext cx="121920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42"/>
          <p:cNvSpPr txBox="1"/>
          <p:nvPr>
            <p:ph idx="1" type="subTitle"/>
          </p:nvPr>
        </p:nvSpPr>
        <p:spPr>
          <a:xfrm>
            <a:off x="0" y="3657600"/>
            <a:ext cx="1219200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Font typeface="Noto Sans Symbols"/>
              <a:buNone/>
              <a:defRPr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2pPr>
            <a:lvl3pPr lvl="2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3pPr>
            <a:lvl4pPr lvl="3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4pPr>
            <a:lvl5pPr lvl="4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5pPr>
            <a:lvl6pPr lvl="5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6pPr>
            <a:lvl7pPr lvl="6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7pPr>
            <a:lvl8pPr lvl="7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8pPr>
            <a:lvl9pPr lvl="8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9pPr>
          </a:lstStyle>
          <a:p/>
        </p:txBody>
      </p:sp>
      <p:sp>
        <p:nvSpPr>
          <p:cNvPr id="19" name="Google Shape;19;p42"/>
          <p:cNvSpPr txBox="1"/>
          <p:nvPr>
            <p:ph idx="10" type="dt"/>
          </p:nvPr>
        </p:nvSpPr>
        <p:spPr>
          <a:xfrm>
            <a:off x="457200" y="6245225"/>
            <a:ext cx="2133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42"/>
          <p:cNvSpPr txBox="1"/>
          <p:nvPr>
            <p:ph idx="11" type="ftr"/>
          </p:nvPr>
        </p:nvSpPr>
        <p:spPr>
          <a:xfrm>
            <a:off x="3124200" y="6245225"/>
            <a:ext cx="2895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42"/>
          <p:cNvSpPr txBox="1"/>
          <p:nvPr>
            <p:ph idx="12" type="sldNum"/>
          </p:nvPr>
        </p:nvSpPr>
        <p:spPr>
          <a:xfrm>
            <a:off x="6553200" y="6245225"/>
            <a:ext cx="2133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3"/>
          <p:cNvSpPr txBox="1"/>
          <p:nvPr>
            <p:ph type="title"/>
          </p:nvPr>
        </p:nvSpPr>
        <p:spPr>
          <a:xfrm>
            <a:off x="0" y="-25400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43"/>
          <p:cNvSpPr txBox="1"/>
          <p:nvPr>
            <p:ph idx="1" type="body"/>
          </p:nvPr>
        </p:nvSpPr>
        <p:spPr>
          <a:xfrm>
            <a:off x="406400" y="1397001"/>
            <a:ext cx="11379200" cy="47291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9pPr>
          </a:lstStyle>
          <a:p/>
        </p:txBody>
      </p:sp>
      <p:sp>
        <p:nvSpPr>
          <p:cNvPr id="25" name="Google Shape;25;p43"/>
          <p:cNvSpPr txBox="1"/>
          <p:nvPr>
            <p:ph idx="10" type="dt"/>
          </p:nvPr>
        </p:nvSpPr>
        <p:spPr>
          <a:xfrm>
            <a:off x="457200" y="6245225"/>
            <a:ext cx="2133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3"/>
          <p:cNvSpPr txBox="1"/>
          <p:nvPr>
            <p:ph idx="11" type="ftr"/>
          </p:nvPr>
        </p:nvSpPr>
        <p:spPr>
          <a:xfrm>
            <a:off x="3124200" y="6245225"/>
            <a:ext cx="2895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3"/>
          <p:cNvSpPr txBox="1"/>
          <p:nvPr>
            <p:ph idx="12" type="sldNum"/>
          </p:nvPr>
        </p:nvSpPr>
        <p:spPr>
          <a:xfrm>
            <a:off x="6553200" y="6245225"/>
            <a:ext cx="2133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44"/>
          <p:cNvSpPr txBox="1"/>
          <p:nvPr>
            <p:ph type="title"/>
          </p:nvPr>
        </p:nvSpPr>
        <p:spPr>
          <a:xfrm>
            <a:off x="0" y="-25400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44"/>
          <p:cNvSpPr txBox="1"/>
          <p:nvPr>
            <p:ph idx="10" type="dt"/>
          </p:nvPr>
        </p:nvSpPr>
        <p:spPr>
          <a:xfrm>
            <a:off x="457200" y="6245225"/>
            <a:ext cx="2133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44"/>
          <p:cNvSpPr txBox="1"/>
          <p:nvPr>
            <p:ph idx="11" type="ftr"/>
          </p:nvPr>
        </p:nvSpPr>
        <p:spPr>
          <a:xfrm>
            <a:off x="3124200" y="6245225"/>
            <a:ext cx="2895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44"/>
          <p:cNvSpPr txBox="1"/>
          <p:nvPr>
            <p:ph idx="12" type="sldNum"/>
          </p:nvPr>
        </p:nvSpPr>
        <p:spPr>
          <a:xfrm>
            <a:off x="6553200" y="6245225"/>
            <a:ext cx="2133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45"/>
          <p:cNvSpPr txBox="1"/>
          <p:nvPr>
            <p:ph type="title"/>
          </p:nvPr>
        </p:nvSpPr>
        <p:spPr>
          <a:xfrm>
            <a:off x="722313" y="4406901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4000" cap="none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1pPr>
            <a:lvl2pPr indent="-228600" lvl="1" marL="914400" algn="l">
              <a:lnSpc>
                <a:spcPct val="100000"/>
              </a:lnSpc>
              <a:spcBef>
                <a:spcPts val="380"/>
              </a:spcBef>
              <a:spcAft>
                <a:spcPts val="0"/>
              </a:spcAft>
              <a:buSzPts val="1900"/>
              <a:buNone/>
              <a:defRPr sz="1900"/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sz="1600"/>
            </a:lvl3pPr>
            <a:lvl4pPr indent="-22860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500"/>
              <a:buNone/>
              <a:defRPr sz="1500"/>
            </a:lvl4pPr>
            <a:lvl5pPr indent="-22860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500"/>
              <a:buNone/>
              <a:defRPr sz="1500"/>
            </a:lvl5pPr>
            <a:lvl6pPr indent="-228600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500"/>
              <a:buNone/>
              <a:defRPr sz="1500"/>
            </a:lvl6pPr>
            <a:lvl7pPr indent="-228600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500"/>
              <a:buNone/>
              <a:defRPr sz="1500"/>
            </a:lvl7pPr>
            <a:lvl8pPr indent="-228600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500"/>
              <a:buNone/>
              <a:defRPr sz="1500"/>
            </a:lvl8pPr>
            <a:lvl9pPr indent="-228600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500"/>
              <a:buNone/>
              <a:defRPr sz="1500"/>
            </a:lvl9pPr>
          </a:lstStyle>
          <a:p/>
        </p:txBody>
      </p:sp>
      <p:sp>
        <p:nvSpPr>
          <p:cNvPr id="36" name="Google Shape;36;p45"/>
          <p:cNvSpPr txBox="1"/>
          <p:nvPr>
            <p:ph idx="10" type="dt"/>
          </p:nvPr>
        </p:nvSpPr>
        <p:spPr>
          <a:xfrm>
            <a:off x="457200" y="6245225"/>
            <a:ext cx="2133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45"/>
          <p:cNvSpPr txBox="1"/>
          <p:nvPr>
            <p:ph idx="11" type="ftr"/>
          </p:nvPr>
        </p:nvSpPr>
        <p:spPr>
          <a:xfrm>
            <a:off x="3124200" y="6245225"/>
            <a:ext cx="2895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45"/>
          <p:cNvSpPr txBox="1"/>
          <p:nvPr>
            <p:ph idx="12" type="sldNum"/>
          </p:nvPr>
        </p:nvSpPr>
        <p:spPr>
          <a:xfrm>
            <a:off x="6553200" y="6245225"/>
            <a:ext cx="2133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46"/>
          <p:cNvSpPr txBox="1"/>
          <p:nvPr>
            <p:ph type="title"/>
          </p:nvPr>
        </p:nvSpPr>
        <p:spPr>
          <a:xfrm>
            <a:off x="0" y="-25400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46"/>
          <p:cNvSpPr txBox="1"/>
          <p:nvPr>
            <p:ph idx="1" type="body"/>
          </p:nvPr>
        </p:nvSpPr>
        <p:spPr>
          <a:xfrm>
            <a:off x="457200" y="1600201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Char char="▪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▪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  <a:defRPr sz="2000"/>
            </a:lvl3pPr>
            <a:lvl4pPr indent="-349250" lvl="3" marL="1828800" algn="l">
              <a:lnSpc>
                <a:spcPct val="100000"/>
              </a:lnSpc>
              <a:spcBef>
                <a:spcPts val="380"/>
              </a:spcBef>
              <a:spcAft>
                <a:spcPts val="0"/>
              </a:spcAft>
              <a:buSzPts val="1900"/>
              <a:buChar char="▪"/>
              <a:defRPr sz="1900"/>
            </a:lvl4pPr>
            <a:lvl5pPr indent="-349250" lvl="4" marL="2286000" algn="l">
              <a:lnSpc>
                <a:spcPct val="100000"/>
              </a:lnSpc>
              <a:spcBef>
                <a:spcPts val="380"/>
              </a:spcBef>
              <a:spcAft>
                <a:spcPts val="0"/>
              </a:spcAft>
              <a:buSzPts val="1900"/>
              <a:buChar char="▪"/>
              <a:defRPr sz="1900"/>
            </a:lvl5pPr>
            <a:lvl6pPr indent="-349250" lvl="5" marL="2743200" algn="l">
              <a:lnSpc>
                <a:spcPct val="100000"/>
              </a:lnSpc>
              <a:spcBef>
                <a:spcPts val="380"/>
              </a:spcBef>
              <a:spcAft>
                <a:spcPts val="0"/>
              </a:spcAft>
              <a:buSzPts val="1900"/>
              <a:buChar char="▪"/>
              <a:defRPr sz="1900"/>
            </a:lvl6pPr>
            <a:lvl7pPr indent="-349250" lvl="6" marL="3200400" algn="l">
              <a:lnSpc>
                <a:spcPct val="100000"/>
              </a:lnSpc>
              <a:spcBef>
                <a:spcPts val="380"/>
              </a:spcBef>
              <a:spcAft>
                <a:spcPts val="0"/>
              </a:spcAft>
              <a:buSzPts val="1900"/>
              <a:buChar char="▪"/>
              <a:defRPr sz="1900"/>
            </a:lvl7pPr>
            <a:lvl8pPr indent="-349250" lvl="7" marL="3657600" algn="l">
              <a:lnSpc>
                <a:spcPct val="100000"/>
              </a:lnSpc>
              <a:spcBef>
                <a:spcPts val="380"/>
              </a:spcBef>
              <a:spcAft>
                <a:spcPts val="0"/>
              </a:spcAft>
              <a:buSzPts val="1900"/>
              <a:buChar char="▪"/>
              <a:defRPr sz="1900"/>
            </a:lvl8pPr>
            <a:lvl9pPr indent="-349250" lvl="8" marL="4114800" algn="l">
              <a:lnSpc>
                <a:spcPct val="100000"/>
              </a:lnSpc>
              <a:spcBef>
                <a:spcPts val="380"/>
              </a:spcBef>
              <a:spcAft>
                <a:spcPts val="0"/>
              </a:spcAft>
              <a:buSzPts val="1900"/>
              <a:buChar char="▪"/>
              <a:defRPr sz="1900"/>
            </a:lvl9pPr>
          </a:lstStyle>
          <a:p/>
        </p:txBody>
      </p:sp>
      <p:sp>
        <p:nvSpPr>
          <p:cNvPr id="42" name="Google Shape;42;p46"/>
          <p:cNvSpPr txBox="1"/>
          <p:nvPr>
            <p:ph idx="2" type="body"/>
          </p:nvPr>
        </p:nvSpPr>
        <p:spPr>
          <a:xfrm>
            <a:off x="4648200" y="1600201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Char char="▪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▪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  <a:defRPr sz="2000"/>
            </a:lvl3pPr>
            <a:lvl4pPr indent="-349250" lvl="3" marL="1828800" algn="l">
              <a:lnSpc>
                <a:spcPct val="100000"/>
              </a:lnSpc>
              <a:spcBef>
                <a:spcPts val="380"/>
              </a:spcBef>
              <a:spcAft>
                <a:spcPts val="0"/>
              </a:spcAft>
              <a:buSzPts val="1900"/>
              <a:buChar char="▪"/>
              <a:defRPr sz="1900"/>
            </a:lvl4pPr>
            <a:lvl5pPr indent="-349250" lvl="4" marL="2286000" algn="l">
              <a:lnSpc>
                <a:spcPct val="100000"/>
              </a:lnSpc>
              <a:spcBef>
                <a:spcPts val="380"/>
              </a:spcBef>
              <a:spcAft>
                <a:spcPts val="0"/>
              </a:spcAft>
              <a:buSzPts val="1900"/>
              <a:buChar char="▪"/>
              <a:defRPr sz="1900"/>
            </a:lvl5pPr>
            <a:lvl6pPr indent="-349250" lvl="5" marL="2743200" algn="l">
              <a:lnSpc>
                <a:spcPct val="100000"/>
              </a:lnSpc>
              <a:spcBef>
                <a:spcPts val="380"/>
              </a:spcBef>
              <a:spcAft>
                <a:spcPts val="0"/>
              </a:spcAft>
              <a:buSzPts val="1900"/>
              <a:buChar char="▪"/>
              <a:defRPr sz="1900"/>
            </a:lvl6pPr>
            <a:lvl7pPr indent="-349250" lvl="6" marL="3200400" algn="l">
              <a:lnSpc>
                <a:spcPct val="100000"/>
              </a:lnSpc>
              <a:spcBef>
                <a:spcPts val="380"/>
              </a:spcBef>
              <a:spcAft>
                <a:spcPts val="0"/>
              </a:spcAft>
              <a:buSzPts val="1900"/>
              <a:buChar char="▪"/>
              <a:defRPr sz="1900"/>
            </a:lvl7pPr>
            <a:lvl8pPr indent="-349250" lvl="7" marL="3657600" algn="l">
              <a:lnSpc>
                <a:spcPct val="100000"/>
              </a:lnSpc>
              <a:spcBef>
                <a:spcPts val="380"/>
              </a:spcBef>
              <a:spcAft>
                <a:spcPts val="0"/>
              </a:spcAft>
              <a:buSzPts val="1900"/>
              <a:buChar char="▪"/>
              <a:defRPr sz="1900"/>
            </a:lvl8pPr>
            <a:lvl9pPr indent="-349250" lvl="8" marL="4114800" algn="l">
              <a:lnSpc>
                <a:spcPct val="100000"/>
              </a:lnSpc>
              <a:spcBef>
                <a:spcPts val="380"/>
              </a:spcBef>
              <a:spcAft>
                <a:spcPts val="0"/>
              </a:spcAft>
              <a:buSzPts val="1900"/>
              <a:buChar char="▪"/>
              <a:defRPr sz="1900"/>
            </a:lvl9pPr>
          </a:lstStyle>
          <a:p/>
        </p:txBody>
      </p:sp>
      <p:sp>
        <p:nvSpPr>
          <p:cNvPr id="43" name="Google Shape;43;p46"/>
          <p:cNvSpPr txBox="1"/>
          <p:nvPr>
            <p:ph idx="10" type="dt"/>
          </p:nvPr>
        </p:nvSpPr>
        <p:spPr>
          <a:xfrm>
            <a:off x="457200" y="6245225"/>
            <a:ext cx="2133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46"/>
          <p:cNvSpPr txBox="1"/>
          <p:nvPr>
            <p:ph idx="11" type="ftr"/>
          </p:nvPr>
        </p:nvSpPr>
        <p:spPr>
          <a:xfrm>
            <a:off x="3124200" y="6245225"/>
            <a:ext cx="2895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46"/>
          <p:cNvSpPr txBox="1"/>
          <p:nvPr>
            <p:ph idx="12" type="sldNum"/>
          </p:nvPr>
        </p:nvSpPr>
        <p:spPr>
          <a:xfrm>
            <a:off x="6553200" y="6245225"/>
            <a:ext cx="2133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47"/>
          <p:cNvSpPr txBox="1"/>
          <p:nvPr>
            <p:ph type="title"/>
          </p:nvPr>
        </p:nvSpPr>
        <p:spPr>
          <a:xfrm>
            <a:off x="0" y="-25400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47"/>
          <p:cNvSpPr txBox="1"/>
          <p:nvPr>
            <p:ph idx="1" type="body"/>
          </p:nvPr>
        </p:nvSpPr>
        <p:spPr>
          <a:xfrm>
            <a:off x="457202" y="1535113"/>
            <a:ext cx="4040188" cy="6397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80"/>
              </a:spcBef>
              <a:spcAft>
                <a:spcPts val="0"/>
              </a:spcAft>
              <a:buSzPts val="1900"/>
              <a:buNone/>
              <a:defRPr b="1" sz="19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49" name="Google Shape;49;p47"/>
          <p:cNvSpPr txBox="1"/>
          <p:nvPr>
            <p:ph idx="2" type="body"/>
          </p:nvPr>
        </p:nvSpPr>
        <p:spPr>
          <a:xfrm>
            <a:off x="457202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▪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  <a:defRPr sz="2000"/>
            </a:lvl2pPr>
            <a:lvl3pPr indent="-349250" lvl="2" marL="1371600" algn="l">
              <a:lnSpc>
                <a:spcPct val="100000"/>
              </a:lnSpc>
              <a:spcBef>
                <a:spcPts val="380"/>
              </a:spcBef>
              <a:spcAft>
                <a:spcPts val="0"/>
              </a:spcAft>
              <a:buSzPts val="1900"/>
              <a:buChar char="▪"/>
              <a:defRPr sz="19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▪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▪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▪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▪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▪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▪"/>
              <a:defRPr sz="1600"/>
            </a:lvl9pPr>
          </a:lstStyle>
          <a:p/>
        </p:txBody>
      </p:sp>
      <p:sp>
        <p:nvSpPr>
          <p:cNvPr id="50" name="Google Shape;50;p47"/>
          <p:cNvSpPr txBox="1"/>
          <p:nvPr>
            <p:ph idx="3" type="body"/>
          </p:nvPr>
        </p:nvSpPr>
        <p:spPr>
          <a:xfrm>
            <a:off x="4645027" y="1535113"/>
            <a:ext cx="4041775" cy="6397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80"/>
              </a:spcBef>
              <a:spcAft>
                <a:spcPts val="0"/>
              </a:spcAft>
              <a:buSzPts val="1900"/>
              <a:buNone/>
              <a:defRPr b="1" sz="19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51" name="Google Shape;51;p47"/>
          <p:cNvSpPr txBox="1"/>
          <p:nvPr>
            <p:ph idx="4" type="body"/>
          </p:nvPr>
        </p:nvSpPr>
        <p:spPr>
          <a:xfrm>
            <a:off x="4645027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▪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  <a:defRPr sz="2000"/>
            </a:lvl2pPr>
            <a:lvl3pPr indent="-349250" lvl="2" marL="1371600" algn="l">
              <a:lnSpc>
                <a:spcPct val="100000"/>
              </a:lnSpc>
              <a:spcBef>
                <a:spcPts val="380"/>
              </a:spcBef>
              <a:spcAft>
                <a:spcPts val="0"/>
              </a:spcAft>
              <a:buSzPts val="1900"/>
              <a:buChar char="▪"/>
              <a:defRPr sz="19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▪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▪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▪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▪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▪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▪"/>
              <a:defRPr sz="1600"/>
            </a:lvl9pPr>
          </a:lstStyle>
          <a:p/>
        </p:txBody>
      </p:sp>
      <p:sp>
        <p:nvSpPr>
          <p:cNvPr id="52" name="Google Shape;52;p47"/>
          <p:cNvSpPr txBox="1"/>
          <p:nvPr>
            <p:ph idx="10" type="dt"/>
          </p:nvPr>
        </p:nvSpPr>
        <p:spPr>
          <a:xfrm>
            <a:off x="457200" y="6245225"/>
            <a:ext cx="2133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47"/>
          <p:cNvSpPr txBox="1"/>
          <p:nvPr>
            <p:ph idx="11" type="ftr"/>
          </p:nvPr>
        </p:nvSpPr>
        <p:spPr>
          <a:xfrm>
            <a:off x="3124200" y="6245225"/>
            <a:ext cx="2895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47"/>
          <p:cNvSpPr txBox="1"/>
          <p:nvPr>
            <p:ph idx="12" type="sldNum"/>
          </p:nvPr>
        </p:nvSpPr>
        <p:spPr>
          <a:xfrm>
            <a:off x="6553200" y="6245225"/>
            <a:ext cx="2133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48"/>
          <p:cNvSpPr txBox="1"/>
          <p:nvPr>
            <p:ph idx="10" type="dt"/>
          </p:nvPr>
        </p:nvSpPr>
        <p:spPr>
          <a:xfrm>
            <a:off x="457200" y="6245225"/>
            <a:ext cx="2133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48"/>
          <p:cNvSpPr txBox="1"/>
          <p:nvPr>
            <p:ph idx="11" type="ftr"/>
          </p:nvPr>
        </p:nvSpPr>
        <p:spPr>
          <a:xfrm>
            <a:off x="3124200" y="6245225"/>
            <a:ext cx="2895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48"/>
          <p:cNvSpPr txBox="1"/>
          <p:nvPr>
            <p:ph idx="12" type="sldNum"/>
          </p:nvPr>
        </p:nvSpPr>
        <p:spPr>
          <a:xfrm>
            <a:off x="6553200" y="6245225"/>
            <a:ext cx="2133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49"/>
          <p:cNvSpPr txBox="1"/>
          <p:nvPr>
            <p:ph type="title"/>
          </p:nvPr>
        </p:nvSpPr>
        <p:spPr>
          <a:xfrm>
            <a:off x="457202" y="273049"/>
            <a:ext cx="3008313" cy="116205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49"/>
          <p:cNvSpPr txBox="1"/>
          <p:nvPr>
            <p:ph idx="1" type="body"/>
          </p:nvPr>
        </p:nvSpPr>
        <p:spPr>
          <a:xfrm>
            <a:off x="3575051" y="273053"/>
            <a:ext cx="5111751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Char char="▪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Char char="▪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▪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  <a:defRPr sz="2000"/>
            </a:lvl9pPr>
          </a:lstStyle>
          <a:p/>
        </p:txBody>
      </p:sp>
      <p:sp>
        <p:nvSpPr>
          <p:cNvPr id="62" name="Google Shape;62;p49"/>
          <p:cNvSpPr txBox="1"/>
          <p:nvPr>
            <p:ph idx="2" type="body"/>
          </p:nvPr>
        </p:nvSpPr>
        <p:spPr>
          <a:xfrm>
            <a:off x="457202" y="1435103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500"/>
              <a:buNone/>
              <a:defRPr sz="15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20"/>
              </a:spcBef>
              <a:spcAft>
                <a:spcPts val="0"/>
              </a:spcAft>
              <a:buSzPts val="1100"/>
              <a:buNone/>
              <a:defRPr sz="11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63" name="Google Shape;63;p49"/>
          <p:cNvSpPr txBox="1"/>
          <p:nvPr>
            <p:ph idx="10" type="dt"/>
          </p:nvPr>
        </p:nvSpPr>
        <p:spPr>
          <a:xfrm>
            <a:off x="457200" y="6245225"/>
            <a:ext cx="2133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49"/>
          <p:cNvSpPr txBox="1"/>
          <p:nvPr>
            <p:ph idx="11" type="ftr"/>
          </p:nvPr>
        </p:nvSpPr>
        <p:spPr>
          <a:xfrm>
            <a:off x="3124200" y="6245225"/>
            <a:ext cx="2895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49"/>
          <p:cNvSpPr txBox="1"/>
          <p:nvPr>
            <p:ph idx="12" type="sldNum"/>
          </p:nvPr>
        </p:nvSpPr>
        <p:spPr>
          <a:xfrm>
            <a:off x="6553200" y="6245225"/>
            <a:ext cx="2133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50"/>
          <p:cNvSpPr txBox="1"/>
          <p:nvPr>
            <p:ph type="title"/>
          </p:nvPr>
        </p:nvSpPr>
        <p:spPr>
          <a:xfrm>
            <a:off x="1792288" y="4800601"/>
            <a:ext cx="5486400" cy="56673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5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9" name="Google Shape;69;p50"/>
          <p:cNvSpPr txBox="1"/>
          <p:nvPr>
            <p:ph idx="1" type="body"/>
          </p:nvPr>
        </p:nvSpPr>
        <p:spPr>
          <a:xfrm>
            <a:off x="1792288" y="5367339"/>
            <a:ext cx="5486400" cy="8048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500"/>
              <a:buNone/>
              <a:defRPr sz="15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20"/>
              </a:spcBef>
              <a:spcAft>
                <a:spcPts val="0"/>
              </a:spcAft>
              <a:buSzPts val="1100"/>
              <a:buNone/>
              <a:defRPr sz="11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70" name="Google Shape;70;p50"/>
          <p:cNvSpPr txBox="1"/>
          <p:nvPr>
            <p:ph idx="10" type="dt"/>
          </p:nvPr>
        </p:nvSpPr>
        <p:spPr>
          <a:xfrm>
            <a:off x="457200" y="6245225"/>
            <a:ext cx="2133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50"/>
          <p:cNvSpPr txBox="1"/>
          <p:nvPr>
            <p:ph idx="11" type="ftr"/>
          </p:nvPr>
        </p:nvSpPr>
        <p:spPr>
          <a:xfrm>
            <a:off x="3124200" y="6245225"/>
            <a:ext cx="2895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50"/>
          <p:cNvSpPr txBox="1"/>
          <p:nvPr>
            <p:ph idx="12" type="sldNum"/>
          </p:nvPr>
        </p:nvSpPr>
        <p:spPr>
          <a:xfrm>
            <a:off x="6553200" y="6245225"/>
            <a:ext cx="2133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51"/>
          <p:cNvSpPr txBox="1"/>
          <p:nvPr>
            <p:ph type="title"/>
          </p:nvPr>
        </p:nvSpPr>
        <p:spPr>
          <a:xfrm>
            <a:off x="0" y="-25400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51"/>
          <p:cNvSpPr txBox="1"/>
          <p:nvPr>
            <p:ph idx="1" type="body"/>
          </p:nvPr>
        </p:nvSpPr>
        <p:spPr>
          <a:xfrm rot="5400000">
            <a:off x="3731418" y="-1928017"/>
            <a:ext cx="4729164" cy="1137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9pPr>
          </a:lstStyle>
          <a:p/>
        </p:txBody>
      </p:sp>
      <p:sp>
        <p:nvSpPr>
          <p:cNvPr id="76" name="Google Shape;76;p51"/>
          <p:cNvSpPr txBox="1"/>
          <p:nvPr>
            <p:ph idx="10" type="dt"/>
          </p:nvPr>
        </p:nvSpPr>
        <p:spPr>
          <a:xfrm>
            <a:off x="457200" y="6245225"/>
            <a:ext cx="2133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51"/>
          <p:cNvSpPr txBox="1"/>
          <p:nvPr>
            <p:ph idx="11" type="ftr"/>
          </p:nvPr>
        </p:nvSpPr>
        <p:spPr>
          <a:xfrm>
            <a:off x="3124200" y="6245225"/>
            <a:ext cx="2895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51"/>
          <p:cNvSpPr txBox="1"/>
          <p:nvPr>
            <p:ph idx="12" type="sldNum"/>
          </p:nvPr>
        </p:nvSpPr>
        <p:spPr>
          <a:xfrm>
            <a:off x="6553200" y="6245225"/>
            <a:ext cx="2133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52"/>
          <p:cNvSpPr txBox="1"/>
          <p:nvPr>
            <p:ph type="title"/>
          </p:nvPr>
        </p:nvSpPr>
        <p:spPr>
          <a:xfrm rot="5400000">
            <a:off x="4732338" y="2171703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52"/>
          <p:cNvSpPr txBox="1"/>
          <p:nvPr>
            <p:ph idx="1" type="body"/>
          </p:nvPr>
        </p:nvSpPr>
        <p:spPr>
          <a:xfrm rot="5400000">
            <a:off x="541338" y="190502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9pPr>
          </a:lstStyle>
          <a:p/>
        </p:txBody>
      </p:sp>
      <p:sp>
        <p:nvSpPr>
          <p:cNvPr id="82" name="Google Shape;82;p52"/>
          <p:cNvSpPr txBox="1"/>
          <p:nvPr>
            <p:ph idx="10" type="dt"/>
          </p:nvPr>
        </p:nvSpPr>
        <p:spPr>
          <a:xfrm>
            <a:off x="457200" y="6245225"/>
            <a:ext cx="2133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52"/>
          <p:cNvSpPr txBox="1"/>
          <p:nvPr>
            <p:ph idx="11" type="ftr"/>
          </p:nvPr>
        </p:nvSpPr>
        <p:spPr>
          <a:xfrm>
            <a:off x="3124200" y="6245225"/>
            <a:ext cx="2895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52"/>
          <p:cNvSpPr txBox="1"/>
          <p:nvPr>
            <p:ph idx="12" type="sldNum"/>
          </p:nvPr>
        </p:nvSpPr>
        <p:spPr>
          <a:xfrm>
            <a:off x="6553200" y="6245225"/>
            <a:ext cx="2133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f601a604c6_0_759"/>
          <p:cNvSpPr txBox="1"/>
          <p:nvPr>
            <p:ph type="title"/>
          </p:nvPr>
        </p:nvSpPr>
        <p:spPr>
          <a:xfrm>
            <a:off x="0" y="-25400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g3f601a604c6_0_759"/>
          <p:cNvSpPr txBox="1"/>
          <p:nvPr>
            <p:ph idx="1" type="body"/>
          </p:nvPr>
        </p:nvSpPr>
        <p:spPr>
          <a:xfrm>
            <a:off x="406400" y="1397003"/>
            <a:ext cx="11379300" cy="472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9pPr>
          </a:lstStyle>
          <a:p/>
        </p:txBody>
      </p:sp>
      <p:sp>
        <p:nvSpPr>
          <p:cNvPr id="95" name="Google Shape;95;g3f601a604c6_0_759"/>
          <p:cNvSpPr txBox="1"/>
          <p:nvPr>
            <p:ph idx="10" type="dt"/>
          </p:nvPr>
        </p:nvSpPr>
        <p:spPr>
          <a:xfrm>
            <a:off x="457200" y="6245225"/>
            <a:ext cx="21336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g3f601a604c6_0_759"/>
          <p:cNvSpPr txBox="1"/>
          <p:nvPr>
            <p:ph idx="11" type="ftr"/>
          </p:nvPr>
        </p:nvSpPr>
        <p:spPr>
          <a:xfrm>
            <a:off x="3124200" y="6245225"/>
            <a:ext cx="28956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g3f601a604c6_0_759"/>
          <p:cNvSpPr txBox="1"/>
          <p:nvPr>
            <p:ph idx="12" type="sldNum"/>
          </p:nvPr>
        </p:nvSpPr>
        <p:spPr>
          <a:xfrm>
            <a:off x="9652000" y="6246404"/>
            <a:ext cx="21336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f601a604c6_0_765"/>
          <p:cNvSpPr txBox="1"/>
          <p:nvPr>
            <p:ph type="title"/>
          </p:nvPr>
        </p:nvSpPr>
        <p:spPr>
          <a:xfrm>
            <a:off x="0" y="-25400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g3f601a604c6_0_765"/>
          <p:cNvSpPr txBox="1"/>
          <p:nvPr>
            <p:ph idx="1" type="body"/>
          </p:nvPr>
        </p:nvSpPr>
        <p:spPr>
          <a:xfrm>
            <a:off x="457200" y="1600201"/>
            <a:ext cx="4038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Char char="▪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▪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  <a:defRPr sz="2000"/>
            </a:lvl3pPr>
            <a:lvl4pPr indent="-349250" lvl="3" marL="1828800" algn="l">
              <a:lnSpc>
                <a:spcPct val="100000"/>
              </a:lnSpc>
              <a:spcBef>
                <a:spcPts val="380"/>
              </a:spcBef>
              <a:spcAft>
                <a:spcPts val="0"/>
              </a:spcAft>
              <a:buSzPts val="1900"/>
              <a:buChar char="▪"/>
              <a:defRPr sz="1900"/>
            </a:lvl4pPr>
            <a:lvl5pPr indent="-349250" lvl="4" marL="2286000" algn="l">
              <a:lnSpc>
                <a:spcPct val="100000"/>
              </a:lnSpc>
              <a:spcBef>
                <a:spcPts val="380"/>
              </a:spcBef>
              <a:spcAft>
                <a:spcPts val="0"/>
              </a:spcAft>
              <a:buSzPts val="1900"/>
              <a:buChar char="▪"/>
              <a:defRPr sz="1900"/>
            </a:lvl5pPr>
            <a:lvl6pPr indent="-349250" lvl="5" marL="2743200" algn="l">
              <a:lnSpc>
                <a:spcPct val="100000"/>
              </a:lnSpc>
              <a:spcBef>
                <a:spcPts val="380"/>
              </a:spcBef>
              <a:spcAft>
                <a:spcPts val="0"/>
              </a:spcAft>
              <a:buSzPts val="1900"/>
              <a:buChar char="▪"/>
              <a:defRPr sz="1900"/>
            </a:lvl6pPr>
            <a:lvl7pPr indent="-349250" lvl="6" marL="3200400" algn="l">
              <a:lnSpc>
                <a:spcPct val="100000"/>
              </a:lnSpc>
              <a:spcBef>
                <a:spcPts val="380"/>
              </a:spcBef>
              <a:spcAft>
                <a:spcPts val="0"/>
              </a:spcAft>
              <a:buSzPts val="1900"/>
              <a:buChar char="▪"/>
              <a:defRPr sz="1900"/>
            </a:lvl7pPr>
            <a:lvl8pPr indent="-349250" lvl="7" marL="3657600" algn="l">
              <a:lnSpc>
                <a:spcPct val="100000"/>
              </a:lnSpc>
              <a:spcBef>
                <a:spcPts val="380"/>
              </a:spcBef>
              <a:spcAft>
                <a:spcPts val="0"/>
              </a:spcAft>
              <a:buSzPts val="1900"/>
              <a:buChar char="▪"/>
              <a:defRPr sz="1900"/>
            </a:lvl8pPr>
            <a:lvl9pPr indent="-349250" lvl="8" marL="4114800" algn="l">
              <a:lnSpc>
                <a:spcPct val="100000"/>
              </a:lnSpc>
              <a:spcBef>
                <a:spcPts val="380"/>
              </a:spcBef>
              <a:spcAft>
                <a:spcPts val="0"/>
              </a:spcAft>
              <a:buSzPts val="1900"/>
              <a:buChar char="▪"/>
              <a:defRPr sz="1900"/>
            </a:lvl9pPr>
          </a:lstStyle>
          <a:p/>
        </p:txBody>
      </p:sp>
      <p:sp>
        <p:nvSpPr>
          <p:cNvPr id="101" name="Google Shape;101;g3f601a604c6_0_765"/>
          <p:cNvSpPr txBox="1"/>
          <p:nvPr>
            <p:ph idx="2" type="body"/>
          </p:nvPr>
        </p:nvSpPr>
        <p:spPr>
          <a:xfrm>
            <a:off x="4648200" y="1600201"/>
            <a:ext cx="4038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Char char="▪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▪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  <a:defRPr sz="2000"/>
            </a:lvl3pPr>
            <a:lvl4pPr indent="-349250" lvl="3" marL="1828800" algn="l">
              <a:lnSpc>
                <a:spcPct val="100000"/>
              </a:lnSpc>
              <a:spcBef>
                <a:spcPts val="380"/>
              </a:spcBef>
              <a:spcAft>
                <a:spcPts val="0"/>
              </a:spcAft>
              <a:buSzPts val="1900"/>
              <a:buChar char="▪"/>
              <a:defRPr sz="1900"/>
            </a:lvl4pPr>
            <a:lvl5pPr indent="-349250" lvl="4" marL="2286000" algn="l">
              <a:lnSpc>
                <a:spcPct val="100000"/>
              </a:lnSpc>
              <a:spcBef>
                <a:spcPts val="380"/>
              </a:spcBef>
              <a:spcAft>
                <a:spcPts val="0"/>
              </a:spcAft>
              <a:buSzPts val="1900"/>
              <a:buChar char="▪"/>
              <a:defRPr sz="1900"/>
            </a:lvl5pPr>
            <a:lvl6pPr indent="-349250" lvl="5" marL="2743200" algn="l">
              <a:lnSpc>
                <a:spcPct val="100000"/>
              </a:lnSpc>
              <a:spcBef>
                <a:spcPts val="380"/>
              </a:spcBef>
              <a:spcAft>
                <a:spcPts val="0"/>
              </a:spcAft>
              <a:buSzPts val="1900"/>
              <a:buChar char="▪"/>
              <a:defRPr sz="1900"/>
            </a:lvl6pPr>
            <a:lvl7pPr indent="-349250" lvl="6" marL="3200400" algn="l">
              <a:lnSpc>
                <a:spcPct val="100000"/>
              </a:lnSpc>
              <a:spcBef>
                <a:spcPts val="380"/>
              </a:spcBef>
              <a:spcAft>
                <a:spcPts val="0"/>
              </a:spcAft>
              <a:buSzPts val="1900"/>
              <a:buChar char="▪"/>
              <a:defRPr sz="1900"/>
            </a:lvl7pPr>
            <a:lvl8pPr indent="-349250" lvl="7" marL="3657600" algn="l">
              <a:lnSpc>
                <a:spcPct val="100000"/>
              </a:lnSpc>
              <a:spcBef>
                <a:spcPts val="380"/>
              </a:spcBef>
              <a:spcAft>
                <a:spcPts val="0"/>
              </a:spcAft>
              <a:buSzPts val="1900"/>
              <a:buChar char="▪"/>
              <a:defRPr sz="1900"/>
            </a:lvl8pPr>
            <a:lvl9pPr indent="-349250" lvl="8" marL="4114800" algn="l">
              <a:lnSpc>
                <a:spcPct val="100000"/>
              </a:lnSpc>
              <a:spcBef>
                <a:spcPts val="380"/>
              </a:spcBef>
              <a:spcAft>
                <a:spcPts val="0"/>
              </a:spcAft>
              <a:buSzPts val="1900"/>
              <a:buChar char="▪"/>
              <a:defRPr sz="1900"/>
            </a:lvl9pPr>
          </a:lstStyle>
          <a:p/>
        </p:txBody>
      </p:sp>
      <p:sp>
        <p:nvSpPr>
          <p:cNvPr id="102" name="Google Shape;102;g3f601a604c6_0_765"/>
          <p:cNvSpPr txBox="1"/>
          <p:nvPr>
            <p:ph idx="10" type="dt"/>
          </p:nvPr>
        </p:nvSpPr>
        <p:spPr>
          <a:xfrm>
            <a:off x="457200" y="6245225"/>
            <a:ext cx="21336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3" name="Google Shape;103;g3f601a604c6_0_765"/>
          <p:cNvSpPr txBox="1"/>
          <p:nvPr>
            <p:ph idx="11" type="ftr"/>
          </p:nvPr>
        </p:nvSpPr>
        <p:spPr>
          <a:xfrm>
            <a:off x="3124200" y="6245225"/>
            <a:ext cx="28956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g3f601a604c6_0_765"/>
          <p:cNvSpPr txBox="1"/>
          <p:nvPr>
            <p:ph idx="12" type="sldNum"/>
          </p:nvPr>
        </p:nvSpPr>
        <p:spPr>
          <a:xfrm>
            <a:off x="9652000" y="6246404"/>
            <a:ext cx="21336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f601a604c6_0_772"/>
          <p:cNvSpPr txBox="1"/>
          <p:nvPr>
            <p:ph type="title"/>
          </p:nvPr>
        </p:nvSpPr>
        <p:spPr>
          <a:xfrm>
            <a:off x="0" y="-25400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g3f601a604c6_0_772"/>
          <p:cNvSpPr txBox="1"/>
          <p:nvPr>
            <p:ph idx="10" type="dt"/>
          </p:nvPr>
        </p:nvSpPr>
        <p:spPr>
          <a:xfrm>
            <a:off x="457200" y="6245225"/>
            <a:ext cx="21336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g3f601a604c6_0_772"/>
          <p:cNvSpPr txBox="1"/>
          <p:nvPr>
            <p:ph idx="11" type="ftr"/>
          </p:nvPr>
        </p:nvSpPr>
        <p:spPr>
          <a:xfrm>
            <a:off x="3124200" y="6245225"/>
            <a:ext cx="28956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" name="Google Shape;109;g3f601a604c6_0_772"/>
          <p:cNvSpPr txBox="1"/>
          <p:nvPr>
            <p:ph idx="12" type="sldNum"/>
          </p:nvPr>
        </p:nvSpPr>
        <p:spPr>
          <a:xfrm>
            <a:off x="9652000" y="6246404"/>
            <a:ext cx="21336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f601a604c6_0_777"/>
          <p:cNvSpPr txBox="1"/>
          <p:nvPr>
            <p:ph type="ctrTitle"/>
          </p:nvPr>
        </p:nvSpPr>
        <p:spPr>
          <a:xfrm>
            <a:off x="0" y="1044582"/>
            <a:ext cx="12192000" cy="147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2" name="Google Shape;112;g3f601a604c6_0_777"/>
          <p:cNvSpPr txBox="1"/>
          <p:nvPr>
            <p:ph idx="1" type="subTitle"/>
          </p:nvPr>
        </p:nvSpPr>
        <p:spPr>
          <a:xfrm>
            <a:off x="0" y="3657600"/>
            <a:ext cx="1219200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Font typeface="Noto Sans Symbols"/>
              <a:buNone/>
              <a:defRPr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2pPr>
            <a:lvl3pPr lvl="2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3pPr>
            <a:lvl4pPr lvl="3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4pPr>
            <a:lvl5pPr lvl="4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5pPr>
            <a:lvl6pPr lvl="5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6pPr>
            <a:lvl7pPr lvl="6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7pPr>
            <a:lvl8pPr lvl="7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8pPr>
            <a:lvl9pPr lvl="8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9pPr>
          </a:lstStyle>
          <a:p/>
        </p:txBody>
      </p:sp>
      <p:sp>
        <p:nvSpPr>
          <p:cNvPr id="113" name="Google Shape;113;g3f601a604c6_0_777"/>
          <p:cNvSpPr txBox="1"/>
          <p:nvPr>
            <p:ph idx="10" type="dt"/>
          </p:nvPr>
        </p:nvSpPr>
        <p:spPr>
          <a:xfrm>
            <a:off x="457200" y="6245225"/>
            <a:ext cx="21336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4" name="Google Shape;114;g3f601a604c6_0_777"/>
          <p:cNvSpPr txBox="1"/>
          <p:nvPr>
            <p:ph idx="11" type="ftr"/>
          </p:nvPr>
        </p:nvSpPr>
        <p:spPr>
          <a:xfrm>
            <a:off x="3124200" y="6245225"/>
            <a:ext cx="28956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5" name="Google Shape;115;g3f601a604c6_0_777"/>
          <p:cNvSpPr txBox="1"/>
          <p:nvPr>
            <p:ph idx="12" type="sldNum"/>
          </p:nvPr>
        </p:nvSpPr>
        <p:spPr>
          <a:xfrm>
            <a:off x="9652000" y="6246404"/>
            <a:ext cx="21336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f601a604c6_0_783"/>
          <p:cNvSpPr txBox="1"/>
          <p:nvPr>
            <p:ph type="title"/>
          </p:nvPr>
        </p:nvSpPr>
        <p:spPr>
          <a:xfrm>
            <a:off x="722313" y="4406901"/>
            <a:ext cx="7772400" cy="13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4000" cap="none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8" name="Google Shape;118;g3f601a604c6_0_783"/>
          <p:cNvSpPr txBox="1"/>
          <p:nvPr>
            <p:ph idx="1" type="body"/>
          </p:nvPr>
        </p:nvSpPr>
        <p:spPr>
          <a:xfrm>
            <a:off x="722313" y="2906713"/>
            <a:ext cx="7772400" cy="15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1pPr>
            <a:lvl2pPr indent="-228600" lvl="1" marL="914400" algn="l">
              <a:lnSpc>
                <a:spcPct val="100000"/>
              </a:lnSpc>
              <a:spcBef>
                <a:spcPts val="380"/>
              </a:spcBef>
              <a:spcAft>
                <a:spcPts val="0"/>
              </a:spcAft>
              <a:buSzPts val="1900"/>
              <a:buNone/>
              <a:defRPr sz="1900"/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sz="1600"/>
            </a:lvl3pPr>
            <a:lvl4pPr indent="-22860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500"/>
              <a:buNone/>
              <a:defRPr sz="1500"/>
            </a:lvl4pPr>
            <a:lvl5pPr indent="-22860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500"/>
              <a:buNone/>
              <a:defRPr sz="1500"/>
            </a:lvl5pPr>
            <a:lvl6pPr indent="-228600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500"/>
              <a:buNone/>
              <a:defRPr sz="1500"/>
            </a:lvl6pPr>
            <a:lvl7pPr indent="-228600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500"/>
              <a:buNone/>
              <a:defRPr sz="1500"/>
            </a:lvl7pPr>
            <a:lvl8pPr indent="-228600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500"/>
              <a:buNone/>
              <a:defRPr sz="1500"/>
            </a:lvl8pPr>
            <a:lvl9pPr indent="-228600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500"/>
              <a:buNone/>
              <a:defRPr sz="1500"/>
            </a:lvl9pPr>
          </a:lstStyle>
          <a:p/>
        </p:txBody>
      </p:sp>
      <p:sp>
        <p:nvSpPr>
          <p:cNvPr id="119" name="Google Shape;119;g3f601a604c6_0_783"/>
          <p:cNvSpPr txBox="1"/>
          <p:nvPr>
            <p:ph idx="10" type="dt"/>
          </p:nvPr>
        </p:nvSpPr>
        <p:spPr>
          <a:xfrm>
            <a:off x="457200" y="6245225"/>
            <a:ext cx="21336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0" name="Google Shape;120;g3f601a604c6_0_783"/>
          <p:cNvSpPr txBox="1"/>
          <p:nvPr>
            <p:ph idx="11" type="ftr"/>
          </p:nvPr>
        </p:nvSpPr>
        <p:spPr>
          <a:xfrm>
            <a:off x="3124200" y="6245225"/>
            <a:ext cx="28956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1" name="Google Shape;121;g3f601a604c6_0_783"/>
          <p:cNvSpPr txBox="1"/>
          <p:nvPr>
            <p:ph idx="12" type="sldNum"/>
          </p:nvPr>
        </p:nvSpPr>
        <p:spPr>
          <a:xfrm>
            <a:off x="9652000" y="6246404"/>
            <a:ext cx="21336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f601a604c6_0_789"/>
          <p:cNvSpPr txBox="1"/>
          <p:nvPr>
            <p:ph type="title"/>
          </p:nvPr>
        </p:nvSpPr>
        <p:spPr>
          <a:xfrm>
            <a:off x="0" y="-25400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4" name="Google Shape;124;g3f601a604c6_0_789"/>
          <p:cNvSpPr txBox="1"/>
          <p:nvPr>
            <p:ph idx="1" type="body"/>
          </p:nvPr>
        </p:nvSpPr>
        <p:spPr>
          <a:xfrm>
            <a:off x="457203" y="1535113"/>
            <a:ext cx="4040100" cy="639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80"/>
              </a:spcBef>
              <a:spcAft>
                <a:spcPts val="0"/>
              </a:spcAft>
              <a:buSzPts val="1900"/>
              <a:buNone/>
              <a:defRPr b="1" sz="19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125" name="Google Shape;125;g3f601a604c6_0_789"/>
          <p:cNvSpPr txBox="1"/>
          <p:nvPr>
            <p:ph idx="2" type="body"/>
          </p:nvPr>
        </p:nvSpPr>
        <p:spPr>
          <a:xfrm>
            <a:off x="457203" y="2174875"/>
            <a:ext cx="4040100" cy="395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▪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  <a:defRPr sz="2000"/>
            </a:lvl2pPr>
            <a:lvl3pPr indent="-349250" lvl="2" marL="1371600" algn="l">
              <a:lnSpc>
                <a:spcPct val="100000"/>
              </a:lnSpc>
              <a:spcBef>
                <a:spcPts val="380"/>
              </a:spcBef>
              <a:spcAft>
                <a:spcPts val="0"/>
              </a:spcAft>
              <a:buSzPts val="1900"/>
              <a:buChar char="▪"/>
              <a:defRPr sz="19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▪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▪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▪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▪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▪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▪"/>
              <a:defRPr sz="1600"/>
            </a:lvl9pPr>
          </a:lstStyle>
          <a:p/>
        </p:txBody>
      </p:sp>
      <p:sp>
        <p:nvSpPr>
          <p:cNvPr id="126" name="Google Shape;126;g3f601a604c6_0_789"/>
          <p:cNvSpPr txBox="1"/>
          <p:nvPr>
            <p:ph idx="3" type="body"/>
          </p:nvPr>
        </p:nvSpPr>
        <p:spPr>
          <a:xfrm>
            <a:off x="4645031" y="1535113"/>
            <a:ext cx="4041900" cy="639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80"/>
              </a:spcBef>
              <a:spcAft>
                <a:spcPts val="0"/>
              </a:spcAft>
              <a:buSzPts val="1900"/>
              <a:buNone/>
              <a:defRPr b="1" sz="19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127" name="Google Shape;127;g3f601a604c6_0_789"/>
          <p:cNvSpPr txBox="1"/>
          <p:nvPr>
            <p:ph idx="4" type="body"/>
          </p:nvPr>
        </p:nvSpPr>
        <p:spPr>
          <a:xfrm>
            <a:off x="4645031" y="2174875"/>
            <a:ext cx="4041900" cy="395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▪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  <a:defRPr sz="2000"/>
            </a:lvl2pPr>
            <a:lvl3pPr indent="-349250" lvl="2" marL="1371600" algn="l">
              <a:lnSpc>
                <a:spcPct val="100000"/>
              </a:lnSpc>
              <a:spcBef>
                <a:spcPts val="380"/>
              </a:spcBef>
              <a:spcAft>
                <a:spcPts val="0"/>
              </a:spcAft>
              <a:buSzPts val="1900"/>
              <a:buChar char="▪"/>
              <a:defRPr sz="19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▪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▪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▪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▪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▪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▪"/>
              <a:defRPr sz="1600"/>
            </a:lvl9pPr>
          </a:lstStyle>
          <a:p/>
        </p:txBody>
      </p:sp>
      <p:sp>
        <p:nvSpPr>
          <p:cNvPr id="128" name="Google Shape;128;g3f601a604c6_0_789"/>
          <p:cNvSpPr txBox="1"/>
          <p:nvPr>
            <p:ph idx="10" type="dt"/>
          </p:nvPr>
        </p:nvSpPr>
        <p:spPr>
          <a:xfrm>
            <a:off x="457200" y="6245225"/>
            <a:ext cx="21336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9" name="Google Shape;129;g3f601a604c6_0_789"/>
          <p:cNvSpPr txBox="1"/>
          <p:nvPr>
            <p:ph idx="11" type="ftr"/>
          </p:nvPr>
        </p:nvSpPr>
        <p:spPr>
          <a:xfrm>
            <a:off x="3124200" y="6245225"/>
            <a:ext cx="28956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0" name="Google Shape;130;g3f601a604c6_0_789"/>
          <p:cNvSpPr txBox="1"/>
          <p:nvPr>
            <p:ph idx="12" type="sldNum"/>
          </p:nvPr>
        </p:nvSpPr>
        <p:spPr>
          <a:xfrm>
            <a:off x="9652000" y="6246404"/>
            <a:ext cx="21336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f601a604c6_0_798"/>
          <p:cNvSpPr txBox="1"/>
          <p:nvPr>
            <p:ph idx="10" type="dt"/>
          </p:nvPr>
        </p:nvSpPr>
        <p:spPr>
          <a:xfrm>
            <a:off x="457200" y="6245225"/>
            <a:ext cx="21336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3" name="Google Shape;133;g3f601a604c6_0_798"/>
          <p:cNvSpPr txBox="1"/>
          <p:nvPr>
            <p:ph idx="11" type="ftr"/>
          </p:nvPr>
        </p:nvSpPr>
        <p:spPr>
          <a:xfrm>
            <a:off x="3124200" y="6245225"/>
            <a:ext cx="28956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4" name="Google Shape;134;g3f601a604c6_0_798"/>
          <p:cNvSpPr txBox="1"/>
          <p:nvPr>
            <p:ph idx="12" type="sldNum"/>
          </p:nvPr>
        </p:nvSpPr>
        <p:spPr>
          <a:xfrm>
            <a:off x="9652000" y="6246404"/>
            <a:ext cx="21336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f601a604c6_0_802"/>
          <p:cNvSpPr txBox="1"/>
          <p:nvPr>
            <p:ph type="title"/>
          </p:nvPr>
        </p:nvSpPr>
        <p:spPr>
          <a:xfrm>
            <a:off x="457206" y="273049"/>
            <a:ext cx="3008400" cy="1162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7" name="Google Shape;137;g3f601a604c6_0_802"/>
          <p:cNvSpPr txBox="1"/>
          <p:nvPr>
            <p:ph idx="1" type="body"/>
          </p:nvPr>
        </p:nvSpPr>
        <p:spPr>
          <a:xfrm>
            <a:off x="3575055" y="273057"/>
            <a:ext cx="5111700" cy="58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Char char="▪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Char char="▪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▪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  <a:defRPr sz="2000"/>
            </a:lvl9pPr>
          </a:lstStyle>
          <a:p/>
        </p:txBody>
      </p:sp>
      <p:sp>
        <p:nvSpPr>
          <p:cNvPr id="138" name="Google Shape;138;g3f601a604c6_0_802"/>
          <p:cNvSpPr txBox="1"/>
          <p:nvPr>
            <p:ph idx="2" type="body"/>
          </p:nvPr>
        </p:nvSpPr>
        <p:spPr>
          <a:xfrm>
            <a:off x="457206" y="1435104"/>
            <a:ext cx="3008400" cy="4691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500"/>
              <a:buNone/>
              <a:defRPr sz="15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20"/>
              </a:spcBef>
              <a:spcAft>
                <a:spcPts val="0"/>
              </a:spcAft>
              <a:buSzPts val="1100"/>
              <a:buNone/>
              <a:defRPr sz="11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139" name="Google Shape;139;g3f601a604c6_0_802"/>
          <p:cNvSpPr txBox="1"/>
          <p:nvPr>
            <p:ph idx="10" type="dt"/>
          </p:nvPr>
        </p:nvSpPr>
        <p:spPr>
          <a:xfrm>
            <a:off x="457200" y="6245225"/>
            <a:ext cx="21336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0" name="Google Shape;140;g3f601a604c6_0_802"/>
          <p:cNvSpPr txBox="1"/>
          <p:nvPr>
            <p:ph idx="11" type="ftr"/>
          </p:nvPr>
        </p:nvSpPr>
        <p:spPr>
          <a:xfrm>
            <a:off x="3124200" y="6245225"/>
            <a:ext cx="28956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1" name="Google Shape;141;g3f601a604c6_0_802"/>
          <p:cNvSpPr txBox="1"/>
          <p:nvPr>
            <p:ph idx="12" type="sldNum"/>
          </p:nvPr>
        </p:nvSpPr>
        <p:spPr>
          <a:xfrm>
            <a:off x="9652000" y="6246404"/>
            <a:ext cx="21336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f601a604c6_0_809"/>
          <p:cNvSpPr txBox="1"/>
          <p:nvPr>
            <p:ph type="title"/>
          </p:nvPr>
        </p:nvSpPr>
        <p:spPr>
          <a:xfrm>
            <a:off x="1792288" y="4800601"/>
            <a:ext cx="5486400" cy="566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4" name="Google Shape;144;g3f601a604c6_0_809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145" name="Google Shape;145;g3f601a604c6_0_809"/>
          <p:cNvSpPr txBox="1"/>
          <p:nvPr>
            <p:ph idx="1" type="body"/>
          </p:nvPr>
        </p:nvSpPr>
        <p:spPr>
          <a:xfrm>
            <a:off x="1792288" y="5367343"/>
            <a:ext cx="5486400" cy="8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500"/>
              <a:buNone/>
              <a:defRPr sz="15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20"/>
              </a:spcBef>
              <a:spcAft>
                <a:spcPts val="0"/>
              </a:spcAft>
              <a:buSzPts val="1100"/>
              <a:buNone/>
              <a:defRPr sz="11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146" name="Google Shape;146;g3f601a604c6_0_809"/>
          <p:cNvSpPr txBox="1"/>
          <p:nvPr>
            <p:ph idx="10" type="dt"/>
          </p:nvPr>
        </p:nvSpPr>
        <p:spPr>
          <a:xfrm>
            <a:off x="457200" y="6245225"/>
            <a:ext cx="21336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7" name="Google Shape;147;g3f601a604c6_0_809"/>
          <p:cNvSpPr txBox="1"/>
          <p:nvPr>
            <p:ph idx="11" type="ftr"/>
          </p:nvPr>
        </p:nvSpPr>
        <p:spPr>
          <a:xfrm>
            <a:off x="3124200" y="6245225"/>
            <a:ext cx="28956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8" name="Google Shape;148;g3f601a604c6_0_809"/>
          <p:cNvSpPr txBox="1"/>
          <p:nvPr>
            <p:ph idx="12" type="sldNum"/>
          </p:nvPr>
        </p:nvSpPr>
        <p:spPr>
          <a:xfrm>
            <a:off x="9652000" y="6246404"/>
            <a:ext cx="21336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f601a604c6_0_816"/>
          <p:cNvSpPr txBox="1"/>
          <p:nvPr>
            <p:ph type="title"/>
          </p:nvPr>
        </p:nvSpPr>
        <p:spPr>
          <a:xfrm>
            <a:off x="0" y="-25400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1" name="Google Shape;151;g3f601a604c6_0_816"/>
          <p:cNvSpPr txBox="1"/>
          <p:nvPr>
            <p:ph idx="1" type="body"/>
          </p:nvPr>
        </p:nvSpPr>
        <p:spPr>
          <a:xfrm rot="5400000">
            <a:off x="3731350" y="-1928047"/>
            <a:ext cx="4729200" cy="1137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9pPr>
          </a:lstStyle>
          <a:p/>
        </p:txBody>
      </p:sp>
      <p:sp>
        <p:nvSpPr>
          <p:cNvPr id="152" name="Google Shape;152;g3f601a604c6_0_816"/>
          <p:cNvSpPr txBox="1"/>
          <p:nvPr>
            <p:ph idx="10" type="dt"/>
          </p:nvPr>
        </p:nvSpPr>
        <p:spPr>
          <a:xfrm>
            <a:off x="457200" y="6245225"/>
            <a:ext cx="21336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g3f601a604c6_0_816"/>
          <p:cNvSpPr txBox="1"/>
          <p:nvPr>
            <p:ph idx="11" type="ftr"/>
          </p:nvPr>
        </p:nvSpPr>
        <p:spPr>
          <a:xfrm>
            <a:off x="3124200" y="6245225"/>
            <a:ext cx="28956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4" name="Google Shape;154;g3f601a604c6_0_816"/>
          <p:cNvSpPr txBox="1"/>
          <p:nvPr>
            <p:ph idx="12" type="sldNum"/>
          </p:nvPr>
        </p:nvSpPr>
        <p:spPr>
          <a:xfrm>
            <a:off x="9652000" y="6246404"/>
            <a:ext cx="21336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f601a604c6_0_822"/>
          <p:cNvSpPr txBox="1"/>
          <p:nvPr>
            <p:ph type="title"/>
          </p:nvPr>
        </p:nvSpPr>
        <p:spPr>
          <a:xfrm rot="5400000">
            <a:off x="4732351" y="2171691"/>
            <a:ext cx="5851500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7" name="Google Shape;157;g3f601a604c6_0_822"/>
          <p:cNvSpPr txBox="1"/>
          <p:nvPr>
            <p:ph idx="1" type="body"/>
          </p:nvPr>
        </p:nvSpPr>
        <p:spPr>
          <a:xfrm rot="5400000">
            <a:off x="541350" y="190489"/>
            <a:ext cx="5851500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9pPr>
          </a:lstStyle>
          <a:p/>
        </p:txBody>
      </p:sp>
      <p:sp>
        <p:nvSpPr>
          <p:cNvPr id="158" name="Google Shape;158;g3f601a604c6_0_822"/>
          <p:cNvSpPr txBox="1"/>
          <p:nvPr>
            <p:ph idx="10" type="dt"/>
          </p:nvPr>
        </p:nvSpPr>
        <p:spPr>
          <a:xfrm>
            <a:off x="457200" y="6245225"/>
            <a:ext cx="21336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9" name="Google Shape;159;g3f601a604c6_0_822"/>
          <p:cNvSpPr txBox="1"/>
          <p:nvPr>
            <p:ph idx="11" type="ftr"/>
          </p:nvPr>
        </p:nvSpPr>
        <p:spPr>
          <a:xfrm>
            <a:off x="3124200" y="6245225"/>
            <a:ext cx="28956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0" name="Google Shape;160;g3f601a604c6_0_822"/>
          <p:cNvSpPr txBox="1"/>
          <p:nvPr>
            <p:ph idx="12" type="sldNum"/>
          </p:nvPr>
        </p:nvSpPr>
        <p:spPr>
          <a:xfrm>
            <a:off x="9652000" y="6246404"/>
            <a:ext cx="21336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41"/>
          <p:cNvSpPr txBox="1"/>
          <p:nvPr>
            <p:ph type="title"/>
          </p:nvPr>
        </p:nvSpPr>
        <p:spPr>
          <a:xfrm>
            <a:off x="0" y="-25400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41"/>
          <p:cNvSpPr txBox="1"/>
          <p:nvPr>
            <p:ph idx="1" type="body"/>
          </p:nvPr>
        </p:nvSpPr>
        <p:spPr>
          <a:xfrm>
            <a:off x="406400" y="1397001"/>
            <a:ext cx="11379200" cy="47291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Noto Sans Symbols"/>
              <a:buChar char="▪"/>
              <a:defRPr b="0" i="0" sz="32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▪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Noto Sans Symbols"/>
              <a:buChar char="▪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41"/>
          <p:cNvSpPr txBox="1"/>
          <p:nvPr>
            <p:ph idx="10" type="dt"/>
          </p:nvPr>
        </p:nvSpPr>
        <p:spPr>
          <a:xfrm>
            <a:off x="457200" y="6245225"/>
            <a:ext cx="2133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41"/>
          <p:cNvSpPr txBox="1"/>
          <p:nvPr>
            <p:ph idx="11" type="ftr"/>
          </p:nvPr>
        </p:nvSpPr>
        <p:spPr>
          <a:xfrm>
            <a:off x="3124200" y="6245225"/>
            <a:ext cx="2895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41"/>
          <p:cNvSpPr txBox="1"/>
          <p:nvPr>
            <p:ph idx="12" type="sldNum"/>
          </p:nvPr>
        </p:nvSpPr>
        <p:spPr>
          <a:xfrm>
            <a:off x="6553200" y="6245225"/>
            <a:ext cx="2133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" name="Google Shape;15;p41"/>
          <p:cNvSpPr/>
          <p:nvPr/>
        </p:nvSpPr>
        <p:spPr>
          <a:xfrm>
            <a:off x="0" y="1031242"/>
            <a:ext cx="12192000" cy="60959"/>
          </a:xfrm>
          <a:prstGeom prst="rect">
            <a:avLst/>
          </a:prstGeom>
          <a:gradFill>
            <a:gsLst>
              <a:gs pos="0">
                <a:srgbClr val="0000CC"/>
              </a:gs>
              <a:gs pos="100000">
                <a:schemeClr val="dk1"/>
              </a:gs>
            </a:gsLst>
            <a:lin ang="0" scaled="0"/>
          </a:gra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f601a604c6_0_752"/>
          <p:cNvSpPr txBox="1"/>
          <p:nvPr>
            <p:ph type="title"/>
          </p:nvPr>
        </p:nvSpPr>
        <p:spPr>
          <a:xfrm>
            <a:off x="0" y="-25400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7" name="Google Shape;87;g3f601a604c6_0_752"/>
          <p:cNvSpPr txBox="1"/>
          <p:nvPr>
            <p:ph idx="1" type="body"/>
          </p:nvPr>
        </p:nvSpPr>
        <p:spPr>
          <a:xfrm>
            <a:off x="406400" y="1397003"/>
            <a:ext cx="11379300" cy="472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Noto Sans Symbols"/>
              <a:buChar char="▪"/>
              <a:defRPr b="0" i="0" sz="32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▪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Noto Sans Symbols"/>
              <a:buChar char="▪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8" name="Google Shape;88;g3f601a604c6_0_752"/>
          <p:cNvSpPr txBox="1"/>
          <p:nvPr>
            <p:ph idx="10" type="dt"/>
          </p:nvPr>
        </p:nvSpPr>
        <p:spPr>
          <a:xfrm>
            <a:off x="457200" y="6245225"/>
            <a:ext cx="21336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9" name="Google Shape;89;g3f601a604c6_0_752"/>
          <p:cNvSpPr txBox="1"/>
          <p:nvPr>
            <p:ph idx="11" type="ftr"/>
          </p:nvPr>
        </p:nvSpPr>
        <p:spPr>
          <a:xfrm>
            <a:off x="3124200" y="6245225"/>
            <a:ext cx="28956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0" name="Google Shape;90;g3f601a604c6_0_752"/>
          <p:cNvSpPr txBox="1"/>
          <p:nvPr>
            <p:ph idx="12" type="sldNum"/>
          </p:nvPr>
        </p:nvSpPr>
        <p:spPr>
          <a:xfrm>
            <a:off x="9652000" y="6246404"/>
            <a:ext cx="21336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1" name="Google Shape;91;g3f601a604c6_0_752"/>
          <p:cNvSpPr/>
          <p:nvPr/>
        </p:nvSpPr>
        <p:spPr>
          <a:xfrm>
            <a:off x="0" y="1031246"/>
            <a:ext cx="12192000" cy="60900"/>
          </a:xfrm>
          <a:prstGeom prst="rect">
            <a:avLst/>
          </a:prstGeom>
          <a:gradFill>
            <a:gsLst>
              <a:gs pos="0">
                <a:srgbClr val="0000CC"/>
              </a:gs>
              <a:gs pos="100000">
                <a:schemeClr val="dk1"/>
              </a:gs>
            </a:gsLst>
            <a:lin ang="0" scaled="0"/>
          </a:gra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Relationship Id="rId4" Type="http://schemas.openxmlformats.org/officeDocument/2006/relationships/image" Target="../media/image12.png"/><Relationship Id="rId5" Type="http://schemas.openxmlformats.org/officeDocument/2006/relationships/image" Target="../media/image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2.png"/><Relationship Id="rId4" Type="http://schemas.openxmlformats.org/officeDocument/2006/relationships/image" Target="../media/image25.png"/><Relationship Id="rId5" Type="http://schemas.openxmlformats.org/officeDocument/2006/relationships/image" Target="../media/image5.png"/><Relationship Id="rId6" Type="http://schemas.openxmlformats.org/officeDocument/2006/relationships/image" Target="../media/image4.png"/><Relationship Id="rId7" Type="http://schemas.openxmlformats.org/officeDocument/2006/relationships/image" Target="../media/image3.png"/><Relationship Id="rId8" Type="http://schemas.openxmlformats.org/officeDocument/2006/relationships/image" Target="../media/image1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0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0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8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6.png"/><Relationship Id="rId4" Type="http://schemas.openxmlformats.org/officeDocument/2006/relationships/image" Target="../media/image18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6.png"/><Relationship Id="rId4" Type="http://schemas.openxmlformats.org/officeDocument/2006/relationships/image" Target="../media/image21.png"/><Relationship Id="rId5" Type="http://schemas.openxmlformats.org/officeDocument/2006/relationships/image" Target="../media/image8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4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8.png"/><Relationship Id="rId4" Type="http://schemas.openxmlformats.org/officeDocument/2006/relationships/image" Target="../media/image40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30.png"/><Relationship Id="rId4" Type="http://schemas.openxmlformats.org/officeDocument/2006/relationships/image" Target="../media/image31.png"/><Relationship Id="rId5" Type="http://schemas.openxmlformats.org/officeDocument/2006/relationships/image" Target="../media/image17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53.png"/><Relationship Id="rId4" Type="http://schemas.openxmlformats.org/officeDocument/2006/relationships/image" Target="../media/image23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3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8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0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9.png"/><Relationship Id="rId4" Type="http://schemas.openxmlformats.org/officeDocument/2006/relationships/image" Target="../media/image41.png"/><Relationship Id="rId9" Type="http://schemas.openxmlformats.org/officeDocument/2006/relationships/image" Target="../media/image35.png"/><Relationship Id="rId5" Type="http://schemas.openxmlformats.org/officeDocument/2006/relationships/image" Target="../media/image33.png"/><Relationship Id="rId6" Type="http://schemas.openxmlformats.org/officeDocument/2006/relationships/image" Target="../media/image44.png"/><Relationship Id="rId7" Type="http://schemas.openxmlformats.org/officeDocument/2006/relationships/image" Target="../media/image27.png"/><Relationship Id="rId8" Type="http://schemas.openxmlformats.org/officeDocument/2006/relationships/image" Target="../media/image34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57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61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37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58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64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60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60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55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58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59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46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8.xml"/><Relationship Id="rId3" Type="http://schemas.openxmlformats.org/officeDocument/2006/relationships/hyperlink" Target="https://www.geeksforgeeks.org/artificial-intelligence/depth-first-search-dfs-for-artificial-intelligence/" TargetMode="External"/><Relationship Id="rId4" Type="http://schemas.openxmlformats.org/officeDocument/2006/relationships/hyperlink" Target="https://www.geeksforgeeks.org/artificial-intelligence/a-algorithm-and-its-heuristic-search-strategy-in-artificial-intelligence/" TargetMode="Externa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48.gif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45.png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43.png"/><Relationship Id="rId4" Type="http://schemas.openxmlformats.org/officeDocument/2006/relationships/image" Target="../media/image47.png"/><Relationship Id="rId5" Type="http://schemas.openxmlformats.org/officeDocument/2006/relationships/image" Target="../media/image49.png"/><Relationship Id="rId6" Type="http://schemas.openxmlformats.org/officeDocument/2006/relationships/image" Target="../media/image62.png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51.png"/><Relationship Id="rId4" Type="http://schemas.openxmlformats.org/officeDocument/2006/relationships/image" Target="../media/image52.png"/><Relationship Id="rId5" Type="http://schemas.openxmlformats.org/officeDocument/2006/relationships/image" Target="../media/image54.png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63.png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6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"/>
          <p:cNvSpPr txBox="1"/>
          <p:nvPr>
            <p:ph type="ctrTitle"/>
          </p:nvPr>
        </p:nvSpPr>
        <p:spPr>
          <a:xfrm>
            <a:off x="0" y="279403"/>
            <a:ext cx="121920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 188: Artificial Intelligence</a:t>
            </a:r>
            <a:br>
              <a:rPr lang="en-US"/>
            </a:br>
            <a:endParaRPr sz="3600"/>
          </a:p>
        </p:txBody>
      </p:sp>
      <p:sp>
        <p:nvSpPr>
          <p:cNvPr id="168" name="Google Shape;168;p1"/>
          <p:cNvSpPr txBox="1"/>
          <p:nvPr>
            <p:ph idx="1" type="subTitle"/>
          </p:nvPr>
        </p:nvSpPr>
        <p:spPr>
          <a:xfrm>
            <a:off x="0" y="1295400"/>
            <a:ext cx="1219200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</a:pPr>
            <a:r>
              <a:rPr lang="en-US" sz="4300"/>
              <a:t>Informed Search</a:t>
            </a:r>
            <a:endParaRPr/>
          </a:p>
        </p:txBody>
      </p:sp>
      <p:sp>
        <p:nvSpPr>
          <p:cNvPr id="169" name="Google Shape;169;p1"/>
          <p:cNvSpPr txBox="1"/>
          <p:nvPr/>
        </p:nvSpPr>
        <p:spPr>
          <a:xfrm>
            <a:off x="1524000" y="6248403"/>
            <a:ext cx="5867400" cy="369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0" name="Google Shape;170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84704" y="1974760"/>
            <a:ext cx="7010399" cy="3511382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1"/>
          <p:cNvSpPr txBox="1"/>
          <p:nvPr/>
        </p:nvSpPr>
        <p:spPr>
          <a:xfrm>
            <a:off x="0" y="5486400"/>
            <a:ext cx="12192000" cy="1315743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Instructors: Dan Klein and Pieter Abbeel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University of California, Berkeley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[These slides were created by Dan Klein and Pieter Abbeel for CS188 Intro to AI at UC Berkeley.  All CS188 materials are available at http://ai.berkeley.edu.]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"/>
          <p:cNvSpPr txBox="1"/>
          <p:nvPr>
            <p:ph type="title"/>
          </p:nvPr>
        </p:nvSpPr>
        <p:spPr>
          <a:xfrm>
            <a:off x="0" y="-25400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Today</a:t>
            </a:r>
            <a:endParaRPr/>
          </a:p>
        </p:txBody>
      </p:sp>
      <p:sp>
        <p:nvSpPr>
          <p:cNvPr id="178" name="Google Shape;178;p2"/>
          <p:cNvSpPr txBox="1"/>
          <p:nvPr>
            <p:ph idx="1" type="body"/>
          </p:nvPr>
        </p:nvSpPr>
        <p:spPr>
          <a:xfrm>
            <a:off x="685800" y="1214436"/>
            <a:ext cx="10642600" cy="47291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14282" lvl="0" marL="34288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t/>
            </a:r>
            <a:endParaRPr sz="3600"/>
          </a:p>
          <a:p>
            <a:pPr indent="-342882" lvl="0" marL="342882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SzPts val="3600"/>
              <a:buChar char="▪"/>
            </a:pPr>
            <a:r>
              <a:rPr lang="en-US" sz="3600"/>
              <a:t>Informed Search</a:t>
            </a:r>
            <a:endParaRPr/>
          </a:p>
          <a:p>
            <a:pPr indent="-285736" lvl="1" marL="742913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Char char="▪"/>
            </a:pPr>
            <a:r>
              <a:rPr lang="en-US" sz="3200"/>
              <a:t>Heuristics</a:t>
            </a:r>
            <a:endParaRPr/>
          </a:p>
          <a:p>
            <a:pPr indent="-285736" lvl="1" marL="742913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Char char="▪"/>
            </a:pPr>
            <a:r>
              <a:rPr lang="en-US" sz="3200"/>
              <a:t>Greedy Search</a:t>
            </a:r>
            <a:endParaRPr/>
          </a:p>
          <a:p>
            <a:pPr indent="-285736" lvl="1" marL="742913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Char char="▪"/>
            </a:pPr>
            <a:r>
              <a:rPr lang="en-US" sz="3200"/>
              <a:t>A* Search</a:t>
            </a:r>
            <a:endParaRPr sz="2800"/>
          </a:p>
          <a:p>
            <a:pPr indent="-342882" lvl="0" marL="342882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SzPts val="3600"/>
              <a:buChar char="▪"/>
            </a:pPr>
            <a:r>
              <a:rPr lang="en-US" sz="3600"/>
              <a:t>Graph Search</a:t>
            </a:r>
            <a:endParaRPr sz="3600"/>
          </a:p>
          <a:p>
            <a:pPr indent="-342882" lvl="0" marL="342882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SzPts val="3600"/>
              <a:buChar char="▪"/>
            </a:pPr>
            <a:r>
              <a:rPr lang="en-US" sz="3600"/>
              <a:t>Memory Bounded Informed Search</a:t>
            </a:r>
            <a:endParaRPr sz="3600"/>
          </a:p>
          <a:p>
            <a:pPr indent="-50787" lvl="2" marL="1142942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sz="2800"/>
          </a:p>
          <a:p>
            <a:pPr indent="-82536" lvl="1" marL="742913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sz="3200"/>
          </a:p>
          <a:p>
            <a:pPr indent="-114282" lvl="0" marL="342882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SzPts val="3600"/>
              <a:buNone/>
            </a:pPr>
            <a:r>
              <a:t/>
            </a:r>
            <a:endParaRPr sz="3600"/>
          </a:p>
          <a:p>
            <a:pPr indent="-114282" lvl="0" marL="342882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SzPts val="3600"/>
              <a:buNone/>
            </a:pPr>
            <a:r>
              <a:t/>
            </a:r>
            <a:endParaRPr sz="3600"/>
          </a:p>
        </p:txBody>
      </p:sp>
      <p:pic>
        <p:nvPicPr>
          <p:cNvPr id="179" name="Google Shape;179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66976" y="1214437"/>
            <a:ext cx="4590400" cy="35680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3"/>
          <p:cNvSpPr txBox="1"/>
          <p:nvPr>
            <p:ph type="title"/>
          </p:nvPr>
        </p:nvSpPr>
        <p:spPr>
          <a:xfrm>
            <a:off x="0" y="-25400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Recap: Search</a:t>
            </a:r>
            <a:endParaRPr/>
          </a:p>
        </p:txBody>
      </p:sp>
      <p:pic>
        <p:nvPicPr>
          <p:cNvPr id="185" name="Google Shape;185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33873" y="76200"/>
            <a:ext cx="8067052" cy="6057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4"/>
          <p:cNvSpPr txBox="1"/>
          <p:nvPr>
            <p:ph type="title"/>
          </p:nvPr>
        </p:nvSpPr>
        <p:spPr>
          <a:xfrm>
            <a:off x="0" y="-25400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Recap: Search</a:t>
            </a:r>
            <a:endParaRPr/>
          </a:p>
        </p:txBody>
      </p:sp>
      <p:sp>
        <p:nvSpPr>
          <p:cNvPr id="191" name="Google Shape;191;p4"/>
          <p:cNvSpPr txBox="1"/>
          <p:nvPr>
            <p:ph idx="1" type="body"/>
          </p:nvPr>
        </p:nvSpPr>
        <p:spPr>
          <a:xfrm>
            <a:off x="457200" y="1600200"/>
            <a:ext cx="7696200" cy="487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882" lvl="0" marL="342882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▪"/>
            </a:pPr>
            <a:r>
              <a:rPr lang="en-US" sz="2400"/>
              <a:t>Search problem:</a:t>
            </a:r>
            <a:endParaRPr/>
          </a:p>
          <a:p>
            <a:pPr indent="-285736" lvl="1" marL="742913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</a:pPr>
            <a:r>
              <a:rPr lang="en-US" sz="2000"/>
              <a:t>States (configurations of the world)</a:t>
            </a:r>
            <a:endParaRPr/>
          </a:p>
          <a:p>
            <a:pPr indent="-285736" lvl="1" marL="742913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</a:pPr>
            <a:r>
              <a:rPr lang="en-US" sz="2000"/>
              <a:t>Actions and costs</a:t>
            </a:r>
            <a:endParaRPr/>
          </a:p>
          <a:p>
            <a:pPr indent="-285736" lvl="1" marL="742913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</a:pPr>
            <a:r>
              <a:rPr lang="en-US" sz="2000"/>
              <a:t>Successor function (world dynamics)</a:t>
            </a:r>
            <a:endParaRPr/>
          </a:p>
          <a:p>
            <a:pPr indent="-285736" lvl="1" marL="742913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</a:pPr>
            <a:r>
              <a:rPr lang="en-US" sz="2000"/>
              <a:t>Start state and goal test</a:t>
            </a:r>
            <a:endParaRPr/>
          </a:p>
          <a:p>
            <a:pPr indent="-247632" lvl="0" marL="342882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500"/>
              <a:buNone/>
            </a:pPr>
            <a:r>
              <a:t/>
            </a:r>
            <a:endParaRPr sz="1500"/>
          </a:p>
          <a:p>
            <a:pPr indent="-342882" lvl="0" marL="342882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2400"/>
              <a:buChar char="▪"/>
            </a:pPr>
            <a:r>
              <a:rPr lang="en-US" sz="2400"/>
              <a:t>Search tree:</a:t>
            </a:r>
            <a:endParaRPr/>
          </a:p>
          <a:p>
            <a:pPr indent="-285736" lvl="1" marL="742913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</a:pPr>
            <a:r>
              <a:rPr lang="en-US" sz="2000"/>
              <a:t>Nodes: represent plans for reaching states</a:t>
            </a:r>
            <a:endParaRPr/>
          </a:p>
          <a:p>
            <a:pPr indent="-285736" lvl="1" marL="742913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</a:pPr>
            <a:r>
              <a:rPr lang="en-US" sz="2000"/>
              <a:t>Plans have costs (sum of action costs)</a:t>
            </a:r>
            <a:endParaRPr/>
          </a:p>
          <a:p>
            <a:pPr indent="-247632" lvl="0" marL="342882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500"/>
              <a:buNone/>
            </a:pPr>
            <a:r>
              <a:t/>
            </a:r>
            <a:endParaRPr sz="1500"/>
          </a:p>
          <a:p>
            <a:pPr indent="-342882" lvl="0" marL="342882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2400"/>
              <a:buChar char="▪"/>
            </a:pPr>
            <a:r>
              <a:rPr lang="en-US" sz="2400"/>
              <a:t>Search algorithm:</a:t>
            </a:r>
            <a:endParaRPr/>
          </a:p>
          <a:p>
            <a:pPr indent="-285736" lvl="1" marL="742913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</a:pPr>
            <a:r>
              <a:rPr lang="en-US" sz="2000"/>
              <a:t>Systematically builds a search tree</a:t>
            </a:r>
            <a:endParaRPr/>
          </a:p>
          <a:p>
            <a:pPr indent="-285736" lvl="1" marL="742913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</a:pPr>
            <a:r>
              <a:rPr lang="en-US" sz="2000"/>
              <a:t>Chooses an ordering of the fringe (unexplored nodes)</a:t>
            </a:r>
            <a:endParaRPr/>
          </a:p>
          <a:p>
            <a:pPr indent="-285736" lvl="1" marL="742913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</a:pPr>
            <a:r>
              <a:rPr lang="en-US" sz="2000"/>
              <a:t>Optimal: finds least-cost plans</a:t>
            </a:r>
            <a:endParaRPr/>
          </a:p>
        </p:txBody>
      </p:sp>
      <p:pic>
        <p:nvPicPr>
          <p:cNvPr id="192" name="Google Shape;192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90277" y="514350"/>
            <a:ext cx="6164445" cy="4629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5"/>
          <p:cNvSpPr txBox="1"/>
          <p:nvPr>
            <p:ph type="title"/>
          </p:nvPr>
        </p:nvSpPr>
        <p:spPr>
          <a:xfrm>
            <a:off x="0" y="-25400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Uninformed Search</a:t>
            </a:r>
            <a:endParaRPr/>
          </a:p>
        </p:txBody>
      </p:sp>
      <p:pic>
        <p:nvPicPr>
          <p:cNvPr id="198" name="Google Shape;198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19200" y="-457200"/>
            <a:ext cx="9753599" cy="73151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6"/>
          <p:cNvSpPr/>
          <p:nvPr/>
        </p:nvSpPr>
        <p:spPr>
          <a:xfrm>
            <a:off x="8353425" y="4494213"/>
            <a:ext cx="1912937" cy="1771651"/>
          </a:xfrm>
          <a:prstGeom prst="ellipse">
            <a:avLst/>
          </a:prstGeom>
          <a:solidFill>
            <a:srgbClr val="C0C0C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6"/>
          <p:cNvSpPr/>
          <p:nvPr/>
        </p:nvSpPr>
        <p:spPr>
          <a:xfrm>
            <a:off x="8745536" y="1412875"/>
            <a:ext cx="1616075" cy="2381251"/>
          </a:xfrm>
          <a:custGeom>
            <a:rect b="b" l="l" r="r" t="t"/>
            <a:pathLst>
              <a:path extrusionOk="0" h="1500" w="1018">
                <a:moveTo>
                  <a:pt x="636" y="164"/>
                </a:moveTo>
                <a:cubicBezTo>
                  <a:pt x="714" y="273"/>
                  <a:pt x="995" y="706"/>
                  <a:pt x="1018" y="842"/>
                </a:cubicBezTo>
                <a:cubicBezTo>
                  <a:pt x="963" y="845"/>
                  <a:pt x="797" y="942"/>
                  <a:pt x="772" y="978"/>
                </a:cubicBezTo>
                <a:cubicBezTo>
                  <a:pt x="771" y="1024"/>
                  <a:pt x="817" y="1372"/>
                  <a:pt x="691" y="1446"/>
                </a:cubicBezTo>
                <a:cubicBezTo>
                  <a:pt x="662" y="1493"/>
                  <a:pt x="626" y="1495"/>
                  <a:pt x="573" y="1500"/>
                </a:cubicBezTo>
                <a:cubicBezTo>
                  <a:pt x="531" y="1490"/>
                  <a:pt x="524" y="1490"/>
                  <a:pt x="492" y="1468"/>
                </a:cubicBezTo>
                <a:cubicBezTo>
                  <a:pt x="474" y="1442"/>
                  <a:pt x="433" y="1401"/>
                  <a:pt x="406" y="1382"/>
                </a:cubicBezTo>
                <a:cubicBezTo>
                  <a:pt x="370" y="1332"/>
                  <a:pt x="390" y="1355"/>
                  <a:pt x="347" y="1312"/>
                </a:cubicBezTo>
                <a:cubicBezTo>
                  <a:pt x="276" y="1241"/>
                  <a:pt x="350" y="1294"/>
                  <a:pt x="304" y="1263"/>
                </a:cubicBezTo>
                <a:cubicBezTo>
                  <a:pt x="236" y="1164"/>
                  <a:pt x="115" y="1184"/>
                  <a:pt x="0" y="1181"/>
                </a:cubicBezTo>
                <a:cubicBezTo>
                  <a:pt x="46" y="1005"/>
                  <a:pt x="460" y="338"/>
                  <a:pt x="566" y="169"/>
                </a:cubicBezTo>
                <a:cubicBezTo>
                  <a:pt x="672" y="0"/>
                  <a:pt x="622" y="165"/>
                  <a:pt x="636" y="164"/>
                </a:cubicBezTo>
                <a:close/>
              </a:path>
            </a:pathLst>
          </a:custGeom>
          <a:solidFill>
            <a:srgbClr val="C0C0C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6"/>
          <p:cNvSpPr txBox="1"/>
          <p:nvPr>
            <p:ph type="title"/>
          </p:nvPr>
        </p:nvSpPr>
        <p:spPr>
          <a:xfrm>
            <a:off x="0" y="-25400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Uniform Cost Search</a:t>
            </a:r>
            <a:endParaRPr/>
          </a:p>
        </p:txBody>
      </p:sp>
      <p:sp>
        <p:nvSpPr>
          <p:cNvPr id="206" name="Google Shape;206;p6"/>
          <p:cNvSpPr txBox="1"/>
          <p:nvPr>
            <p:ph idx="1" type="body"/>
          </p:nvPr>
        </p:nvSpPr>
        <p:spPr>
          <a:xfrm>
            <a:off x="457200" y="1600201"/>
            <a:ext cx="7162799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882" lvl="0" marL="342882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Char char="▪"/>
            </a:pPr>
            <a:r>
              <a:rPr lang="en-US" sz="2800"/>
              <a:t>Strategy: expand lowest path cost</a:t>
            </a:r>
            <a:endParaRPr/>
          </a:p>
          <a:p>
            <a:pPr indent="-165082" lvl="0" marL="342882" rtl="0" algn="l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sz="2800"/>
          </a:p>
          <a:p>
            <a:pPr indent="-133336" lvl="1" marL="742913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/>
          </a:p>
          <a:p>
            <a:pPr indent="-165082" lvl="0" marL="342882" rtl="0" algn="l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sz="2800"/>
          </a:p>
          <a:p>
            <a:pPr indent="-342882" lvl="0" marL="342882" rtl="0" algn="l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SzPts val="2800"/>
              <a:buChar char="▪"/>
            </a:pPr>
            <a:r>
              <a:rPr lang="en-US" sz="2800"/>
              <a:t>The good: UCS is complete and optimal!</a:t>
            </a:r>
            <a:endParaRPr/>
          </a:p>
          <a:p>
            <a:pPr indent="-133336" lvl="1" marL="742913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/>
          </a:p>
          <a:p>
            <a:pPr indent="-133336" lvl="1" marL="742913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/>
          </a:p>
          <a:p>
            <a:pPr indent="-165082" lvl="0" marL="342882" rtl="0" algn="l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sz="2800"/>
          </a:p>
          <a:p>
            <a:pPr indent="-342882" lvl="0" marL="342882" rtl="0" algn="l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SzPts val="2800"/>
              <a:buChar char="▪"/>
            </a:pPr>
            <a:r>
              <a:rPr lang="en-US" sz="2800"/>
              <a:t>The bad:</a:t>
            </a:r>
            <a:endParaRPr/>
          </a:p>
          <a:p>
            <a:pPr indent="-285736" lvl="1" marL="742913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SzPts val="2400"/>
              <a:buChar char="▪"/>
            </a:pPr>
            <a:r>
              <a:rPr lang="en-US" sz="2400"/>
              <a:t>Explores options in every “direction”</a:t>
            </a:r>
            <a:endParaRPr/>
          </a:p>
          <a:p>
            <a:pPr indent="-285736" lvl="1" marL="742913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SzPts val="2400"/>
              <a:buChar char="▪"/>
            </a:pPr>
            <a:r>
              <a:rPr lang="en-US" sz="2400"/>
              <a:t>No information about goal location</a:t>
            </a:r>
            <a:endParaRPr/>
          </a:p>
          <a:p>
            <a:pPr indent="-165082" lvl="0" marL="342882" rtl="0" algn="l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sz="2800"/>
          </a:p>
        </p:txBody>
      </p:sp>
      <p:sp>
        <p:nvSpPr>
          <p:cNvPr id="207" name="Google Shape;207;p6"/>
          <p:cNvSpPr/>
          <p:nvPr/>
        </p:nvSpPr>
        <p:spPr>
          <a:xfrm>
            <a:off x="9256712" y="5270501"/>
            <a:ext cx="163513" cy="153988"/>
          </a:xfrm>
          <a:prstGeom prst="ellipse">
            <a:avLst/>
          </a:prstGeom>
          <a:solidFill>
            <a:srgbClr val="008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6"/>
          <p:cNvSpPr txBox="1"/>
          <p:nvPr/>
        </p:nvSpPr>
        <p:spPr>
          <a:xfrm>
            <a:off x="8994774" y="5386389"/>
            <a:ext cx="914400" cy="369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Start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6"/>
          <p:cNvSpPr/>
          <p:nvPr/>
        </p:nvSpPr>
        <p:spPr>
          <a:xfrm>
            <a:off x="10183812" y="5292726"/>
            <a:ext cx="163513" cy="153988"/>
          </a:xfrm>
          <a:prstGeom prst="ellipse">
            <a:avLst/>
          </a:prstGeom>
          <a:solidFill>
            <a:srgbClr val="FF33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6"/>
          <p:cNvSpPr txBox="1"/>
          <p:nvPr/>
        </p:nvSpPr>
        <p:spPr>
          <a:xfrm>
            <a:off x="10244136" y="5410201"/>
            <a:ext cx="914400" cy="369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Goal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6"/>
          <p:cNvSpPr/>
          <p:nvPr/>
        </p:nvSpPr>
        <p:spPr>
          <a:xfrm>
            <a:off x="8251825" y="1560514"/>
            <a:ext cx="2927351" cy="2554287"/>
          </a:xfrm>
          <a:custGeom>
            <a:rect b="b" l="l" r="r" t="t"/>
            <a:pathLst>
              <a:path extrusionOk="0" h="1609" w="1844">
                <a:moveTo>
                  <a:pt x="0" y="1609"/>
                </a:moveTo>
                <a:lnTo>
                  <a:pt x="1844" y="1609"/>
                </a:lnTo>
                <a:lnTo>
                  <a:pt x="915" y="0"/>
                </a:lnTo>
                <a:lnTo>
                  <a:pt x="0" y="1609"/>
                </a:lnTo>
                <a:close/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6"/>
          <p:cNvSpPr/>
          <p:nvPr/>
        </p:nvSpPr>
        <p:spPr>
          <a:xfrm>
            <a:off x="9374186" y="1916113"/>
            <a:ext cx="179388" cy="179387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6"/>
          <p:cNvSpPr/>
          <p:nvPr/>
        </p:nvSpPr>
        <p:spPr>
          <a:xfrm>
            <a:off x="9850437" y="1906589"/>
            <a:ext cx="179388" cy="179387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6"/>
          <p:cNvSpPr txBox="1"/>
          <p:nvPr/>
        </p:nvSpPr>
        <p:spPr>
          <a:xfrm>
            <a:off x="9504361" y="1766889"/>
            <a:ext cx="274639" cy="369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…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6"/>
          <p:cNvSpPr/>
          <p:nvPr/>
        </p:nvSpPr>
        <p:spPr>
          <a:xfrm>
            <a:off x="10098086" y="2955926"/>
            <a:ext cx="179388" cy="179388"/>
          </a:xfrm>
          <a:prstGeom prst="ellipse">
            <a:avLst/>
          </a:prstGeom>
          <a:solidFill>
            <a:srgbClr val="FF9999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6"/>
          <p:cNvSpPr/>
          <p:nvPr/>
        </p:nvSpPr>
        <p:spPr>
          <a:xfrm>
            <a:off x="9618662" y="3511550"/>
            <a:ext cx="179388" cy="179388"/>
          </a:xfrm>
          <a:prstGeom prst="ellipse">
            <a:avLst/>
          </a:prstGeom>
          <a:solidFill>
            <a:srgbClr val="FF9999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6"/>
          <p:cNvSpPr/>
          <p:nvPr/>
        </p:nvSpPr>
        <p:spPr>
          <a:xfrm>
            <a:off x="9572624" y="2301877"/>
            <a:ext cx="179387" cy="1196975"/>
          </a:xfrm>
          <a:custGeom>
            <a:rect b="b" l="l" r="r" t="t"/>
            <a:pathLst>
              <a:path extrusionOk="0" h="754" w="113">
                <a:moveTo>
                  <a:pt x="80" y="0"/>
                </a:moveTo>
                <a:cubicBezTo>
                  <a:pt x="85" y="21"/>
                  <a:pt x="90" y="40"/>
                  <a:pt x="97" y="60"/>
                </a:cubicBezTo>
                <a:cubicBezTo>
                  <a:pt x="113" y="160"/>
                  <a:pt x="99" y="191"/>
                  <a:pt x="54" y="264"/>
                </a:cubicBezTo>
                <a:cubicBezTo>
                  <a:pt x="47" y="289"/>
                  <a:pt x="35" y="313"/>
                  <a:pt x="21" y="334"/>
                </a:cubicBezTo>
                <a:cubicBezTo>
                  <a:pt x="12" y="374"/>
                  <a:pt x="21" y="340"/>
                  <a:pt x="10" y="372"/>
                </a:cubicBezTo>
                <a:cubicBezTo>
                  <a:pt x="6" y="383"/>
                  <a:pt x="0" y="404"/>
                  <a:pt x="0" y="404"/>
                </a:cubicBezTo>
                <a:cubicBezTo>
                  <a:pt x="4" y="446"/>
                  <a:pt x="13" y="491"/>
                  <a:pt x="43" y="523"/>
                </a:cubicBezTo>
                <a:cubicBezTo>
                  <a:pt x="45" y="530"/>
                  <a:pt x="45" y="537"/>
                  <a:pt x="48" y="544"/>
                </a:cubicBezTo>
                <a:cubicBezTo>
                  <a:pt x="51" y="550"/>
                  <a:pt x="57" y="554"/>
                  <a:pt x="59" y="560"/>
                </a:cubicBezTo>
                <a:cubicBezTo>
                  <a:pt x="78" y="626"/>
                  <a:pt x="70" y="684"/>
                  <a:pt x="70" y="754"/>
                </a:cubicBez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6"/>
          <p:cNvSpPr/>
          <p:nvPr/>
        </p:nvSpPr>
        <p:spPr>
          <a:xfrm>
            <a:off x="9990136" y="2498725"/>
            <a:ext cx="222251" cy="436563"/>
          </a:xfrm>
          <a:custGeom>
            <a:rect b="b" l="l" r="r" t="t"/>
            <a:pathLst>
              <a:path extrusionOk="0" h="275" w="140">
                <a:moveTo>
                  <a:pt x="0" y="0"/>
                </a:moveTo>
                <a:cubicBezTo>
                  <a:pt x="11" y="11"/>
                  <a:pt x="20" y="24"/>
                  <a:pt x="33" y="33"/>
                </a:cubicBezTo>
                <a:cubicBezTo>
                  <a:pt x="59" y="52"/>
                  <a:pt x="92" y="58"/>
                  <a:pt x="119" y="76"/>
                </a:cubicBezTo>
                <a:cubicBezTo>
                  <a:pt x="140" y="106"/>
                  <a:pt x="138" y="138"/>
                  <a:pt x="124" y="172"/>
                </a:cubicBezTo>
                <a:cubicBezTo>
                  <a:pt x="116" y="190"/>
                  <a:pt x="92" y="221"/>
                  <a:pt x="92" y="221"/>
                </a:cubicBezTo>
                <a:cubicBezTo>
                  <a:pt x="98" y="240"/>
                  <a:pt x="114" y="255"/>
                  <a:pt x="114" y="275"/>
                </a:cubicBez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p6"/>
          <p:cNvSpPr/>
          <p:nvPr/>
        </p:nvSpPr>
        <p:spPr>
          <a:xfrm>
            <a:off x="9605962" y="1490664"/>
            <a:ext cx="179388" cy="179387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p6"/>
          <p:cNvSpPr/>
          <p:nvPr/>
        </p:nvSpPr>
        <p:spPr>
          <a:xfrm>
            <a:off x="9034462" y="2395539"/>
            <a:ext cx="1181100" cy="557212"/>
          </a:xfrm>
          <a:custGeom>
            <a:rect b="b" l="l" r="r" t="t"/>
            <a:pathLst>
              <a:path extrusionOk="0" h="351" w="744">
                <a:moveTo>
                  <a:pt x="744" y="0"/>
                </a:moveTo>
                <a:cubicBezTo>
                  <a:pt x="672" y="25"/>
                  <a:pt x="600" y="51"/>
                  <a:pt x="547" y="105"/>
                </a:cubicBezTo>
                <a:cubicBezTo>
                  <a:pt x="494" y="159"/>
                  <a:pt x="485" y="295"/>
                  <a:pt x="428" y="323"/>
                </a:cubicBezTo>
                <a:cubicBezTo>
                  <a:pt x="371" y="351"/>
                  <a:pt x="274" y="293"/>
                  <a:pt x="203" y="274"/>
                </a:cubicBezTo>
                <a:cubicBezTo>
                  <a:pt x="132" y="255"/>
                  <a:pt x="66" y="233"/>
                  <a:pt x="0" y="211"/>
                </a:cubicBez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6"/>
          <p:cNvSpPr/>
          <p:nvPr/>
        </p:nvSpPr>
        <p:spPr>
          <a:xfrm>
            <a:off x="9290050" y="2127251"/>
            <a:ext cx="747712" cy="293688"/>
          </a:xfrm>
          <a:custGeom>
            <a:rect b="b" l="l" r="r" t="t"/>
            <a:pathLst>
              <a:path extrusionOk="0" h="185" w="471">
                <a:moveTo>
                  <a:pt x="471" y="0"/>
                </a:moveTo>
                <a:cubicBezTo>
                  <a:pt x="394" y="76"/>
                  <a:pt x="317" y="153"/>
                  <a:pt x="239" y="169"/>
                </a:cubicBezTo>
                <a:cubicBezTo>
                  <a:pt x="161" y="185"/>
                  <a:pt x="80" y="142"/>
                  <a:pt x="0" y="99"/>
                </a:cubicBez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6"/>
          <p:cNvSpPr/>
          <p:nvPr/>
        </p:nvSpPr>
        <p:spPr>
          <a:xfrm>
            <a:off x="8888412" y="4929189"/>
            <a:ext cx="869951" cy="869951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6"/>
          <p:cNvSpPr txBox="1"/>
          <p:nvPr/>
        </p:nvSpPr>
        <p:spPr>
          <a:xfrm>
            <a:off x="10528300" y="2495551"/>
            <a:ext cx="825500" cy="369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 ≤ 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6"/>
          <p:cNvSpPr txBox="1"/>
          <p:nvPr/>
        </p:nvSpPr>
        <p:spPr>
          <a:xfrm>
            <a:off x="10401300" y="2100263"/>
            <a:ext cx="825500" cy="369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 ≤ 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6"/>
          <p:cNvSpPr txBox="1"/>
          <p:nvPr/>
        </p:nvSpPr>
        <p:spPr>
          <a:xfrm>
            <a:off x="10201274" y="1722439"/>
            <a:ext cx="825500" cy="369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 ≤ 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6"/>
          <p:cNvSpPr txBox="1"/>
          <p:nvPr/>
        </p:nvSpPr>
        <p:spPr>
          <a:xfrm>
            <a:off x="7315200" y="6248400"/>
            <a:ext cx="4841875" cy="646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[Demo: contours UCS empty (L3D1)]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[Demo: contours UCS pacman small maze (L3D3)]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7"/>
          <p:cNvSpPr txBox="1"/>
          <p:nvPr>
            <p:ph type="title"/>
          </p:nvPr>
        </p:nvSpPr>
        <p:spPr>
          <a:xfrm>
            <a:off x="0" y="-25400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Informed Search</a:t>
            </a:r>
            <a:endParaRPr/>
          </a:p>
        </p:txBody>
      </p:sp>
      <p:pic>
        <p:nvPicPr>
          <p:cNvPr id="232" name="Google Shape;232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54691" y="1603435"/>
            <a:ext cx="6463617" cy="42624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8"/>
          <p:cNvSpPr txBox="1"/>
          <p:nvPr>
            <p:ph type="title"/>
          </p:nvPr>
        </p:nvSpPr>
        <p:spPr>
          <a:xfrm>
            <a:off x="0" y="-25400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Search Heuristics</a:t>
            </a:r>
            <a:endParaRPr/>
          </a:p>
        </p:txBody>
      </p:sp>
      <p:pic>
        <p:nvPicPr>
          <p:cNvPr descr="Z:\Shared with PC\smallMaze.png" id="239" name="Google Shape;239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3400" y="3498849"/>
            <a:ext cx="6623051" cy="2978151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p8"/>
          <p:cNvSpPr txBox="1"/>
          <p:nvPr/>
        </p:nvSpPr>
        <p:spPr>
          <a:xfrm>
            <a:off x="457200" y="1219200"/>
            <a:ext cx="6858000" cy="17081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866" lvl="0" marL="34286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A heuristic is: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866" lvl="1" marL="800021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▪"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function that </a:t>
            </a:r>
            <a:r>
              <a:rPr b="0" i="1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estimates</a:t>
            </a: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how close a state is to a goal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866" lvl="1" marL="800021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▪"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Designed for a particular search problem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866" lvl="1" marL="800021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▪"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Examples: Manhattan distance, Euclidean distance for pathing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41" name="Google Shape;241;p8"/>
          <p:cNvGrpSpPr/>
          <p:nvPr/>
        </p:nvGrpSpPr>
        <p:grpSpPr>
          <a:xfrm>
            <a:off x="903293" y="4078286"/>
            <a:ext cx="3025775" cy="1924051"/>
            <a:chOff x="1573306" y="4155142"/>
            <a:chExt cx="3025588" cy="1922929"/>
          </a:xfrm>
        </p:grpSpPr>
        <p:sp>
          <p:nvSpPr>
            <p:cNvPr id="242" name="Google Shape;242;p8"/>
            <p:cNvSpPr/>
            <p:nvPr/>
          </p:nvSpPr>
          <p:spPr>
            <a:xfrm>
              <a:off x="1573306" y="4578757"/>
              <a:ext cx="3025588" cy="1499314"/>
            </a:xfrm>
            <a:custGeom>
              <a:rect b="b" l="l" r="r" t="t"/>
              <a:pathLst>
                <a:path extrusionOk="0" h="1479177" w="3065929">
                  <a:moveTo>
                    <a:pt x="3065929" y="13447"/>
                  </a:moveTo>
                  <a:lnTo>
                    <a:pt x="0" y="0"/>
                  </a:lnTo>
                  <a:lnTo>
                    <a:pt x="26894" y="1479177"/>
                  </a:lnTo>
                </a:path>
              </a:pathLst>
            </a:custGeom>
            <a:noFill/>
            <a:ln cap="flat" cmpd="sng" w="57150">
              <a:solidFill>
                <a:srgbClr val="C00000"/>
              </a:solidFill>
              <a:prstDash val="solid"/>
              <a:round/>
              <a:headEnd len="sm" w="sm" type="none"/>
              <a:tailEnd len="med" w="med" type="triangl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3" name="Google Shape;243;p8"/>
            <p:cNvSpPr txBox="1"/>
            <p:nvPr/>
          </p:nvSpPr>
          <p:spPr>
            <a:xfrm>
              <a:off x="2164976" y="4155142"/>
              <a:ext cx="441119" cy="36911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rgbClr val="C00000"/>
                  </a:solidFill>
                  <a:latin typeface="Arial"/>
                  <a:ea typeface="Arial"/>
                  <a:cs typeface="Arial"/>
                  <a:sym typeface="Arial"/>
                </a:rPr>
                <a:t>10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4" name="Google Shape;244;p8"/>
            <p:cNvSpPr txBox="1"/>
            <p:nvPr/>
          </p:nvSpPr>
          <p:spPr>
            <a:xfrm>
              <a:off x="1591236" y="4953001"/>
              <a:ext cx="312887" cy="36911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rgbClr val="C00000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45" name="Google Shape;245;p8"/>
          <p:cNvGrpSpPr/>
          <p:nvPr/>
        </p:nvGrpSpPr>
        <p:grpSpPr>
          <a:xfrm>
            <a:off x="984257" y="4495801"/>
            <a:ext cx="2978143" cy="1506537"/>
            <a:chOff x="1653989" y="4572529"/>
            <a:chExt cx="2978334" cy="1505542"/>
          </a:xfrm>
        </p:grpSpPr>
        <p:cxnSp>
          <p:nvCxnSpPr>
            <p:cNvPr id="246" name="Google Shape;246;p8"/>
            <p:cNvCxnSpPr/>
            <p:nvPr/>
          </p:nvCxnSpPr>
          <p:spPr>
            <a:xfrm flipH="1">
              <a:off x="1653989" y="4572529"/>
              <a:ext cx="2978334" cy="1505542"/>
            </a:xfrm>
            <a:prstGeom prst="straightConnector1">
              <a:avLst/>
            </a:prstGeom>
            <a:noFill/>
            <a:ln cap="flat" cmpd="sng" w="57150">
              <a:solidFill>
                <a:srgbClr val="C0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247" name="Google Shape;247;p8"/>
            <p:cNvSpPr txBox="1"/>
            <p:nvPr/>
          </p:nvSpPr>
          <p:spPr>
            <a:xfrm>
              <a:off x="3016625" y="5356413"/>
              <a:ext cx="620787" cy="3690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rgbClr val="C00000"/>
                  </a:solidFill>
                  <a:latin typeface="Arial"/>
                  <a:ea typeface="Arial"/>
                  <a:cs typeface="Arial"/>
                  <a:sym typeface="Arial"/>
                </a:rPr>
                <a:t>11.2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248" name="Google Shape;248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079223" y="1524000"/>
            <a:ext cx="3407831" cy="2300286"/>
          </a:xfrm>
          <a:prstGeom prst="rect">
            <a:avLst/>
          </a:prstGeom>
          <a:noFill/>
          <a:ln>
            <a:noFill/>
          </a:ln>
        </p:spPr>
      </p:pic>
      <p:pic>
        <p:nvPicPr>
          <p:cNvPr id="249" name="Google Shape;249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001000" y="4116375"/>
            <a:ext cx="3476133" cy="23742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9"/>
          <p:cNvSpPr txBox="1"/>
          <p:nvPr>
            <p:ph type="title"/>
          </p:nvPr>
        </p:nvSpPr>
        <p:spPr>
          <a:xfrm>
            <a:off x="0" y="-25400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Example: Heuristic Function</a:t>
            </a:r>
            <a:endParaRPr/>
          </a:p>
        </p:txBody>
      </p:sp>
      <p:pic>
        <p:nvPicPr>
          <p:cNvPr id="255" name="Google Shape;255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44689" y="1640445"/>
            <a:ext cx="8329612" cy="4090988"/>
          </a:xfrm>
          <a:prstGeom prst="rect">
            <a:avLst/>
          </a:prstGeom>
          <a:noFill/>
          <a:ln>
            <a:noFill/>
          </a:ln>
        </p:spPr>
      </p:pic>
      <p:sp>
        <p:nvSpPr>
          <p:cNvPr id="256" name="Google Shape;256;p9"/>
          <p:cNvSpPr txBox="1"/>
          <p:nvPr/>
        </p:nvSpPr>
        <p:spPr>
          <a:xfrm>
            <a:off x="8991600" y="5943600"/>
            <a:ext cx="1143000" cy="5232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h(x)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Google Shape;257;p9"/>
          <p:cNvSpPr/>
          <p:nvPr/>
        </p:nvSpPr>
        <p:spPr>
          <a:xfrm>
            <a:off x="8458200" y="1600200"/>
            <a:ext cx="1905000" cy="42672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C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10"/>
          <p:cNvSpPr txBox="1"/>
          <p:nvPr>
            <p:ph type="title"/>
          </p:nvPr>
        </p:nvSpPr>
        <p:spPr>
          <a:xfrm>
            <a:off x="0" y="-25400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Greedy Search</a:t>
            </a:r>
            <a:endParaRPr/>
          </a:p>
        </p:txBody>
      </p:sp>
      <p:pic>
        <p:nvPicPr>
          <p:cNvPr id="263" name="Google Shape;263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6800" y="-457200"/>
            <a:ext cx="9753599" cy="73151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12"/>
          <p:cNvSpPr/>
          <p:nvPr/>
        </p:nvSpPr>
        <p:spPr>
          <a:xfrm>
            <a:off x="7315200" y="914400"/>
            <a:ext cx="4876800" cy="304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p12"/>
          <p:cNvSpPr txBox="1"/>
          <p:nvPr>
            <p:ph type="title"/>
          </p:nvPr>
        </p:nvSpPr>
        <p:spPr>
          <a:xfrm>
            <a:off x="0" y="-25400"/>
            <a:ext cx="9448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Greedy Search</a:t>
            </a:r>
            <a:endParaRPr/>
          </a:p>
        </p:txBody>
      </p:sp>
      <p:sp>
        <p:nvSpPr>
          <p:cNvPr id="270" name="Google Shape;270;p12"/>
          <p:cNvSpPr txBox="1"/>
          <p:nvPr>
            <p:ph idx="1" type="body"/>
          </p:nvPr>
        </p:nvSpPr>
        <p:spPr>
          <a:xfrm>
            <a:off x="1066800" y="1439861"/>
            <a:ext cx="8229600" cy="48847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882" lvl="0" marL="342882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▪"/>
            </a:pPr>
            <a:r>
              <a:rPr lang="en-US" sz="2800"/>
              <a:t>Expand the node that seems closest…</a:t>
            </a:r>
            <a:endParaRPr/>
          </a:p>
          <a:p>
            <a:pPr indent="-165082" lvl="0" marL="342882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sz="2800"/>
          </a:p>
          <a:p>
            <a:pPr indent="-165082" lvl="0" marL="342882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sz="2800"/>
          </a:p>
          <a:p>
            <a:pPr indent="-165082" lvl="0" marL="342882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sz="2800"/>
          </a:p>
          <a:p>
            <a:pPr indent="-165082" lvl="0" marL="342882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sz="2800"/>
          </a:p>
          <a:p>
            <a:pPr indent="-165082" lvl="0" marL="342882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sz="2800"/>
          </a:p>
          <a:p>
            <a:pPr indent="-165082" lvl="0" marL="342882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sz="2800"/>
          </a:p>
          <a:p>
            <a:pPr indent="-165082" lvl="0" marL="342882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sz="2800"/>
          </a:p>
          <a:p>
            <a:pPr indent="-165082" lvl="0" marL="342882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sz="2800"/>
          </a:p>
          <a:p>
            <a:pPr indent="-342882" lvl="0" marL="342882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SzPts val="2800"/>
              <a:buChar char="▪"/>
            </a:pPr>
            <a:r>
              <a:rPr lang="en-US" sz="2800"/>
              <a:t>What can go wrong?</a:t>
            </a:r>
            <a:endParaRPr/>
          </a:p>
        </p:txBody>
      </p:sp>
      <p:pic>
        <p:nvPicPr>
          <p:cNvPr id="271" name="Google Shape;271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10177" y="2268535"/>
            <a:ext cx="1122363" cy="571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2" name="Google Shape;272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693993" y="2311399"/>
            <a:ext cx="6535737" cy="1320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3" name="Google Shape;273;p1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322394" y="2362200"/>
            <a:ext cx="7877175" cy="2128837"/>
          </a:xfrm>
          <a:prstGeom prst="rect">
            <a:avLst/>
          </a:prstGeom>
          <a:noFill/>
          <a:ln>
            <a:noFill/>
          </a:ln>
        </p:spPr>
      </p:pic>
      <p:pic>
        <p:nvPicPr>
          <p:cNvPr id="274" name="Google Shape;274;p1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319218" y="2343153"/>
            <a:ext cx="7880351" cy="2892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5" name="Google Shape;275;p1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696200" y="3962400"/>
            <a:ext cx="3238498" cy="2428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76" name="Google Shape;276;p12"/>
          <p:cNvPicPr preferRelativeResize="0"/>
          <p:nvPr/>
        </p:nvPicPr>
        <p:blipFill rotWithShape="1">
          <a:blip r:embed="rId8">
            <a:alphaModFix/>
          </a:blip>
          <a:srcRect b="0" l="0" r="21802" t="0"/>
          <a:stretch/>
        </p:blipFill>
        <p:spPr>
          <a:xfrm>
            <a:off x="7339093" y="0"/>
            <a:ext cx="4852907" cy="304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13"/>
          <p:cNvSpPr/>
          <p:nvPr/>
        </p:nvSpPr>
        <p:spPr>
          <a:xfrm>
            <a:off x="8094662" y="3833812"/>
            <a:ext cx="2884488" cy="2263775"/>
          </a:xfrm>
          <a:custGeom>
            <a:rect b="b" l="l" r="r" t="t"/>
            <a:pathLst>
              <a:path extrusionOk="0" h="1714" w="1817">
                <a:moveTo>
                  <a:pt x="938" y="164"/>
                </a:moveTo>
                <a:cubicBezTo>
                  <a:pt x="1096" y="407"/>
                  <a:pt x="1716" y="1413"/>
                  <a:pt x="1817" y="1625"/>
                </a:cubicBezTo>
                <a:cubicBezTo>
                  <a:pt x="1741" y="1629"/>
                  <a:pt x="1331" y="1650"/>
                  <a:pt x="1054" y="1649"/>
                </a:cubicBezTo>
                <a:cubicBezTo>
                  <a:pt x="1021" y="1539"/>
                  <a:pt x="1101" y="1279"/>
                  <a:pt x="1036" y="1021"/>
                </a:cubicBezTo>
                <a:cubicBezTo>
                  <a:pt x="1008" y="965"/>
                  <a:pt x="973" y="949"/>
                  <a:pt x="897" y="973"/>
                </a:cubicBezTo>
                <a:cubicBezTo>
                  <a:pt x="855" y="963"/>
                  <a:pt x="618" y="1676"/>
                  <a:pt x="586" y="1654"/>
                </a:cubicBezTo>
                <a:cubicBezTo>
                  <a:pt x="468" y="1651"/>
                  <a:pt x="44" y="1714"/>
                  <a:pt x="47" y="1649"/>
                </a:cubicBezTo>
                <a:cubicBezTo>
                  <a:pt x="0" y="1570"/>
                  <a:pt x="165" y="1427"/>
                  <a:pt x="302" y="1181"/>
                </a:cubicBezTo>
                <a:cubicBezTo>
                  <a:pt x="348" y="1005"/>
                  <a:pt x="762" y="338"/>
                  <a:pt x="868" y="169"/>
                </a:cubicBezTo>
                <a:cubicBezTo>
                  <a:pt x="974" y="0"/>
                  <a:pt x="924" y="165"/>
                  <a:pt x="938" y="164"/>
                </a:cubicBezTo>
                <a:close/>
              </a:path>
            </a:pathLst>
          </a:custGeom>
          <a:solidFill>
            <a:srgbClr val="C0C0C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" name="Google Shape;283;p13"/>
          <p:cNvSpPr txBox="1"/>
          <p:nvPr>
            <p:ph type="title"/>
          </p:nvPr>
        </p:nvSpPr>
        <p:spPr>
          <a:xfrm>
            <a:off x="0" y="-25400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Greedy Search</a:t>
            </a:r>
            <a:endParaRPr/>
          </a:p>
        </p:txBody>
      </p:sp>
      <p:sp>
        <p:nvSpPr>
          <p:cNvPr id="284" name="Google Shape;284;p13"/>
          <p:cNvSpPr txBox="1"/>
          <p:nvPr>
            <p:ph idx="1" type="body"/>
          </p:nvPr>
        </p:nvSpPr>
        <p:spPr>
          <a:xfrm>
            <a:off x="457200" y="1600200"/>
            <a:ext cx="7086600" cy="487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882" lvl="0" marL="342882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Char char="▪"/>
            </a:pPr>
            <a:r>
              <a:rPr lang="en-US" sz="2800"/>
              <a:t>Strategy: expand a node that you think is closest to a goal state</a:t>
            </a:r>
            <a:endParaRPr/>
          </a:p>
          <a:p>
            <a:pPr indent="-285736" lvl="1" marL="742913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SzPts val="2400"/>
              <a:buChar char="▪"/>
            </a:pPr>
            <a:r>
              <a:rPr lang="en-US" sz="2400"/>
              <a:t>Heuristic: estimate of distance to nearest goal for each state</a:t>
            </a:r>
            <a:endParaRPr/>
          </a:p>
          <a:p>
            <a:pPr indent="-209536" lvl="1" marL="742913" rtl="0" algn="l">
              <a:lnSpc>
                <a:spcPct val="80000"/>
              </a:lnSpc>
              <a:spcBef>
                <a:spcPts val="24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sz="1200"/>
          </a:p>
          <a:p>
            <a:pPr indent="-165082" lvl="0" marL="342882" rtl="0" algn="l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sz="2800"/>
          </a:p>
          <a:p>
            <a:pPr indent="-342882" lvl="0" marL="342882" rtl="0" algn="l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SzPts val="2800"/>
              <a:buChar char="▪"/>
            </a:pPr>
            <a:r>
              <a:rPr lang="en-US" sz="2800"/>
              <a:t>A common case:</a:t>
            </a:r>
            <a:endParaRPr/>
          </a:p>
          <a:p>
            <a:pPr indent="-285736" lvl="1" marL="742913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SzPts val="2400"/>
              <a:buChar char="▪"/>
            </a:pPr>
            <a:r>
              <a:rPr lang="en-US" sz="2400"/>
              <a:t>Best-first takes you straight to the (wrong) goal</a:t>
            </a:r>
            <a:endParaRPr/>
          </a:p>
          <a:p>
            <a:pPr indent="-266682" lvl="0" marL="342882" rtl="0" algn="l">
              <a:lnSpc>
                <a:spcPct val="80000"/>
              </a:lnSpc>
              <a:spcBef>
                <a:spcPts val="24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sz="1200"/>
          </a:p>
          <a:p>
            <a:pPr indent="-266682" lvl="0" marL="342882" rtl="0" algn="l">
              <a:lnSpc>
                <a:spcPct val="80000"/>
              </a:lnSpc>
              <a:spcBef>
                <a:spcPts val="24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sz="1200"/>
          </a:p>
          <a:p>
            <a:pPr indent="-165082" lvl="0" marL="342882" rtl="0" algn="l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sz="2800"/>
          </a:p>
          <a:p>
            <a:pPr indent="-342882" lvl="0" marL="342882" rtl="0" algn="l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SzPts val="2800"/>
              <a:buChar char="▪"/>
            </a:pPr>
            <a:r>
              <a:rPr lang="en-US" sz="2800"/>
              <a:t>Worst-case: like a badly-guided DFS</a:t>
            </a:r>
            <a:endParaRPr/>
          </a:p>
        </p:txBody>
      </p:sp>
      <p:sp>
        <p:nvSpPr>
          <p:cNvPr id="285" name="Google Shape;285;p13"/>
          <p:cNvSpPr/>
          <p:nvPr/>
        </p:nvSpPr>
        <p:spPr>
          <a:xfrm>
            <a:off x="9348787" y="1219200"/>
            <a:ext cx="846139" cy="1774825"/>
          </a:xfrm>
          <a:custGeom>
            <a:rect b="b" l="l" r="r" t="t"/>
            <a:pathLst>
              <a:path extrusionOk="0" h="1118" w="533">
                <a:moveTo>
                  <a:pt x="100" y="137"/>
                </a:moveTo>
                <a:cubicBezTo>
                  <a:pt x="172" y="245"/>
                  <a:pt x="395" y="656"/>
                  <a:pt x="464" y="788"/>
                </a:cubicBezTo>
                <a:cubicBezTo>
                  <a:pt x="533" y="920"/>
                  <a:pt x="513" y="858"/>
                  <a:pt x="513" y="928"/>
                </a:cubicBezTo>
                <a:cubicBezTo>
                  <a:pt x="472" y="988"/>
                  <a:pt x="380" y="1118"/>
                  <a:pt x="281" y="991"/>
                </a:cubicBezTo>
                <a:cubicBezTo>
                  <a:pt x="260" y="823"/>
                  <a:pt x="60" y="284"/>
                  <a:pt x="30" y="142"/>
                </a:cubicBezTo>
                <a:cubicBezTo>
                  <a:pt x="0" y="0"/>
                  <a:pt x="32" y="29"/>
                  <a:pt x="100" y="137"/>
                </a:cubicBezTo>
                <a:close/>
              </a:path>
            </a:pathLst>
          </a:custGeom>
          <a:solidFill>
            <a:srgbClr val="C0C0C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p13"/>
          <p:cNvSpPr/>
          <p:nvPr/>
        </p:nvSpPr>
        <p:spPr>
          <a:xfrm>
            <a:off x="8001000" y="1322386"/>
            <a:ext cx="2927351" cy="2108200"/>
          </a:xfrm>
          <a:custGeom>
            <a:rect b="b" l="l" r="r" t="t"/>
            <a:pathLst>
              <a:path extrusionOk="0" h="1609" w="1844">
                <a:moveTo>
                  <a:pt x="0" y="1609"/>
                </a:moveTo>
                <a:lnTo>
                  <a:pt x="1844" y="1609"/>
                </a:lnTo>
                <a:lnTo>
                  <a:pt x="915" y="0"/>
                </a:lnTo>
                <a:lnTo>
                  <a:pt x="0" y="1609"/>
                </a:lnTo>
                <a:close/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Google Shape;287;p13"/>
          <p:cNvSpPr/>
          <p:nvPr/>
        </p:nvSpPr>
        <p:spPr>
          <a:xfrm>
            <a:off x="9123363" y="1677987"/>
            <a:ext cx="179388" cy="179388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" name="Google Shape;288;p13"/>
          <p:cNvSpPr/>
          <p:nvPr/>
        </p:nvSpPr>
        <p:spPr>
          <a:xfrm>
            <a:off x="9599613" y="1668461"/>
            <a:ext cx="179388" cy="179388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" name="Google Shape;289;p13"/>
          <p:cNvSpPr txBox="1"/>
          <p:nvPr/>
        </p:nvSpPr>
        <p:spPr>
          <a:xfrm>
            <a:off x="9253537" y="1528763"/>
            <a:ext cx="274639" cy="369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…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" name="Google Shape;290;p13"/>
          <p:cNvSpPr/>
          <p:nvPr/>
        </p:nvSpPr>
        <p:spPr>
          <a:xfrm>
            <a:off x="9236076" y="1482725"/>
            <a:ext cx="444500" cy="88900"/>
          </a:xfrm>
          <a:custGeom>
            <a:rect b="b" l="l" r="r" t="t"/>
            <a:pathLst>
              <a:path extrusionOk="0" h="56" w="280">
                <a:moveTo>
                  <a:pt x="0" y="11"/>
                </a:moveTo>
                <a:cubicBezTo>
                  <a:pt x="52" y="33"/>
                  <a:pt x="104" y="56"/>
                  <a:pt x="151" y="54"/>
                </a:cubicBezTo>
                <a:cubicBezTo>
                  <a:pt x="198" y="52"/>
                  <a:pt x="239" y="26"/>
                  <a:pt x="280" y="0"/>
                </a:cubicBez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" name="Google Shape;291;p13"/>
          <p:cNvSpPr txBox="1"/>
          <p:nvPr/>
        </p:nvSpPr>
        <p:spPr>
          <a:xfrm>
            <a:off x="9637711" y="1281112"/>
            <a:ext cx="298451" cy="369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" name="Google Shape;292;p13"/>
          <p:cNvSpPr/>
          <p:nvPr/>
        </p:nvSpPr>
        <p:spPr>
          <a:xfrm>
            <a:off x="9847263" y="2592387"/>
            <a:ext cx="179388" cy="179388"/>
          </a:xfrm>
          <a:prstGeom prst="ellipse">
            <a:avLst/>
          </a:prstGeom>
          <a:solidFill>
            <a:srgbClr val="FF9999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" name="Google Shape;293;p13"/>
          <p:cNvSpPr/>
          <p:nvPr/>
        </p:nvSpPr>
        <p:spPr>
          <a:xfrm>
            <a:off x="9355137" y="1252537"/>
            <a:ext cx="179388" cy="179388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4" name="Google Shape;294;p13"/>
          <p:cNvSpPr/>
          <p:nvPr/>
        </p:nvSpPr>
        <p:spPr>
          <a:xfrm>
            <a:off x="8080376" y="3959223"/>
            <a:ext cx="2927351" cy="2062163"/>
          </a:xfrm>
          <a:custGeom>
            <a:rect b="b" l="l" r="r" t="t"/>
            <a:pathLst>
              <a:path extrusionOk="0" h="1609" w="1844">
                <a:moveTo>
                  <a:pt x="0" y="1609"/>
                </a:moveTo>
                <a:lnTo>
                  <a:pt x="1844" y="1609"/>
                </a:lnTo>
                <a:lnTo>
                  <a:pt x="915" y="0"/>
                </a:lnTo>
                <a:lnTo>
                  <a:pt x="0" y="1609"/>
                </a:lnTo>
                <a:close/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" name="Google Shape;295;p13"/>
          <p:cNvSpPr/>
          <p:nvPr/>
        </p:nvSpPr>
        <p:spPr>
          <a:xfrm>
            <a:off x="9202737" y="4314825"/>
            <a:ext cx="179388" cy="179387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" name="Google Shape;296;p13"/>
          <p:cNvSpPr/>
          <p:nvPr/>
        </p:nvSpPr>
        <p:spPr>
          <a:xfrm>
            <a:off x="9678988" y="4305299"/>
            <a:ext cx="179388" cy="179387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7" name="Google Shape;297;p13"/>
          <p:cNvSpPr txBox="1"/>
          <p:nvPr/>
        </p:nvSpPr>
        <p:spPr>
          <a:xfrm>
            <a:off x="9332912" y="4165600"/>
            <a:ext cx="274639" cy="369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…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" name="Google Shape;298;p13"/>
          <p:cNvSpPr/>
          <p:nvPr/>
        </p:nvSpPr>
        <p:spPr>
          <a:xfrm>
            <a:off x="9315451" y="4119561"/>
            <a:ext cx="444500" cy="88900"/>
          </a:xfrm>
          <a:custGeom>
            <a:rect b="b" l="l" r="r" t="t"/>
            <a:pathLst>
              <a:path extrusionOk="0" h="56" w="280">
                <a:moveTo>
                  <a:pt x="0" y="11"/>
                </a:moveTo>
                <a:cubicBezTo>
                  <a:pt x="52" y="33"/>
                  <a:pt x="104" y="56"/>
                  <a:pt x="151" y="54"/>
                </a:cubicBezTo>
                <a:cubicBezTo>
                  <a:pt x="198" y="52"/>
                  <a:pt x="239" y="26"/>
                  <a:pt x="280" y="0"/>
                </a:cubicBez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" name="Google Shape;299;p13"/>
          <p:cNvSpPr txBox="1"/>
          <p:nvPr/>
        </p:nvSpPr>
        <p:spPr>
          <a:xfrm>
            <a:off x="9717087" y="3917950"/>
            <a:ext cx="298451" cy="369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0" name="Google Shape;300;p13"/>
          <p:cNvSpPr/>
          <p:nvPr/>
        </p:nvSpPr>
        <p:spPr>
          <a:xfrm>
            <a:off x="9466263" y="5335587"/>
            <a:ext cx="179388" cy="179388"/>
          </a:xfrm>
          <a:prstGeom prst="ellipse">
            <a:avLst/>
          </a:prstGeom>
          <a:solidFill>
            <a:srgbClr val="FF9999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" name="Google Shape;301;p13"/>
          <p:cNvSpPr/>
          <p:nvPr/>
        </p:nvSpPr>
        <p:spPr>
          <a:xfrm>
            <a:off x="9434513" y="3889375"/>
            <a:ext cx="179388" cy="179387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14"/>
          <p:cNvSpPr txBox="1"/>
          <p:nvPr>
            <p:ph type="title"/>
          </p:nvPr>
        </p:nvSpPr>
        <p:spPr>
          <a:xfrm>
            <a:off x="0" y="-25400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A* Search</a:t>
            </a:r>
            <a:endParaRPr/>
          </a:p>
        </p:txBody>
      </p:sp>
      <p:pic>
        <p:nvPicPr>
          <p:cNvPr id="307" name="Google Shape;307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6069"/>
            <a:ext cx="12034725" cy="75277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15"/>
          <p:cNvSpPr txBox="1"/>
          <p:nvPr>
            <p:ph type="title"/>
          </p:nvPr>
        </p:nvSpPr>
        <p:spPr>
          <a:xfrm>
            <a:off x="0" y="-25400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A* Search</a:t>
            </a:r>
            <a:endParaRPr/>
          </a:p>
        </p:txBody>
      </p:sp>
      <p:sp>
        <p:nvSpPr>
          <p:cNvPr id="314" name="Google Shape;314;p15"/>
          <p:cNvSpPr txBox="1"/>
          <p:nvPr/>
        </p:nvSpPr>
        <p:spPr>
          <a:xfrm>
            <a:off x="2495837" y="5435501"/>
            <a:ext cx="1524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UCS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" name="Google Shape;315;p15"/>
          <p:cNvSpPr txBox="1"/>
          <p:nvPr/>
        </p:nvSpPr>
        <p:spPr>
          <a:xfrm>
            <a:off x="5757675" y="5435501"/>
            <a:ext cx="1524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Greedy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" name="Google Shape;316;p15"/>
          <p:cNvSpPr txBox="1"/>
          <p:nvPr/>
        </p:nvSpPr>
        <p:spPr>
          <a:xfrm>
            <a:off x="8610599" y="5435489"/>
            <a:ext cx="1524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17" name="Google Shape;317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57401" y="2233026"/>
            <a:ext cx="8077198" cy="24872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3" name="Google Shape;323;p16"/>
          <p:cNvCxnSpPr>
            <a:stCxn id="324" idx="6"/>
            <a:endCxn id="325" idx="2"/>
          </p:cNvCxnSpPr>
          <p:nvPr/>
        </p:nvCxnSpPr>
        <p:spPr>
          <a:xfrm>
            <a:off x="5029200" y="4038600"/>
            <a:ext cx="13716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26" name="Google Shape;326;p16"/>
          <p:cNvCxnSpPr>
            <a:stCxn id="327" idx="4"/>
            <a:endCxn id="324" idx="0"/>
          </p:cNvCxnSpPr>
          <p:nvPr/>
        </p:nvCxnSpPr>
        <p:spPr>
          <a:xfrm flipH="1">
            <a:off x="4800600" y="3352800"/>
            <a:ext cx="685800" cy="4572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28" name="Google Shape;328;p16"/>
          <p:cNvSpPr txBox="1"/>
          <p:nvPr>
            <p:ph type="title"/>
          </p:nvPr>
        </p:nvSpPr>
        <p:spPr>
          <a:xfrm>
            <a:off x="0" y="-25400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Combining UCS and Greedy</a:t>
            </a:r>
            <a:endParaRPr/>
          </a:p>
        </p:txBody>
      </p:sp>
      <p:sp>
        <p:nvSpPr>
          <p:cNvPr id="329" name="Google Shape;329;p16"/>
          <p:cNvSpPr txBox="1"/>
          <p:nvPr>
            <p:ph idx="1" type="body"/>
          </p:nvPr>
        </p:nvSpPr>
        <p:spPr>
          <a:xfrm>
            <a:off x="2209800" y="1371600"/>
            <a:ext cx="8229600" cy="502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882" lvl="0" marL="342882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300"/>
              <a:buChar char="▪"/>
            </a:pPr>
            <a:r>
              <a:rPr lang="en-US" sz="2300">
                <a:solidFill>
                  <a:srgbClr val="3333FF"/>
                </a:solidFill>
                <a:latin typeface="Calibri"/>
                <a:ea typeface="Calibri"/>
                <a:cs typeface="Calibri"/>
                <a:sym typeface="Calibri"/>
              </a:rPr>
              <a:t>Uniform-cost</a:t>
            </a:r>
            <a:r>
              <a:rPr lang="en-US" sz="2300"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orders by path cost, or </a:t>
            </a:r>
            <a:r>
              <a:rPr i="1" lang="en-US" sz="2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backward cost  </a:t>
            </a:r>
            <a:r>
              <a:rPr lang="en-US" sz="2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g(n)</a:t>
            </a:r>
            <a:endParaRPr/>
          </a:p>
          <a:p>
            <a:pPr indent="-342882" lvl="0" marL="342882" rtl="0" algn="l">
              <a:lnSpc>
                <a:spcPct val="90000"/>
              </a:lnSpc>
              <a:spcBef>
                <a:spcPts val="460"/>
              </a:spcBef>
              <a:spcAft>
                <a:spcPts val="0"/>
              </a:spcAft>
              <a:buSzPts val="2300"/>
              <a:buChar char="▪"/>
            </a:pPr>
            <a:r>
              <a:rPr lang="en-US" sz="23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Greedy</a:t>
            </a:r>
            <a:r>
              <a:rPr lang="en-US" sz="2300"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orders by goal proximity, or </a:t>
            </a:r>
            <a:r>
              <a:rPr i="1" lang="en-US" sz="2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forward cost  </a:t>
            </a:r>
            <a:r>
              <a:rPr lang="en-US" sz="2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h(n)</a:t>
            </a:r>
            <a:endParaRPr i="1" sz="23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96832" lvl="0" marL="342882" rtl="0" algn="l">
              <a:lnSpc>
                <a:spcPct val="90000"/>
              </a:lnSpc>
              <a:spcBef>
                <a:spcPts val="460"/>
              </a:spcBef>
              <a:spcAft>
                <a:spcPts val="0"/>
              </a:spcAft>
              <a:buSzPts val="2300"/>
              <a:buNone/>
            </a:pPr>
            <a:r>
              <a:t/>
            </a:r>
            <a:endParaRPr sz="23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96832" lvl="0" marL="342882" rtl="0" algn="l">
              <a:lnSpc>
                <a:spcPct val="90000"/>
              </a:lnSpc>
              <a:spcBef>
                <a:spcPts val="460"/>
              </a:spcBef>
              <a:spcAft>
                <a:spcPts val="0"/>
              </a:spcAft>
              <a:buSzPts val="2300"/>
              <a:buNone/>
            </a:pPr>
            <a:r>
              <a:t/>
            </a:r>
            <a:endParaRPr sz="2300">
              <a:latin typeface="Calibri"/>
              <a:ea typeface="Calibri"/>
              <a:cs typeface="Calibri"/>
              <a:sym typeface="Calibri"/>
            </a:endParaRPr>
          </a:p>
          <a:p>
            <a:pPr indent="-196832" lvl="0" marL="342882" rtl="0" algn="l">
              <a:lnSpc>
                <a:spcPct val="90000"/>
              </a:lnSpc>
              <a:spcBef>
                <a:spcPts val="460"/>
              </a:spcBef>
              <a:spcAft>
                <a:spcPts val="0"/>
              </a:spcAft>
              <a:buSzPts val="2300"/>
              <a:buNone/>
            </a:pPr>
            <a:r>
              <a:t/>
            </a:r>
            <a:endParaRPr sz="2300">
              <a:latin typeface="Calibri"/>
              <a:ea typeface="Calibri"/>
              <a:cs typeface="Calibri"/>
              <a:sym typeface="Calibri"/>
            </a:endParaRPr>
          </a:p>
          <a:p>
            <a:pPr indent="-196832" lvl="0" marL="342882" rtl="0" algn="l">
              <a:lnSpc>
                <a:spcPct val="90000"/>
              </a:lnSpc>
              <a:spcBef>
                <a:spcPts val="460"/>
              </a:spcBef>
              <a:spcAft>
                <a:spcPts val="0"/>
              </a:spcAft>
              <a:buSzPts val="2300"/>
              <a:buNone/>
            </a:pPr>
            <a:r>
              <a:t/>
            </a:r>
            <a:endParaRPr sz="2300">
              <a:latin typeface="Calibri"/>
              <a:ea typeface="Calibri"/>
              <a:cs typeface="Calibri"/>
              <a:sym typeface="Calibri"/>
            </a:endParaRPr>
          </a:p>
          <a:p>
            <a:pPr indent="-196832" lvl="0" marL="342882" rtl="0" algn="l">
              <a:lnSpc>
                <a:spcPct val="90000"/>
              </a:lnSpc>
              <a:spcBef>
                <a:spcPts val="460"/>
              </a:spcBef>
              <a:spcAft>
                <a:spcPts val="0"/>
              </a:spcAft>
              <a:buSzPts val="2300"/>
              <a:buNone/>
            </a:pPr>
            <a:r>
              <a:t/>
            </a:r>
            <a:endParaRPr sz="2300">
              <a:latin typeface="Calibri"/>
              <a:ea typeface="Calibri"/>
              <a:cs typeface="Calibri"/>
              <a:sym typeface="Calibri"/>
            </a:endParaRPr>
          </a:p>
          <a:p>
            <a:pPr indent="-196832" lvl="0" marL="342882" rtl="0" algn="l">
              <a:lnSpc>
                <a:spcPct val="90000"/>
              </a:lnSpc>
              <a:spcBef>
                <a:spcPts val="460"/>
              </a:spcBef>
              <a:spcAft>
                <a:spcPts val="0"/>
              </a:spcAft>
              <a:buSzPts val="2300"/>
              <a:buNone/>
            </a:pPr>
            <a:r>
              <a:t/>
            </a:r>
            <a:endParaRPr sz="2300">
              <a:latin typeface="Calibri"/>
              <a:ea typeface="Calibri"/>
              <a:cs typeface="Calibri"/>
              <a:sym typeface="Calibri"/>
            </a:endParaRPr>
          </a:p>
          <a:p>
            <a:pPr indent="-196832" lvl="0" marL="342882" rtl="0" algn="l">
              <a:lnSpc>
                <a:spcPct val="90000"/>
              </a:lnSpc>
              <a:spcBef>
                <a:spcPts val="460"/>
              </a:spcBef>
              <a:spcAft>
                <a:spcPts val="0"/>
              </a:spcAft>
              <a:buSzPts val="2300"/>
              <a:buNone/>
            </a:pPr>
            <a:r>
              <a:t/>
            </a:r>
            <a:endParaRPr sz="2300">
              <a:latin typeface="Calibri"/>
              <a:ea typeface="Calibri"/>
              <a:cs typeface="Calibri"/>
              <a:sym typeface="Calibri"/>
            </a:endParaRPr>
          </a:p>
          <a:p>
            <a:pPr indent="-196832" lvl="0" marL="342882" rtl="0" algn="l">
              <a:lnSpc>
                <a:spcPct val="90000"/>
              </a:lnSpc>
              <a:spcBef>
                <a:spcPts val="460"/>
              </a:spcBef>
              <a:spcAft>
                <a:spcPts val="0"/>
              </a:spcAft>
              <a:buSzPts val="2300"/>
              <a:buNone/>
            </a:pPr>
            <a:r>
              <a:t/>
            </a:r>
            <a:endParaRPr sz="2300">
              <a:latin typeface="Calibri"/>
              <a:ea typeface="Calibri"/>
              <a:cs typeface="Calibri"/>
              <a:sym typeface="Calibri"/>
            </a:endParaRPr>
          </a:p>
          <a:p>
            <a:pPr indent="-196832" lvl="0" marL="342882" rtl="0" algn="l">
              <a:lnSpc>
                <a:spcPct val="90000"/>
              </a:lnSpc>
              <a:spcBef>
                <a:spcPts val="460"/>
              </a:spcBef>
              <a:spcAft>
                <a:spcPts val="0"/>
              </a:spcAft>
              <a:buSzPts val="2300"/>
              <a:buNone/>
            </a:pPr>
            <a:r>
              <a:t/>
            </a:r>
            <a:endParaRPr sz="2300">
              <a:latin typeface="Calibri"/>
              <a:ea typeface="Calibri"/>
              <a:cs typeface="Calibri"/>
              <a:sym typeface="Calibri"/>
            </a:endParaRPr>
          </a:p>
          <a:p>
            <a:pPr indent="-196832" lvl="0" marL="342882" rtl="0" algn="l">
              <a:lnSpc>
                <a:spcPct val="90000"/>
              </a:lnSpc>
              <a:spcBef>
                <a:spcPts val="460"/>
              </a:spcBef>
              <a:spcAft>
                <a:spcPts val="0"/>
              </a:spcAft>
              <a:buSzPts val="2300"/>
              <a:buNone/>
            </a:pPr>
            <a:r>
              <a:t/>
            </a:r>
            <a:endParaRPr sz="2300">
              <a:latin typeface="Calibri"/>
              <a:ea typeface="Calibri"/>
              <a:cs typeface="Calibri"/>
              <a:sym typeface="Calibri"/>
            </a:endParaRPr>
          </a:p>
          <a:p>
            <a:pPr indent="-342882" lvl="0" marL="342882" rtl="0" algn="l">
              <a:lnSpc>
                <a:spcPct val="90000"/>
              </a:lnSpc>
              <a:spcBef>
                <a:spcPts val="460"/>
              </a:spcBef>
              <a:spcAft>
                <a:spcPts val="0"/>
              </a:spcAft>
              <a:buSzPts val="2300"/>
              <a:buChar char="▪"/>
            </a:pPr>
            <a:r>
              <a:rPr lang="en-US" sz="2300">
                <a:solidFill>
                  <a:srgbClr val="CC00CC"/>
                </a:solidFill>
                <a:latin typeface="Calibri"/>
                <a:ea typeface="Calibri"/>
                <a:cs typeface="Calibri"/>
                <a:sym typeface="Calibri"/>
              </a:rPr>
              <a:t>A* Search</a:t>
            </a:r>
            <a:r>
              <a:rPr lang="en-US" sz="2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orders by the sum: f(n) = g(n) + h(n)</a:t>
            </a:r>
            <a:endParaRPr i="1" sz="2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16"/>
          <p:cNvSpPr/>
          <p:nvPr/>
        </p:nvSpPr>
        <p:spPr>
          <a:xfrm>
            <a:off x="457200" y="3810000"/>
            <a:ext cx="457200" cy="4572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1" name="Google Shape;331;p16"/>
          <p:cNvSpPr/>
          <p:nvPr/>
        </p:nvSpPr>
        <p:spPr>
          <a:xfrm>
            <a:off x="1752600" y="3810000"/>
            <a:ext cx="457200" cy="4572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" name="Google Shape;324;p16"/>
          <p:cNvSpPr/>
          <p:nvPr/>
        </p:nvSpPr>
        <p:spPr>
          <a:xfrm>
            <a:off x="4572000" y="3810000"/>
            <a:ext cx="457200" cy="4572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2" name="Google Shape;332;p16"/>
          <p:cNvSpPr/>
          <p:nvPr/>
        </p:nvSpPr>
        <p:spPr>
          <a:xfrm>
            <a:off x="1752600" y="4724400"/>
            <a:ext cx="457200" cy="4572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5" name="Google Shape;325;p16"/>
          <p:cNvSpPr/>
          <p:nvPr/>
        </p:nvSpPr>
        <p:spPr>
          <a:xfrm>
            <a:off x="6400800" y="3810000"/>
            <a:ext cx="457200" cy="4572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3" name="Google Shape;333;p16"/>
          <p:cNvSpPr txBox="1"/>
          <p:nvPr/>
        </p:nvSpPr>
        <p:spPr>
          <a:xfrm>
            <a:off x="1981200" y="4191001"/>
            <a:ext cx="91440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1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h=5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4" name="Google Shape;334;p16"/>
          <p:cNvSpPr txBox="1"/>
          <p:nvPr/>
        </p:nvSpPr>
        <p:spPr>
          <a:xfrm>
            <a:off x="1676400" y="5181601"/>
            <a:ext cx="76200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1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h=6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5" name="Google Shape;335;p16"/>
          <p:cNvSpPr txBox="1"/>
          <p:nvPr/>
        </p:nvSpPr>
        <p:spPr>
          <a:xfrm>
            <a:off x="4800600" y="4343401"/>
            <a:ext cx="68580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1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h=2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6" name="Google Shape;336;p16"/>
          <p:cNvSpPr txBox="1"/>
          <p:nvPr/>
        </p:nvSpPr>
        <p:spPr>
          <a:xfrm>
            <a:off x="1066800" y="3641725"/>
            <a:ext cx="53340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7" name="Google Shape;337;p16"/>
          <p:cNvSpPr txBox="1"/>
          <p:nvPr/>
        </p:nvSpPr>
        <p:spPr>
          <a:xfrm>
            <a:off x="3276600" y="2286001"/>
            <a:ext cx="38100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8" name="Google Shape;338;p16"/>
          <p:cNvSpPr txBox="1"/>
          <p:nvPr/>
        </p:nvSpPr>
        <p:spPr>
          <a:xfrm>
            <a:off x="1066800" y="4572001"/>
            <a:ext cx="53340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9" name="Google Shape;339;p16"/>
          <p:cNvSpPr txBox="1"/>
          <p:nvPr/>
        </p:nvSpPr>
        <p:spPr>
          <a:xfrm>
            <a:off x="1524000" y="4251325"/>
            <a:ext cx="53340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0" name="Google Shape;340;p16"/>
          <p:cNvSpPr txBox="1"/>
          <p:nvPr/>
        </p:nvSpPr>
        <p:spPr>
          <a:xfrm>
            <a:off x="5562600" y="3641725"/>
            <a:ext cx="53340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1" name="Google Shape;341;p16"/>
          <p:cNvSpPr txBox="1"/>
          <p:nvPr/>
        </p:nvSpPr>
        <p:spPr>
          <a:xfrm>
            <a:off x="304800" y="4191001"/>
            <a:ext cx="83820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1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h=6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2" name="Google Shape;342;p16"/>
          <p:cNvSpPr txBox="1"/>
          <p:nvPr/>
        </p:nvSpPr>
        <p:spPr>
          <a:xfrm>
            <a:off x="6172200" y="4343401"/>
            <a:ext cx="91440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1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h=0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43" name="Google Shape;343;p16"/>
          <p:cNvCxnSpPr>
            <a:stCxn id="330" idx="6"/>
            <a:endCxn id="331" idx="2"/>
          </p:cNvCxnSpPr>
          <p:nvPr/>
        </p:nvCxnSpPr>
        <p:spPr>
          <a:xfrm>
            <a:off x="914400" y="4038600"/>
            <a:ext cx="8382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44" name="Google Shape;344;p16"/>
          <p:cNvCxnSpPr>
            <a:stCxn id="331" idx="4"/>
            <a:endCxn id="332" idx="0"/>
          </p:cNvCxnSpPr>
          <p:nvPr/>
        </p:nvCxnSpPr>
        <p:spPr>
          <a:xfrm>
            <a:off x="1981200" y="4267200"/>
            <a:ext cx="0" cy="4572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45" name="Google Shape;345;p16"/>
          <p:cNvCxnSpPr>
            <a:stCxn id="331" idx="0"/>
            <a:endCxn id="327" idx="1"/>
          </p:cNvCxnSpPr>
          <p:nvPr/>
        </p:nvCxnSpPr>
        <p:spPr>
          <a:xfrm rot="-5400000">
            <a:off x="3229200" y="1714500"/>
            <a:ext cx="847500" cy="3343500"/>
          </a:xfrm>
          <a:prstGeom prst="curvedConnector3">
            <a:avLst>
              <a:gd fmla="val 134869" name="adj1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46" name="Google Shape;346;p16"/>
          <p:cNvCxnSpPr>
            <a:stCxn id="332" idx="2"/>
            <a:endCxn id="347" idx="6"/>
          </p:cNvCxnSpPr>
          <p:nvPr/>
        </p:nvCxnSpPr>
        <p:spPr>
          <a:xfrm rot="10800000">
            <a:off x="914400" y="4953000"/>
            <a:ext cx="8382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47" name="Google Shape;347;p16"/>
          <p:cNvSpPr/>
          <p:nvPr/>
        </p:nvSpPr>
        <p:spPr>
          <a:xfrm>
            <a:off x="457200" y="4724400"/>
            <a:ext cx="457200" cy="4572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48" name="Google Shape;348;p16"/>
          <p:cNvCxnSpPr>
            <a:stCxn id="331" idx="6"/>
            <a:endCxn id="324" idx="2"/>
          </p:cNvCxnSpPr>
          <p:nvPr/>
        </p:nvCxnSpPr>
        <p:spPr>
          <a:xfrm>
            <a:off x="2209800" y="4038600"/>
            <a:ext cx="23622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49" name="Google Shape;349;p16"/>
          <p:cNvSpPr txBox="1"/>
          <p:nvPr/>
        </p:nvSpPr>
        <p:spPr>
          <a:xfrm>
            <a:off x="304800" y="5165725"/>
            <a:ext cx="76200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1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h=7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0" name="Google Shape;350;p16"/>
          <p:cNvSpPr txBox="1"/>
          <p:nvPr/>
        </p:nvSpPr>
        <p:spPr>
          <a:xfrm>
            <a:off x="3124200" y="3641725"/>
            <a:ext cx="53340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7" name="Google Shape;327;p16"/>
          <p:cNvSpPr/>
          <p:nvPr/>
        </p:nvSpPr>
        <p:spPr>
          <a:xfrm>
            <a:off x="5257800" y="2895600"/>
            <a:ext cx="457200" cy="4572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1" name="Google Shape;351;p16"/>
          <p:cNvSpPr txBox="1"/>
          <p:nvPr/>
        </p:nvSpPr>
        <p:spPr>
          <a:xfrm>
            <a:off x="5715000" y="2895601"/>
            <a:ext cx="76200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1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h=1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2" name="Google Shape;352;p16"/>
          <p:cNvSpPr txBox="1"/>
          <p:nvPr/>
        </p:nvSpPr>
        <p:spPr>
          <a:xfrm>
            <a:off x="4724400" y="3200401"/>
            <a:ext cx="53340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53" name="Google Shape;353;p16"/>
          <p:cNvGrpSpPr/>
          <p:nvPr/>
        </p:nvGrpSpPr>
        <p:grpSpPr>
          <a:xfrm>
            <a:off x="914400" y="4038601"/>
            <a:ext cx="1066800" cy="915988"/>
            <a:chOff x="1392" y="2544"/>
            <a:chExt cx="672" cy="577"/>
          </a:xfrm>
        </p:grpSpPr>
        <p:cxnSp>
          <p:nvCxnSpPr>
            <p:cNvPr id="354" name="Google Shape;354;p16"/>
            <p:cNvCxnSpPr/>
            <p:nvPr/>
          </p:nvCxnSpPr>
          <p:spPr>
            <a:xfrm>
              <a:off x="1392" y="2544"/>
              <a:ext cx="528" cy="0"/>
            </a:xfrm>
            <a:prstGeom prst="straightConnector1">
              <a:avLst/>
            </a:prstGeom>
            <a:noFill/>
            <a:ln cap="flat" cmpd="sng" w="38100">
              <a:solidFill>
                <a:srgbClr val="3333FF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355" name="Google Shape;355;p16"/>
            <p:cNvCxnSpPr/>
            <p:nvPr/>
          </p:nvCxnSpPr>
          <p:spPr>
            <a:xfrm>
              <a:off x="2064" y="2688"/>
              <a:ext cx="0" cy="288"/>
            </a:xfrm>
            <a:prstGeom prst="straightConnector1">
              <a:avLst/>
            </a:prstGeom>
            <a:noFill/>
            <a:ln cap="flat" cmpd="sng" w="38100">
              <a:solidFill>
                <a:srgbClr val="3333FF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356" name="Google Shape;356;p16"/>
            <p:cNvCxnSpPr/>
            <p:nvPr/>
          </p:nvCxnSpPr>
          <p:spPr>
            <a:xfrm rot="10800000">
              <a:off x="1392" y="3120"/>
              <a:ext cx="528" cy="1"/>
            </a:xfrm>
            <a:prstGeom prst="straightConnector1">
              <a:avLst/>
            </a:prstGeom>
            <a:noFill/>
            <a:ln cap="flat" cmpd="sng" w="38100">
              <a:solidFill>
                <a:srgbClr val="3333FF"/>
              </a:solidFill>
              <a:prstDash val="solid"/>
              <a:round/>
              <a:headEnd len="sm" w="sm" type="none"/>
              <a:tailEnd len="med" w="med" type="triangle"/>
            </a:ln>
          </p:spPr>
        </p:cxnSp>
      </p:grpSp>
      <p:grpSp>
        <p:nvGrpSpPr>
          <p:cNvPr id="357" name="Google Shape;357;p16"/>
          <p:cNvGrpSpPr/>
          <p:nvPr/>
        </p:nvGrpSpPr>
        <p:grpSpPr>
          <a:xfrm>
            <a:off x="914400" y="2962276"/>
            <a:ext cx="5486400" cy="1076325"/>
            <a:chOff x="1392" y="1872"/>
            <a:chExt cx="3456" cy="678"/>
          </a:xfrm>
        </p:grpSpPr>
        <p:cxnSp>
          <p:nvCxnSpPr>
            <p:cNvPr id="358" name="Google Shape;358;p16"/>
            <p:cNvCxnSpPr/>
            <p:nvPr/>
          </p:nvCxnSpPr>
          <p:spPr>
            <a:xfrm>
              <a:off x="3984" y="2550"/>
              <a:ext cx="864" cy="0"/>
            </a:xfrm>
            <a:prstGeom prst="straightConnector1">
              <a:avLst/>
            </a:prstGeom>
            <a:noFill/>
            <a:ln cap="flat" cmpd="sng" w="38100">
              <a:solidFill>
                <a:srgbClr val="CC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359" name="Google Shape;359;p16"/>
            <p:cNvCxnSpPr/>
            <p:nvPr/>
          </p:nvCxnSpPr>
          <p:spPr>
            <a:xfrm flipH="1">
              <a:off x="3840" y="2118"/>
              <a:ext cx="432" cy="288"/>
            </a:xfrm>
            <a:prstGeom prst="straightConnector1">
              <a:avLst/>
            </a:prstGeom>
            <a:noFill/>
            <a:ln cap="flat" cmpd="sng" w="38100">
              <a:solidFill>
                <a:srgbClr val="CC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360" name="Google Shape;360;p16"/>
            <p:cNvCxnSpPr/>
            <p:nvPr/>
          </p:nvCxnSpPr>
          <p:spPr>
            <a:xfrm>
              <a:off x="1392" y="2550"/>
              <a:ext cx="528" cy="0"/>
            </a:xfrm>
            <a:prstGeom prst="straightConnector1">
              <a:avLst/>
            </a:prstGeom>
            <a:noFill/>
            <a:ln cap="flat" cmpd="sng" w="38100">
              <a:solidFill>
                <a:srgbClr val="CC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361" name="Google Shape;361;p16"/>
            <p:cNvCxnSpPr/>
            <p:nvPr/>
          </p:nvCxnSpPr>
          <p:spPr>
            <a:xfrm rot="-5400000">
              <a:off x="2850" y="1086"/>
              <a:ext cx="534" cy="2106"/>
            </a:xfrm>
            <a:prstGeom prst="curvedConnector3">
              <a:avLst>
                <a:gd fmla="val 449438" name="adj1"/>
              </a:avLst>
            </a:prstGeom>
            <a:noFill/>
            <a:ln cap="flat" cmpd="sng" w="38100">
              <a:solidFill>
                <a:srgbClr val="CC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</p:grpSp>
      <p:grpSp>
        <p:nvGrpSpPr>
          <p:cNvPr id="362" name="Google Shape;362;p16"/>
          <p:cNvGrpSpPr/>
          <p:nvPr/>
        </p:nvGrpSpPr>
        <p:grpSpPr>
          <a:xfrm>
            <a:off x="914400" y="4038600"/>
            <a:ext cx="5486400" cy="0"/>
            <a:chOff x="1392" y="2544"/>
            <a:chExt cx="3456" cy="0"/>
          </a:xfrm>
        </p:grpSpPr>
        <p:cxnSp>
          <p:nvCxnSpPr>
            <p:cNvPr id="363" name="Google Shape;363;p16"/>
            <p:cNvCxnSpPr/>
            <p:nvPr/>
          </p:nvCxnSpPr>
          <p:spPr>
            <a:xfrm>
              <a:off x="3984" y="2544"/>
              <a:ext cx="864" cy="0"/>
            </a:xfrm>
            <a:prstGeom prst="straightConnector1">
              <a:avLst/>
            </a:prstGeom>
            <a:noFill/>
            <a:ln cap="flat" cmpd="sng" w="38100">
              <a:solidFill>
                <a:srgbClr val="CC00CC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364" name="Google Shape;364;p16"/>
            <p:cNvCxnSpPr/>
            <p:nvPr/>
          </p:nvCxnSpPr>
          <p:spPr>
            <a:xfrm>
              <a:off x="1392" y="2544"/>
              <a:ext cx="528" cy="0"/>
            </a:xfrm>
            <a:prstGeom prst="straightConnector1">
              <a:avLst/>
            </a:prstGeom>
            <a:noFill/>
            <a:ln cap="flat" cmpd="sng" w="38100">
              <a:solidFill>
                <a:srgbClr val="CC00CC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365" name="Google Shape;365;p16"/>
            <p:cNvCxnSpPr/>
            <p:nvPr/>
          </p:nvCxnSpPr>
          <p:spPr>
            <a:xfrm>
              <a:off x="2208" y="2544"/>
              <a:ext cx="1488" cy="0"/>
            </a:xfrm>
            <a:prstGeom prst="straightConnector1">
              <a:avLst/>
            </a:prstGeom>
            <a:noFill/>
            <a:ln cap="flat" cmpd="sng" w="38100">
              <a:solidFill>
                <a:srgbClr val="CC00CC"/>
              </a:solidFill>
              <a:prstDash val="solid"/>
              <a:round/>
              <a:headEnd len="sm" w="sm" type="none"/>
              <a:tailEnd len="med" w="med" type="triangle"/>
            </a:ln>
          </p:spPr>
        </p:cxnSp>
      </p:grpSp>
      <p:sp>
        <p:nvSpPr>
          <p:cNvPr id="366" name="Google Shape;366;p16"/>
          <p:cNvSpPr txBox="1"/>
          <p:nvPr/>
        </p:nvSpPr>
        <p:spPr>
          <a:xfrm>
            <a:off x="9296400" y="6457892"/>
            <a:ext cx="2819400" cy="4001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Example: Teg Grenager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16"/>
          <p:cNvSpPr/>
          <p:nvPr/>
        </p:nvSpPr>
        <p:spPr>
          <a:xfrm>
            <a:off x="9753600" y="2362200"/>
            <a:ext cx="457200" cy="4572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8" name="Google Shape;368;p16"/>
          <p:cNvSpPr/>
          <p:nvPr/>
        </p:nvSpPr>
        <p:spPr>
          <a:xfrm>
            <a:off x="9220200" y="2971800"/>
            <a:ext cx="457200" cy="4572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9" name="Google Shape;369;p16"/>
          <p:cNvSpPr/>
          <p:nvPr/>
        </p:nvSpPr>
        <p:spPr>
          <a:xfrm>
            <a:off x="8686800" y="3886200"/>
            <a:ext cx="457200" cy="4572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0" name="Google Shape;370;p16"/>
          <p:cNvSpPr/>
          <p:nvPr/>
        </p:nvSpPr>
        <p:spPr>
          <a:xfrm>
            <a:off x="8686800" y="4800600"/>
            <a:ext cx="457200" cy="4572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1" name="Google Shape;371;p16"/>
          <p:cNvSpPr/>
          <p:nvPr/>
        </p:nvSpPr>
        <p:spPr>
          <a:xfrm>
            <a:off x="10896600" y="3886200"/>
            <a:ext cx="457200" cy="4572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2" name="Google Shape;372;p16"/>
          <p:cNvSpPr/>
          <p:nvPr/>
        </p:nvSpPr>
        <p:spPr>
          <a:xfrm>
            <a:off x="9448800" y="3886200"/>
            <a:ext cx="457200" cy="4572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3" name="Google Shape;373;p16"/>
          <p:cNvSpPr/>
          <p:nvPr/>
        </p:nvSpPr>
        <p:spPr>
          <a:xfrm>
            <a:off x="10896600" y="4800600"/>
            <a:ext cx="457200" cy="4572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4" name="Google Shape;374;p16"/>
          <p:cNvSpPr/>
          <p:nvPr/>
        </p:nvSpPr>
        <p:spPr>
          <a:xfrm>
            <a:off x="9448800" y="4800600"/>
            <a:ext cx="457200" cy="4572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5" name="Google Shape;375;p16"/>
          <p:cNvSpPr/>
          <p:nvPr/>
        </p:nvSpPr>
        <p:spPr>
          <a:xfrm>
            <a:off x="10896600" y="5715000"/>
            <a:ext cx="457200" cy="4572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76" name="Google Shape;376;p16"/>
          <p:cNvCxnSpPr>
            <a:stCxn id="367" idx="4"/>
            <a:endCxn id="368" idx="7"/>
          </p:cNvCxnSpPr>
          <p:nvPr/>
        </p:nvCxnSpPr>
        <p:spPr>
          <a:xfrm flipH="1">
            <a:off x="9610500" y="2819400"/>
            <a:ext cx="371700" cy="21930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77" name="Google Shape;377;p16"/>
          <p:cNvCxnSpPr>
            <a:stCxn id="368" idx="4"/>
            <a:endCxn id="372" idx="0"/>
          </p:cNvCxnSpPr>
          <p:nvPr/>
        </p:nvCxnSpPr>
        <p:spPr>
          <a:xfrm>
            <a:off x="9448800" y="3429000"/>
            <a:ext cx="228600" cy="45720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78" name="Google Shape;378;p16"/>
          <p:cNvCxnSpPr>
            <a:stCxn id="371" idx="4"/>
            <a:endCxn id="373" idx="0"/>
          </p:cNvCxnSpPr>
          <p:nvPr/>
        </p:nvCxnSpPr>
        <p:spPr>
          <a:xfrm>
            <a:off x="11125200" y="4343400"/>
            <a:ext cx="0" cy="45720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79" name="Google Shape;379;p16"/>
          <p:cNvCxnSpPr>
            <a:stCxn id="372" idx="4"/>
            <a:endCxn id="374" idx="0"/>
          </p:cNvCxnSpPr>
          <p:nvPr/>
        </p:nvCxnSpPr>
        <p:spPr>
          <a:xfrm>
            <a:off x="9677400" y="4343400"/>
            <a:ext cx="0" cy="45720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80" name="Google Shape;380;p16"/>
          <p:cNvCxnSpPr>
            <a:stCxn id="371" idx="0"/>
            <a:endCxn id="368" idx="4"/>
          </p:cNvCxnSpPr>
          <p:nvPr/>
        </p:nvCxnSpPr>
        <p:spPr>
          <a:xfrm rot="10800000">
            <a:off x="9448800" y="3429000"/>
            <a:ext cx="1676400" cy="45720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81" name="Google Shape;381;p16"/>
          <p:cNvCxnSpPr>
            <a:stCxn id="368" idx="4"/>
            <a:endCxn id="369" idx="0"/>
          </p:cNvCxnSpPr>
          <p:nvPr/>
        </p:nvCxnSpPr>
        <p:spPr>
          <a:xfrm flipH="1">
            <a:off x="8915400" y="3429000"/>
            <a:ext cx="533400" cy="45720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82" name="Google Shape;382;p16"/>
          <p:cNvCxnSpPr>
            <a:stCxn id="369" idx="4"/>
            <a:endCxn id="370" idx="0"/>
          </p:cNvCxnSpPr>
          <p:nvPr/>
        </p:nvCxnSpPr>
        <p:spPr>
          <a:xfrm>
            <a:off x="8915400" y="4343400"/>
            <a:ext cx="0" cy="45720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83" name="Google Shape;383;p16"/>
          <p:cNvCxnSpPr>
            <a:stCxn id="373" idx="4"/>
            <a:endCxn id="375" idx="0"/>
          </p:cNvCxnSpPr>
          <p:nvPr/>
        </p:nvCxnSpPr>
        <p:spPr>
          <a:xfrm>
            <a:off x="11125200" y="5257800"/>
            <a:ext cx="0" cy="45720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84" name="Google Shape;384;p16"/>
          <p:cNvSpPr txBox="1"/>
          <p:nvPr/>
        </p:nvSpPr>
        <p:spPr>
          <a:xfrm>
            <a:off x="10287000" y="2209800"/>
            <a:ext cx="838200" cy="7078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1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 = 0 h=6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5" name="Google Shape;385;p16"/>
          <p:cNvSpPr txBox="1"/>
          <p:nvPr/>
        </p:nvSpPr>
        <p:spPr>
          <a:xfrm>
            <a:off x="8458200" y="2797316"/>
            <a:ext cx="838200" cy="7078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1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 = 1 h=5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6" name="Google Shape;386;p16"/>
          <p:cNvSpPr txBox="1"/>
          <p:nvPr/>
        </p:nvSpPr>
        <p:spPr>
          <a:xfrm>
            <a:off x="7848600" y="3733800"/>
            <a:ext cx="838200" cy="7078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1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 = 2 h=6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7" name="Google Shape;387;p16"/>
          <p:cNvSpPr txBox="1"/>
          <p:nvPr/>
        </p:nvSpPr>
        <p:spPr>
          <a:xfrm>
            <a:off x="7848600" y="4626116"/>
            <a:ext cx="838200" cy="7078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1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 = 3 h=7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8" name="Google Shape;388;p16"/>
          <p:cNvSpPr txBox="1"/>
          <p:nvPr/>
        </p:nvSpPr>
        <p:spPr>
          <a:xfrm>
            <a:off x="9829800" y="3810000"/>
            <a:ext cx="838200" cy="7078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1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 = 4 h=2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9" name="Google Shape;389;p16"/>
          <p:cNvSpPr txBox="1"/>
          <p:nvPr/>
        </p:nvSpPr>
        <p:spPr>
          <a:xfrm>
            <a:off x="9829800" y="4648200"/>
            <a:ext cx="838200" cy="7078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1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 = 6 h=0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0" name="Google Shape;390;p16"/>
          <p:cNvSpPr txBox="1"/>
          <p:nvPr/>
        </p:nvSpPr>
        <p:spPr>
          <a:xfrm>
            <a:off x="11277600" y="3711716"/>
            <a:ext cx="838200" cy="7078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1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 = 9 h=1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1" name="Google Shape;391;p16"/>
          <p:cNvSpPr txBox="1"/>
          <p:nvPr/>
        </p:nvSpPr>
        <p:spPr>
          <a:xfrm>
            <a:off x="11277600" y="4702316"/>
            <a:ext cx="914400" cy="7078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1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 = 10 h=2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2" name="Google Shape;392;p16"/>
          <p:cNvSpPr txBox="1"/>
          <p:nvPr/>
        </p:nvSpPr>
        <p:spPr>
          <a:xfrm>
            <a:off x="11277600" y="5562600"/>
            <a:ext cx="914400" cy="7078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1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 = 12 h=0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">
                                            <p:txEl>
                                              <p:pRg end="12" st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g3c5a5f0e809_0_0"/>
          <p:cNvSpPr txBox="1"/>
          <p:nvPr>
            <p:ph type="title"/>
          </p:nvPr>
        </p:nvSpPr>
        <p:spPr>
          <a:xfrm>
            <a:off x="0" y="-25400"/>
            <a:ext cx="12192000" cy="1143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Example</a:t>
            </a:r>
            <a:endParaRPr/>
          </a:p>
        </p:txBody>
      </p:sp>
      <p:sp>
        <p:nvSpPr>
          <p:cNvPr id="399" name="Google Shape;399;g3c5a5f0e809_0_0"/>
          <p:cNvSpPr txBox="1"/>
          <p:nvPr>
            <p:ph idx="1" type="body"/>
          </p:nvPr>
        </p:nvSpPr>
        <p:spPr>
          <a:xfrm>
            <a:off x="406400" y="1397001"/>
            <a:ext cx="11379300" cy="4729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Consider the following state space graph where S is the start state and G is the goal state. h represents the heuristic values of the states. Show the expansion path, solution path and the associated actual path cost for greedy best first search, A* tree search.</a:t>
            </a:r>
            <a:endParaRPr sz="3700"/>
          </a:p>
        </p:txBody>
      </p:sp>
      <p:pic>
        <p:nvPicPr>
          <p:cNvPr id="400" name="Google Shape;400;g3c5a5f0e809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33625" y="2443450"/>
            <a:ext cx="2562225" cy="2524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17"/>
          <p:cNvSpPr txBox="1"/>
          <p:nvPr>
            <p:ph type="title"/>
          </p:nvPr>
        </p:nvSpPr>
        <p:spPr>
          <a:xfrm>
            <a:off x="0" y="-25400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When should A* terminate?</a:t>
            </a:r>
            <a:endParaRPr/>
          </a:p>
        </p:txBody>
      </p:sp>
      <p:sp>
        <p:nvSpPr>
          <p:cNvPr id="406" name="Google Shape;406;p17"/>
          <p:cNvSpPr txBox="1"/>
          <p:nvPr>
            <p:ph idx="1" type="body"/>
          </p:nvPr>
        </p:nvSpPr>
        <p:spPr>
          <a:xfrm>
            <a:off x="2209800" y="1447800"/>
            <a:ext cx="9728200" cy="41051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882" lvl="0" marL="34288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Char char="▪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Should we stop when we enqueue a goal?</a:t>
            </a:r>
            <a:endParaRPr/>
          </a:p>
          <a:p>
            <a:pPr indent="-139682" lvl="0" marL="342882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139682" lvl="0" marL="342882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139682" lvl="0" marL="342882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139682" lvl="0" marL="342882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139682" lvl="0" marL="342882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139682" lvl="0" marL="342882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342882" lvl="0" marL="342882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Char char="▪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No: only stop when we dequeue a goal</a:t>
            </a:r>
            <a:endParaRPr/>
          </a:p>
        </p:txBody>
      </p:sp>
      <p:sp>
        <p:nvSpPr>
          <p:cNvPr id="407" name="Google Shape;407;p17"/>
          <p:cNvSpPr/>
          <p:nvPr/>
        </p:nvSpPr>
        <p:spPr>
          <a:xfrm>
            <a:off x="3276600" y="3505200"/>
            <a:ext cx="609600" cy="595312"/>
          </a:xfrm>
          <a:prstGeom prst="roundRect">
            <a:avLst>
              <a:gd fmla="val 50000" name="adj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8" name="Google Shape;408;p17"/>
          <p:cNvSpPr/>
          <p:nvPr/>
        </p:nvSpPr>
        <p:spPr>
          <a:xfrm>
            <a:off x="5867400" y="4419600"/>
            <a:ext cx="609600" cy="595312"/>
          </a:xfrm>
          <a:prstGeom prst="roundRect">
            <a:avLst>
              <a:gd fmla="val 50000" name="adj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9" name="Google Shape;409;p17"/>
          <p:cNvSpPr/>
          <p:nvPr/>
        </p:nvSpPr>
        <p:spPr>
          <a:xfrm>
            <a:off x="5867400" y="2528888"/>
            <a:ext cx="609600" cy="595312"/>
          </a:xfrm>
          <a:prstGeom prst="roundRect">
            <a:avLst>
              <a:gd fmla="val 50000" name="adj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0" name="Google Shape;410;p17"/>
          <p:cNvSpPr/>
          <p:nvPr/>
        </p:nvSpPr>
        <p:spPr>
          <a:xfrm>
            <a:off x="8382000" y="3519488"/>
            <a:ext cx="609600" cy="595312"/>
          </a:xfrm>
          <a:prstGeom prst="roundRect">
            <a:avLst>
              <a:gd fmla="val 50000" name="adj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11" name="Google Shape;411;p17"/>
          <p:cNvCxnSpPr/>
          <p:nvPr/>
        </p:nvCxnSpPr>
        <p:spPr>
          <a:xfrm>
            <a:off x="6477000" y="2819400"/>
            <a:ext cx="1905000" cy="8382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12" name="Google Shape;412;p17"/>
          <p:cNvCxnSpPr/>
          <p:nvPr/>
        </p:nvCxnSpPr>
        <p:spPr>
          <a:xfrm flipH="1">
            <a:off x="3886200" y="2819400"/>
            <a:ext cx="1981200" cy="8382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sm" w="sm" type="none"/>
          </a:ln>
        </p:spPr>
      </p:cxnSp>
      <p:cxnSp>
        <p:nvCxnSpPr>
          <p:cNvPr id="413" name="Google Shape;413;p17"/>
          <p:cNvCxnSpPr/>
          <p:nvPr/>
        </p:nvCxnSpPr>
        <p:spPr>
          <a:xfrm>
            <a:off x="3886200" y="3962400"/>
            <a:ext cx="1981200" cy="7620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14" name="Google Shape;414;p17"/>
          <p:cNvCxnSpPr/>
          <p:nvPr/>
        </p:nvCxnSpPr>
        <p:spPr>
          <a:xfrm flipH="1">
            <a:off x="6477000" y="3962400"/>
            <a:ext cx="1905000" cy="7620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sm" w="sm" type="none"/>
          </a:ln>
        </p:spPr>
      </p:cxnSp>
      <p:sp>
        <p:nvSpPr>
          <p:cNvPr id="415" name="Google Shape;415;p17"/>
          <p:cNvSpPr txBox="1"/>
          <p:nvPr/>
        </p:nvSpPr>
        <p:spPr>
          <a:xfrm>
            <a:off x="4572000" y="2667000"/>
            <a:ext cx="457200" cy="5191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6" name="Google Shape;416;p17"/>
          <p:cNvSpPr txBox="1"/>
          <p:nvPr/>
        </p:nvSpPr>
        <p:spPr>
          <a:xfrm>
            <a:off x="7315200" y="4433888"/>
            <a:ext cx="457200" cy="5191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7" name="Google Shape;417;p17"/>
          <p:cNvSpPr txBox="1"/>
          <p:nvPr/>
        </p:nvSpPr>
        <p:spPr>
          <a:xfrm>
            <a:off x="7315200" y="2681288"/>
            <a:ext cx="457200" cy="5191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8" name="Google Shape;418;p17"/>
          <p:cNvSpPr txBox="1"/>
          <p:nvPr/>
        </p:nvSpPr>
        <p:spPr>
          <a:xfrm>
            <a:off x="4572000" y="4419600"/>
            <a:ext cx="457200" cy="5191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9" name="Google Shape;419;p17"/>
          <p:cNvSpPr txBox="1"/>
          <p:nvPr/>
        </p:nvSpPr>
        <p:spPr>
          <a:xfrm>
            <a:off x="5867400" y="5040870"/>
            <a:ext cx="914400" cy="369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1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 = 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0" name="Google Shape;420;p17"/>
          <p:cNvSpPr txBox="1"/>
          <p:nvPr/>
        </p:nvSpPr>
        <p:spPr>
          <a:xfrm>
            <a:off x="5867400" y="2145270"/>
            <a:ext cx="914400" cy="369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1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 = 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1" name="Google Shape;421;p17"/>
          <p:cNvSpPr txBox="1"/>
          <p:nvPr/>
        </p:nvSpPr>
        <p:spPr>
          <a:xfrm>
            <a:off x="7620000" y="3593070"/>
            <a:ext cx="914400" cy="369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1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 = 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2" name="Google Shape;422;p17"/>
          <p:cNvSpPr txBox="1"/>
          <p:nvPr/>
        </p:nvSpPr>
        <p:spPr>
          <a:xfrm>
            <a:off x="3962400" y="3593070"/>
            <a:ext cx="914400" cy="369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1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 = 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18"/>
          <p:cNvSpPr txBox="1"/>
          <p:nvPr>
            <p:ph type="title"/>
          </p:nvPr>
        </p:nvSpPr>
        <p:spPr>
          <a:xfrm>
            <a:off x="0" y="-25400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4000">
                <a:latin typeface="Calibri"/>
                <a:ea typeface="Calibri"/>
                <a:cs typeface="Calibri"/>
                <a:sym typeface="Calibri"/>
              </a:rPr>
              <a:t>Is A* Optimal?</a:t>
            </a:r>
            <a:endParaRPr/>
          </a:p>
        </p:txBody>
      </p:sp>
      <p:sp>
        <p:nvSpPr>
          <p:cNvPr id="428" name="Google Shape;428;p18"/>
          <p:cNvSpPr txBox="1"/>
          <p:nvPr>
            <p:ph idx="1" type="body"/>
          </p:nvPr>
        </p:nvSpPr>
        <p:spPr>
          <a:xfrm>
            <a:off x="2209800" y="5181599"/>
            <a:ext cx="9575800" cy="9445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882" lvl="0" marL="342882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▪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What went wrong?</a:t>
            </a:r>
            <a:endParaRPr/>
          </a:p>
          <a:p>
            <a:pPr indent="-342882" lvl="0" marL="342882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SzPts val="2800"/>
              <a:buChar char="▪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Actual bad goal cost &lt; estimated good goal cost</a:t>
            </a:r>
            <a:endParaRPr/>
          </a:p>
          <a:p>
            <a:pPr indent="-342882" lvl="0" marL="342882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SzPts val="2800"/>
              <a:buChar char="▪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We need estimates to be less than actual costs!</a:t>
            </a:r>
            <a:endParaRPr/>
          </a:p>
        </p:txBody>
      </p:sp>
      <p:sp>
        <p:nvSpPr>
          <p:cNvPr id="429" name="Google Shape;429;p18"/>
          <p:cNvSpPr/>
          <p:nvPr/>
        </p:nvSpPr>
        <p:spPr>
          <a:xfrm>
            <a:off x="5791200" y="1752598"/>
            <a:ext cx="609600" cy="571501"/>
          </a:xfrm>
          <a:prstGeom prst="roundRect">
            <a:avLst>
              <a:gd fmla="val 50000" name="adj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0" name="Google Shape;430;p18"/>
          <p:cNvSpPr/>
          <p:nvPr/>
        </p:nvSpPr>
        <p:spPr>
          <a:xfrm>
            <a:off x="8763000" y="3238499"/>
            <a:ext cx="609600" cy="571501"/>
          </a:xfrm>
          <a:prstGeom prst="roundRect">
            <a:avLst>
              <a:gd fmla="val 50000" name="adj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1" name="Google Shape;431;p18"/>
          <p:cNvSpPr/>
          <p:nvPr/>
        </p:nvSpPr>
        <p:spPr>
          <a:xfrm>
            <a:off x="2819400" y="3124198"/>
            <a:ext cx="609600" cy="571501"/>
          </a:xfrm>
          <a:prstGeom prst="roundRect">
            <a:avLst>
              <a:gd fmla="val 50000" name="adj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2" name="Google Shape;432;p18"/>
          <p:cNvSpPr txBox="1"/>
          <p:nvPr/>
        </p:nvSpPr>
        <p:spPr>
          <a:xfrm>
            <a:off x="3886200" y="1752599"/>
            <a:ext cx="457200" cy="519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3" name="Google Shape;433;p18"/>
          <p:cNvSpPr txBox="1"/>
          <p:nvPr/>
        </p:nvSpPr>
        <p:spPr>
          <a:xfrm>
            <a:off x="7848600" y="1752599"/>
            <a:ext cx="457200" cy="519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4" name="Google Shape;434;p18"/>
          <p:cNvSpPr txBox="1"/>
          <p:nvPr/>
        </p:nvSpPr>
        <p:spPr>
          <a:xfrm>
            <a:off x="5715000" y="1295399"/>
            <a:ext cx="914400" cy="4001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1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 = 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5" name="Google Shape;435;p18"/>
          <p:cNvSpPr txBox="1"/>
          <p:nvPr/>
        </p:nvSpPr>
        <p:spPr>
          <a:xfrm>
            <a:off x="9448800" y="3288269"/>
            <a:ext cx="914400" cy="4001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1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 = 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6" name="Google Shape;436;p18"/>
          <p:cNvSpPr txBox="1"/>
          <p:nvPr/>
        </p:nvSpPr>
        <p:spPr>
          <a:xfrm>
            <a:off x="0" y="4038600"/>
            <a:ext cx="12192000" cy="519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7" name="Google Shape;437;p18"/>
          <p:cNvSpPr txBox="1"/>
          <p:nvPr/>
        </p:nvSpPr>
        <p:spPr>
          <a:xfrm>
            <a:off x="3505200" y="3200399"/>
            <a:ext cx="762000" cy="4001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1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</a:t>
            </a: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= </a:t>
            </a:r>
            <a:r>
              <a:rPr b="0" i="1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38" name="Google Shape;438;p18"/>
          <p:cNvCxnSpPr>
            <a:stCxn id="431" idx="2"/>
            <a:endCxn id="430" idx="2"/>
          </p:cNvCxnSpPr>
          <p:nvPr/>
        </p:nvCxnSpPr>
        <p:spPr>
          <a:xfrm flipH="1" rot="-5400000">
            <a:off x="6038850" y="781049"/>
            <a:ext cx="114300" cy="5943600"/>
          </a:xfrm>
          <a:prstGeom prst="curvedConnector3">
            <a:avLst>
              <a:gd fmla="val 792311" name="adj1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lg" w="lg" type="triangle"/>
          </a:ln>
        </p:spPr>
      </p:cxnSp>
      <p:cxnSp>
        <p:nvCxnSpPr>
          <p:cNvPr id="439" name="Google Shape;439;p18"/>
          <p:cNvCxnSpPr>
            <a:stCxn id="431" idx="0"/>
            <a:endCxn id="429" idx="1"/>
          </p:cNvCxnSpPr>
          <p:nvPr/>
        </p:nvCxnSpPr>
        <p:spPr>
          <a:xfrm rot="-5400000">
            <a:off x="3914850" y="1247848"/>
            <a:ext cx="1085700" cy="2667000"/>
          </a:xfrm>
          <a:prstGeom prst="curvedConnector2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lg" w="lg" type="triangle"/>
          </a:ln>
        </p:spPr>
      </p:cxnSp>
      <p:cxnSp>
        <p:nvCxnSpPr>
          <p:cNvPr id="440" name="Google Shape;440;p18"/>
          <p:cNvCxnSpPr>
            <a:stCxn id="429" idx="3"/>
            <a:endCxn id="430" idx="0"/>
          </p:cNvCxnSpPr>
          <p:nvPr/>
        </p:nvCxnSpPr>
        <p:spPr>
          <a:xfrm>
            <a:off x="6400800" y="2038349"/>
            <a:ext cx="2667000" cy="1200300"/>
          </a:xfrm>
          <a:prstGeom prst="curvedConnector2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lg" w="lg" type="triangle"/>
          </a:ln>
        </p:spPr>
      </p:cxn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19"/>
          <p:cNvSpPr txBox="1"/>
          <p:nvPr>
            <p:ph type="title"/>
          </p:nvPr>
        </p:nvSpPr>
        <p:spPr>
          <a:xfrm>
            <a:off x="0" y="-25400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Admissible Heuristics</a:t>
            </a:r>
            <a:endParaRPr/>
          </a:p>
        </p:txBody>
      </p:sp>
      <p:pic>
        <p:nvPicPr>
          <p:cNvPr id="446" name="Google Shape;446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96543" y="1219379"/>
            <a:ext cx="6398914" cy="48327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20"/>
          <p:cNvSpPr txBox="1"/>
          <p:nvPr>
            <p:ph type="title"/>
          </p:nvPr>
        </p:nvSpPr>
        <p:spPr>
          <a:xfrm>
            <a:off x="0" y="-25400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Idea: Admissibility</a:t>
            </a:r>
            <a:endParaRPr/>
          </a:p>
        </p:txBody>
      </p:sp>
      <p:sp>
        <p:nvSpPr>
          <p:cNvPr id="452" name="Google Shape;452;p20"/>
          <p:cNvSpPr txBox="1"/>
          <p:nvPr>
            <p:ph idx="1" type="body"/>
          </p:nvPr>
        </p:nvSpPr>
        <p:spPr>
          <a:xfrm>
            <a:off x="406400" y="1397001"/>
            <a:ext cx="11379200" cy="47291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39682" lvl="0" marL="34288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/>
          </a:p>
        </p:txBody>
      </p:sp>
      <p:pic>
        <p:nvPicPr>
          <p:cNvPr id="453" name="Google Shape;453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7068" y="1143000"/>
            <a:ext cx="5555264" cy="407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4" name="Google Shape;454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01595" y="1143152"/>
            <a:ext cx="5397497" cy="4076396"/>
          </a:xfrm>
          <a:prstGeom prst="rect">
            <a:avLst/>
          </a:prstGeom>
          <a:noFill/>
          <a:ln>
            <a:noFill/>
          </a:ln>
        </p:spPr>
      </p:pic>
      <p:sp>
        <p:nvSpPr>
          <p:cNvPr id="455" name="Google Shape;455;p20"/>
          <p:cNvSpPr txBox="1"/>
          <p:nvPr/>
        </p:nvSpPr>
        <p:spPr>
          <a:xfrm>
            <a:off x="457200" y="5257800"/>
            <a:ext cx="5562600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</a:t>
            </a:r>
            <a:r>
              <a:rPr b="0" i="0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b="0" i="0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dmissible (pessimistic) heuristics break optimality by trapping good plans on the fringe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6" name="Google Shape;456;p20"/>
          <p:cNvSpPr txBox="1"/>
          <p:nvPr/>
        </p:nvSpPr>
        <p:spPr>
          <a:xfrm>
            <a:off x="6477000" y="5257800"/>
            <a:ext cx="5562600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Admissible (optimistic) heuristics slow down bad plans but never outweigh true costs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21"/>
          <p:cNvSpPr txBox="1"/>
          <p:nvPr>
            <p:ph type="title"/>
          </p:nvPr>
        </p:nvSpPr>
        <p:spPr>
          <a:xfrm>
            <a:off x="0" y="-25400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Admissible Heuristics</a:t>
            </a:r>
            <a:endParaRPr/>
          </a:p>
        </p:txBody>
      </p:sp>
      <p:sp>
        <p:nvSpPr>
          <p:cNvPr id="462" name="Google Shape;462;p21"/>
          <p:cNvSpPr txBox="1"/>
          <p:nvPr>
            <p:ph idx="1" type="body"/>
          </p:nvPr>
        </p:nvSpPr>
        <p:spPr>
          <a:xfrm>
            <a:off x="457200" y="1219200"/>
            <a:ext cx="11277600" cy="487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882" lvl="0" marL="34288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Char char="▪"/>
            </a:pPr>
            <a:r>
              <a:rPr lang="en-US"/>
              <a:t>A heuristic </a:t>
            </a:r>
            <a:r>
              <a:rPr i="1" lang="en-US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r>
              <a:rPr lang="en-US"/>
              <a:t> is </a:t>
            </a:r>
            <a:r>
              <a:rPr i="1" lang="en-US">
                <a:solidFill>
                  <a:srgbClr val="C00000"/>
                </a:solidFill>
              </a:rPr>
              <a:t>admissible</a:t>
            </a:r>
            <a:r>
              <a:rPr i="1" lang="en-US"/>
              <a:t> </a:t>
            </a:r>
            <a:r>
              <a:rPr lang="en-US"/>
              <a:t>(optimistic) if:</a:t>
            </a:r>
            <a:endParaRPr/>
          </a:p>
          <a:p>
            <a:pPr indent="-107936" lvl="1" marL="742913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  <a:p>
            <a:pPr indent="-107936" lvl="1" marL="742913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  <a:p>
            <a:pPr indent="-342882" lvl="0" marL="342882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Font typeface="Noto Sans Symbols"/>
              <a:buNone/>
            </a:pPr>
            <a:r>
              <a:rPr lang="en-US"/>
              <a:t>	where               is the true cost to a nearest goal</a:t>
            </a:r>
            <a:endParaRPr/>
          </a:p>
          <a:p>
            <a:pPr indent="-342882" lvl="0" marL="342882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Font typeface="Noto Sans Symbols"/>
              <a:buNone/>
            </a:pPr>
            <a:r>
              <a:t/>
            </a:r>
            <a:endParaRPr sz="1600"/>
          </a:p>
          <a:p>
            <a:pPr indent="-342882" lvl="0" marL="342882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Char char="▪"/>
            </a:pPr>
            <a:r>
              <a:rPr lang="en-US"/>
              <a:t>Example:</a:t>
            </a:r>
            <a:endParaRPr/>
          </a:p>
          <a:p>
            <a:pPr indent="-139682" lvl="0" marL="342882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/>
          </a:p>
          <a:p>
            <a:pPr indent="-139682" lvl="0" marL="342882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/>
          </a:p>
          <a:p>
            <a:pPr indent="-342882" lvl="0" marL="342882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Char char="▪"/>
            </a:pPr>
            <a:r>
              <a:rPr lang="en-US"/>
              <a:t>Coming up with admissible heuristics is most of what’s involved in using A* in practice.</a:t>
            </a:r>
            <a:endParaRPr/>
          </a:p>
        </p:txBody>
      </p:sp>
      <p:pic>
        <p:nvPicPr>
          <p:cNvPr descr="txp_fig" id="463" name="Google Shape;463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43400" y="2133600"/>
            <a:ext cx="3130785" cy="4033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xp_fig" id="464" name="Google Shape;464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133600" y="2949575"/>
            <a:ext cx="979488" cy="4032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65" name="Google Shape;465;p21"/>
          <p:cNvGrpSpPr/>
          <p:nvPr/>
        </p:nvGrpSpPr>
        <p:grpSpPr>
          <a:xfrm>
            <a:off x="3314701" y="3962400"/>
            <a:ext cx="2663825" cy="1196975"/>
            <a:chOff x="4724400" y="4114800"/>
            <a:chExt cx="2663541" cy="1197700"/>
          </a:xfrm>
        </p:grpSpPr>
        <p:pic>
          <p:nvPicPr>
            <p:cNvPr descr="Z:\Shared with PC\smallMaze.png" id="466" name="Google Shape;466;p21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4724400" y="4114800"/>
              <a:ext cx="2663541" cy="1197700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467" name="Google Shape;467;p21"/>
            <p:cNvCxnSpPr/>
            <p:nvPr/>
          </p:nvCxnSpPr>
          <p:spPr>
            <a:xfrm flipH="1">
              <a:off x="4952976" y="4553215"/>
              <a:ext cx="1125418" cy="19062"/>
            </a:xfrm>
            <a:prstGeom prst="straightConnector1">
              <a:avLst/>
            </a:prstGeom>
            <a:noFill/>
            <a:ln cap="flat" cmpd="sng" w="57150">
              <a:solidFill>
                <a:srgbClr val="C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468" name="Google Shape;468;p21"/>
            <p:cNvSpPr txBox="1"/>
            <p:nvPr/>
          </p:nvSpPr>
          <p:spPr>
            <a:xfrm>
              <a:off x="5105401" y="4648200"/>
              <a:ext cx="548590" cy="5235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1" i="0" lang="en-US" sz="2800" u="none" cap="none" strike="noStrike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15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69" name="Google Shape;469;p21"/>
            <p:cNvCxnSpPr/>
            <p:nvPr/>
          </p:nvCxnSpPr>
          <p:spPr>
            <a:xfrm rot="5400000">
              <a:off x="4648785" y="4876468"/>
              <a:ext cx="609969" cy="1588"/>
            </a:xfrm>
            <a:prstGeom prst="straightConnector1">
              <a:avLst/>
            </a:prstGeom>
            <a:noFill/>
            <a:ln cap="flat" cmpd="sng" w="57150">
              <a:solidFill>
                <a:srgbClr val="C0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p22"/>
          <p:cNvSpPr txBox="1"/>
          <p:nvPr>
            <p:ph type="title"/>
          </p:nvPr>
        </p:nvSpPr>
        <p:spPr>
          <a:xfrm>
            <a:off x="0" y="-25400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Creating Heuristics</a:t>
            </a:r>
            <a:endParaRPr/>
          </a:p>
        </p:txBody>
      </p:sp>
      <p:pic>
        <p:nvPicPr>
          <p:cNvPr id="475" name="Google Shape;475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76600" y="1600200"/>
            <a:ext cx="5714999" cy="45853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23"/>
          <p:cNvSpPr txBox="1"/>
          <p:nvPr>
            <p:ph type="title"/>
          </p:nvPr>
        </p:nvSpPr>
        <p:spPr>
          <a:xfrm>
            <a:off x="0" y="-25400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Creating Admissible Heuristics</a:t>
            </a:r>
            <a:endParaRPr/>
          </a:p>
        </p:txBody>
      </p:sp>
      <p:sp>
        <p:nvSpPr>
          <p:cNvPr id="481" name="Google Shape;481;p23"/>
          <p:cNvSpPr txBox="1"/>
          <p:nvPr>
            <p:ph idx="1" type="body"/>
          </p:nvPr>
        </p:nvSpPr>
        <p:spPr>
          <a:xfrm>
            <a:off x="406400" y="1397001"/>
            <a:ext cx="11379200" cy="47291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882" lvl="0" marL="34288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▪"/>
            </a:pPr>
            <a:r>
              <a:rPr lang="en-US" sz="2800"/>
              <a:t>Most of the work in solving hard search problems optimally is in coming up with admissible heuristics</a:t>
            </a:r>
            <a:endParaRPr/>
          </a:p>
          <a:p>
            <a:pPr indent="-126987" lvl="3" marL="160012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 sz="1600"/>
          </a:p>
          <a:p>
            <a:pPr indent="-342882" lvl="0" marL="342882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Char char="▪"/>
            </a:pPr>
            <a:r>
              <a:rPr lang="en-US" sz="2800"/>
              <a:t>Often, admissible heuristics are solutions to </a:t>
            </a:r>
            <a:r>
              <a:rPr i="1" lang="en-US" sz="2800"/>
              <a:t>relaxed problems, </a:t>
            </a:r>
            <a:r>
              <a:rPr lang="en-US" sz="2800"/>
              <a:t>where new actions are available</a:t>
            </a:r>
            <a:endParaRPr i="1" sz="2800"/>
          </a:p>
          <a:p>
            <a:pPr indent="-101587" lvl="2" marL="1142942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i="1" sz="2000"/>
          </a:p>
          <a:p>
            <a:pPr indent="-165082" lvl="0" marL="342882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sz="2800"/>
          </a:p>
          <a:p>
            <a:pPr indent="-165082" lvl="0" marL="342882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sz="2800"/>
          </a:p>
          <a:p>
            <a:pPr indent="-165082" lvl="0" marL="342882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sz="2800"/>
          </a:p>
          <a:p>
            <a:pPr indent="-165082" lvl="0" marL="342882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sz="2800"/>
          </a:p>
          <a:p>
            <a:pPr indent="-342882" lvl="0" marL="342882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Char char="▪"/>
            </a:pPr>
            <a:r>
              <a:rPr lang="en-US" sz="2800"/>
              <a:t>Inadmissible heuristics are often useful too</a:t>
            </a:r>
            <a:endParaRPr/>
          </a:p>
        </p:txBody>
      </p:sp>
      <p:grpSp>
        <p:nvGrpSpPr>
          <p:cNvPr id="482" name="Google Shape;482;p23"/>
          <p:cNvGrpSpPr/>
          <p:nvPr/>
        </p:nvGrpSpPr>
        <p:grpSpPr>
          <a:xfrm>
            <a:off x="6553200" y="3919078"/>
            <a:ext cx="3657600" cy="1643522"/>
            <a:chOff x="5067016" y="4038600"/>
            <a:chExt cx="2663541" cy="1197700"/>
          </a:xfrm>
        </p:grpSpPr>
        <p:pic>
          <p:nvPicPr>
            <p:cNvPr descr="Z:\Shared with PC\smallMaze.png" id="483" name="Google Shape;483;p2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5067016" y="4038600"/>
              <a:ext cx="2663541" cy="1197700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484" name="Google Shape;484;p23"/>
            <p:cNvCxnSpPr/>
            <p:nvPr/>
          </p:nvCxnSpPr>
          <p:spPr>
            <a:xfrm flipH="1">
              <a:off x="5236861" y="4473838"/>
              <a:ext cx="1125417" cy="19062"/>
            </a:xfrm>
            <a:prstGeom prst="straightConnector1">
              <a:avLst/>
            </a:prstGeom>
            <a:noFill/>
            <a:ln cap="flat" cmpd="sng" w="57150">
              <a:solidFill>
                <a:srgbClr val="C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485" name="Google Shape;485;p23"/>
            <p:cNvSpPr txBox="1"/>
            <p:nvPr/>
          </p:nvSpPr>
          <p:spPr>
            <a:xfrm>
              <a:off x="5388658" y="4569096"/>
              <a:ext cx="399537" cy="3812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1" i="0" lang="en-US" sz="2800" u="none" cap="none" strike="noStrike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15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86" name="Google Shape;486;p23"/>
            <p:cNvCxnSpPr/>
            <p:nvPr/>
          </p:nvCxnSpPr>
          <p:spPr>
            <a:xfrm rot="5400000">
              <a:off x="4931082" y="4797091"/>
              <a:ext cx="609969" cy="1588"/>
            </a:xfrm>
            <a:prstGeom prst="straightConnector1">
              <a:avLst/>
            </a:prstGeom>
            <a:noFill/>
            <a:ln cap="flat" cmpd="sng" w="57150">
              <a:solidFill>
                <a:srgbClr val="C0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</p:grpSp>
      <p:grpSp>
        <p:nvGrpSpPr>
          <p:cNvPr id="487" name="Google Shape;487;p23"/>
          <p:cNvGrpSpPr/>
          <p:nvPr/>
        </p:nvGrpSpPr>
        <p:grpSpPr>
          <a:xfrm>
            <a:off x="2438400" y="3886200"/>
            <a:ext cx="2819399" cy="1786100"/>
            <a:chOff x="2743201" y="4111625"/>
            <a:chExt cx="2170113" cy="1374775"/>
          </a:xfrm>
        </p:grpSpPr>
        <p:pic>
          <p:nvPicPr>
            <p:cNvPr id="488" name="Google Shape;488;p23"/>
            <p:cNvPicPr preferRelativeResize="0"/>
            <p:nvPr/>
          </p:nvPicPr>
          <p:blipFill rotWithShape="1">
            <a:blip r:embed="rId4">
              <a:alphaModFix/>
            </a:blip>
            <a:srcRect b="0" l="0" r="22440" t="0"/>
            <a:stretch/>
          </p:blipFill>
          <p:spPr>
            <a:xfrm>
              <a:off x="2743201" y="4111625"/>
              <a:ext cx="2170113" cy="1374775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489" name="Google Shape;489;p23"/>
            <p:cNvCxnSpPr/>
            <p:nvPr/>
          </p:nvCxnSpPr>
          <p:spPr>
            <a:xfrm>
              <a:off x="2895600" y="4492623"/>
              <a:ext cx="1295400" cy="685800"/>
            </a:xfrm>
            <a:prstGeom prst="straightConnector1">
              <a:avLst/>
            </a:prstGeom>
            <a:noFill/>
            <a:ln cap="flat" cmpd="sng" w="2857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490" name="Google Shape;490;p23"/>
          <p:cNvSpPr txBox="1"/>
          <p:nvPr/>
        </p:nvSpPr>
        <p:spPr>
          <a:xfrm>
            <a:off x="1752600" y="4191000"/>
            <a:ext cx="990600" cy="5232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366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p24"/>
          <p:cNvSpPr txBox="1"/>
          <p:nvPr>
            <p:ph type="title"/>
          </p:nvPr>
        </p:nvSpPr>
        <p:spPr>
          <a:xfrm>
            <a:off x="0" y="-25400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Example: 8 Puzzle</a:t>
            </a:r>
            <a:endParaRPr/>
          </a:p>
        </p:txBody>
      </p:sp>
      <p:sp>
        <p:nvSpPr>
          <p:cNvPr id="496" name="Google Shape;496;p24"/>
          <p:cNvSpPr txBox="1"/>
          <p:nvPr>
            <p:ph idx="1" type="body"/>
          </p:nvPr>
        </p:nvSpPr>
        <p:spPr>
          <a:xfrm>
            <a:off x="685800" y="4495800"/>
            <a:ext cx="6781800" cy="16303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882" lvl="0" marL="342882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▪"/>
            </a:pPr>
            <a:r>
              <a:rPr lang="en-US" sz="2400"/>
              <a:t>What are the states?</a:t>
            </a:r>
            <a:endParaRPr/>
          </a:p>
          <a:p>
            <a:pPr indent="-342882" lvl="0" marL="342882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2400"/>
              <a:buChar char="▪"/>
            </a:pPr>
            <a:r>
              <a:rPr lang="en-US" sz="2400"/>
              <a:t>How many states?</a:t>
            </a:r>
            <a:endParaRPr/>
          </a:p>
          <a:p>
            <a:pPr indent="-342882" lvl="0" marL="342882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2400"/>
              <a:buChar char="▪"/>
            </a:pPr>
            <a:r>
              <a:rPr lang="en-US" sz="2400"/>
              <a:t>What are the actions?</a:t>
            </a:r>
            <a:endParaRPr/>
          </a:p>
          <a:p>
            <a:pPr indent="-342882" lvl="0" marL="342882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2400"/>
              <a:buChar char="▪"/>
            </a:pPr>
            <a:r>
              <a:rPr lang="en-US" sz="2400"/>
              <a:t>How many successors from the start state?</a:t>
            </a:r>
            <a:endParaRPr/>
          </a:p>
          <a:p>
            <a:pPr indent="-342882" lvl="0" marL="342882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2400"/>
              <a:buChar char="▪"/>
            </a:pPr>
            <a:r>
              <a:rPr lang="en-US" sz="2400"/>
              <a:t>What should the costs be?</a:t>
            </a:r>
            <a:endParaRPr/>
          </a:p>
        </p:txBody>
      </p:sp>
      <p:grpSp>
        <p:nvGrpSpPr>
          <p:cNvPr id="497" name="Google Shape;497;p24"/>
          <p:cNvGrpSpPr/>
          <p:nvPr/>
        </p:nvGrpSpPr>
        <p:grpSpPr>
          <a:xfrm>
            <a:off x="3424733" y="838200"/>
            <a:ext cx="5338267" cy="4584642"/>
            <a:chOff x="6387246" y="1371600"/>
            <a:chExt cx="6033354" cy="5181600"/>
          </a:xfrm>
        </p:grpSpPr>
        <p:pic>
          <p:nvPicPr>
            <p:cNvPr id="498" name="Google Shape;498;p2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6387246" y="1371600"/>
              <a:ext cx="5789731" cy="483869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9" name="Google Shape;499;p24"/>
            <p:cNvSpPr/>
            <p:nvPr/>
          </p:nvSpPr>
          <p:spPr>
            <a:xfrm>
              <a:off x="10515600" y="4724400"/>
              <a:ext cx="1905000" cy="18288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500" name="Google Shape;500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4618" y="1220185"/>
            <a:ext cx="2969363" cy="2543429"/>
          </a:xfrm>
          <a:prstGeom prst="rect">
            <a:avLst/>
          </a:prstGeom>
          <a:noFill/>
          <a:ln>
            <a:noFill/>
          </a:ln>
        </p:spPr>
      </p:pic>
      <p:sp>
        <p:nvSpPr>
          <p:cNvPr id="501" name="Google Shape;501;p24"/>
          <p:cNvSpPr txBox="1"/>
          <p:nvPr/>
        </p:nvSpPr>
        <p:spPr>
          <a:xfrm>
            <a:off x="1219200" y="3733800"/>
            <a:ext cx="198120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Start State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2" name="Google Shape;502;p24"/>
          <p:cNvSpPr txBox="1"/>
          <p:nvPr/>
        </p:nvSpPr>
        <p:spPr>
          <a:xfrm>
            <a:off x="9525000" y="3733800"/>
            <a:ext cx="198120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Goal State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03" name="Google Shape;503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688745" y="1219462"/>
            <a:ext cx="3044108" cy="2544875"/>
          </a:xfrm>
          <a:prstGeom prst="rect">
            <a:avLst/>
          </a:prstGeom>
          <a:noFill/>
          <a:ln>
            <a:noFill/>
          </a:ln>
        </p:spPr>
      </p:pic>
      <p:sp>
        <p:nvSpPr>
          <p:cNvPr id="504" name="Google Shape;504;p24"/>
          <p:cNvSpPr txBox="1"/>
          <p:nvPr/>
        </p:nvSpPr>
        <p:spPr>
          <a:xfrm>
            <a:off x="6019800" y="3733800"/>
            <a:ext cx="198120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Actions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8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p25"/>
          <p:cNvSpPr txBox="1"/>
          <p:nvPr>
            <p:ph type="title"/>
          </p:nvPr>
        </p:nvSpPr>
        <p:spPr>
          <a:xfrm>
            <a:off x="0" y="-25400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8 Puzzle I</a:t>
            </a:r>
            <a:endParaRPr/>
          </a:p>
        </p:txBody>
      </p:sp>
      <p:sp>
        <p:nvSpPr>
          <p:cNvPr id="510" name="Google Shape;510;p25"/>
          <p:cNvSpPr txBox="1"/>
          <p:nvPr>
            <p:ph idx="1" type="body"/>
          </p:nvPr>
        </p:nvSpPr>
        <p:spPr>
          <a:xfrm>
            <a:off x="381000" y="1295400"/>
            <a:ext cx="6324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882" lvl="0" marL="34288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▪"/>
            </a:pPr>
            <a:r>
              <a:rPr lang="en-US" sz="2800"/>
              <a:t>Heuristic: Number of tiles misplaced</a:t>
            </a:r>
            <a:endParaRPr/>
          </a:p>
          <a:p>
            <a:pPr indent="-342882" lvl="0" marL="342882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Char char="▪"/>
            </a:pPr>
            <a:r>
              <a:rPr lang="en-US" sz="2800"/>
              <a:t>Why is it admissible?</a:t>
            </a:r>
            <a:endParaRPr/>
          </a:p>
          <a:p>
            <a:pPr indent="-342882" lvl="0" marL="342882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Char char="▪"/>
            </a:pPr>
            <a:r>
              <a:rPr lang="en-US" sz="2800"/>
              <a:t>h(start) =</a:t>
            </a:r>
            <a:endParaRPr/>
          </a:p>
          <a:p>
            <a:pPr indent="-342882" lvl="0" marL="342882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Char char="▪"/>
            </a:pPr>
            <a:r>
              <a:rPr lang="en-US" sz="2800"/>
              <a:t>This is a </a:t>
            </a:r>
            <a:r>
              <a:rPr i="1" lang="en-US" sz="2800"/>
              <a:t>relaxed-problem</a:t>
            </a:r>
            <a:r>
              <a:rPr lang="en-US" sz="2800"/>
              <a:t> heuristic</a:t>
            </a:r>
            <a:endParaRPr/>
          </a:p>
        </p:txBody>
      </p:sp>
      <p:sp>
        <p:nvSpPr>
          <p:cNvPr id="511" name="Google Shape;511;p25"/>
          <p:cNvSpPr txBox="1"/>
          <p:nvPr/>
        </p:nvSpPr>
        <p:spPr>
          <a:xfrm>
            <a:off x="2133600" y="2286000"/>
            <a:ext cx="990600" cy="5847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512" name="Google Shape;512;p25"/>
          <p:cNvGraphicFramePr/>
          <p:nvPr/>
        </p:nvGraphicFramePr>
        <p:xfrm>
          <a:off x="6400800" y="411257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{D3C57157-40EE-4277-B35B-02503DB2AC1F}</a:tableStyleId>
              </a:tblPr>
              <a:tblGrid>
                <a:gridCol w="990600"/>
                <a:gridCol w="1295400"/>
                <a:gridCol w="1295400"/>
                <a:gridCol w="1447800"/>
              </a:tblGrid>
              <a:tr h="7445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400"/>
                        <a:buFont typeface="Noto Sans Symbols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chemeClr val="accent2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3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400"/>
                        <a:buFont typeface="Noto Sans Symbols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Average nodes expanded when the optimal path has…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DDDD"/>
                    </a:solidFill>
                  </a:tcPr>
                </a:tc>
                <a:tc hMerge="1"/>
                <a:tc hMerge="1"/>
              </a:tr>
              <a:tr h="398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400"/>
                        <a:buFont typeface="Noto Sans Symbols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chemeClr val="accent2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400"/>
                        <a:buFont typeface="Noto Sans Symbols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…4 steps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400"/>
                        <a:buFont typeface="Noto Sans Symbols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…8 steps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400"/>
                        <a:buFont typeface="Noto Sans Symbols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…12 steps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CC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400"/>
                        <a:buFont typeface="Noto Sans Symbols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UCS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400"/>
                        <a:buFont typeface="Noto Sans Symbols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112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400"/>
                        <a:buFont typeface="Noto Sans Symbols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6,300</a:t>
                      </a:r>
                      <a:endParaRPr b="0" baseline="30000" i="0" sz="2400" u="none" cap="none" strike="noStrike">
                        <a:solidFill>
                          <a:schemeClr val="accent2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400"/>
                        <a:buFont typeface="Noto Sans Symbols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3.6 x 10</a:t>
                      </a:r>
                      <a:r>
                        <a:rPr b="0" baseline="30000" i="0" lang="en-US" sz="24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CCFF"/>
                    </a:solidFill>
                  </a:tcPr>
                </a:tc>
              </a:tr>
              <a:tr h="4746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400"/>
                        <a:buFont typeface="Noto Sans Symbols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TILES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400"/>
                        <a:buFont typeface="Noto Sans Symbols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13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400"/>
                        <a:buFont typeface="Noto Sans Symbols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39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400"/>
                        <a:buFont typeface="Noto Sans Symbols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227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CCFF"/>
                    </a:solidFill>
                  </a:tcPr>
                </a:tc>
              </a:tr>
            </a:tbl>
          </a:graphicData>
        </a:graphic>
      </p:graphicFrame>
      <p:pic>
        <p:nvPicPr>
          <p:cNvPr id="513" name="Google Shape;513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6890" y="3489471"/>
            <a:ext cx="5510086" cy="313819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14" name="Google Shape;514;p25"/>
          <p:cNvGrpSpPr/>
          <p:nvPr/>
        </p:nvGrpSpPr>
        <p:grpSpPr>
          <a:xfrm>
            <a:off x="6324601" y="1219414"/>
            <a:ext cx="5333998" cy="2536188"/>
            <a:chOff x="533401" y="1219446"/>
            <a:chExt cx="6113461" cy="2906804"/>
          </a:xfrm>
        </p:grpSpPr>
        <p:pic>
          <p:nvPicPr>
            <p:cNvPr id="515" name="Google Shape;515;p2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533401" y="1219446"/>
              <a:ext cx="6113461" cy="25449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6" name="Google Shape;516;p25"/>
            <p:cNvSpPr txBox="1"/>
            <p:nvPr/>
          </p:nvSpPr>
          <p:spPr>
            <a:xfrm>
              <a:off x="1259591" y="3639596"/>
              <a:ext cx="1981200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Start State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7" name="Google Shape;517;p25"/>
            <p:cNvSpPr txBox="1"/>
            <p:nvPr/>
          </p:nvSpPr>
          <p:spPr>
            <a:xfrm>
              <a:off x="4376148" y="3664585"/>
              <a:ext cx="1981200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Goal State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18" name="Google Shape;518;p25"/>
          <p:cNvSpPr txBox="1"/>
          <p:nvPr/>
        </p:nvSpPr>
        <p:spPr>
          <a:xfrm>
            <a:off x="9067800" y="6553200"/>
            <a:ext cx="31242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Statistics from Andrew Moore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p26"/>
          <p:cNvSpPr txBox="1"/>
          <p:nvPr>
            <p:ph type="title"/>
          </p:nvPr>
        </p:nvSpPr>
        <p:spPr>
          <a:xfrm>
            <a:off x="0" y="-25400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8 Puzzle II</a:t>
            </a:r>
            <a:endParaRPr/>
          </a:p>
        </p:txBody>
      </p:sp>
      <p:sp>
        <p:nvSpPr>
          <p:cNvPr id="524" name="Google Shape;524;p26"/>
          <p:cNvSpPr txBox="1"/>
          <p:nvPr>
            <p:ph idx="1" type="body"/>
          </p:nvPr>
        </p:nvSpPr>
        <p:spPr>
          <a:xfrm>
            <a:off x="457200" y="1600201"/>
            <a:ext cx="58674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882" lvl="0" marL="342882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▪"/>
            </a:pPr>
            <a:r>
              <a:rPr lang="en-US" sz="2400"/>
              <a:t>What if we had an easier 8-puzzle where any tile could slide any direction at any time, ignoring other tiles?</a:t>
            </a:r>
            <a:endParaRPr/>
          </a:p>
          <a:p>
            <a:pPr indent="-190482" lvl="0" marL="342882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/>
          </a:p>
          <a:p>
            <a:pPr indent="-342882" lvl="0" marL="342882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2400"/>
              <a:buChar char="▪"/>
            </a:pPr>
            <a:r>
              <a:rPr lang="en-US" sz="2400"/>
              <a:t>Total </a:t>
            </a:r>
            <a:r>
              <a:rPr i="1" lang="en-US" sz="2400"/>
              <a:t>Manhattan </a:t>
            </a:r>
            <a:r>
              <a:rPr lang="en-US" sz="2400"/>
              <a:t>distance</a:t>
            </a:r>
            <a:endParaRPr/>
          </a:p>
          <a:p>
            <a:pPr indent="-190482" lvl="0" marL="342882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/>
          </a:p>
          <a:p>
            <a:pPr indent="-342882" lvl="0" marL="342882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2400"/>
              <a:buChar char="▪"/>
            </a:pPr>
            <a:r>
              <a:rPr lang="en-US" sz="2400"/>
              <a:t>Why is it admissible?</a:t>
            </a:r>
            <a:endParaRPr/>
          </a:p>
          <a:p>
            <a:pPr indent="-190482" lvl="0" marL="342882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/>
          </a:p>
          <a:p>
            <a:pPr indent="-342882" lvl="0" marL="342882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2400"/>
              <a:buChar char="▪"/>
            </a:pPr>
            <a:r>
              <a:rPr lang="en-US" sz="2400"/>
              <a:t>h(start) =</a:t>
            </a:r>
            <a:endParaRPr/>
          </a:p>
          <a:p>
            <a:pPr indent="-190482" lvl="0" marL="342882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/>
          </a:p>
        </p:txBody>
      </p:sp>
      <p:sp>
        <p:nvSpPr>
          <p:cNvPr id="525" name="Google Shape;525;p26"/>
          <p:cNvSpPr txBox="1"/>
          <p:nvPr/>
        </p:nvSpPr>
        <p:spPr>
          <a:xfrm>
            <a:off x="2133600" y="4648200"/>
            <a:ext cx="4800600" cy="461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3 + 1 + 2 + … = 18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526" name="Google Shape;526;p26"/>
          <p:cNvGraphicFramePr/>
          <p:nvPr/>
        </p:nvGraphicFramePr>
        <p:xfrm>
          <a:off x="5791200" y="4267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{D3C57157-40EE-4277-B35B-02503DB2AC1F}</a:tableStyleId>
              </a:tblPr>
              <a:tblGrid>
                <a:gridCol w="1853025"/>
                <a:gridCol w="1295400"/>
                <a:gridCol w="1295400"/>
                <a:gridCol w="1447800"/>
              </a:tblGrid>
              <a:tr h="7445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400"/>
                        <a:buFont typeface="Noto Sans Symbols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chemeClr val="accent2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3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400"/>
                        <a:buFont typeface="Noto Sans Symbols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Average nodes expanded when the optimal path has…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DDDD"/>
                    </a:solidFill>
                  </a:tcPr>
                </a:tc>
                <a:tc hMerge="1"/>
                <a:tc hMerge="1"/>
              </a:tr>
              <a:tr h="472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400"/>
                        <a:buFont typeface="Noto Sans Symbols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chemeClr val="accent2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400"/>
                        <a:buFont typeface="Noto Sans Symbols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…4 steps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400"/>
                        <a:buFont typeface="Noto Sans Symbols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…8 steps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400"/>
                        <a:buFont typeface="Noto Sans Symbols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…12 steps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CC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400"/>
                        <a:buFont typeface="Noto Sans Symbols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TILES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400"/>
                        <a:buFont typeface="Noto Sans Symbols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13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400"/>
                        <a:buFont typeface="Noto Sans Symbols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39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400"/>
                        <a:buFont typeface="Noto Sans Symbols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227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CCFF"/>
                    </a:solidFill>
                  </a:tcPr>
                </a:tc>
              </a:tr>
              <a:tr h="499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400"/>
                        <a:buFont typeface="Noto Sans Symbols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MANHATTAN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400"/>
                        <a:buFont typeface="Noto Sans Symbols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12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400"/>
                        <a:buFont typeface="Noto Sans Symbols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25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400"/>
                        <a:buFont typeface="Noto Sans Symbols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accent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73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CCFF"/>
                    </a:solidFill>
                  </a:tcPr>
                </a:tc>
              </a:tr>
            </a:tbl>
          </a:graphicData>
        </a:graphic>
      </p:graphicFrame>
      <p:grpSp>
        <p:nvGrpSpPr>
          <p:cNvPr id="527" name="Google Shape;527;p26"/>
          <p:cNvGrpSpPr/>
          <p:nvPr/>
        </p:nvGrpSpPr>
        <p:grpSpPr>
          <a:xfrm>
            <a:off x="6324601" y="1219414"/>
            <a:ext cx="5333998" cy="2536188"/>
            <a:chOff x="533401" y="1219446"/>
            <a:chExt cx="6113461" cy="2906804"/>
          </a:xfrm>
        </p:grpSpPr>
        <p:pic>
          <p:nvPicPr>
            <p:cNvPr id="528" name="Google Shape;528;p2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533401" y="1219446"/>
              <a:ext cx="6113461" cy="25449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9" name="Google Shape;529;p26"/>
            <p:cNvSpPr txBox="1"/>
            <p:nvPr/>
          </p:nvSpPr>
          <p:spPr>
            <a:xfrm>
              <a:off x="1259591" y="3639596"/>
              <a:ext cx="1981200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Start State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0" name="Google Shape;530;p26"/>
            <p:cNvSpPr txBox="1"/>
            <p:nvPr/>
          </p:nvSpPr>
          <p:spPr>
            <a:xfrm>
              <a:off x="4376148" y="3664585"/>
              <a:ext cx="1981200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Goal State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4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27"/>
          <p:cNvSpPr txBox="1"/>
          <p:nvPr>
            <p:ph type="title"/>
          </p:nvPr>
        </p:nvSpPr>
        <p:spPr>
          <a:xfrm>
            <a:off x="0" y="-25400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8 Puzzle III</a:t>
            </a:r>
            <a:endParaRPr/>
          </a:p>
        </p:txBody>
      </p:sp>
      <p:sp>
        <p:nvSpPr>
          <p:cNvPr id="536" name="Google Shape;536;p27"/>
          <p:cNvSpPr txBox="1"/>
          <p:nvPr>
            <p:ph idx="1" type="body"/>
          </p:nvPr>
        </p:nvSpPr>
        <p:spPr>
          <a:xfrm>
            <a:off x="406400" y="1397001"/>
            <a:ext cx="11099800" cy="47291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882" lvl="0" marL="34288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▪"/>
            </a:pPr>
            <a:r>
              <a:rPr lang="en-US" sz="2800"/>
              <a:t>How about using the </a:t>
            </a:r>
            <a:r>
              <a:rPr i="1" lang="en-US" sz="2800"/>
              <a:t>actual cost</a:t>
            </a:r>
            <a:r>
              <a:rPr lang="en-US" sz="2800"/>
              <a:t> as a heuristic?</a:t>
            </a:r>
            <a:endParaRPr/>
          </a:p>
          <a:p>
            <a:pPr indent="-285736" lvl="1" marL="742913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▪"/>
            </a:pPr>
            <a:r>
              <a:rPr lang="en-US" sz="2400"/>
              <a:t>Would it be admissible?</a:t>
            </a:r>
            <a:endParaRPr/>
          </a:p>
          <a:p>
            <a:pPr indent="-285736" lvl="1" marL="742913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▪"/>
            </a:pPr>
            <a:r>
              <a:rPr lang="en-US" sz="2400"/>
              <a:t>Would we save on nodes expanded?</a:t>
            </a:r>
            <a:endParaRPr/>
          </a:p>
          <a:p>
            <a:pPr indent="-285736" lvl="1" marL="742913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▪"/>
            </a:pPr>
            <a:r>
              <a:rPr lang="en-US" sz="2400"/>
              <a:t>What’s wrong with it?</a:t>
            </a:r>
            <a:endParaRPr/>
          </a:p>
          <a:p>
            <a:pPr indent="-165082" lvl="0" marL="342882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sz="2800"/>
          </a:p>
          <a:p>
            <a:pPr indent="-165082" lvl="0" marL="342882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sz="2800"/>
          </a:p>
          <a:p>
            <a:pPr indent="-342882" lvl="0" marL="342882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Char char="▪"/>
            </a:pPr>
            <a:r>
              <a:rPr lang="en-US" sz="2800"/>
              <a:t>With A*: a trade-off between quality of estimate and work per node</a:t>
            </a:r>
            <a:endParaRPr/>
          </a:p>
          <a:p>
            <a:pPr indent="-285736" lvl="1" marL="742913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▪"/>
            </a:pPr>
            <a:r>
              <a:rPr lang="en-US" sz="2400"/>
              <a:t>As heuristics get closer to the true cost, you will expand fewer nodes but usually do more work per node to compute the heuristic itself</a:t>
            </a:r>
            <a:endParaRPr/>
          </a:p>
        </p:txBody>
      </p:sp>
      <p:pic>
        <p:nvPicPr>
          <p:cNvPr id="537" name="Google Shape;537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61138" y="1880138"/>
            <a:ext cx="5021261" cy="192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p28"/>
          <p:cNvSpPr txBox="1"/>
          <p:nvPr>
            <p:ph type="title"/>
          </p:nvPr>
        </p:nvSpPr>
        <p:spPr>
          <a:xfrm>
            <a:off x="0" y="2590800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6000"/>
              <a:t>Semi-Lattice of Heuristics</a:t>
            </a:r>
            <a:endParaRPr/>
          </a:p>
        </p:txBody>
      </p:sp>
      <p:sp>
        <p:nvSpPr>
          <p:cNvPr id="543" name="Google Shape;543;p28"/>
          <p:cNvSpPr/>
          <p:nvPr/>
        </p:nvSpPr>
        <p:spPr>
          <a:xfrm>
            <a:off x="0" y="914400"/>
            <a:ext cx="12192000" cy="3048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p29"/>
          <p:cNvSpPr txBox="1"/>
          <p:nvPr>
            <p:ph type="title"/>
          </p:nvPr>
        </p:nvSpPr>
        <p:spPr>
          <a:xfrm>
            <a:off x="0" y="-25400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Trivial Heuristics, Dominance</a:t>
            </a:r>
            <a:endParaRPr/>
          </a:p>
        </p:txBody>
      </p:sp>
      <p:sp>
        <p:nvSpPr>
          <p:cNvPr id="550" name="Google Shape;550;p29"/>
          <p:cNvSpPr txBox="1"/>
          <p:nvPr>
            <p:ph idx="1" type="body"/>
          </p:nvPr>
        </p:nvSpPr>
        <p:spPr>
          <a:xfrm>
            <a:off x="1219200" y="1524000"/>
            <a:ext cx="5715000" cy="49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882" lvl="0" marL="34288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▪"/>
            </a:pPr>
            <a:r>
              <a:rPr lang="en-US" sz="2400"/>
              <a:t>Dominance: h</a:t>
            </a:r>
            <a:r>
              <a:rPr baseline="-25000" lang="en-US" sz="2400"/>
              <a:t>a</a:t>
            </a:r>
            <a:r>
              <a:rPr lang="en-US" sz="2400"/>
              <a:t> ≥ h</a:t>
            </a:r>
            <a:r>
              <a:rPr baseline="-25000" lang="en-US" sz="2400"/>
              <a:t>c</a:t>
            </a:r>
            <a:r>
              <a:rPr lang="en-US" sz="2400"/>
              <a:t> if</a:t>
            </a:r>
            <a:endParaRPr/>
          </a:p>
          <a:p>
            <a:pPr indent="-190482" lvl="0" marL="342882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/>
          </a:p>
          <a:p>
            <a:pPr indent="-190482" lvl="0" marL="342882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/>
          </a:p>
          <a:p>
            <a:pPr indent="-342882" lvl="0" marL="342882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▪"/>
            </a:pPr>
            <a:r>
              <a:rPr lang="en-US" sz="2400"/>
              <a:t>Heuristics form a semi-lattice:</a:t>
            </a:r>
            <a:endParaRPr/>
          </a:p>
          <a:p>
            <a:pPr indent="-285736" lvl="1" marL="742913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</a:pPr>
            <a:r>
              <a:rPr lang="en-US" sz="2000"/>
              <a:t>Max of admissible heuristics is admissible</a:t>
            </a:r>
            <a:endParaRPr/>
          </a:p>
          <a:p>
            <a:pPr indent="-158736" lvl="1" marL="742913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000"/>
          </a:p>
          <a:p>
            <a:pPr indent="-158736" lvl="1" marL="742913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000"/>
          </a:p>
          <a:p>
            <a:pPr indent="-158736" lvl="1" marL="742913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000"/>
          </a:p>
          <a:p>
            <a:pPr indent="-342882" lvl="0" marL="342882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▪"/>
            </a:pPr>
            <a:r>
              <a:rPr lang="en-US" sz="2400"/>
              <a:t>Trivial heuristics</a:t>
            </a:r>
            <a:endParaRPr/>
          </a:p>
          <a:p>
            <a:pPr indent="-285736" lvl="1" marL="742913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</a:pPr>
            <a:r>
              <a:rPr lang="en-US" sz="2000"/>
              <a:t>Bottom of lattice is the zero heuristic (what does this give us?)</a:t>
            </a:r>
            <a:endParaRPr/>
          </a:p>
          <a:p>
            <a:pPr indent="-285736" lvl="1" marL="742913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</a:pPr>
            <a:r>
              <a:rPr lang="en-US" sz="2000"/>
              <a:t>Top of lattice is the exact heuristic</a:t>
            </a:r>
            <a:endParaRPr/>
          </a:p>
        </p:txBody>
      </p:sp>
      <p:pic>
        <p:nvPicPr>
          <p:cNvPr descr="txp_fig" id="551" name="Google Shape;551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33601" y="3886200"/>
            <a:ext cx="4379913" cy="36988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xp_fig" id="552" name="Google Shape;552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12975" y="2133601"/>
            <a:ext cx="3098800" cy="3524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53" name="Google Shape;553;p29"/>
          <p:cNvGrpSpPr/>
          <p:nvPr/>
        </p:nvGrpSpPr>
        <p:grpSpPr>
          <a:xfrm>
            <a:off x="8229600" y="1716338"/>
            <a:ext cx="2133600" cy="4227262"/>
            <a:chOff x="9344024" y="1905002"/>
            <a:chExt cx="1781176" cy="3529011"/>
          </a:xfrm>
        </p:grpSpPr>
        <p:pic>
          <p:nvPicPr>
            <p:cNvPr descr="txp_fig" id="554" name="Google Shape;554;p29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9725023" y="1905002"/>
              <a:ext cx="862013" cy="24606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txp_fig" id="555" name="Google Shape;555;p29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9801223" y="5257800"/>
              <a:ext cx="720725" cy="17621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txp_fig" id="556" name="Google Shape;556;p29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9344024" y="3505200"/>
              <a:ext cx="350839" cy="29845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txp_fig" id="557" name="Google Shape;557;p29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10791825" y="3505201"/>
              <a:ext cx="333375" cy="35083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txp_fig" id="558" name="Google Shape;558;p29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9344024" y="4349749"/>
              <a:ext cx="350839" cy="298451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559" name="Google Shape;559;p29"/>
            <p:cNvCxnSpPr/>
            <p:nvPr/>
          </p:nvCxnSpPr>
          <p:spPr>
            <a:xfrm rot="10800000">
              <a:off x="9572623" y="4800600"/>
              <a:ext cx="457200" cy="304800"/>
            </a:xfrm>
            <a:prstGeom prst="straightConnector1">
              <a:avLst/>
            </a:prstGeom>
            <a:noFill/>
            <a:ln cap="flat" cmpd="sng" w="38100">
              <a:solidFill>
                <a:srgbClr val="3333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60" name="Google Shape;560;p29"/>
            <p:cNvCxnSpPr/>
            <p:nvPr/>
          </p:nvCxnSpPr>
          <p:spPr>
            <a:xfrm flipH="1" rot="10800000">
              <a:off x="10334623" y="3962400"/>
              <a:ext cx="533400" cy="1143000"/>
            </a:xfrm>
            <a:prstGeom prst="straightConnector1">
              <a:avLst/>
            </a:prstGeom>
            <a:noFill/>
            <a:ln cap="flat" cmpd="sng" w="38100">
              <a:solidFill>
                <a:srgbClr val="3333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61" name="Google Shape;561;p29"/>
            <p:cNvCxnSpPr/>
            <p:nvPr/>
          </p:nvCxnSpPr>
          <p:spPr>
            <a:xfrm rot="10800000">
              <a:off x="9496423" y="3962400"/>
              <a:ext cx="0" cy="304800"/>
            </a:xfrm>
            <a:prstGeom prst="straightConnector1">
              <a:avLst/>
            </a:prstGeom>
            <a:noFill/>
            <a:ln cap="flat" cmpd="sng" w="38100">
              <a:solidFill>
                <a:srgbClr val="3333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62" name="Google Shape;562;p29"/>
            <p:cNvCxnSpPr/>
            <p:nvPr/>
          </p:nvCxnSpPr>
          <p:spPr>
            <a:xfrm flipH="1" rot="10800000">
              <a:off x="9496423" y="3124200"/>
              <a:ext cx="685800" cy="228600"/>
            </a:xfrm>
            <a:prstGeom prst="straightConnector1">
              <a:avLst/>
            </a:prstGeom>
            <a:noFill/>
            <a:ln cap="flat" cmpd="sng" w="38100">
              <a:solidFill>
                <a:srgbClr val="3333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63" name="Google Shape;563;p29"/>
            <p:cNvCxnSpPr/>
            <p:nvPr/>
          </p:nvCxnSpPr>
          <p:spPr>
            <a:xfrm rot="10800000">
              <a:off x="10182223" y="3124200"/>
              <a:ext cx="762000" cy="228600"/>
            </a:xfrm>
            <a:prstGeom prst="straightConnector1">
              <a:avLst/>
            </a:prstGeom>
            <a:noFill/>
            <a:ln cap="flat" cmpd="sng" w="38100">
              <a:solidFill>
                <a:srgbClr val="3333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64" name="Google Shape;564;p29"/>
            <p:cNvCxnSpPr/>
            <p:nvPr/>
          </p:nvCxnSpPr>
          <p:spPr>
            <a:xfrm rot="10800000">
              <a:off x="10182223" y="2286000"/>
              <a:ext cx="0" cy="228600"/>
            </a:xfrm>
            <a:prstGeom prst="straightConnector1">
              <a:avLst/>
            </a:prstGeom>
            <a:noFill/>
            <a:ln cap="flat" cmpd="sng" w="38100">
              <a:solidFill>
                <a:srgbClr val="3333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pic>
          <p:nvPicPr>
            <p:cNvPr descr="txp_fig" id="565" name="Google Shape;565;p29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9420224" y="2732089"/>
              <a:ext cx="1560513" cy="29527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0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g3da464f938d_0_0"/>
          <p:cNvSpPr txBox="1"/>
          <p:nvPr>
            <p:ph type="title"/>
          </p:nvPr>
        </p:nvSpPr>
        <p:spPr>
          <a:xfrm>
            <a:off x="0" y="-25400"/>
            <a:ext cx="12192000" cy="1143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2" name="Google Shape;572;g3da464f938d_0_0"/>
          <p:cNvSpPr txBox="1"/>
          <p:nvPr>
            <p:ph idx="1" type="body"/>
          </p:nvPr>
        </p:nvSpPr>
        <p:spPr>
          <a:xfrm>
            <a:off x="406400" y="1397001"/>
            <a:ext cx="11379300" cy="4729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73" name="Google Shape;573;g3da464f938d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84850"/>
            <a:ext cx="12192000" cy="6688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8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Google Shape;579;g3da464f938d_0_7"/>
          <p:cNvSpPr txBox="1"/>
          <p:nvPr>
            <p:ph type="title"/>
          </p:nvPr>
        </p:nvSpPr>
        <p:spPr>
          <a:xfrm>
            <a:off x="0" y="-25400"/>
            <a:ext cx="12192000" cy="1143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0" name="Google Shape;580;g3da464f938d_0_7"/>
          <p:cNvSpPr txBox="1"/>
          <p:nvPr>
            <p:ph idx="1" type="body"/>
          </p:nvPr>
        </p:nvSpPr>
        <p:spPr>
          <a:xfrm>
            <a:off x="406400" y="1397001"/>
            <a:ext cx="11379300" cy="4729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81" name="Google Shape;581;g3da464f938d_0_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2450" y="159987"/>
            <a:ext cx="10610100" cy="65380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5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Google Shape;586;p30"/>
          <p:cNvSpPr txBox="1"/>
          <p:nvPr>
            <p:ph type="title"/>
          </p:nvPr>
        </p:nvSpPr>
        <p:spPr>
          <a:xfrm>
            <a:off x="0" y="-25400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Graph Search</a:t>
            </a:r>
            <a:endParaRPr/>
          </a:p>
        </p:txBody>
      </p:sp>
      <p:sp>
        <p:nvSpPr>
          <p:cNvPr id="587" name="Google Shape;587;p30"/>
          <p:cNvSpPr txBox="1"/>
          <p:nvPr>
            <p:ph idx="1" type="body"/>
          </p:nvPr>
        </p:nvSpPr>
        <p:spPr>
          <a:xfrm>
            <a:off x="406400" y="1397001"/>
            <a:ext cx="11379200" cy="47291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39682" lvl="0" marL="34288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/>
          </a:p>
        </p:txBody>
      </p:sp>
      <p:pic>
        <p:nvPicPr>
          <p:cNvPr id="588" name="Google Shape;588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6800" y="1600552"/>
            <a:ext cx="9932986" cy="44093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2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Google Shape;593;p31"/>
          <p:cNvSpPr txBox="1"/>
          <p:nvPr>
            <p:ph idx="1" type="body"/>
          </p:nvPr>
        </p:nvSpPr>
        <p:spPr>
          <a:xfrm>
            <a:off x="406400" y="1295400"/>
            <a:ext cx="11379200" cy="47291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882" lvl="0" marL="34288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▪"/>
            </a:pPr>
            <a:r>
              <a:rPr lang="en-US" sz="2800"/>
              <a:t>Failure to detect repeated states can cause exponentially more work.  </a:t>
            </a:r>
            <a:endParaRPr/>
          </a:p>
        </p:txBody>
      </p:sp>
      <p:sp>
        <p:nvSpPr>
          <p:cNvPr id="594" name="Google Shape;594;p31"/>
          <p:cNvSpPr/>
          <p:nvPr/>
        </p:nvSpPr>
        <p:spPr>
          <a:xfrm>
            <a:off x="6172200" y="2041711"/>
            <a:ext cx="4889500" cy="3880103"/>
          </a:xfrm>
          <a:prstGeom prst="roundRect">
            <a:avLst>
              <a:gd fmla="val 16667" name="adj"/>
            </a:avLst>
          </a:prstGeom>
          <a:solidFill>
            <a:srgbClr val="D5DFFF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5" name="Google Shape;595;p31"/>
          <p:cNvSpPr/>
          <p:nvPr/>
        </p:nvSpPr>
        <p:spPr>
          <a:xfrm>
            <a:off x="936947" y="2035612"/>
            <a:ext cx="3886200" cy="3886200"/>
          </a:xfrm>
          <a:prstGeom prst="roundRect">
            <a:avLst>
              <a:gd fmla="val 16667" name="adj"/>
            </a:avLst>
          </a:prstGeom>
          <a:solidFill>
            <a:srgbClr val="D5DFFF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6" name="Google Shape;596;p31"/>
          <p:cNvSpPr txBox="1"/>
          <p:nvPr/>
        </p:nvSpPr>
        <p:spPr>
          <a:xfrm>
            <a:off x="6184898" y="2198192"/>
            <a:ext cx="4876800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Search Tree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7" name="Google Shape;597;p31"/>
          <p:cNvSpPr txBox="1"/>
          <p:nvPr/>
        </p:nvSpPr>
        <p:spPr>
          <a:xfrm>
            <a:off x="1165547" y="2121992"/>
            <a:ext cx="3429000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State Graph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8" name="Google Shape;598;p31"/>
          <p:cNvSpPr txBox="1"/>
          <p:nvPr>
            <p:ph type="title"/>
          </p:nvPr>
        </p:nvSpPr>
        <p:spPr>
          <a:xfrm>
            <a:off x="0" y="-25400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Tree Search: Extra Work!</a:t>
            </a:r>
            <a:endParaRPr/>
          </a:p>
        </p:txBody>
      </p:sp>
      <p:pic>
        <p:nvPicPr>
          <p:cNvPr id="599" name="Google Shape;599;p31"/>
          <p:cNvPicPr preferRelativeResize="0"/>
          <p:nvPr/>
        </p:nvPicPr>
        <p:blipFill rotWithShape="1">
          <a:blip r:embed="rId3">
            <a:alphaModFix/>
          </a:blip>
          <a:srcRect b="2207" l="610" r="64739" t="2839"/>
          <a:stretch/>
        </p:blipFill>
        <p:spPr>
          <a:xfrm>
            <a:off x="1371600" y="2514600"/>
            <a:ext cx="3048000" cy="3276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00" name="Google Shape;600;p31"/>
          <p:cNvPicPr preferRelativeResize="0"/>
          <p:nvPr/>
        </p:nvPicPr>
        <p:blipFill rotWithShape="1">
          <a:blip r:embed="rId4">
            <a:alphaModFix/>
          </a:blip>
          <a:srcRect b="15456" l="48026" r="2597" t="5048"/>
          <a:stretch/>
        </p:blipFill>
        <p:spPr>
          <a:xfrm>
            <a:off x="6477000" y="2819400"/>
            <a:ext cx="4343400" cy="2743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4" name="Shape 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Google Shape;605;p32"/>
          <p:cNvSpPr txBox="1"/>
          <p:nvPr>
            <p:ph type="title"/>
          </p:nvPr>
        </p:nvSpPr>
        <p:spPr>
          <a:xfrm>
            <a:off x="0" y="-25400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Graph Search</a:t>
            </a:r>
            <a:endParaRPr/>
          </a:p>
        </p:txBody>
      </p:sp>
      <p:sp>
        <p:nvSpPr>
          <p:cNvPr id="606" name="Google Shape;606;p32"/>
          <p:cNvSpPr txBox="1"/>
          <p:nvPr>
            <p:ph idx="1" type="body"/>
          </p:nvPr>
        </p:nvSpPr>
        <p:spPr>
          <a:xfrm>
            <a:off x="406400" y="1397001"/>
            <a:ext cx="11379200" cy="47291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882" lvl="0" marL="34288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Char char="▪"/>
            </a:pPr>
            <a:r>
              <a:rPr lang="en-US" sz="2600">
                <a:latin typeface="Calibri"/>
                <a:ea typeface="Calibri"/>
                <a:cs typeface="Calibri"/>
                <a:sym typeface="Calibri"/>
              </a:rPr>
              <a:t>In BFS, for example, we shouldn’t bother expanding the circled nodes (why?)</a:t>
            </a:r>
            <a:endParaRPr/>
          </a:p>
        </p:txBody>
      </p:sp>
      <p:grpSp>
        <p:nvGrpSpPr>
          <p:cNvPr id="607" name="Google Shape;607;p32"/>
          <p:cNvGrpSpPr/>
          <p:nvPr/>
        </p:nvGrpSpPr>
        <p:grpSpPr>
          <a:xfrm>
            <a:off x="3352800" y="2435610"/>
            <a:ext cx="5486400" cy="3355590"/>
            <a:chOff x="48" y="2332"/>
            <a:chExt cx="3456" cy="2406"/>
          </a:xfrm>
        </p:grpSpPr>
        <p:sp>
          <p:nvSpPr>
            <p:cNvPr id="608" name="Google Shape;608;p32"/>
            <p:cNvSpPr txBox="1"/>
            <p:nvPr/>
          </p:nvSpPr>
          <p:spPr>
            <a:xfrm>
              <a:off x="1728" y="2332"/>
              <a:ext cx="624" cy="24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9" name="Google Shape;609;p32"/>
            <p:cNvSpPr txBox="1"/>
            <p:nvPr/>
          </p:nvSpPr>
          <p:spPr>
            <a:xfrm>
              <a:off x="48" y="3417"/>
              <a:ext cx="240" cy="2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1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0" name="Google Shape;610;p32"/>
            <p:cNvSpPr txBox="1"/>
            <p:nvPr/>
          </p:nvSpPr>
          <p:spPr>
            <a:xfrm>
              <a:off x="48" y="3033"/>
              <a:ext cx="240" cy="2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1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b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1" name="Google Shape;611;p32"/>
            <p:cNvSpPr txBox="1"/>
            <p:nvPr/>
          </p:nvSpPr>
          <p:spPr>
            <a:xfrm>
              <a:off x="384" y="2688"/>
              <a:ext cx="240" cy="2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1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d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2" name="Google Shape;612;p32"/>
            <p:cNvSpPr txBox="1"/>
            <p:nvPr/>
          </p:nvSpPr>
          <p:spPr>
            <a:xfrm>
              <a:off x="3264" y="2640"/>
              <a:ext cx="240" cy="2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1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p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3" name="Google Shape;613;p32"/>
            <p:cNvSpPr txBox="1"/>
            <p:nvPr/>
          </p:nvSpPr>
          <p:spPr>
            <a:xfrm>
              <a:off x="480" y="3417"/>
              <a:ext cx="240" cy="2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1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4" name="Google Shape;614;p32"/>
            <p:cNvSpPr txBox="1"/>
            <p:nvPr/>
          </p:nvSpPr>
          <p:spPr>
            <a:xfrm>
              <a:off x="480" y="3033"/>
              <a:ext cx="240" cy="2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1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615" name="Google Shape;615;p32"/>
            <p:cNvCxnSpPr>
              <a:stCxn id="611" idx="2"/>
              <a:endCxn id="610" idx="0"/>
            </p:cNvCxnSpPr>
            <p:nvPr/>
          </p:nvCxnSpPr>
          <p:spPr>
            <a:xfrm rot="10800000">
              <a:off x="204" y="2953"/>
              <a:ext cx="3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16" name="Google Shape;616;p32"/>
            <p:cNvCxnSpPr>
              <a:stCxn id="611" idx="2"/>
              <a:endCxn id="614" idx="0"/>
            </p:cNvCxnSpPr>
            <p:nvPr/>
          </p:nvCxnSpPr>
          <p:spPr>
            <a:xfrm>
              <a:off x="504" y="2953"/>
              <a:ext cx="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17" name="Google Shape;617;p32"/>
            <p:cNvCxnSpPr>
              <a:stCxn id="610" idx="2"/>
              <a:endCxn id="609" idx="0"/>
            </p:cNvCxnSpPr>
            <p:nvPr/>
          </p:nvCxnSpPr>
          <p:spPr>
            <a:xfrm>
              <a:off x="168" y="3298"/>
              <a:ext cx="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18" name="Google Shape;618;p32"/>
            <p:cNvCxnSpPr>
              <a:stCxn id="614" idx="2"/>
              <a:endCxn id="613" idx="0"/>
            </p:cNvCxnSpPr>
            <p:nvPr/>
          </p:nvCxnSpPr>
          <p:spPr>
            <a:xfrm>
              <a:off x="600" y="3298"/>
              <a:ext cx="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grpSp>
          <p:nvGrpSpPr>
            <p:cNvPr id="619" name="Google Shape;619;p32"/>
            <p:cNvGrpSpPr/>
            <p:nvPr/>
          </p:nvGrpSpPr>
          <p:grpSpPr>
            <a:xfrm>
              <a:off x="1776" y="2640"/>
              <a:ext cx="1104" cy="1714"/>
              <a:chOff x="1152" y="2640"/>
              <a:chExt cx="1104" cy="1714"/>
            </a:xfrm>
          </p:grpSpPr>
          <p:sp>
            <p:nvSpPr>
              <p:cNvPr id="620" name="Google Shape;620;p32"/>
              <p:cNvSpPr txBox="1"/>
              <p:nvPr/>
            </p:nvSpPr>
            <p:spPr>
              <a:xfrm>
                <a:off x="1536" y="2640"/>
                <a:ext cx="240" cy="2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1" lang="en-US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e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21" name="Google Shape;621;p32"/>
              <p:cNvSpPr txBox="1"/>
              <p:nvPr/>
            </p:nvSpPr>
            <p:spPr>
              <a:xfrm>
                <a:off x="1152" y="3408"/>
                <a:ext cx="240" cy="2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1" lang="en-US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p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22" name="Google Shape;622;p32"/>
              <p:cNvSpPr txBox="1"/>
              <p:nvPr/>
            </p:nvSpPr>
            <p:spPr>
              <a:xfrm>
                <a:off x="1296" y="3024"/>
                <a:ext cx="240" cy="2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1" lang="en-US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h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23" name="Google Shape;623;p32"/>
              <p:cNvSpPr txBox="1"/>
              <p:nvPr/>
            </p:nvSpPr>
            <p:spPr>
              <a:xfrm>
                <a:off x="1728" y="3408"/>
                <a:ext cx="240" cy="2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1" lang="en-US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f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24" name="Google Shape;624;p32"/>
              <p:cNvSpPr txBox="1"/>
              <p:nvPr/>
            </p:nvSpPr>
            <p:spPr>
              <a:xfrm>
                <a:off x="1728" y="3024"/>
                <a:ext cx="240" cy="2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1" lang="en-US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r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25" name="Google Shape;625;p32"/>
              <p:cNvSpPr txBox="1"/>
              <p:nvPr/>
            </p:nvSpPr>
            <p:spPr>
              <a:xfrm>
                <a:off x="1440" y="3408"/>
                <a:ext cx="240" cy="2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1" lang="en-US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q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26" name="Google Shape;626;p32"/>
              <p:cNvSpPr txBox="1"/>
              <p:nvPr/>
            </p:nvSpPr>
            <p:spPr>
              <a:xfrm>
                <a:off x="1152" y="3753"/>
                <a:ext cx="240" cy="2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1" lang="en-US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q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27" name="Google Shape;627;p32"/>
              <p:cNvSpPr txBox="1"/>
              <p:nvPr/>
            </p:nvSpPr>
            <p:spPr>
              <a:xfrm>
                <a:off x="1584" y="3753"/>
                <a:ext cx="240" cy="2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1" lang="en-US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28" name="Google Shape;628;p32"/>
              <p:cNvSpPr txBox="1"/>
              <p:nvPr/>
            </p:nvSpPr>
            <p:spPr>
              <a:xfrm>
                <a:off x="1776" y="3792"/>
                <a:ext cx="480" cy="24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G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29" name="Google Shape;629;p32"/>
              <p:cNvSpPr txBox="1"/>
              <p:nvPr/>
            </p:nvSpPr>
            <p:spPr>
              <a:xfrm>
                <a:off x="1584" y="4089"/>
                <a:ext cx="240" cy="2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1" lang="en-US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630" name="Google Shape;630;p32"/>
              <p:cNvCxnSpPr>
                <a:stCxn id="620" idx="2"/>
                <a:endCxn id="622" idx="0"/>
              </p:cNvCxnSpPr>
              <p:nvPr/>
            </p:nvCxnSpPr>
            <p:spPr>
              <a:xfrm rot="10800000">
                <a:off x="1356" y="2905"/>
                <a:ext cx="3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31" name="Google Shape;631;p32"/>
              <p:cNvCxnSpPr>
                <a:stCxn id="620" idx="2"/>
                <a:endCxn id="624" idx="0"/>
              </p:cNvCxnSpPr>
              <p:nvPr/>
            </p:nvCxnSpPr>
            <p:spPr>
              <a:xfrm>
                <a:off x="1656" y="2905"/>
                <a:ext cx="3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32" name="Google Shape;632;p32"/>
              <p:cNvCxnSpPr>
                <a:stCxn id="622" idx="2"/>
                <a:endCxn id="621" idx="0"/>
              </p:cNvCxnSpPr>
              <p:nvPr/>
            </p:nvCxnSpPr>
            <p:spPr>
              <a:xfrm>
                <a:off x="1416" y="3289"/>
                <a:ext cx="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33" name="Google Shape;633;p32"/>
              <p:cNvCxnSpPr>
                <a:stCxn id="622" idx="2"/>
                <a:endCxn id="625" idx="0"/>
              </p:cNvCxnSpPr>
              <p:nvPr/>
            </p:nvCxnSpPr>
            <p:spPr>
              <a:xfrm>
                <a:off x="1416" y="3289"/>
                <a:ext cx="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34" name="Google Shape;634;p32"/>
              <p:cNvCxnSpPr>
                <a:stCxn id="624" idx="2"/>
                <a:endCxn id="623" idx="0"/>
              </p:cNvCxnSpPr>
              <p:nvPr/>
            </p:nvCxnSpPr>
            <p:spPr>
              <a:xfrm>
                <a:off x="1848" y="3289"/>
                <a:ext cx="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35" name="Google Shape;635;p32"/>
              <p:cNvCxnSpPr>
                <a:stCxn id="621" idx="2"/>
                <a:endCxn id="626" idx="0"/>
              </p:cNvCxnSpPr>
              <p:nvPr/>
            </p:nvCxnSpPr>
            <p:spPr>
              <a:xfrm>
                <a:off x="1272" y="3673"/>
                <a:ext cx="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36" name="Google Shape;636;p32"/>
              <p:cNvCxnSpPr>
                <a:stCxn id="623" idx="2"/>
                <a:endCxn id="627" idx="0"/>
              </p:cNvCxnSpPr>
              <p:nvPr/>
            </p:nvCxnSpPr>
            <p:spPr>
              <a:xfrm>
                <a:off x="1848" y="3673"/>
                <a:ext cx="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37" name="Google Shape;637;p32"/>
              <p:cNvCxnSpPr>
                <a:stCxn id="623" idx="2"/>
                <a:endCxn id="628" idx="0"/>
              </p:cNvCxnSpPr>
              <p:nvPr/>
            </p:nvCxnSpPr>
            <p:spPr>
              <a:xfrm>
                <a:off x="1848" y="3673"/>
                <a:ext cx="3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38" name="Google Shape;638;p32"/>
              <p:cNvCxnSpPr>
                <a:stCxn id="627" idx="2"/>
                <a:endCxn id="629" idx="0"/>
              </p:cNvCxnSpPr>
              <p:nvPr/>
            </p:nvCxnSpPr>
            <p:spPr>
              <a:xfrm>
                <a:off x="1704" y="4018"/>
                <a:ext cx="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sp>
          <p:nvSpPr>
            <p:cNvPr id="639" name="Google Shape;639;p32"/>
            <p:cNvSpPr txBox="1"/>
            <p:nvPr/>
          </p:nvSpPr>
          <p:spPr>
            <a:xfrm>
              <a:off x="3264" y="2994"/>
              <a:ext cx="240" cy="2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1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q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640" name="Google Shape;640;p32"/>
            <p:cNvCxnSpPr>
              <a:stCxn id="612" idx="2"/>
              <a:endCxn id="639" idx="0"/>
            </p:cNvCxnSpPr>
            <p:nvPr/>
          </p:nvCxnSpPr>
          <p:spPr>
            <a:xfrm>
              <a:off x="3384" y="2905"/>
              <a:ext cx="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grpSp>
          <p:nvGrpSpPr>
            <p:cNvPr id="641" name="Google Shape;641;p32"/>
            <p:cNvGrpSpPr/>
            <p:nvPr/>
          </p:nvGrpSpPr>
          <p:grpSpPr>
            <a:xfrm>
              <a:off x="624" y="3024"/>
              <a:ext cx="1104" cy="1714"/>
              <a:chOff x="1152" y="2640"/>
              <a:chExt cx="1104" cy="1714"/>
            </a:xfrm>
          </p:grpSpPr>
          <p:sp>
            <p:nvSpPr>
              <p:cNvPr id="642" name="Google Shape;642;p32"/>
              <p:cNvSpPr txBox="1"/>
              <p:nvPr/>
            </p:nvSpPr>
            <p:spPr>
              <a:xfrm>
                <a:off x="1536" y="2640"/>
                <a:ext cx="240" cy="2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1" lang="en-US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e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43" name="Google Shape;643;p32"/>
              <p:cNvSpPr txBox="1"/>
              <p:nvPr/>
            </p:nvSpPr>
            <p:spPr>
              <a:xfrm>
                <a:off x="1152" y="3408"/>
                <a:ext cx="240" cy="2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1" lang="en-US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p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44" name="Google Shape;644;p32"/>
              <p:cNvSpPr txBox="1"/>
              <p:nvPr/>
            </p:nvSpPr>
            <p:spPr>
              <a:xfrm>
                <a:off x="1296" y="3024"/>
                <a:ext cx="240" cy="2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1" lang="en-US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h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45" name="Google Shape;645;p32"/>
              <p:cNvSpPr txBox="1"/>
              <p:nvPr/>
            </p:nvSpPr>
            <p:spPr>
              <a:xfrm>
                <a:off x="1728" y="3408"/>
                <a:ext cx="240" cy="2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1" lang="en-US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f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46" name="Google Shape;646;p32"/>
              <p:cNvSpPr txBox="1"/>
              <p:nvPr/>
            </p:nvSpPr>
            <p:spPr>
              <a:xfrm>
                <a:off x="1728" y="3024"/>
                <a:ext cx="240" cy="2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1" lang="en-US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r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47" name="Google Shape;647;p32"/>
              <p:cNvSpPr txBox="1"/>
              <p:nvPr/>
            </p:nvSpPr>
            <p:spPr>
              <a:xfrm>
                <a:off x="1440" y="3408"/>
                <a:ext cx="240" cy="2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1" lang="en-US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q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48" name="Google Shape;648;p32"/>
              <p:cNvSpPr txBox="1"/>
              <p:nvPr/>
            </p:nvSpPr>
            <p:spPr>
              <a:xfrm>
                <a:off x="1152" y="3753"/>
                <a:ext cx="240" cy="2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1" lang="en-US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q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49" name="Google Shape;649;p32"/>
              <p:cNvSpPr txBox="1"/>
              <p:nvPr/>
            </p:nvSpPr>
            <p:spPr>
              <a:xfrm>
                <a:off x="1584" y="3753"/>
                <a:ext cx="240" cy="2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1" lang="en-US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50" name="Google Shape;650;p32"/>
              <p:cNvSpPr txBox="1"/>
              <p:nvPr/>
            </p:nvSpPr>
            <p:spPr>
              <a:xfrm>
                <a:off x="1776" y="3792"/>
                <a:ext cx="480" cy="24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b="0" i="1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G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51" name="Google Shape;651;p32"/>
              <p:cNvSpPr txBox="1"/>
              <p:nvPr/>
            </p:nvSpPr>
            <p:spPr>
              <a:xfrm>
                <a:off x="1584" y="4089"/>
                <a:ext cx="240" cy="2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1" lang="en-US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652" name="Google Shape;652;p32"/>
              <p:cNvCxnSpPr>
                <a:stCxn id="642" idx="2"/>
                <a:endCxn id="644" idx="0"/>
              </p:cNvCxnSpPr>
              <p:nvPr/>
            </p:nvCxnSpPr>
            <p:spPr>
              <a:xfrm rot="10800000">
                <a:off x="1356" y="2905"/>
                <a:ext cx="3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53" name="Google Shape;653;p32"/>
              <p:cNvCxnSpPr>
                <a:stCxn id="642" idx="2"/>
                <a:endCxn id="646" idx="0"/>
              </p:cNvCxnSpPr>
              <p:nvPr/>
            </p:nvCxnSpPr>
            <p:spPr>
              <a:xfrm>
                <a:off x="1656" y="2905"/>
                <a:ext cx="3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54" name="Google Shape;654;p32"/>
              <p:cNvCxnSpPr>
                <a:stCxn id="644" idx="2"/>
                <a:endCxn id="643" idx="0"/>
              </p:cNvCxnSpPr>
              <p:nvPr/>
            </p:nvCxnSpPr>
            <p:spPr>
              <a:xfrm>
                <a:off x="1416" y="3289"/>
                <a:ext cx="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55" name="Google Shape;655;p32"/>
              <p:cNvCxnSpPr>
                <a:stCxn id="644" idx="2"/>
                <a:endCxn id="647" idx="0"/>
              </p:cNvCxnSpPr>
              <p:nvPr/>
            </p:nvCxnSpPr>
            <p:spPr>
              <a:xfrm>
                <a:off x="1416" y="3289"/>
                <a:ext cx="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56" name="Google Shape;656;p32"/>
              <p:cNvCxnSpPr>
                <a:stCxn id="646" idx="2"/>
                <a:endCxn id="645" idx="0"/>
              </p:cNvCxnSpPr>
              <p:nvPr/>
            </p:nvCxnSpPr>
            <p:spPr>
              <a:xfrm>
                <a:off x="1848" y="3289"/>
                <a:ext cx="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57" name="Google Shape;657;p32"/>
              <p:cNvCxnSpPr>
                <a:stCxn id="643" idx="2"/>
                <a:endCxn id="648" idx="0"/>
              </p:cNvCxnSpPr>
              <p:nvPr/>
            </p:nvCxnSpPr>
            <p:spPr>
              <a:xfrm>
                <a:off x="1272" y="3673"/>
                <a:ext cx="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58" name="Google Shape;658;p32"/>
              <p:cNvCxnSpPr>
                <a:stCxn id="645" idx="2"/>
                <a:endCxn id="649" idx="0"/>
              </p:cNvCxnSpPr>
              <p:nvPr/>
            </p:nvCxnSpPr>
            <p:spPr>
              <a:xfrm>
                <a:off x="1848" y="3673"/>
                <a:ext cx="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59" name="Google Shape;659;p32"/>
              <p:cNvCxnSpPr>
                <a:stCxn id="645" idx="2"/>
                <a:endCxn id="650" idx="0"/>
              </p:cNvCxnSpPr>
              <p:nvPr/>
            </p:nvCxnSpPr>
            <p:spPr>
              <a:xfrm>
                <a:off x="1848" y="3673"/>
                <a:ext cx="3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60" name="Google Shape;660;p32"/>
              <p:cNvCxnSpPr>
                <a:stCxn id="649" idx="2"/>
                <a:endCxn id="651" idx="0"/>
              </p:cNvCxnSpPr>
              <p:nvPr/>
            </p:nvCxnSpPr>
            <p:spPr>
              <a:xfrm>
                <a:off x="1704" y="4018"/>
                <a:ext cx="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cxnSp>
          <p:nvCxnSpPr>
            <p:cNvPr id="661" name="Google Shape;661;p32"/>
            <p:cNvCxnSpPr>
              <a:stCxn id="611" idx="2"/>
              <a:endCxn id="642" idx="0"/>
            </p:cNvCxnSpPr>
            <p:nvPr/>
          </p:nvCxnSpPr>
          <p:spPr>
            <a:xfrm>
              <a:off x="504" y="2953"/>
              <a:ext cx="6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62" name="Google Shape;662;p32"/>
            <p:cNvCxnSpPr>
              <a:stCxn id="608" idx="2"/>
              <a:endCxn id="611" idx="0"/>
            </p:cNvCxnSpPr>
            <p:nvPr/>
          </p:nvCxnSpPr>
          <p:spPr>
            <a:xfrm rot="10800000">
              <a:off x="540" y="2575"/>
              <a:ext cx="15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63" name="Google Shape;663;p32"/>
            <p:cNvCxnSpPr>
              <a:stCxn id="608" idx="2"/>
              <a:endCxn id="620" idx="0"/>
            </p:cNvCxnSpPr>
            <p:nvPr/>
          </p:nvCxnSpPr>
          <p:spPr>
            <a:xfrm>
              <a:off x="2040" y="2575"/>
              <a:ext cx="3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64" name="Google Shape;664;p32"/>
            <p:cNvCxnSpPr>
              <a:stCxn id="608" idx="2"/>
              <a:endCxn id="612" idx="0"/>
            </p:cNvCxnSpPr>
            <p:nvPr/>
          </p:nvCxnSpPr>
          <p:spPr>
            <a:xfrm>
              <a:off x="2040" y="2575"/>
              <a:ext cx="12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665" name="Google Shape;665;p32"/>
          <p:cNvSpPr/>
          <p:nvPr/>
        </p:nvSpPr>
        <p:spPr>
          <a:xfrm>
            <a:off x="4892676" y="3407161"/>
            <a:ext cx="393700" cy="358775"/>
          </a:xfrm>
          <a:prstGeom prst="ellipse">
            <a:avLst/>
          </a:prstGeom>
          <a:solidFill>
            <a:srgbClr val="FF3300">
              <a:alpha val="20000"/>
            </a:srgbClr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6" name="Google Shape;666;p32"/>
          <p:cNvSpPr/>
          <p:nvPr/>
        </p:nvSpPr>
        <p:spPr>
          <a:xfrm>
            <a:off x="6122989" y="3959610"/>
            <a:ext cx="393700" cy="358775"/>
          </a:xfrm>
          <a:prstGeom prst="ellipse">
            <a:avLst/>
          </a:prstGeom>
          <a:solidFill>
            <a:srgbClr val="FF3300">
              <a:alpha val="20000"/>
            </a:srgbClr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7" name="Google Shape;667;p32"/>
          <p:cNvSpPr/>
          <p:nvPr/>
        </p:nvSpPr>
        <p:spPr>
          <a:xfrm>
            <a:off x="4054476" y="3940561"/>
            <a:ext cx="393700" cy="358775"/>
          </a:xfrm>
          <a:prstGeom prst="ellipse">
            <a:avLst/>
          </a:prstGeom>
          <a:solidFill>
            <a:srgbClr val="FF3300">
              <a:alpha val="20000"/>
            </a:srgbClr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8" name="Google Shape;668;p32"/>
          <p:cNvSpPr/>
          <p:nvPr/>
        </p:nvSpPr>
        <p:spPr>
          <a:xfrm>
            <a:off x="6564314" y="3956435"/>
            <a:ext cx="393700" cy="358775"/>
          </a:xfrm>
          <a:prstGeom prst="ellipse">
            <a:avLst/>
          </a:prstGeom>
          <a:solidFill>
            <a:srgbClr val="FF3300">
              <a:alpha val="20000"/>
            </a:srgbClr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2" name="Shape 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3" name="Google Shape;673;p33"/>
          <p:cNvSpPr txBox="1"/>
          <p:nvPr>
            <p:ph type="title"/>
          </p:nvPr>
        </p:nvSpPr>
        <p:spPr>
          <a:xfrm>
            <a:off x="0" y="-25400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Graph Search</a:t>
            </a:r>
            <a:endParaRPr/>
          </a:p>
        </p:txBody>
      </p:sp>
      <p:sp>
        <p:nvSpPr>
          <p:cNvPr id="674" name="Google Shape;674;p33"/>
          <p:cNvSpPr txBox="1"/>
          <p:nvPr>
            <p:ph idx="1" type="body"/>
          </p:nvPr>
        </p:nvSpPr>
        <p:spPr>
          <a:xfrm>
            <a:off x="2362200" y="1371600"/>
            <a:ext cx="8153400" cy="47228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882" lvl="0" marL="342882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Char char="▪"/>
            </a:pPr>
            <a:r>
              <a:rPr lang="en-US" sz="2400"/>
              <a:t>Idea: never </a:t>
            </a:r>
            <a:r>
              <a:rPr lang="en-US" sz="2400">
                <a:solidFill>
                  <a:srgbClr val="FF0000"/>
                </a:solidFill>
              </a:rPr>
              <a:t>expand</a:t>
            </a:r>
            <a:r>
              <a:rPr lang="en-US" sz="2400"/>
              <a:t> a state twice</a:t>
            </a:r>
            <a:endParaRPr/>
          </a:p>
          <a:p>
            <a:pPr indent="-342882" lvl="0" marL="342882" rtl="0" algn="l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SzPts val="2400"/>
              <a:buChar char="▪"/>
            </a:pPr>
            <a:r>
              <a:rPr lang="en-US" sz="2400"/>
              <a:t>How to implement: </a:t>
            </a:r>
            <a:endParaRPr/>
          </a:p>
          <a:p>
            <a:pPr indent="-285736" lvl="1" marL="742913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</a:pPr>
            <a:r>
              <a:rPr lang="en-US" sz="2000"/>
              <a:t>Tree search + set of expanded states (“closed set”)</a:t>
            </a:r>
            <a:endParaRPr/>
          </a:p>
          <a:p>
            <a:pPr indent="-285736" lvl="1" marL="742913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</a:pPr>
            <a:r>
              <a:rPr lang="en-US" sz="2000"/>
              <a:t>Expand the search tree node-by-node, but…</a:t>
            </a:r>
            <a:endParaRPr/>
          </a:p>
          <a:p>
            <a:pPr indent="-285736" lvl="1" marL="742913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</a:pPr>
            <a:r>
              <a:rPr lang="en-US" sz="2000"/>
              <a:t>Before expanding a node, check to make sure its state has never been expanded before</a:t>
            </a:r>
            <a:endParaRPr/>
          </a:p>
          <a:p>
            <a:pPr indent="-285736" lvl="1" marL="742913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</a:pPr>
            <a:r>
              <a:rPr lang="en-US" sz="2000"/>
              <a:t>If not new, skip it, if new add to closed set</a:t>
            </a:r>
            <a:endParaRPr sz="2400"/>
          </a:p>
          <a:p>
            <a:pPr indent="-342882" lvl="0" marL="342882" rtl="0" algn="l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SzPts val="2400"/>
              <a:buChar char="▪"/>
            </a:pPr>
            <a:r>
              <a:rPr lang="en-US" sz="2400"/>
              <a:t>Important: </a:t>
            </a:r>
            <a:r>
              <a:rPr lang="en-US" sz="2400">
                <a:solidFill>
                  <a:srgbClr val="FF0000"/>
                </a:solidFill>
              </a:rPr>
              <a:t>store the closed set as a set</a:t>
            </a:r>
            <a:r>
              <a:rPr lang="en-US" sz="2400"/>
              <a:t>, not a list</a:t>
            </a:r>
            <a:endParaRPr sz="1900"/>
          </a:p>
          <a:p>
            <a:pPr indent="-342882" lvl="0" marL="342882" rtl="0" algn="l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SzPts val="2400"/>
              <a:buChar char="▪"/>
            </a:pPr>
            <a:r>
              <a:rPr lang="en-US" sz="2400"/>
              <a:t>Can graph search wreck completeness?  Why/why not?</a:t>
            </a:r>
            <a:endParaRPr/>
          </a:p>
          <a:p>
            <a:pPr indent="-342882" lvl="0" marL="342882" rtl="0" algn="l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SzPts val="2400"/>
              <a:buChar char="▪"/>
            </a:pPr>
            <a:r>
              <a:rPr lang="en-US" sz="2400"/>
              <a:t>How about optimality?</a:t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8" name="Shape 6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9" name="Google Shape;679;p34"/>
          <p:cNvSpPr txBox="1"/>
          <p:nvPr>
            <p:ph type="title"/>
          </p:nvPr>
        </p:nvSpPr>
        <p:spPr>
          <a:xfrm>
            <a:off x="0" y="-25400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A* Graph Search Gone Wrong?</a:t>
            </a:r>
            <a:endParaRPr/>
          </a:p>
        </p:txBody>
      </p:sp>
      <p:sp>
        <p:nvSpPr>
          <p:cNvPr id="680" name="Google Shape;680;p34"/>
          <p:cNvSpPr/>
          <p:nvPr/>
        </p:nvSpPr>
        <p:spPr>
          <a:xfrm>
            <a:off x="1363498" y="2819400"/>
            <a:ext cx="762000" cy="762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1" name="Google Shape;681;p34"/>
          <p:cNvSpPr/>
          <p:nvPr/>
        </p:nvSpPr>
        <p:spPr>
          <a:xfrm>
            <a:off x="3116098" y="2133600"/>
            <a:ext cx="762000" cy="762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2" name="Google Shape;682;p34"/>
          <p:cNvSpPr/>
          <p:nvPr/>
        </p:nvSpPr>
        <p:spPr>
          <a:xfrm>
            <a:off x="2506498" y="4191000"/>
            <a:ext cx="762000" cy="762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3" name="Google Shape;683;p34"/>
          <p:cNvSpPr/>
          <p:nvPr/>
        </p:nvSpPr>
        <p:spPr>
          <a:xfrm>
            <a:off x="4792498" y="2895600"/>
            <a:ext cx="762000" cy="762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4" name="Google Shape;684;p34"/>
          <p:cNvSpPr/>
          <p:nvPr/>
        </p:nvSpPr>
        <p:spPr>
          <a:xfrm>
            <a:off x="4792498" y="5105400"/>
            <a:ext cx="762000" cy="762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85" name="Google Shape;685;p34"/>
          <p:cNvCxnSpPr>
            <a:stCxn id="680" idx="7"/>
            <a:endCxn id="681" idx="2"/>
          </p:cNvCxnSpPr>
          <p:nvPr/>
        </p:nvCxnSpPr>
        <p:spPr>
          <a:xfrm flipH="1" rot="10800000">
            <a:off x="2013906" y="2514592"/>
            <a:ext cx="1102200" cy="4164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lg" w="lg" type="triangle"/>
          </a:ln>
        </p:spPr>
      </p:cxnSp>
      <p:cxnSp>
        <p:nvCxnSpPr>
          <p:cNvPr id="686" name="Google Shape;686;p34"/>
          <p:cNvCxnSpPr>
            <a:stCxn id="680" idx="5"/>
            <a:endCxn id="682" idx="1"/>
          </p:cNvCxnSpPr>
          <p:nvPr/>
        </p:nvCxnSpPr>
        <p:spPr>
          <a:xfrm>
            <a:off x="2013906" y="3469808"/>
            <a:ext cx="604200" cy="8328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lg" w="lg" type="triangle"/>
          </a:ln>
        </p:spPr>
      </p:cxnSp>
      <p:cxnSp>
        <p:nvCxnSpPr>
          <p:cNvPr id="687" name="Google Shape;687;p34"/>
          <p:cNvCxnSpPr>
            <a:stCxn id="682" idx="7"/>
            <a:endCxn id="683" idx="3"/>
          </p:cNvCxnSpPr>
          <p:nvPr/>
        </p:nvCxnSpPr>
        <p:spPr>
          <a:xfrm flipH="1" rot="10800000">
            <a:off x="3156906" y="3545992"/>
            <a:ext cx="1747200" cy="7566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lg" w="lg" type="triangle"/>
          </a:ln>
        </p:spPr>
      </p:cxnSp>
      <p:cxnSp>
        <p:nvCxnSpPr>
          <p:cNvPr id="688" name="Google Shape;688;p34"/>
          <p:cNvCxnSpPr>
            <a:stCxn id="681" idx="6"/>
            <a:endCxn id="683" idx="1"/>
          </p:cNvCxnSpPr>
          <p:nvPr/>
        </p:nvCxnSpPr>
        <p:spPr>
          <a:xfrm>
            <a:off x="3878098" y="2514600"/>
            <a:ext cx="1026000" cy="4926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lg" w="lg" type="triangle"/>
          </a:ln>
        </p:spPr>
      </p:cxnSp>
      <p:cxnSp>
        <p:nvCxnSpPr>
          <p:cNvPr id="689" name="Google Shape;689;p34"/>
          <p:cNvCxnSpPr>
            <a:stCxn id="683" idx="4"/>
            <a:endCxn id="684" idx="0"/>
          </p:cNvCxnSpPr>
          <p:nvPr/>
        </p:nvCxnSpPr>
        <p:spPr>
          <a:xfrm>
            <a:off x="5173498" y="3657600"/>
            <a:ext cx="0" cy="14478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lg" w="lg" type="triangle"/>
          </a:ln>
        </p:spPr>
      </p:cxnSp>
      <p:sp>
        <p:nvSpPr>
          <p:cNvPr id="690" name="Google Shape;690;p34"/>
          <p:cNvSpPr txBox="1"/>
          <p:nvPr/>
        </p:nvSpPr>
        <p:spPr>
          <a:xfrm>
            <a:off x="2531898" y="2678670"/>
            <a:ext cx="312902" cy="369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1" name="Google Shape;691;p34"/>
          <p:cNvSpPr txBox="1"/>
          <p:nvPr/>
        </p:nvSpPr>
        <p:spPr>
          <a:xfrm>
            <a:off x="2303298" y="3581398"/>
            <a:ext cx="312902" cy="369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2" name="Google Shape;692;p34"/>
          <p:cNvSpPr txBox="1"/>
          <p:nvPr/>
        </p:nvSpPr>
        <p:spPr>
          <a:xfrm>
            <a:off x="4259098" y="2819398"/>
            <a:ext cx="312902" cy="369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3" name="Google Shape;693;p34"/>
          <p:cNvSpPr txBox="1"/>
          <p:nvPr/>
        </p:nvSpPr>
        <p:spPr>
          <a:xfrm>
            <a:off x="3954298" y="3957637"/>
            <a:ext cx="312902" cy="369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4" name="Google Shape;694;p34"/>
          <p:cNvSpPr txBox="1"/>
          <p:nvPr/>
        </p:nvSpPr>
        <p:spPr>
          <a:xfrm>
            <a:off x="5249698" y="4186237"/>
            <a:ext cx="312902" cy="369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95" name="Google Shape;695;p34"/>
          <p:cNvGrpSpPr/>
          <p:nvPr/>
        </p:nvGrpSpPr>
        <p:grpSpPr>
          <a:xfrm>
            <a:off x="1477798" y="2971799"/>
            <a:ext cx="3986139" cy="3341389"/>
            <a:chOff x="1638925" y="2743200"/>
            <a:chExt cx="3984928" cy="3341100"/>
          </a:xfrm>
        </p:grpSpPr>
        <p:sp>
          <p:nvSpPr>
            <p:cNvPr id="696" name="Google Shape;696;p34"/>
            <p:cNvSpPr txBox="1"/>
            <p:nvPr/>
          </p:nvSpPr>
          <p:spPr>
            <a:xfrm>
              <a:off x="1638925" y="3429001"/>
              <a:ext cx="594653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1" lang="en-US" sz="1800" u="none" cap="none" strike="noStrike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h=2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7" name="Google Shape;697;p34"/>
            <p:cNvSpPr txBox="1"/>
            <p:nvPr/>
          </p:nvSpPr>
          <p:spPr>
            <a:xfrm>
              <a:off x="2743200" y="4800600"/>
              <a:ext cx="594653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1" lang="en-US" sz="1800" u="none" cap="none" strike="noStrike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h=1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8" name="Google Shape;698;p34"/>
            <p:cNvSpPr txBox="1"/>
            <p:nvPr/>
          </p:nvSpPr>
          <p:spPr>
            <a:xfrm>
              <a:off x="3315325" y="2743200"/>
              <a:ext cx="594653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1" lang="en-US" sz="1800" u="none" cap="none" strike="noStrike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h=4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9" name="Google Shape;699;p34"/>
            <p:cNvSpPr txBox="1"/>
            <p:nvPr/>
          </p:nvSpPr>
          <p:spPr>
            <a:xfrm>
              <a:off x="4267200" y="3119735"/>
              <a:ext cx="594653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1" lang="en-US" sz="1800" u="none" cap="none" strike="noStrike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h=1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0" name="Google Shape;700;p34"/>
            <p:cNvSpPr txBox="1"/>
            <p:nvPr/>
          </p:nvSpPr>
          <p:spPr>
            <a:xfrm>
              <a:off x="5029200" y="5715000"/>
              <a:ext cx="594653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1" lang="en-US" sz="1800" u="none" cap="none" strike="noStrike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h=0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01" name="Google Shape;701;p34"/>
          <p:cNvSpPr txBox="1"/>
          <p:nvPr/>
        </p:nvSpPr>
        <p:spPr>
          <a:xfrm>
            <a:off x="8229601" y="2362200"/>
            <a:ext cx="1047578" cy="461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 (0+</a:t>
            </a:r>
            <a:r>
              <a:rPr b="0" i="0" lang="en-US" sz="24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02" name="Google Shape;702;p34"/>
          <p:cNvGrpSpPr/>
          <p:nvPr/>
        </p:nvGrpSpPr>
        <p:grpSpPr>
          <a:xfrm>
            <a:off x="7239001" y="2823863"/>
            <a:ext cx="2995207" cy="919284"/>
            <a:chOff x="5638800" y="2133354"/>
            <a:chExt cx="2995208" cy="918925"/>
          </a:xfrm>
        </p:grpSpPr>
        <p:sp>
          <p:nvSpPr>
            <p:cNvPr id="703" name="Google Shape;703;p34"/>
            <p:cNvSpPr txBox="1"/>
            <p:nvPr/>
          </p:nvSpPr>
          <p:spPr>
            <a:xfrm>
              <a:off x="5638800" y="2590794"/>
              <a:ext cx="1084251" cy="46148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 (1+</a:t>
              </a:r>
              <a:r>
                <a:rPr b="0" i="0" lang="en-US" sz="2400" u="none" cap="none" strike="noStrike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r>
                <a:rPr b="0" i="0" lang="en-US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)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4" name="Google Shape;704;p34"/>
            <p:cNvSpPr txBox="1"/>
            <p:nvPr/>
          </p:nvSpPr>
          <p:spPr>
            <a:xfrm>
              <a:off x="7560427" y="2590789"/>
              <a:ext cx="1073581" cy="46148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B (1+</a:t>
              </a:r>
              <a:r>
                <a:rPr b="0" i="0" lang="en-US" sz="2400" u="none" cap="none" strike="noStrike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r>
                <a:rPr b="0" i="0" lang="en-US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)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705" name="Google Shape;705;p34"/>
            <p:cNvCxnSpPr>
              <a:stCxn id="701" idx="2"/>
              <a:endCxn id="704" idx="0"/>
            </p:cNvCxnSpPr>
            <p:nvPr/>
          </p:nvCxnSpPr>
          <p:spPr>
            <a:xfrm>
              <a:off x="7153190" y="2133354"/>
              <a:ext cx="944100" cy="4575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lg" w="lg" type="triangle"/>
            </a:ln>
          </p:spPr>
        </p:cxnSp>
        <p:cxnSp>
          <p:nvCxnSpPr>
            <p:cNvPr id="706" name="Google Shape;706;p34"/>
            <p:cNvCxnSpPr>
              <a:stCxn id="701" idx="2"/>
              <a:endCxn id="703" idx="0"/>
            </p:cNvCxnSpPr>
            <p:nvPr/>
          </p:nvCxnSpPr>
          <p:spPr>
            <a:xfrm flipH="1">
              <a:off x="6180890" y="2133354"/>
              <a:ext cx="972300" cy="4575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lg" w="lg" type="triangle"/>
            </a:ln>
          </p:spPr>
        </p:cxnSp>
      </p:grpSp>
      <p:grpSp>
        <p:nvGrpSpPr>
          <p:cNvPr id="707" name="Google Shape;707;p34"/>
          <p:cNvGrpSpPr/>
          <p:nvPr/>
        </p:nvGrpSpPr>
        <p:grpSpPr>
          <a:xfrm>
            <a:off x="7237991" y="3743147"/>
            <a:ext cx="1070275" cy="914580"/>
            <a:chOff x="5637791" y="3052286"/>
            <a:chExt cx="1069765" cy="914581"/>
          </a:xfrm>
        </p:grpSpPr>
        <p:sp>
          <p:nvSpPr>
            <p:cNvPr id="708" name="Google Shape;708;p34"/>
            <p:cNvSpPr txBox="1"/>
            <p:nvPr/>
          </p:nvSpPr>
          <p:spPr>
            <a:xfrm>
              <a:off x="5637791" y="3505201"/>
              <a:ext cx="1069765" cy="4616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 (2+</a:t>
              </a:r>
              <a:r>
                <a:rPr b="0" i="0" lang="en-US" sz="2400" u="none" cap="none" strike="noStrike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r>
                <a:rPr b="0" i="0" lang="en-US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)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709" name="Google Shape;709;p34"/>
            <p:cNvCxnSpPr>
              <a:stCxn id="703" idx="2"/>
              <a:endCxn id="708" idx="0"/>
            </p:cNvCxnSpPr>
            <p:nvPr/>
          </p:nvCxnSpPr>
          <p:spPr>
            <a:xfrm flipH="1">
              <a:off x="6172568" y="3052286"/>
              <a:ext cx="8100" cy="4530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lg" w="lg" type="triangle"/>
            </a:ln>
          </p:spPr>
        </p:cxnSp>
      </p:grpSp>
      <p:grpSp>
        <p:nvGrpSpPr>
          <p:cNvPr id="710" name="Google Shape;710;p34"/>
          <p:cNvGrpSpPr/>
          <p:nvPr/>
        </p:nvGrpSpPr>
        <p:grpSpPr>
          <a:xfrm>
            <a:off x="7239002" y="4657727"/>
            <a:ext cx="1100331" cy="909802"/>
            <a:chOff x="5638805" y="3966836"/>
            <a:chExt cx="1099952" cy="910124"/>
          </a:xfrm>
        </p:grpSpPr>
        <p:sp>
          <p:nvSpPr>
            <p:cNvPr id="711" name="Google Shape;711;p34"/>
            <p:cNvSpPr txBox="1"/>
            <p:nvPr/>
          </p:nvSpPr>
          <p:spPr>
            <a:xfrm>
              <a:off x="5638805" y="4415132"/>
              <a:ext cx="1099952" cy="46182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G (5+</a:t>
              </a:r>
              <a:r>
                <a:rPr b="0" i="0" lang="en-US" sz="2400" u="none" cap="none" strike="noStrike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0</a:t>
              </a:r>
              <a:r>
                <a:rPr b="0" i="0" lang="en-US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)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712" name="Google Shape;712;p34"/>
            <p:cNvCxnSpPr>
              <a:stCxn id="708" idx="2"/>
              <a:endCxn id="711" idx="0"/>
            </p:cNvCxnSpPr>
            <p:nvPr/>
          </p:nvCxnSpPr>
          <p:spPr>
            <a:xfrm>
              <a:off x="6172748" y="3966836"/>
              <a:ext cx="15900" cy="4482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lg" w="lg" type="triangle"/>
            </a:ln>
          </p:spPr>
        </p:cxnSp>
      </p:grpSp>
      <p:grpSp>
        <p:nvGrpSpPr>
          <p:cNvPr id="713" name="Google Shape;713;p34"/>
          <p:cNvGrpSpPr/>
          <p:nvPr/>
        </p:nvGrpSpPr>
        <p:grpSpPr>
          <a:xfrm>
            <a:off x="9142996" y="3743142"/>
            <a:ext cx="1070275" cy="909982"/>
            <a:chOff x="7543375" y="3052260"/>
            <a:chExt cx="1069766" cy="910305"/>
          </a:xfrm>
        </p:grpSpPr>
        <p:sp>
          <p:nvSpPr>
            <p:cNvPr id="714" name="Google Shape;714;p34"/>
            <p:cNvSpPr txBox="1"/>
            <p:nvPr/>
          </p:nvSpPr>
          <p:spPr>
            <a:xfrm>
              <a:off x="7543375" y="3500736"/>
              <a:ext cx="1069766" cy="46182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 (3+</a:t>
              </a:r>
              <a:r>
                <a:rPr b="0" i="0" lang="en-US" sz="2400" u="none" cap="none" strike="noStrike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r>
                <a:rPr b="0" i="0" lang="en-US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)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715" name="Google Shape;715;p34"/>
            <p:cNvCxnSpPr>
              <a:stCxn id="704" idx="2"/>
              <a:endCxn id="714" idx="0"/>
            </p:cNvCxnSpPr>
            <p:nvPr/>
          </p:nvCxnSpPr>
          <p:spPr>
            <a:xfrm flipH="1">
              <a:off x="8078333" y="3052260"/>
              <a:ext cx="19200" cy="4485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lg" w="lg" type="triangle"/>
            </a:ln>
          </p:spPr>
        </p:cxnSp>
      </p:grpSp>
      <p:grpSp>
        <p:nvGrpSpPr>
          <p:cNvPr id="716" name="Google Shape;716;p34"/>
          <p:cNvGrpSpPr/>
          <p:nvPr/>
        </p:nvGrpSpPr>
        <p:grpSpPr>
          <a:xfrm>
            <a:off x="9126745" y="4653124"/>
            <a:ext cx="1100331" cy="914237"/>
            <a:chOff x="7526555" y="3962569"/>
            <a:chExt cx="1099952" cy="914240"/>
          </a:xfrm>
        </p:grpSpPr>
        <p:sp>
          <p:nvSpPr>
            <p:cNvPr id="717" name="Google Shape;717;p34"/>
            <p:cNvSpPr txBox="1"/>
            <p:nvPr/>
          </p:nvSpPr>
          <p:spPr>
            <a:xfrm>
              <a:off x="7526555" y="4415142"/>
              <a:ext cx="1099952" cy="46166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G (6+</a:t>
              </a:r>
              <a:r>
                <a:rPr b="0" i="0" lang="en-US" sz="2400" u="none" cap="none" strike="noStrike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0</a:t>
              </a:r>
              <a:r>
                <a:rPr b="0" i="0" lang="en-US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)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718" name="Google Shape;718;p34"/>
            <p:cNvCxnSpPr>
              <a:stCxn id="714" idx="2"/>
              <a:endCxn id="717" idx="0"/>
            </p:cNvCxnSpPr>
            <p:nvPr/>
          </p:nvCxnSpPr>
          <p:spPr>
            <a:xfrm flipH="1">
              <a:off x="8076554" y="3962569"/>
              <a:ext cx="1200" cy="4527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lg" w="lg" type="triangle"/>
            </a:ln>
          </p:spPr>
        </p:cxnSp>
      </p:grpSp>
      <p:sp>
        <p:nvSpPr>
          <p:cNvPr id="719" name="Google Shape;719;p34"/>
          <p:cNvSpPr txBox="1"/>
          <p:nvPr/>
        </p:nvSpPr>
        <p:spPr>
          <a:xfrm>
            <a:off x="2125499" y="1295400"/>
            <a:ext cx="2759406" cy="5232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State space graph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0" name="Google Shape;720;p34"/>
          <p:cNvSpPr txBox="1"/>
          <p:nvPr/>
        </p:nvSpPr>
        <p:spPr>
          <a:xfrm>
            <a:off x="7745370" y="1311833"/>
            <a:ext cx="1838576" cy="5232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Search tree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4" name="Shape 7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5" name="Google Shape;725;p35"/>
          <p:cNvSpPr txBox="1"/>
          <p:nvPr>
            <p:ph type="title"/>
          </p:nvPr>
        </p:nvSpPr>
        <p:spPr>
          <a:xfrm>
            <a:off x="0" y="-25400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Consistency of Heuristics</a:t>
            </a:r>
            <a:endParaRPr/>
          </a:p>
        </p:txBody>
      </p:sp>
      <p:sp>
        <p:nvSpPr>
          <p:cNvPr id="726" name="Google Shape;726;p35"/>
          <p:cNvSpPr txBox="1"/>
          <p:nvPr>
            <p:ph idx="1" type="body"/>
          </p:nvPr>
        </p:nvSpPr>
        <p:spPr>
          <a:xfrm>
            <a:off x="4876800" y="1295400"/>
            <a:ext cx="6934200" cy="30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882" lvl="0" marL="342882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Char char="▪"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Main idea: estimated heuristic costs ≤ actual costs</a:t>
            </a:r>
            <a:endParaRPr/>
          </a:p>
          <a:p>
            <a:pPr indent="-285736" lvl="1" marL="742913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</a:pP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Admissibility: heuristic cost ≤ actual cost to goal</a:t>
            </a:r>
            <a:endParaRPr/>
          </a:p>
          <a:p>
            <a:pPr indent="-285736" lvl="1" marL="742913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		</a:t>
            </a:r>
            <a:r>
              <a:rPr lang="en-US" sz="20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h(A) </a:t>
            </a: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≤</a:t>
            </a:r>
            <a:r>
              <a:rPr lang="en-US" sz="20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000">
                <a:solidFill>
                  <a:srgbClr val="008000"/>
                </a:solidFill>
                <a:latin typeface="Calibri"/>
                <a:ea typeface="Calibri"/>
                <a:cs typeface="Calibri"/>
                <a:sym typeface="Calibri"/>
              </a:rPr>
              <a:t>actual cost from A to G</a:t>
            </a:r>
            <a:endParaRPr/>
          </a:p>
          <a:p>
            <a:pPr indent="-285736" lvl="1" marL="742913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</a:pP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Consistency: heuristic “arc” cost ≤ actual cost for each arc</a:t>
            </a:r>
            <a:endParaRPr/>
          </a:p>
          <a:p>
            <a:pPr indent="-285736" lvl="1" marL="742913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rPr lang="en-US" sz="20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		h(A) – h(C)</a:t>
            </a:r>
            <a:r>
              <a:rPr lang="en-US" sz="2000">
                <a:solidFill>
                  <a:srgbClr val="008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≤ </a:t>
            </a:r>
            <a:r>
              <a:rPr lang="en-US" sz="2000">
                <a:solidFill>
                  <a:srgbClr val="008000"/>
                </a:solidFill>
                <a:latin typeface="Calibri"/>
                <a:ea typeface="Calibri"/>
                <a:cs typeface="Calibri"/>
                <a:sym typeface="Calibri"/>
              </a:rPr>
              <a:t>cost(A to C)</a:t>
            </a:r>
            <a:endParaRPr sz="1050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79382" lvl="0" marL="342882" rtl="0" algn="l">
              <a:lnSpc>
                <a:spcPct val="150000"/>
              </a:lnSpc>
              <a:spcBef>
                <a:spcPts val="200"/>
              </a:spcBef>
              <a:spcAft>
                <a:spcPts val="0"/>
              </a:spcAft>
              <a:buClr>
                <a:srgbClr val="333399"/>
              </a:buClr>
              <a:buSzPts val="1000"/>
              <a:buNone/>
            </a:pPr>
            <a:r>
              <a:t/>
            </a:r>
            <a:endParaRPr sz="1000">
              <a:solidFill>
                <a:srgbClr val="33339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882" lvl="0" marL="342882" rtl="0" algn="l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rgbClr val="333399"/>
              </a:buClr>
              <a:buSzPts val="2400"/>
              <a:buChar char="▪"/>
            </a:pPr>
            <a:r>
              <a:rPr lang="en-US" sz="2400">
                <a:solidFill>
                  <a:srgbClr val="333399"/>
                </a:solidFill>
                <a:latin typeface="Calibri"/>
                <a:ea typeface="Calibri"/>
                <a:cs typeface="Calibri"/>
                <a:sym typeface="Calibri"/>
              </a:rPr>
              <a:t>Consequences of consistency:</a:t>
            </a:r>
            <a:endParaRPr/>
          </a:p>
          <a:p>
            <a:pPr indent="-285736" lvl="1" marL="742913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rgbClr val="333399"/>
              </a:buClr>
              <a:buSzPts val="2000"/>
              <a:buChar char="▪"/>
            </a:pP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The f value along a path never decreases</a:t>
            </a:r>
            <a:endParaRPr/>
          </a:p>
          <a:p>
            <a:pPr indent="-285736" lvl="1" marL="742913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rgbClr val="333399"/>
              </a:buClr>
              <a:buSzPts val="2000"/>
              <a:buNone/>
            </a:pP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		</a:t>
            </a:r>
            <a:r>
              <a:rPr lang="en-US" sz="20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 h(A) </a:t>
            </a: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≤ </a:t>
            </a:r>
            <a:r>
              <a:rPr lang="en-US" sz="2000">
                <a:solidFill>
                  <a:srgbClr val="008000"/>
                </a:solidFill>
                <a:latin typeface="Calibri"/>
                <a:ea typeface="Calibri"/>
                <a:cs typeface="Calibri"/>
                <a:sym typeface="Calibri"/>
              </a:rPr>
              <a:t>cost(A to C) </a:t>
            </a: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+</a:t>
            </a:r>
            <a:r>
              <a:rPr lang="en-US" sz="2000">
                <a:solidFill>
                  <a:srgbClr val="008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0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h(C)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indent="-285736" lvl="1" marL="742913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rgbClr val="333399"/>
              </a:buClr>
              <a:buSzPts val="2000"/>
              <a:buChar char="▪"/>
            </a:pP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A* graph search is optimal</a:t>
            </a:r>
            <a:endParaRPr/>
          </a:p>
          <a:p>
            <a:pPr indent="-215882" lvl="0" marL="342882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000"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27" name="Google Shape;727;p35"/>
          <p:cNvCxnSpPr>
            <a:endCxn id="728" idx="1"/>
          </p:cNvCxnSpPr>
          <p:nvPr/>
        </p:nvCxnSpPr>
        <p:spPr>
          <a:xfrm>
            <a:off x="1676511" y="2281350"/>
            <a:ext cx="1124400" cy="438600"/>
          </a:xfrm>
          <a:prstGeom prst="straightConnector1">
            <a:avLst/>
          </a:prstGeom>
          <a:noFill/>
          <a:ln cap="flat" cmpd="sng" w="57150">
            <a:solidFill>
              <a:schemeClr val="dk1"/>
            </a:solidFill>
            <a:prstDash val="solid"/>
            <a:round/>
            <a:headEnd len="sm" w="sm" type="none"/>
            <a:tailEnd len="lg" w="lg" type="triangle"/>
          </a:ln>
        </p:spPr>
      </p:cxnSp>
      <p:cxnSp>
        <p:nvCxnSpPr>
          <p:cNvPr id="729" name="Google Shape;729;p35"/>
          <p:cNvCxnSpPr>
            <a:stCxn id="728" idx="4"/>
            <a:endCxn id="730" idx="0"/>
          </p:cNvCxnSpPr>
          <p:nvPr/>
        </p:nvCxnSpPr>
        <p:spPr>
          <a:xfrm>
            <a:off x="3124200" y="3500439"/>
            <a:ext cx="0" cy="1528800"/>
          </a:xfrm>
          <a:prstGeom prst="straightConnector1">
            <a:avLst/>
          </a:prstGeom>
          <a:noFill/>
          <a:ln cap="flat" cmpd="sng" w="57150">
            <a:solidFill>
              <a:schemeClr val="dk1"/>
            </a:solidFill>
            <a:prstDash val="solid"/>
            <a:round/>
            <a:headEnd len="sm" w="sm" type="none"/>
            <a:tailEnd len="lg" w="lg" type="triangle"/>
          </a:ln>
        </p:spPr>
      </p:cxnSp>
      <p:sp>
        <p:nvSpPr>
          <p:cNvPr id="731" name="Google Shape;731;p35"/>
          <p:cNvSpPr txBox="1"/>
          <p:nvPr/>
        </p:nvSpPr>
        <p:spPr>
          <a:xfrm>
            <a:off x="3276600" y="3886200"/>
            <a:ext cx="340654" cy="461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2" name="Google Shape;732;p35"/>
          <p:cNvSpPr/>
          <p:nvPr/>
        </p:nvSpPr>
        <p:spPr>
          <a:xfrm>
            <a:off x="762000" y="1824039"/>
            <a:ext cx="914400" cy="914400"/>
          </a:xfrm>
          <a:prstGeom prst="ellipse">
            <a:avLst/>
          </a:prstGeom>
          <a:solidFill>
            <a:schemeClr val="lt1"/>
          </a:solidFill>
          <a:ln cap="flat" cmpd="sng" w="571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8" name="Google Shape;728;p35"/>
          <p:cNvSpPr/>
          <p:nvPr/>
        </p:nvSpPr>
        <p:spPr>
          <a:xfrm>
            <a:off x="2667000" y="2586039"/>
            <a:ext cx="914400" cy="914400"/>
          </a:xfrm>
          <a:prstGeom prst="ellipse">
            <a:avLst/>
          </a:prstGeom>
          <a:solidFill>
            <a:schemeClr val="lt1"/>
          </a:solidFill>
          <a:ln cap="flat" cmpd="sng" w="571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0" name="Google Shape;730;p35"/>
          <p:cNvSpPr/>
          <p:nvPr/>
        </p:nvSpPr>
        <p:spPr>
          <a:xfrm>
            <a:off x="2667000" y="5029200"/>
            <a:ext cx="914400" cy="914400"/>
          </a:xfrm>
          <a:prstGeom prst="ellipse">
            <a:avLst/>
          </a:prstGeom>
          <a:solidFill>
            <a:schemeClr val="lt1"/>
          </a:solidFill>
          <a:ln cap="flat" cmpd="sng" w="571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3" name="Google Shape;733;p35"/>
          <p:cNvSpPr txBox="1"/>
          <p:nvPr/>
        </p:nvSpPr>
        <p:spPr>
          <a:xfrm>
            <a:off x="609600" y="2819400"/>
            <a:ext cx="730697" cy="461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1" lang="en-US" sz="24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h=4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4" name="Google Shape;734;p35"/>
          <p:cNvSpPr txBox="1"/>
          <p:nvPr/>
        </p:nvSpPr>
        <p:spPr>
          <a:xfrm>
            <a:off x="3657600" y="2819400"/>
            <a:ext cx="730697" cy="461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1" lang="en-US" sz="24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h=1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5" name="Google Shape;735;p35"/>
          <p:cNvSpPr txBox="1"/>
          <p:nvPr/>
        </p:nvSpPr>
        <p:spPr>
          <a:xfrm>
            <a:off x="1905000" y="2509837"/>
            <a:ext cx="340654" cy="461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36" name="Google Shape;736;p35"/>
          <p:cNvCxnSpPr>
            <a:stCxn id="732" idx="5"/>
            <a:endCxn id="730" idx="1"/>
          </p:cNvCxnSpPr>
          <p:nvPr/>
        </p:nvCxnSpPr>
        <p:spPr>
          <a:xfrm>
            <a:off x="1542489" y="2604528"/>
            <a:ext cx="1258500" cy="2558700"/>
          </a:xfrm>
          <a:prstGeom prst="straightConnector1">
            <a:avLst/>
          </a:prstGeom>
          <a:noFill/>
          <a:ln cap="flat" cmpd="sng" w="57150">
            <a:solidFill>
              <a:srgbClr val="C00000"/>
            </a:solidFill>
            <a:prstDash val="dot"/>
            <a:round/>
            <a:headEnd len="sm" w="sm" type="none"/>
            <a:tailEnd len="lg" w="lg" type="triangle"/>
          </a:ln>
        </p:spPr>
      </p:cxnSp>
      <p:cxnSp>
        <p:nvCxnSpPr>
          <p:cNvPr id="737" name="Google Shape;737;p35"/>
          <p:cNvCxnSpPr>
            <a:stCxn id="732" idx="6"/>
            <a:endCxn id="728" idx="1"/>
          </p:cNvCxnSpPr>
          <p:nvPr/>
        </p:nvCxnSpPr>
        <p:spPr>
          <a:xfrm>
            <a:off x="1676400" y="2281239"/>
            <a:ext cx="1124400" cy="438600"/>
          </a:xfrm>
          <a:prstGeom prst="straightConnector1">
            <a:avLst/>
          </a:prstGeom>
          <a:noFill/>
          <a:ln cap="flat" cmpd="sng" w="57150">
            <a:solidFill>
              <a:srgbClr val="008000"/>
            </a:solidFill>
            <a:prstDash val="solid"/>
            <a:round/>
            <a:headEnd len="sm" w="sm" type="none"/>
            <a:tailEnd len="lg" w="lg" type="triangle"/>
          </a:ln>
        </p:spPr>
      </p:cxnSp>
      <p:sp>
        <p:nvSpPr>
          <p:cNvPr id="738" name="Google Shape;738;p35"/>
          <p:cNvSpPr txBox="1"/>
          <p:nvPr/>
        </p:nvSpPr>
        <p:spPr>
          <a:xfrm>
            <a:off x="609600" y="3200400"/>
            <a:ext cx="730697" cy="461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1" lang="en-US" sz="24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h=2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39" name="Google Shape;739;p35"/>
          <p:cNvCxnSpPr/>
          <p:nvPr/>
        </p:nvCxnSpPr>
        <p:spPr>
          <a:xfrm>
            <a:off x="609600" y="3019425"/>
            <a:ext cx="838200" cy="63808"/>
          </a:xfrm>
          <a:prstGeom prst="straightConnector1">
            <a:avLst/>
          </a:prstGeom>
          <a:noFill/>
          <a:ln cap="flat" cmpd="sng" w="57150">
            <a:solidFill>
              <a:srgbClr val="C00000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6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6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6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6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6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7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7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3" name="Shape 7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4" name="Google Shape;744;p36"/>
          <p:cNvSpPr txBox="1"/>
          <p:nvPr>
            <p:ph type="title"/>
          </p:nvPr>
        </p:nvSpPr>
        <p:spPr>
          <a:xfrm>
            <a:off x="0" y="-25400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Optimality of A* Graph Search</a:t>
            </a:r>
            <a:endParaRPr/>
          </a:p>
        </p:txBody>
      </p:sp>
      <p:pic>
        <p:nvPicPr>
          <p:cNvPr id="745" name="Google Shape;745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26501" y="1753559"/>
            <a:ext cx="5862797" cy="42226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749" name="Shape 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0" name="Google Shape;750;p37"/>
          <p:cNvSpPr/>
          <p:nvPr/>
        </p:nvSpPr>
        <p:spPr>
          <a:xfrm>
            <a:off x="8518525" y="2362200"/>
            <a:ext cx="1616075" cy="2381251"/>
          </a:xfrm>
          <a:custGeom>
            <a:rect b="b" l="l" r="r" t="t"/>
            <a:pathLst>
              <a:path extrusionOk="0" h="1500" w="1018">
                <a:moveTo>
                  <a:pt x="636" y="164"/>
                </a:moveTo>
                <a:cubicBezTo>
                  <a:pt x="714" y="273"/>
                  <a:pt x="995" y="706"/>
                  <a:pt x="1018" y="842"/>
                </a:cubicBezTo>
                <a:cubicBezTo>
                  <a:pt x="963" y="845"/>
                  <a:pt x="797" y="942"/>
                  <a:pt x="772" y="978"/>
                </a:cubicBezTo>
                <a:cubicBezTo>
                  <a:pt x="771" y="1024"/>
                  <a:pt x="817" y="1372"/>
                  <a:pt x="691" y="1446"/>
                </a:cubicBezTo>
                <a:cubicBezTo>
                  <a:pt x="662" y="1493"/>
                  <a:pt x="626" y="1495"/>
                  <a:pt x="573" y="1500"/>
                </a:cubicBezTo>
                <a:cubicBezTo>
                  <a:pt x="531" y="1490"/>
                  <a:pt x="524" y="1490"/>
                  <a:pt x="492" y="1468"/>
                </a:cubicBezTo>
                <a:cubicBezTo>
                  <a:pt x="474" y="1442"/>
                  <a:pt x="433" y="1401"/>
                  <a:pt x="406" y="1382"/>
                </a:cubicBezTo>
                <a:cubicBezTo>
                  <a:pt x="370" y="1332"/>
                  <a:pt x="390" y="1355"/>
                  <a:pt x="347" y="1312"/>
                </a:cubicBezTo>
                <a:cubicBezTo>
                  <a:pt x="276" y="1241"/>
                  <a:pt x="350" y="1294"/>
                  <a:pt x="304" y="1263"/>
                </a:cubicBezTo>
                <a:cubicBezTo>
                  <a:pt x="236" y="1164"/>
                  <a:pt x="115" y="1184"/>
                  <a:pt x="0" y="1181"/>
                </a:cubicBezTo>
                <a:cubicBezTo>
                  <a:pt x="46" y="1005"/>
                  <a:pt x="460" y="338"/>
                  <a:pt x="566" y="169"/>
                </a:cubicBezTo>
                <a:cubicBezTo>
                  <a:pt x="672" y="0"/>
                  <a:pt x="622" y="165"/>
                  <a:pt x="636" y="164"/>
                </a:cubicBezTo>
                <a:close/>
              </a:path>
            </a:pathLst>
          </a:custGeom>
          <a:solidFill>
            <a:srgbClr val="C0C0C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1" name="Google Shape;751;p37"/>
          <p:cNvSpPr txBox="1"/>
          <p:nvPr>
            <p:ph type="title"/>
          </p:nvPr>
        </p:nvSpPr>
        <p:spPr>
          <a:xfrm>
            <a:off x="0" y="-25400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Optimality of A* Graph Search</a:t>
            </a:r>
            <a:endParaRPr/>
          </a:p>
        </p:txBody>
      </p:sp>
      <p:sp>
        <p:nvSpPr>
          <p:cNvPr id="752" name="Google Shape;752;p37"/>
          <p:cNvSpPr txBox="1"/>
          <p:nvPr>
            <p:ph idx="1" type="body"/>
          </p:nvPr>
        </p:nvSpPr>
        <p:spPr>
          <a:xfrm>
            <a:off x="838200" y="1600200"/>
            <a:ext cx="6248400" cy="44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882" lvl="0" marL="34288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▪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Sketch: consider what A* does with a consistent heuristic:</a:t>
            </a:r>
            <a:endParaRPr/>
          </a:p>
          <a:p>
            <a:pPr indent="-196836" lvl="1" marL="742913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400">
              <a:latin typeface="Calibri"/>
              <a:ea typeface="Calibri"/>
              <a:cs typeface="Calibri"/>
              <a:sym typeface="Calibri"/>
            </a:endParaRPr>
          </a:p>
          <a:p>
            <a:pPr indent="-285736" lvl="1" marL="742913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▪"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Fact 1: In tree search, A* expands nodes in increasing total f value (f-contours)</a:t>
            </a:r>
            <a:br>
              <a:rPr lang="en-US" sz="2400">
                <a:latin typeface="Calibri"/>
                <a:ea typeface="Calibri"/>
                <a:cs typeface="Calibri"/>
                <a:sym typeface="Calibri"/>
              </a:rPr>
            </a:br>
            <a:endParaRPr sz="1400">
              <a:latin typeface="Calibri"/>
              <a:ea typeface="Calibri"/>
              <a:cs typeface="Calibri"/>
              <a:sym typeface="Calibri"/>
            </a:endParaRPr>
          </a:p>
          <a:p>
            <a:pPr indent="-285736" lvl="1" marL="742913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▪"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Fact 2: For every state s, nodes that reach s optimally are expanded before nodes that reach s suboptimally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-196836" lvl="1" marL="742913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400">
              <a:latin typeface="Calibri"/>
              <a:ea typeface="Calibri"/>
              <a:cs typeface="Calibri"/>
              <a:sym typeface="Calibri"/>
            </a:endParaRPr>
          </a:p>
          <a:p>
            <a:pPr indent="-285736" lvl="1" marL="742913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▪"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Result: A* graph search is optimal</a:t>
            </a:r>
            <a:endParaRPr/>
          </a:p>
        </p:txBody>
      </p:sp>
      <p:sp>
        <p:nvSpPr>
          <p:cNvPr id="753" name="Google Shape;753;p37"/>
          <p:cNvSpPr/>
          <p:nvPr/>
        </p:nvSpPr>
        <p:spPr>
          <a:xfrm>
            <a:off x="8001000" y="2533651"/>
            <a:ext cx="2927351" cy="2554287"/>
          </a:xfrm>
          <a:custGeom>
            <a:rect b="b" l="l" r="r" t="t"/>
            <a:pathLst>
              <a:path extrusionOk="0" h="1609" w="1844">
                <a:moveTo>
                  <a:pt x="0" y="1609"/>
                </a:moveTo>
                <a:lnTo>
                  <a:pt x="1844" y="1609"/>
                </a:lnTo>
                <a:lnTo>
                  <a:pt x="915" y="0"/>
                </a:lnTo>
                <a:lnTo>
                  <a:pt x="0" y="1609"/>
                </a:lnTo>
                <a:close/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4" name="Google Shape;754;p37"/>
          <p:cNvSpPr/>
          <p:nvPr/>
        </p:nvSpPr>
        <p:spPr>
          <a:xfrm>
            <a:off x="9123363" y="2889250"/>
            <a:ext cx="179387" cy="179387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5" name="Google Shape;755;p37"/>
          <p:cNvSpPr/>
          <p:nvPr/>
        </p:nvSpPr>
        <p:spPr>
          <a:xfrm>
            <a:off x="9599613" y="2879726"/>
            <a:ext cx="179387" cy="179387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6" name="Google Shape;756;p37"/>
          <p:cNvSpPr txBox="1"/>
          <p:nvPr/>
        </p:nvSpPr>
        <p:spPr>
          <a:xfrm>
            <a:off x="9253538" y="2740026"/>
            <a:ext cx="274637" cy="369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…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7" name="Google Shape;757;p37"/>
          <p:cNvSpPr/>
          <p:nvPr/>
        </p:nvSpPr>
        <p:spPr>
          <a:xfrm>
            <a:off x="9847263" y="3929063"/>
            <a:ext cx="179387" cy="179388"/>
          </a:xfrm>
          <a:prstGeom prst="ellipse">
            <a:avLst/>
          </a:prstGeom>
          <a:solidFill>
            <a:srgbClr val="FF9999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8" name="Google Shape;758;p37"/>
          <p:cNvSpPr/>
          <p:nvPr/>
        </p:nvSpPr>
        <p:spPr>
          <a:xfrm>
            <a:off x="9367838" y="4484688"/>
            <a:ext cx="179387" cy="179388"/>
          </a:xfrm>
          <a:prstGeom prst="ellipse">
            <a:avLst/>
          </a:prstGeom>
          <a:solidFill>
            <a:srgbClr val="FF9999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9" name="Google Shape;759;p37"/>
          <p:cNvSpPr/>
          <p:nvPr/>
        </p:nvSpPr>
        <p:spPr>
          <a:xfrm>
            <a:off x="9321800" y="3275014"/>
            <a:ext cx="179388" cy="1196975"/>
          </a:xfrm>
          <a:custGeom>
            <a:rect b="b" l="l" r="r" t="t"/>
            <a:pathLst>
              <a:path extrusionOk="0" h="754" w="113">
                <a:moveTo>
                  <a:pt x="80" y="0"/>
                </a:moveTo>
                <a:cubicBezTo>
                  <a:pt x="85" y="21"/>
                  <a:pt x="90" y="40"/>
                  <a:pt x="97" y="60"/>
                </a:cubicBezTo>
                <a:cubicBezTo>
                  <a:pt x="113" y="160"/>
                  <a:pt x="99" y="191"/>
                  <a:pt x="54" y="264"/>
                </a:cubicBezTo>
                <a:cubicBezTo>
                  <a:pt x="47" y="289"/>
                  <a:pt x="35" y="313"/>
                  <a:pt x="21" y="334"/>
                </a:cubicBezTo>
                <a:cubicBezTo>
                  <a:pt x="12" y="374"/>
                  <a:pt x="21" y="340"/>
                  <a:pt x="10" y="372"/>
                </a:cubicBezTo>
                <a:cubicBezTo>
                  <a:pt x="6" y="383"/>
                  <a:pt x="0" y="404"/>
                  <a:pt x="0" y="404"/>
                </a:cubicBezTo>
                <a:cubicBezTo>
                  <a:pt x="4" y="446"/>
                  <a:pt x="13" y="491"/>
                  <a:pt x="43" y="523"/>
                </a:cubicBezTo>
                <a:cubicBezTo>
                  <a:pt x="45" y="530"/>
                  <a:pt x="45" y="537"/>
                  <a:pt x="48" y="544"/>
                </a:cubicBezTo>
                <a:cubicBezTo>
                  <a:pt x="51" y="550"/>
                  <a:pt x="57" y="554"/>
                  <a:pt x="59" y="560"/>
                </a:cubicBezTo>
                <a:cubicBezTo>
                  <a:pt x="78" y="626"/>
                  <a:pt x="70" y="684"/>
                  <a:pt x="70" y="754"/>
                </a:cubicBez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0" name="Google Shape;760;p37"/>
          <p:cNvSpPr/>
          <p:nvPr/>
        </p:nvSpPr>
        <p:spPr>
          <a:xfrm>
            <a:off x="9739311" y="3471862"/>
            <a:ext cx="222251" cy="436563"/>
          </a:xfrm>
          <a:custGeom>
            <a:rect b="b" l="l" r="r" t="t"/>
            <a:pathLst>
              <a:path extrusionOk="0" h="275" w="140">
                <a:moveTo>
                  <a:pt x="0" y="0"/>
                </a:moveTo>
                <a:cubicBezTo>
                  <a:pt x="11" y="11"/>
                  <a:pt x="20" y="24"/>
                  <a:pt x="33" y="33"/>
                </a:cubicBezTo>
                <a:cubicBezTo>
                  <a:pt x="59" y="52"/>
                  <a:pt x="92" y="58"/>
                  <a:pt x="119" y="76"/>
                </a:cubicBezTo>
                <a:cubicBezTo>
                  <a:pt x="140" y="106"/>
                  <a:pt x="138" y="138"/>
                  <a:pt x="124" y="172"/>
                </a:cubicBezTo>
                <a:cubicBezTo>
                  <a:pt x="116" y="190"/>
                  <a:pt x="92" y="221"/>
                  <a:pt x="92" y="221"/>
                </a:cubicBezTo>
                <a:cubicBezTo>
                  <a:pt x="98" y="240"/>
                  <a:pt x="114" y="255"/>
                  <a:pt x="114" y="275"/>
                </a:cubicBez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1" name="Google Shape;761;p37"/>
          <p:cNvSpPr/>
          <p:nvPr/>
        </p:nvSpPr>
        <p:spPr>
          <a:xfrm>
            <a:off x="9355138" y="2463801"/>
            <a:ext cx="179387" cy="179387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2" name="Google Shape;762;p37"/>
          <p:cNvSpPr/>
          <p:nvPr/>
        </p:nvSpPr>
        <p:spPr>
          <a:xfrm>
            <a:off x="8783637" y="3368676"/>
            <a:ext cx="1181100" cy="557212"/>
          </a:xfrm>
          <a:custGeom>
            <a:rect b="b" l="l" r="r" t="t"/>
            <a:pathLst>
              <a:path extrusionOk="0" h="351" w="744">
                <a:moveTo>
                  <a:pt x="744" y="0"/>
                </a:moveTo>
                <a:cubicBezTo>
                  <a:pt x="672" y="25"/>
                  <a:pt x="600" y="51"/>
                  <a:pt x="547" y="105"/>
                </a:cubicBezTo>
                <a:cubicBezTo>
                  <a:pt x="494" y="159"/>
                  <a:pt x="485" y="295"/>
                  <a:pt x="428" y="323"/>
                </a:cubicBezTo>
                <a:cubicBezTo>
                  <a:pt x="371" y="351"/>
                  <a:pt x="274" y="293"/>
                  <a:pt x="203" y="274"/>
                </a:cubicBezTo>
                <a:cubicBezTo>
                  <a:pt x="132" y="255"/>
                  <a:pt x="66" y="233"/>
                  <a:pt x="0" y="211"/>
                </a:cubicBez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3" name="Google Shape;763;p37"/>
          <p:cNvSpPr/>
          <p:nvPr/>
        </p:nvSpPr>
        <p:spPr>
          <a:xfrm>
            <a:off x="9039226" y="3100388"/>
            <a:ext cx="747713" cy="293688"/>
          </a:xfrm>
          <a:custGeom>
            <a:rect b="b" l="l" r="r" t="t"/>
            <a:pathLst>
              <a:path extrusionOk="0" h="185" w="471">
                <a:moveTo>
                  <a:pt x="471" y="0"/>
                </a:moveTo>
                <a:cubicBezTo>
                  <a:pt x="394" y="76"/>
                  <a:pt x="317" y="153"/>
                  <a:pt x="239" y="169"/>
                </a:cubicBezTo>
                <a:cubicBezTo>
                  <a:pt x="161" y="185"/>
                  <a:pt x="80" y="142"/>
                  <a:pt x="0" y="99"/>
                </a:cubicBez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4" name="Google Shape;764;p37"/>
          <p:cNvSpPr txBox="1"/>
          <p:nvPr/>
        </p:nvSpPr>
        <p:spPr>
          <a:xfrm>
            <a:off x="10277475" y="3468689"/>
            <a:ext cx="825500" cy="369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 ≤ 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5" name="Google Shape;765;p37"/>
          <p:cNvSpPr txBox="1"/>
          <p:nvPr/>
        </p:nvSpPr>
        <p:spPr>
          <a:xfrm>
            <a:off x="10150475" y="3073401"/>
            <a:ext cx="825500" cy="369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 ≤ 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6" name="Google Shape;766;p37"/>
          <p:cNvSpPr txBox="1"/>
          <p:nvPr/>
        </p:nvSpPr>
        <p:spPr>
          <a:xfrm>
            <a:off x="9950449" y="2695577"/>
            <a:ext cx="825500" cy="369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 ≤ 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770" name="Shape 7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1" name="Google Shape;771;g3a9054157b4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37550" y="546400"/>
            <a:ext cx="8074226" cy="6207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6" name="Shape 7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7" name="Google Shape;777;g3a9054157b4_0_42"/>
          <p:cNvSpPr txBox="1"/>
          <p:nvPr>
            <p:ph type="title"/>
          </p:nvPr>
        </p:nvSpPr>
        <p:spPr>
          <a:xfrm>
            <a:off x="0" y="-25400"/>
            <a:ext cx="12192000" cy="1143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Heuristic Testing</a:t>
            </a:r>
            <a:endParaRPr/>
          </a:p>
        </p:txBody>
      </p:sp>
      <p:sp>
        <p:nvSpPr>
          <p:cNvPr id="778" name="Google Shape;778;g3a9054157b4_0_42"/>
          <p:cNvSpPr txBox="1"/>
          <p:nvPr>
            <p:ph idx="1" type="body"/>
          </p:nvPr>
        </p:nvSpPr>
        <p:spPr>
          <a:xfrm>
            <a:off x="406400" y="1397001"/>
            <a:ext cx="11379300" cy="4729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79" name="Google Shape;779;g3a9054157b4_0_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8425" y="1207675"/>
            <a:ext cx="11266726" cy="4840151"/>
          </a:xfrm>
          <a:prstGeom prst="rect">
            <a:avLst/>
          </a:prstGeom>
          <a:noFill/>
          <a:ln>
            <a:noFill/>
          </a:ln>
        </p:spPr>
      </p:pic>
      <p:sp>
        <p:nvSpPr>
          <p:cNvPr id="780" name="Google Shape;780;g3a9054157b4_0_42"/>
          <p:cNvSpPr/>
          <p:nvPr/>
        </p:nvSpPr>
        <p:spPr>
          <a:xfrm>
            <a:off x="7754075" y="3883025"/>
            <a:ext cx="3536400" cy="2031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5" name="Shape 7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6" name="Google Shape;786;g3a9054157b4_0_49"/>
          <p:cNvSpPr txBox="1"/>
          <p:nvPr>
            <p:ph type="title"/>
          </p:nvPr>
        </p:nvSpPr>
        <p:spPr>
          <a:xfrm>
            <a:off x="0" y="-25400"/>
            <a:ext cx="12192000" cy="1143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Heuristic Testing</a:t>
            </a:r>
            <a:endParaRPr/>
          </a:p>
        </p:txBody>
      </p:sp>
      <p:sp>
        <p:nvSpPr>
          <p:cNvPr id="787" name="Google Shape;787;g3a9054157b4_0_49"/>
          <p:cNvSpPr txBox="1"/>
          <p:nvPr>
            <p:ph idx="1" type="body"/>
          </p:nvPr>
        </p:nvSpPr>
        <p:spPr>
          <a:xfrm>
            <a:off x="406400" y="1397001"/>
            <a:ext cx="11379300" cy="4729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88" name="Google Shape;788;g3a9054157b4_0_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8425" y="1207675"/>
            <a:ext cx="11266726" cy="48401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3" name="Shape 7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4" name="Google Shape;794;g3a9054157b4_0_57"/>
          <p:cNvSpPr txBox="1"/>
          <p:nvPr>
            <p:ph type="title"/>
          </p:nvPr>
        </p:nvSpPr>
        <p:spPr>
          <a:xfrm>
            <a:off x="0" y="-25400"/>
            <a:ext cx="12192000" cy="1143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Heuristic Testing</a:t>
            </a:r>
            <a:endParaRPr/>
          </a:p>
        </p:txBody>
      </p:sp>
      <p:pic>
        <p:nvPicPr>
          <p:cNvPr id="795" name="Google Shape;795;g3a9054157b4_0_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8700" y="1397000"/>
            <a:ext cx="11067609" cy="4729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9" name="Shape 7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0" name="Google Shape;800;p38"/>
          <p:cNvSpPr txBox="1"/>
          <p:nvPr>
            <p:ph type="title"/>
          </p:nvPr>
        </p:nvSpPr>
        <p:spPr>
          <a:xfrm>
            <a:off x="0" y="-49295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Optimality</a:t>
            </a:r>
            <a:endParaRPr/>
          </a:p>
        </p:txBody>
      </p:sp>
      <p:sp>
        <p:nvSpPr>
          <p:cNvPr id="801" name="Google Shape;801;p38"/>
          <p:cNvSpPr txBox="1"/>
          <p:nvPr>
            <p:ph idx="1" type="body"/>
          </p:nvPr>
        </p:nvSpPr>
        <p:spPr>
          <a:xfrm>
            <a:off x="406400" y="1397001"/>
            <a:ext cx="6375400" cy="47291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882" lvl="0" marL="342882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400"/>
              <a:buChar char="▪"/>
            </a:pPr>
            <a:r>
              <a:rPr lang="en-US" sz="2400"/>
              <a:t>Tree search:</a:t>
            </a:r>
            <a:endParaRPr/>
          </a:p>
          <a:p>
            <a:pPr indent="-285736" lvl="1" marL="742913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</a:pPr>
            <a:r>
              <a:rPr lang="en-US" sz="2000"/>
              <a:t>A* is optimal if heuristic is admissible</a:t>
            </a:r>
            <a:endParaRPr/>
          </a:p>
          <a:p>
            <a:pPr indent="-285736" lvl="1" marL="742913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</a:pPr>
            <a:r>
              <a:rPr lang="en-US" sz="2000"/>
              <a:t>UCS is a special case (h = 0)</a:t>
            </a:r>
            <a:endParaRPr/>
          </a:p>
          <a:p>
            <a:pPr indent="-190482" lvl="0" marL="342882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/>
          </a:p>
          <a:p>
            <a:pPr indent="-342882" lvl="0" marL="342882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SzPts val="2400"/>
              <a:buChar char="▪"/>
            </a:pPr>
            <a:r>
              <a:rPr lang="en-US" sz="2400"/>
              <a:t>Graph search:</a:t>
            </a:r>
            <a:endParaRPr/>
          </a:p>
          <a:p>
            <a:pPr indent="-285736" lvl="1" marL="742913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</a:pPr>
            <a:r>
              <a:rPr lang="en-US" sz="2000"/>
              <a:t>A* optimal if heuristic is consistent</a:t>
            </a:r>
            <a:endParaRPr/>
          </a:p>
          <a:p>
            <a:pPr indent="-285736" lvl="1" marL="742913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</a:pPr>
            <a:r>
              <a:rPr lang="en-US" sz="2000"/>
              <a:t>UCS optimal (h = 0 is consistent)</a:t>
            </a:r>
            <a:endParaRPr/>
          </a:p>
          <a:p>
            <a:pPr indent="-158736" lvl="1" marL="742913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000"/>
          </a:p>
          <a:p>
            <a:pPr indent="-342882" lvl="0" marL="342882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SzPts val="2400"/>
              <a:buChar char="▪"/>
            </a:pPr>
            <a:r>
              <a:rPr lang="en-US" sz="2400"/>
              <a:t>Consistency implies admissibility</a:t>
            </a:r>
            <a:endParaRPr/>
          </a:p>
          <a:p>
            <a:pPr indent="-158736" lvl="1" marL="742913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000"/>
          </a:p>
          <a:p>
            <a:pPr indent="-342882" lvl="0" marL="342882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SzPts val="2400"/>
              <a:buChar char="▪"/>
            </a:pPr>
            <a:r>
              <a:rPr lang="en-US" sz="2400"/>
              <a:t>In general, most natural admissible heuristics tend to be consistent, especially if from relaxed problems</a:t>
            </a:r>
            <a:endParaRPr/>
          </a:p>
        </p:txBody>
      </p:sp>
      <p:pic>
        <p:nvPicPr>
          <p:cNvPr id="802" name="Google Shape;802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59853" y="2009404"/>
            <a:ext cx="4720694" cy="34000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6" name="Shape 8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7" name="Google Shape;807;p39"/>
          <p:cNvSpPr txBox="1"/>
          <p:nvPr>
            <p:ph type="title"/>
          </p:nvPr>
        </p:nvSpPr>
        <p:spPr>
          <a:xfrm>
            <a:off x="0" y="-25400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A*: Summary</a:t>
            </a:r>
            <a:endParaRPr/>
          </a:p>
        </p:txBody>
      </p:sp>
      <p:pic>
        <p:nvPicPr>
          <p:cNvPr id="808" name="Google Shape;808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739590" y="1553037"/>
            <a:ext cx="4865218" cy="45372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2" name="Shape 8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3" name="Google Shape;813;p40"/>
          <p:cNvSpPr txBox="1"/>
          <p:nvPr>
            <p:ph type="title"/>
          </p:nvPr>
        </p:nvSpPr>
        <p:spPr>
          <a:xfrm>
            <a:off x="0" y="-25400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A*: Summary</a:t>
            </a:r>
            <a:endParaRPr/>
          </a:p>
        </p:txBody>
      </p:sp>
      <p:sp>
        <p:nvSpPr>
          <p:cNvPr id="814" name="Google Shape;814;p40"/>
          <p:cNvSpPr txBox="1"/>
          <p:nvPr>
            <p:ph idx="1" type="body"/>
          </p:nvPr>
        </p:nvSpPr>
        <p:spPr>
          <a:xfrm>
            <a:off x="406400" y="1397001"/>
            <a:ext cx="11379200" cy="47291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882" lvl="0" marL="34288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Char char="▪"/>
            </a:pPr>
            <a:r>
              <a:rPr lang="en-US"/>
              <a:t>A* uses both backward costs and (estimates of) forward costs</a:t>
            </a:r>
            <a:endParaRPr/>
          </a:p>
          <a:p>
            <a:pPr indent="-126989" lvl="4" marL="2057298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 sz="1600"/>
          </a:p>
          <a:p>
            <a:pPr indent="-342882" lvl="0" marL="342882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Char char="▪"/>
            </a:pPr>
            <a:r>
              <a:rPr lang="en-US"/>
              <a:t>A* is optimal with admissible / consistent heuristics</a:t>
            </a:r>
            <a:endParaRPr/>
          </a:p>
          <a:p>
            <a:pPr indent="-126989" lvl="4" marL="2057298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 sz="1600"/>
          </a:p>
          <a:p>
            <a:pPr indent="-342882" lvl="0" marL="342882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Char char="▪"/>
            </a:pPr>
            <a:r>
              <a:rPr lang="en-US"/>
              <a:t>Heuristic design is key: often use relaxed problems</a:t>
            </a:r>
            <a:endParaRPr/>
          </a:p>
        </p:txBody>
      </p:sp>
      <p:pic>
        <p:nvPicPr>
          <p:cNvPr id="815" name="Google Shape;815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81201" y="3886363"/>
            <a:ext cx="8077197" cy="24872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0" name="Shape 8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1" name="Google Shape;821;g3f9607d75ea_0_100"/>
          <p:cNvSpPr txBox="1"/>
          <p:nvPr>
            <p:ph type="title"/>
          </p:nvPr>
        </p:nvSpPr>
        <p:spPr>
          <a:xfrm>
            <a:off x="0" y="-25400"/>
            <a:ext cx="12192000" cy="1143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Memory Bounded Informed Search </a:t>
            </a:r>
            <a:endParaRPr/>
          </a:p>
        </p:txBody>
      </p:sp>
      <p:sp>
        <p:nvSpPr>
          <p:cNvPr id="822" name="Google Shape;822;g3f9607d75ea_0_100"/>
          <p:cNvSpPr txBox="1"/>
          <p:nvPr/>
        </p:nvSpPr>
        <p:spPr>
          <a:xfrm>
            <a:off x="970350" y="1851900"/>
            <a:ext cx="10251300" cy="40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</a:endParaRPr>
          </a:p>
          <a:p>
            <a:pPr indent="-349250" lvl="0" marL="457200" rtl="0" algn="just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i="1" lang="en-US" sz="1900">
                <a:solidFill>
                  <a:schemeClr val="dk1"/>
                </a:solidFill>
              </a:rPr>
              <a:t>I</a:t>
            </a:r>
            <a:r>
              <a:rPr b="1" i="1" lang="en-US" sz="1900">
                <a:solidFill>
                  <a:schemeClr val="dk1"/>
                </a:solidFill>
              </a:rPr>
              <a:t>DA* (Iterative Deepening A)</a:t>
            </a:r>
            <a:r>
              <a:rPr b="1" lang="en-US" sz="1900">
                <a:solidFill>
                  <a:schemeClr val="dk1"/>
                </a:solidFill>
              </a:rPr>
              <a:t>*: </a:t>
            </a:r>
            <a:r>
              <a:rPr lang="en-US" sz="1900">
                <a:solidFill>
                  <a:schemeClr val="dk1"/>
                </a:solidFill>
              </a:rPr>
              <a:t>Combines depth-first search with the heuristic evaluation of A*. Uses cost thresholds (f-values) to prune paths, running multiple depth-first iterations to save space at the cost of re-generating some nodes. </a:t>
            </a:r>
            <a:endParaRPr sz="1900">
              <a:solidFill>
                <a:schemeClr val="dk1"/>
              </a:solidFill>
            </a:endParaRPr>
          </a:p>
          <a:p>
            <a:pPr indent="-3492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b="1" i="1" lang="en-US" sz="1900">
                <a:solidFill>
                  <a:schemeClr val="dk1"/>
                </a:solidFill>
              </a:rPr>
              <a:t>SMA* (Simplified Memory-Bounded A)</a:t>
            </a:r>
            <a:r>
              <a:rPr b="1" lang="en-US" sz="1900">
                <a:solidFill>
                  <a:schemeClr val="dk1"/>
                </a:solidFill>
              </a:rPr>
              <a:t>*: </a:t>
            </a:r>
            <a:r>
              <a:rPr lang="en-US" sz="1900">
                <a:solidFill>
                  <a:schemeClr val="dk1"/>
                </a:solidFill>
              </a:rPr>
              <a:t>Operates like A* until available memory is completely full. When capacity is reached, it drops or prunes the worst node (highest f-cost) while backing up its value to parent nodes, balancing optimality and memory constraints.</a:t>
            </a:r>
            <a:endParaRPr sz="1900">
              <a:solidFill>
                <a:schemeClr val="dk1"/>
              </a:solidFill>
            </a:endParaRPr>
          </a:p>
          <a:p>
            <a:pPr indent="-3492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b="1" lang="en-US" sz="1900">
                <a:solidFill>
                  <a:schemeClr val="dk1"/>
                </a:solidFill>
              </a:rPr>
              <a:t>RBFS (Recursive Best-First Search)</a:t>
            </a:r>
            <a:r>
              <a:rPr lang="en-US" sz="1900">
                <a:solidFill>
                  <a:schemeClr val="dk1"/>
                </a:solidFill>
              </a:rPr>
              <a:t>: Mimics standard best-first search using a recursive depth-first approach. It keeps track of the backup value of the best alternative path available from any ancestor, using very little memory. </a:t>
            </a:r>
            <a:endParaRPr sz="19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7" name="Shape 8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8" name="Google Shape;828;g3f601a604c6_0_415"/>
          <p:cNvSpPr txBox="1"/>
          <p:nvPr>
            <p:ph type="title"/>
          </p:nvPr>
        </p:nvSpPr>
        <p:spPr>
          <a:xfrm>
            <a:off x="0" y="-25400"/>
            <a:ext cx="12192000" cy="1143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>
                <a:solidFill>
                  <a:srgbClr val="273239"/>
                </a:solidFill>
                <a:highlight>
                  <a:srgbClr val="FFFFFF"/>
                </a:highlight>
                <a:latin typeface="Nunito"/>
                <a:ea typeface="Nunito"/>
                <a:cs typeface="Nunito"/>
                <a:sym typeface="Nunito"/>
              </a:rPr>
              <a:t>IDA* Algorithm</a:t>
            </a:r>
            <a:endParaRPr/>
          </a:p>
        </p:txBody>
      </p:sp>
      <p:sp>
        <p:nvSpPr>
          <p:cNvPr id="829" name="Google Shape;829;g3f601a604c6_0_415"/>
          <p:cNvSpPr txBox="1"/>
          <p:nvPr>
            <p:ph idx="12" type="sldNum"/>
          </p:nvPr>
        </p:nvSpPr>
        <p:spPr>
          <a:xfrm>
            <a:off x="9652000" y="6246404"/>
            <a:ext cx="2133600" cy="476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30" name="Google Shape;830;g3f601a604c6_0_415"/>
          <p:cNvSpPr txBox="1"/>
          <p:nvPr/>
        </p:nvSpPr>
        <p:spPr>
          <a:xfrm>
            <a:off x="436200" y="1332750"/>
            <a:ext cx="11319600" cy="527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rgbClr val="273239"/>
                </a:solidFill>
                <a:highlight>
                  <a:srgbClr val="FFFFFF"/>
                </a:highlight>
                <a:latin typeface="Nunito"/>
                <a:ea typeface="Nunito"/>
                <a:cs typeface="Nunito"/>
                <a:sym typeface="Nunito"/>
              </a:rPr>
              <a:t>What is the Iterative Deepening A* (IDA*) Algorithm?</a:t>
            </a:r>
            <a:endParaRPr b="1" sz="1900">
              <a:solidFill>
                <a:srgbClr val="273239"/>
              </a:solidFill>
              <a:highlight>
                <a:srgbClr val="FFFFFF"/>
              </a:highlight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50">
                <a:solidFill>
                  <a:srgbClr val="273239"/>
                </a:solidFill>
                <a:highlight>
                  <a:srgbClr val="FFFFFF"/>
                </a:highlight>
                <a:latin typeface="Nunito"/>
                <a:ea typeface="Nunito"/>
                <a:cs typeface="Nunito"/>
                <a:sym typeface="Nunito"/>
              </a:rPr>
              <a:t>IDA* is a variant of</a:t>
            </a:r>
            <a:r>
              <a:rPr lang="en-US" sz="1450" u="sng">
                <a:solidFill>
                  <a:srgbClr val="357960"/>
                </a:solidFill>
                <a:highlight>
                  <a:srgbClr val="FFFFFF"/>
                </a:highlight>
                <a:latin typeface="Nunito"/>
                <a:ea typeface="Nunito"/>
                <a:cs typeface="Nunito"/>
                <a:sym typeface="Nunito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depth-first search (DFS)</a:t>
            </a:r>
            <a:r>
              <a:rPr lang="en-US" sz="1450">
                <a:solidFill>
                  <a:srgbClr val="273239"/>
                </a:solidFill>
                <a:highlight>
                  <a:srgbClr val="FFFFFF"/>
                </a:highlight>
                <a:latin typeface="Nunito"/>
                <a:ea typeface="Nunito"/>
                <a:cs typeface="Nunito"/>
                <a:sym typeface="Nunito"/>
              </a:rPr>
              <a:t> that iteratively deepens its search by incrementing the cost threshold, which controls the depth of the exploration. Unlike </a:t>
            </a:r>
            <a:r>
              <a:rPr lang="en-US" sz="1450" u="sng">
                <a:solidFill>
                  <a:srgbClr val="357960"/>
                </a:solidFill>
                <a:highlight>
                  <a:srgbClr val="FFFFFF"/>
                </a:highlight>
                <a:latin typeface="Nunito"/>
                <a:ea typeface="Nunito"/>
                <a:cs typeface="Nunito"/>
                <a:sym typeface="Nunito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A*</a:t>
            </a:r>
            <a:r>
              <a:rPr lang="en-US" sz="1450">
                <a:solidFill>
                  <a:srgbClr val="273239"/>
                </a:solidFill>
                <a:highlight>
                  <a:srgbClr val="FFFFFF"/>
                </a:highlight>
                <a:latin typeface="Nunito"/>
                <a:ea typeface="Nunito"/>
                <a:cs typeface="Nunito"/>
                <a:sym typeface="Nunito"/>
              </a:rPr>
              <a:t>, which explores all possible nodes within a threshold, IDA* uses a heuristic function to evaluate and prioritize the most promising nodes. This allows it to prune less promising paths, reducing memory usage while ensuring that the search focuses on optimal routes.</a:t>
            </a:r>
            <a:endParaRPr sz="1450">
              <a:solidFill>
                <a:srgbClr val="273239"/>
              </a:solidFill>
              <a:highlight>
                <a:srgbClr val="FFFFFF"/>
              </a:highlight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lnSpc>
                <a:spcPct val="116666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rgbClr val="273239"/>
                </a:solidFill>
                <a:highlight>
                  <a:srgbClr val="FFFFFF"/>
                </a:highlight>
                <a:latin typeface="Nunito"/>
                <a:ea typeface="Nunito"/>
                <a:cs typeface="Nunito"/>
                <a:sym typeface="Nunito"/>
              </a:rPr>
              <a:t>Key Features of IDA* Algorithm</a:t>
            </a:r>
            <a:endParaRPr b="1" sz="1900">
              <a:solidFill>
                <a:srgbClr val="273239"/>
              </a:solidFill>
              <a:highlight>
                <a:srgbClr val="FFFFFF"/>
              </a:highlight>
              <a:latin typeface="Nunito"/>
              <a:ea typeface="Nunito"/>
              <a:cs typeface="Nunito"/>
              <a:sym typeface="Nunito"/>
            </a:endParaRPr>
          </a:p>
          <a:p>
            <a:pPr indent="-320675" lvl="0" marL="685800" rtl="0" algn="l">
              <a:lnSpc>
                <a:spcPct val="158000"/>
              </a:lnSpc>
              <a:spcBef>
                <a:spcPts val="0"/>
              </a:spcBef>
              <a:spcAft>
                <a:spcPts val="0"/>
              </a:spcAft>
              <a:buClr>
                <a:srgbClr val="273239"/>
              </a:buClr>
              <a:buSzPts val="1450"/>
              <a:buFont typeface="Nunito"/>
              <a:buAutoNum type="arabicPeriod"/>
            </a:pPr>
            <a:r>
              <a:rPr b="1" lang="en-US" sz="1450">
                <a:solidFill>
                  <a:srgbClr val="273239"/>
                </a:solidFill>
                <a:highlight>
                  <a:srgbClr val="FFFFFF"/>
                </a:highlight>
                <a:latin typeface="Nunito"/>
                <a:ea typeface="Nunito"/>
                <a:cs typeface="Nunito"/>
                <a:sym typeface="Nunito"/>
              </a:rPr>
              <a:t>Graph Traversal Algorithm</a:t>
            </a:r>
            <a:r>
              <a:rPr lang="en-US" sz="1450">
                <a:solidFill>
                  <a:srgbClr val="273239"/>
                </a:solidFill>
                <a:highlight>
                  <a:srgbClr val="FFFFFF"/>
                </a:highlight>
                <a:latin typeface="Nunito"/>
                <a:ea typeface="Nunito"/>
                <a:cs typeface="Nunito"/>
                <a:sym typeface="Nunito"/>
              </a:rPr>
              <a:t>: IDA* explores a graph by progressively deepening the search depth.</a:t>
            </a:r>
            <a:endParaRPr sz="1450">
              <a:solidFill>
                <a:srgbClr val="273239"/>
              </a:solidFill>
              <a:highlight>
                <a:srgbClr val="FFFFFF"/>
              </a:highlight>
              <a:latin typeface="Nunito"/>
              <a:ea typeface="Nunito"/>
              <a:cs typeface="Nunito"/>
              <a:sym typeface="Nunito"/>
            </a:endParaRPr>
          </a:p>
          <a:p>
            <a:pPr indent="-320675" lvl="0" marL="685800" rtl="0" algn="l">
              <a:lnSpc>
                <a:spcPct val="158000"/>
              </a:lnSpc>
              <a:spcBef>
                <a:spcPts val="0"/>
              </a:spcBef>
              <a:spcAft>
                <a:spcPts val="0"/>
              </a:spcAft>
              <a:buClr>
                <a:srgbClr val="273239"/>
              </a:buClr>
              <a:buSzPts val="1450"/>
              <a:buFont typeface="Nunito"/>
              <a:buAutoNum type="arabicPeriod"/>
            </a:pPr>
            <a:r>
              <a:rPr b="1" lang="en-US" sz="1450">
                <a:solidFill>
                  <a:srgbClr val="273239"/>
                </a:solidFill>
                <a:highlight>
                  <a:srgbClr val="FFFFFF"/>
                </a:highlight>
                <a:latin typeface="Nunito"/>
                <a:ea typeface="Nunito"/>
                <a:cs typeface="Nunito"/>
                <a:sym typeface="Nunito"/>
              </a:rPr>
              <a:t>Shortest Pathfinding</a:t>
            </a:r>
            <a:r>
              <a:rPr lang="en-US" sz="1450">
                <a:solidFill>
                  <a:srgbClr val="273239"/>
                </a:solidFill>
                <a:highlight>
                  <a:srgbClr val="FFFFFF"/>
                </a:highlight>
                <a:latin typeface="Nunito"/>
                <a:ea typeface="Nunito"/>
                <a:cs typeface="Nunito"/>
                <a:sym typeface="Nunito"/>
              </a:rPr>
              <a:t>: It efficiently finds the </a:t>
            </a:r>
            <a:r>
              <a:rPr b="1" lang="en-US" sz="1450">
                <a:solidFill>
                  <a:srgbClr val="273239"/>
                </a:solidFill>
                <a:highlight>
                  <a:srgbClr val="FFFFFF"/>
                </a:highlight>
                <a:latin typeface="Nunito"/>
                <a:ea typeface="Nunito"/>
                <a:cs typeface="Nunito"/>
                <a:sym typeface="Nunito"/>
              </a:rPr>
              <a:t>shortest path in a weighted graph</a:t>
            </a:r>
            <a:r>
              <a:rPr lang="en-US" sz="1450">
                <a:solidFill>
                  <a:srgbClr val="273239"/>
                </a:solidFill>
                <a:highlight>
                  <a:srgbClr val="FFFFFF"/>
                </a:highlight>
                <a:latin typeface="Nunito"/>
                <a:ea typeface="Nunito"/>
                <a:cs typeface="Nunito"/>
                <a:sym typeface="Nunito"/>
              </a:rPr>
              <a:t> using a combination of DFS and A* techniques.</a:t>
            </a:r>
            <a:endParaRPr sz="1450">
              <a:solidFill>
                <a:srgbClr val="273239"/>
              </a:solidFill>
              <a:highlight>
                <a:srgbClr val="FFFFFF"/>
              </a:highlight>
              <a:latin typeface="Nunito"/>
              <a:ea typeface="Nunito"/>
              <a:cs typeface="Nunito"/>
              <a:sym typeface="Nunito"/>
            </a:endParaRPr>
          </a:p>
          <a:p>
            <a:pPr indent="-320675" lvl="0" marL="685800" rtl="0" algn="l">
              <a:lnSpc>
                <a:spcPct val="158000"/>
              </a:lnSpc>
              <a:spcBef>
                <a:spcPts val="0"/>
              </a:spcBef>
              <a:spcAft>
                <a:spcPts val="0"/>
              </a:spcAft>
              <a:buClr>
                <a:srgbClr val="273239"/>
              </a:buClr>
              <a:buSzPts val="1450"/>
              <a:buFont typeface="Nunito"/>
              <a:buAutoNum type="arabicPeriod"/>
            </a:pPr>
            <a:r>
              <a:rPr b="1" lang="en-US" sz="1450">
                <a:solidFill>
                  <a:srgbClr val="273239"/>
                </a:solidFill>
                <a:highlight>
                  <a:srgbClr val="FFFFFF"/>
                </a:highlight>
                <a:latin typeface="Nunito"/>
                <a:ea typeface="Nunito"/>
                <a:cs typeface="Nunito"/>
                <a:sym typeface="Nunito"/>
              </a:rPr>
              <a:t>Admissible Heuristic</a:t>
            </a:r>
            <a:r>
              <a:rPr lang="en-US" sz="1450">
                <a:solidFill>
                  <a:srgbClr val="273239"/>
                </a:solidFill>
                <a:highlight>
                  <a:srgbClr val="FFFFFF"/>
                </a:highlight>
                <a:latin typeface="Nunito"/>
                <a:ea typeface="Nunito"/>
                <a:cs typeface="Nunito"/>
                <a:sym typeface="Nunito"/>
              </a:rPr>
              <a:t>: The heuristic function in IDA* ensures that the estimated cost never exceeds the actual cost, making it an </a:t>
            </a:r>
            <a:r>
              <a:rPr b="1" lang="en-US" sz="1450">
                <a:solidFill>
                  <a:srgbClr val="273239"/>
                </a:solidFill>
                <a:highlight>
                  <a:srgbClr val="FFFFFF"/>
                </a:highlight>
                <a:latin typeface="Nunito"/>
                <a:ea typeface="Nunito"/>
                <a:cs typeface="Nunito"/>
                <a:sym typeface="Nunito"/>
              </a:rPr>
              <a:t>admissible heuristic</a:t>
            </a:r>
            <a:r>
              <a:rPr lang="en-US" sz="1450">
                <a:solidFill>
                  <a:srgbClr val="273239"/>
                </a:solidFill>
                <a:highlight>
                  <a:srgbClr val="FFFFFF"/>
                </a:highlight>
                <a:latin typeface="Nunito"/>
                <a:ea typeface="Nunito"/>
                <a:cs typeface="Nunito"/>
                <a:sym typeface="Nunito"/>
              </a:rPr>
              <a:t>.</a:t>
            </a:r>
            <a:endParaRPr sz="1450">
              <a:solidFill>
                <a:srgbClr val="273239"/>
              </a:solidFill>
              <a:highlight>
                <a:srgbClr val="FFFFFF"/>
              </a:highlight>
              <a:latin typeface="Nunito"/>
              <a:ea typeface="Nunito"/>
              <a:cs typeface="Nunito"/>
              <a:sym typeface="Nunito"/>
            </a:endParaRPr>
          </a:p>
          <a:p>
            <a:pPr indent="-320675" lvl="0" marL="685800" rtl="0" algn="l">
              <a:lnSpc>
                <a:spcPct val="158000"/>
              </a:lnSpc>
              <a:spcBef>
                <a:spcPts val="0"/>
              </a:spcBef>
              <a:spcAft>
                <a:spcPts val="0"/>
              </a:spcAft>
              <a:buClr>
                <a:srgbClr val="273239"/>
              </a:buClr>
              <a:buSzPts val="1450"/>
              <a:buFont typeface="Nunito"/>
              <a:buAutoNum type="arabicPeriod"/>
            </a:pPr>
            <a:r>
              <a:rPr b="1" lang="en-US" sz="1450">
                <a:solidFill>
                  <a:srgbClr val="273239"/>
                </a:solidFill>
                <a:highlight>
                  <a:srgbClr val="FFFFFF"/>
                </a:highlight>
                <a:latin typeface="Nunito"/>
                <a:ea typeface="Nunito"/>
                <a:cs typeface="Nunito"/>
                <a:sym typeface="Nunito"/>
              </a:rPr>
              <a:t>Memory Efficiency</a:t>
            </a:r>
            <a:r>
              <a:rPr lang="en-US" sz="1450">
                <a:solidFill>
                  <a:srgbClr val="273239"/>
                </a:solidFill>
                <a:highlight>
                  <a:srgbClr val="FFFFFF"/>
                </a:highlight>
                <a:latin typeface="Nunito"/>
                <a:ea typeface="Nunito"/>
                <a:cs typeface="Nunito"/>
                <a:sym typeface="Nunito"/>
              </a:rPr>
              <a:t>: As a </a:t>
            </a:r>
            <a:r>
              <a:rPr b="1" lang="en-US" sz="1450">
                <a:solidFill>
                  <a:srgbClr val="273239"/>
                </a:solidFill>
                <a:highlight>
                  <a:srgbClr val="FFFFFF"/>
                </a:highlight>
                <a:latin typeface="Nunito"/>
                <a:ea typeface="Nunito"/>
                <a:cs typeface="Nunito"/>
                <a:sym typeface="Nunito"/>
              </a:rPr>
              <a:t>depth-first search algorithm</a:t>
            </a:r>
            <a:r>
              <a:rPr lang="en-US" sz="1450">
                <a:solidFill>
                  <a:srgbClr val="273239"/>
                </a:solidFill>
                <a:highlight>
                  <a:srgbClr val="FFFFFF"/>
                </a:highlight>
                <a:latin typeface="Nunito"/>
                <a:ea typeface="Nunito"/>
                <a:cs typeface="Nunito"/>
                <a:sym typeface="Nunito"/>
              </a:rPr>
              <a:t>, IDA* uses far less memory compared to the traditional A* algorithm.</a:t>
            </a:r>
            <a:endParaRPr sz="1450">
              <a:solidFill>
                <a:srgbClr val="273239"/>
              </a:solidFill>
              <a:highlight>
                <a:srgbClr val="FFFFFF"/>
              </a:highlight>
              <a:latin typeface="Nunito"/>
              <a:ea typeface="Nunito"/>
              <a:cs typeface="Nunito"/>
              <a:sym typeface="Nunito"/>
            </a:endParaRPr>
          </a:p>
          <a:p>
            <a:pPr indent="-320675" lvl="0" marL="685800" rtl="0" algn="l">
              <a:lnSpc>
                <a:spcPct val="158000"/>
              </a:lnSpc>
              <a:spcBef>
                <a:spcPts val="0"/>
              </a:spcBef>
              <a:spcAft>
                <a:spcPts val="0"/>
              </a:spcAft>
              <a:buClr>
                <a:srgbClr val="273239"/>
              </a:buClr>
              <a:buSzPts val="1450"/>
              <a:buFont typeface="Nunito"/>
              <a:buAutoNum type="arabicPeriod"/>
            </a:pPr>
            <a:r>
              <a:rPr b="1" lang="en-US" sz="1450">
                <a:solidFill>
                  <a:srgbClr val="273239"/>
                </a:solidFill>
                <a:highlight>
                  <a:srgbClr val="FFFFFF"/>
                </a:highlight>
                <a:latin typeface="Nunito"/>
                <a:ea typeface="Nunito"/>
                <a:cs typeface="Nunito"/>
                <a:sym typeface="Nunito"/>
              </a:rPr>
              <a:t>Focused Search</a:t>
            </a:r>
            <a:r>
              <a:rPr lang="en-US" sz="1450">
                <a:solidFill>
                  <a:srgbClr val="273239"/>
                </a:solidFill>
                <a:highlight>
                  <a:srgbClr val="FFFFFF"/>
                </a:highlight>
                <a:latin typeface="Nunito"/>
                <a:ea typeface="Nunito"/>
                <a:cs typeface="Nunito"/>
                <a:sym typeface="Nunito"/>
              </a:rPr>
              <a:t>: The algorithm is designed to explore </a:t>
            </a:r>
            <a:r>
              <a:rPr b="1" lang="en-US" sz="1450">
                <a:solidFill>
                  <a:srgbClr val="273239"/>
                </a:solidFill>
                <a:highlight>
                  <a:srgbClr val="FFFFFF"/>
                </a:highlight>
                <a:latin typeface="Nunito"/>
                <a:ea typeface="Nunito"/>
                <a:cs typeface="Nunito"/>
                <a:sym typeface="Nunito"/>
              </a:rPr>
              <a:t>only the most promising nodes</a:t>
            </a:r>
            <a:r>
              <a:rPr lang="en-US" sz="1450">
                <a:solidFill>
                  <a:srgbClr val="273239"/>
                </a:solidFill>
                <a:highlight>
                  <a:srgbClr val="FFFFFF"/>
                </a:highlight>
                <a:latin typeface="Nunito"/>
                <a:ea typeface="Nunito"/>
                <a:cs typeface="Nunito"/>
                <a:sym typeface="Nunito"/>
              </a:rPr>
              <a:t>, ensuring it doesn’t go to unnecessary depths.</a:t>
            </a:r>
            <a:endParaRPr sz="1450">
              <a:solidFill>
                <a:srgbClr val="273239"/>
              </a:solidFill>
              <a:highlight>
                <a:srgbClr val="FFFFFF"/>
              </a:highlight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5" name="Shape 8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6" name="Google Shape;836;g3f601a604c6_0_422"/>
          <p:cNvSpPr txBox="1"/>
          <p:nvPr>
            <p:ph type="title"/>
          </p:nvPr>
        </p:nvSpPr>
        <p:spPr>
          <a:xfrm>
            <a:off x="0" y="-25400"/>
            <a:ext cx="12192000" cy="1143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700">
                <a:solidFill>
                  <a:srgbClr val="273239"/>
                </a:solidFill>
                <a:highlight>
                  <a:srgbClr val="FFFFFF"/>
                </a:highlight>
                <a:latin typeface="Nunito"/>
                <a:ea typeface="Nunito"/>
                <a:cs typeface="Nunito"/>
                <a:sym typeface="Nunito"/>
              </a:rPr>
              <a:t>IDA* Algorithm</a:t>
            </a:r>
            <a:endParaRPr sz="5200"/>
          </a:p>
        </p:txBody>
      </p:sp>
      <p:sp>
        <p:nvSpPr>
          <p:cNvPr id="837" name="Google Shape;837;g3f601a604c6_0_422"/>
          <p:cNvSpPr txBox="1"/>
          <p:nvPr>
            <p:ph idx="12" type="sldNum"/>
          </p:nvPr>
        </p:nvSpPr>
        <p:spPr>
          <a:xfrm>
            <a:off x="9652000" y="6246404"/>
            <a:ext cx="2133600" cy="476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38" name="Google Shape;838;g3f601a604c6_0_422"/>
          <p:cNvSpPr txBox="1"/>
          <p:nvPr/>
        </p:nvSpPr>
        <p:spPr>
          <a:xfrm>
            <a:off x="657125" y="1290325"/>
            <a:ext cx="10848600" cy="22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rgbClr val="273239"/>
                </a:solidFill>
                <a:highlight>
                  <a:srgbClr val="FFFFFF"/>
                </a:highlight>
                <a:latin typeface="Nunito"/>
                <a:ea typeface="Nunito"/>
                <a:cs typeface="Nunito"/>
                <a:sym typeface="Nunito"/>
              </a:rPr>
              <a:t>How the IDA* Algorithm Works?</a:t>
            </a:r>
            <a:endParaRPr b="1" sz="1900">
              <a:solidFill>
                <a:srgbClr val="273239"/>
              </a:solidFill>
              <a:highlight>
                <a:srgbClr val="FFFFFF"/>
              </a:highlight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50">
                <a:solidFill>
                  <a:srgbClr val="273239"/>
                </a:solidFill>
                <a:highlight>
                  <a:srgbClr val="FFFFFF"/>
                </a:highlight>
                <a:latin typeface="Nunito"/>
                <a:ea typeface="Nunito"/>
                <a:cs typeface="Nunito"/>
                <a:sym typeface="Nunito"/>
              </a:rPr>
              <a:t>The IDA* algorithm works by incrementally increasing the </a:t>
            </a:r>
            <a:r>
              <a:rPr b="1" lang="en-US" sz="1450">
                <a:solidFill>
                  <a:srgbClr val="273239"/>
                </a:solidFill>
                <a:highlight>
                  <a:srgbClr val="FFFFFF"/>
                </a:highlight>
                <a:latin typeface="Nunito"/>
                <a:ea typeface="Nunito"/>
                <a:cs typeface="Nunito"/>
                <a:sym typeface="Nunito"/>
              </a:rPr>
              <a:t>threshold</a:t>
            </a:r>
            <a:r>
              <a:rPr lang="en-US" sz="1450">
                <a:solidFill>
                  <a:srgbClr val="273239"/>
                </a:solidFill>
                <a:highlight>
                  <a:srgbClr val="FFFFFF"/>
                </a:highlight>
                <a:latin typeface="Nunito"/>
                <a:ea typeface="Nunito"/>
                <a:cs typeface="Nunito"/>
                <a:sym typeface="Nunito"/>
              </a:rPr>
              <a:t> based on the f-score of each node, which is calculated using the formula:</a:t>
            </a:r>
            <a:endParaRPr sz="1450">
              <a:solidFill>
                <a:srgbClr val="273239"/>
              </a:solidFill>
              <a:highlight>
                <a:srgbClr val="FFFFFF"/>
              </a:highlight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25400" rtl="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i="1" lang="en-US" sz="1750">
                <a:solidFill>
                  <a:srgbClr val="273239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f</a:t>
            </a:r>
            <a:r>
              <a:rPr lang="en-US" sz="1750">
                <a:solidFill>
                  <a:srgbClr val="273239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i="1" lang="en-US" sz="1750">
                <a:solidFill>
                  <a:srgbClr val="273239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US" sz="1750">
                <a:solidFill>
                  <a:srgbClr val="273239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)=</a:t>
            </a:r>
            <a:r>
              <a:rPr i="1" lang="en-US" sz="1750">
                <a:solidFill>
                  <a:srgbClr val="273239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g</a:t>
            </a:r>
            <a:r>
              <a:rPr lang="en-US" sz="1750">
                <a:solidFill>
                  <a:srgbClr val="273239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i="1" lang="en-US" sz="1750">
                <a:solidFill>
                  <a:srgbClr val="273239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US" sz="1750">
                <a:solidFill>
                  <a:srgbClr val="273239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)+</a:t>
            </a:r>
            <a:r>
              <a:rPr i="1" lang="en-US" sz="1750">
                <a:solidFill>
                  <a:srgbClr val="273239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r>
              <a:rPr lang="en-US" sz="1750">
                <a:solidFill>
                  <a:srgbClr val="273239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i="1" lang="en-US" sz="1750">
                <a:solidFill>
                  <a:srgbClr val="273239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US" sz="1750">
                <a:solidFill>
                  <a:srgbClr val="273239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sz="1750">
              <a:solidFill>
                <a:srgbClr val="273239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25400" rtl="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i="1" lang="en-US" sz="1750">
                <a:solidFill>
                  <a:srgbClr val="273239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f</a:t>
            </a:r>
            <a:r>
              <a:rPr lang="en-US" sz="1750">
                <a:solidFill>
                  <a:srgbClr val="273239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i="1" lang="en-US" sz="1750">
                <a:solidFill>
                  <a:srgbClr val="273239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US" sz="1750">
                <a:solidFill>
                  <a:srgbClr val="273239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)=</a:t>
            </a:r>
            <a:r>
              <a:rPr lang="en-US" sz="1450">
                <a:solidFill>
                  <a:srgbClr val="273239"/>
                </a:solidFill>
                <a:highlight>
                  <a:srgbClr val="FFFFFF"/>
                </a:highlight>
                <a:latin typeface="Nunito"/>
                <a:ea typeface="Nunito"/>
                <a:cs typeface="Nunito"/>
                <a:sym typeface="Nunito"/>
              </a:rPr>
              <a:t>Actual cost</a:t>
            </a:r>
            <a:r>
              <a:rPr lang="en-US" sz="1750">
                <a:solidFill>
                  <a:srgbClr val="273239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-US" sz="1450">
                <a:solidFill>
                  <a:srgbClr val="273239"/>
                </a:solidFill>
                <a:highlight>
                  <a:srgbClr val="FFFFFF"/>
                </a:highlight>
                <a:latin typeface="Nunito"/>
                <a:ea typeface="Nunito"/>
                <a:cs typeface="Nunito"/>
                <a:sym typeface="Nunito"/>
              </a:rPr>
              <a:t>Estimated  cost</a:t>
            </a:r>
            <a:endParaRPr sz="1450">
              <a:solidFill>
                <a:srgbClr val="273239"/>
              </a:solidFill>
              <a:highlight>
                <a:srgbClr val="FFFFFF"/>
              </a:highlight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lnSpc>
                <a:spcPct val="120000"/>
              </a:lnSpc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1450">
                <a:solidFill>
                  <a:srgbClr val="273239"/>
                </a:solidFill>
                <a:highlight>
                  <a:srgbClr val="FFFFFF"/>
                </a:highlight>
                <a:latin typeface="Nunito"/>
                <a:ea typeface="Nunito"/>
                <a:cs typeface="Nunito"/>
                <a:sym typeface="Nunito"/>
              </a:rPr>
              <a:t>Where </a:t>
            </a:r>
            <a:r>
              <a:rPr b="1" lang="en-US" sz="1450">
                <a:solidFill>
                  <a:srgbClr val="273239"/>
                </a:solidFill>
                <a:highlight>
                  <a:srgbClr val="FFFFFF"/>
                </a:highlight>
                <a:latin typeface="Nunito"/>
                <a:ea typeface="Nunito"/>
                <a:cs typeface="Nunito"/>
                <a:sym typeface="Nunito"/>
              </a:rPr>
              <a:t>h</a:t>
            </a:r>
            <a:r>
              <a:rPr lang="en-US" sz="1450">
                <a:solidFill>
                  <a:srgbClr val="273239"/>
                </a:solidFill>
                <a:highlight>
                  <a:srgbClr val="FFFFFF"/>
                </a:highlight>
                <a:latin typeface="Nunito"/>
                <a:ea typeface="Nunito"/>
                <a:cs typeface="Nunito"/>
                <a:sym typeface="Nunito"/>
              </a:rPr>
              <a:t> is admissible.</a:t>
            </a:r>
            <a:endParaRPr sz="1450">
              <a:solidFill>
                <a:srgbClr val="273239"/>
              </a:solidFill>
              <a:highlight>
                <a:srgbClr val="FFFFFF"/>
              </a:highlight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839" name="Google Shape;839;g3f601a604c6_0_422"/>
          <p:cNvSpPr txBox="1"/>
          <p:nvPr/>
        </p:nvSpPr>
        <p:spPr>
          <a:xfrm>
            <a:off x="334525" y="3488725"/>
            <a:ext cx="11756400" cy="274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40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273239"/>
                </a:solidFill>
                <a:highlight>
                  <a:srgbClr val="FFFFFF"/>
                </a:highlight>
                <a:latin typeface="Nunito"/>
                <a:ea typeface="Nunito"/>
                <a:cs typeface="Nunito"/>
                <a:sym typeface="Nunito"/>
              </a:rPr>
              <a:t>Step-by-Step Process of the IDA* Algorithm </a:t>
            </a:r>
            <a:endParaRPr b="1" sz="1600">
              <a:solidFill>
                <a:srgbClr val="273239"/>
              </a:solidFill>
              <a:highlight>
                <a:srgbClr val="FFFFFF"/>
              </a:highlight>
              <a:latin typeface="Nunito"/>
              <a:ea typeface="Nunito"/>
              <a:cs typeface="Nunito"/>
              <a:sym typeface="Nunito"/>
            </a:endParaRPr>
          </a:p>
          <a:p>
            <a:pPr indent="-320675" lvl="0" marL="685800" rtl="0" algn="l">
              <a:lnSpc>
                <a:spcPct val="158000"/>
              </a:lnSpc>
              <a:spcBef>
                <a:spcPts val="1800"/>
              </a:spcBef>
              <a:spcAft>
                <a:spcPts val="0"/>
              </a:spcAft>
              <a:buClr>
                <a:srgbClr val="273239"/>
              </a:buClr>
              <a:buSzPts val="1450"/>
              <a:buFont typeface="Nunito"/>
              <a:buAutoNum type="arabicPeriod"/>
            </a:pPr>
            <a:r>
              <a:rPr b="1" lang="en-US" sz="1450">
                <a:solidFill>
                  <a:srgbClr val="273239"/>
                </a:solidFill>
                <a:highlight>
                  <a:srgbClr val="FFFFFF"/>
                </a:highlight>
                <a:latin typeface="Nunito"/>
                <a:ea typeface="Nunito"/>
                <a:cs typeface="Nunito"/>
                <a:sym typeface="Nunito"/>
              </a:rPr>
              <a:t>Initialization</a:t>
            </a:r>
            <a:r>
              <a:rPr lang="en-US" sz="1450">
                <a:solidFill>
                  <a:srgbClr val="273239"/>
                </a:solidFill>
                <a:highlight>
                  <a:srgbClr val="FFFFFF"/>
                </a:highlight>
                <a:latin typeface="Nunito"/>
                <a:ea typeface="Nunito"/>
                <a:cs typeface="Nunito"/>
                <a:sym typeface="Nunito"/>
              </a:rPr>
              <a:t>: Set the root node as the current node and compute its f-score.</a:t>
            </a:r>
            <a:endParaRPr sz="1450">
              <a:solidFill>
                <a:srgbClr val="273239"/>
              </a:solidFill>
              <a:highlight>
                <a:srgbClr val="FFFFFF"/>
              </a:highlight>
              <a:latin typeface="Nunito"/>
              <a:ea typeface="Nunito"/>
              <a:cs typeface="Nunito"/>
              <a:sym typeface="Nunito"/>
            </a:endParaRPr>
          </a:p>
          <a:p>
            <a:pPr indent="-320675" lvl="0" marL="685800" rtl="0" algn="l">
              <a:lnSpc>
                <a:spcPct val="158000"/>
              </a:lnSpc>
              <a:spcBef>
                <a:spcPts val="0"/>
              </a:spcBef>
              <a:spcAft>
                <a:spcPts val="0"/>
              </a:spcAft>
              <a:buClr>
                <a:srgbClr val="273239"/>
              </a:buClr>
              <a:buSzPts val="1450"/>
              <a:buFont typeface="Nunito"/>
              <a:buAutoNum type="arabicPeriod"/>
            </a:pPr>
            <a:r>
              <a:rPr b="1" lang="en-US" sz="1450">
                <a:solidFill>
                  <a:srgbClr val="273239"/>
                </a:solidFill>
                <a:highlight>
                  <a:srgbClr val="FFFFFF"/>
                </a:highlight>
                <a:latin typeface="Nunito"/>
                <a:ea typeface="Nunito"/>
                <a:cs typeface="Nunito"/>
                <a:sym typeface="Nunito"/>
              </a:rPr>
              <a:t>Set Threshold</a:t>
            </a:r>
            <a:r>
              <a:rPr lang="en-US" sz="1450">
                <a:solidFill>
                  <a:srgbClr val="273239"/>
                </a:solidFill>
                <a:highlight>
                  <a:srgbClr val="FFFFFF"/>
                </a:highlight>
                <a:latin typeface="Nunito"/>
                <a:ea typeface="Nunito"/>
                <a:cs typeface="Nunito"/>
                <a:sym typeface="Nunito"/>
              </a:rPr>
              <a:t>: Initialize a threshold based on the f-score of the starting node.</a:t>
            </a:r>
            <a:endParaRPr sz="1450">
              <a:solidFill>
                <a:srgbClr val="273239"/>
              </a:solidFill>
              <a:highlight>
                <a:srgbClr val="FFFFFF"/>
              </a:highlight>
              <a:latin typeface="Nunito"/>
              <a:ea typeface="Nunito"/>
              <a:cs typeface="Nunito"/>
              <a:sym typeface="Nunito"/>
            </a:endParaRPr>
          </a:p>
          <a:p>
            <a:pPr indent="-320675" lvl="0" marL="685800" rtl="0" algn="l">
              <a:lnSpc>
                <a:spcPct val="158000"/>
              </a:lnSpc>
              <a:spcBef>
                <a:spcPts val="0"/>
              </a:spcBef>
              <a:spcAft>
                <a:spcPts val="0"/>
              </a:spcAft>
              <a:buClr>
                <a:srgbClr val="273239"/>
              </a:buClr>
              <a:buSzPts val="1450"/>
              <a:buFont typeface="Nunito"/>
              <a:buAutoNum type="arabicPeriod"/>
            </a:pPr>
            <a:r>
              <a:rPr b="1" lang="en-US" sz="1450">
                <a:solidFill>
                  <a:srgbClr val="273239"/>
                </a:solidFill>
                <a:highlight>
                  <a:srgbClr val="FFFFFF"/>
                </a:highlight>
                <a:latin typeface="Nunito"/>
                <a:ea typeface="Nunito"/>
                <a:cs typeface="Nunito"/>
                <a:sym typeface="Nunito"/>
              </a:rPr>
              <a:t>Node Expansion</a:t>
            </a:r>
            <a:r>
              <a:rPr lang="en-US" sz="1450">
                <a:solidFill>
                  <a:srgbClr val="273239"/>
                </a:solidFill>
                <a:highlight>
                  <a:srgbClr val="FFFFFF"/>
                </a:highlight>
                <a:latin typeface="Nunito"/>
                <a:ea typeface="Nunito"/>
                <a:cs typeface="Nunito"/>
                <a:sym typeface="Nunito"/>
              </a:rPr>
              <a:t>: Expand the current node’s children and calculate their f-scores.</a:t>
            </a:r>
            <a:endParaRPr sz="1450">
              <a:solidFill>
                <a:srgbClr val="273239"/>
              </a:solidFill>
              <a:highlight>
                <a:srgbClr val="FFFFFF"/>
              </a:highlight>
              <a:latin typeface="Nunito"/>
              <a:ea typeface="Nunito"/>
              <a:cs typeface="Nunito"/>
              <a:sym typeface="Nunito"/>
            </a:endParaRPr>
          </a:p>
          <a:p>
            <a:pPr indent="-320675" lvl="0" marL="685800" rtl="0" algn="l">
              <a:lnSpc>
                <a:spcPct val="158000"/>
              </a:lnSpc>
              <a:spcBef>
                <a:spcPts val="0"/>
              </a:spcBef>
              <a:spcAft>
                <a:spcPts val="0"/>
              </a:spcAft>
              <a:buClr>
                <a:srgbClr val="273239"/>
              </a:buClr>
              <a:buSzPts val="1450"/>
              <a:buFont typeface="Nunito"/>
              <a:buAutoNum type="arabicPeriod"/>
            </a:pPr>
            <a:r>
              <a:rPr b="1" lang="en-US" sz="1450">
                <a:solidFill>
                  <a:srgbClr val="273239"/>
                </a:solidFill>
                <a:highlight>
                  <a:srgbClr val="FFFFFF"/>
                </a:highlight>
                <a:latin typeface="Nunito"/>
                <a:ea typeface="Nunito"/>
                <a:cs typeface="Nunito"/>
                <a:sym typeface="Nunito"/>
              </a:rPr>
              <a:t>Pruning</a:t>
            </a:r>
            <a:r>
              <a:rPr lang="en-US" sz="1450">
                <a:solidFill>
                  <a:srgbClr val="273239"/>
                </a:solidFill>
                <a:highlight>
                  <a:srgbClr val="FFFFFF"/>
                </a:highlight>
                <a:latin typeface="Nunito"/>
                <a:ea typeface="Nunito"/>
                <a:cs typeface="Nunito"/>
                <a:sym typeface="Nunito"/>
              </a:rPr>
              <a:t>: If the f-score exceeds the threshold, prune the node and store it for future exploration.</a:t>
            </a:r>
            <a:endParaRPr sz="1450">
              <a:solidFill>
                <a:srgbClr val="273239"/>
              </a:solidFill>
              <a:highlight>
                <a:srgbClr val="FFFFFF"/>
              </a:highlight>
              <a:latin typeface="Nunito"/>
              <a:ea typeface="Nunito"/>
              <a:cs typeface="Nunito"/>
              <a:sym typeface="Nunito"/>
            </a:endParaRPr>
          </a:p>
          <a:p>
            <a:pPr indent="-320675" lvl="0" marL="685800" rtl="0" algn="l">
              <a:lnSpc>
                <a:spcPct val="158000"/>
              </a:lnSpc>
              <a:spcBef>
                <a:spcPts val="0"/>
              </a:spcBef>
              <a:spcAft>
                <a:spcPts val="0"/>
              </a:spcAft>
              <a:buClr>
                <a:srgbClr val="273239"/>
              </a:buClr>
              <a:buSzPts val="1450"/>
              <a:buFont typeface="Nunito"/>
              <a:buAutoNum type="arabicPeriod"/>
            </a:pPr>
            <a:r>
              <a:rPr b="1" lang="en-US" sz="1450">
                <a:solidFill>
                  <a:srgbClr val="273239"/>
                </a:solidFill>
                <a:highlight>
                  <a:srgbClr val="FFFFFF"/>
                </a:highlight>
                <a:latin typeface="Nunito"/>
                <a:ea typeface="Nunito"/>
                <a:cs typeface="Nunito"/>
                <a:sym typeface="Nunito"/>
              </a:rPr>
              <a:t>Path Return</a:t>
            </a:r>
            <a:r>
              <a:rPr lang="en-US" sz="1450">
                <a:solidFill>
                  <a:srgbClr val="273239"/>
                </a:solidFill>
                <a:highlight>
                  <a:srgbClr val="FFFFFF"/>
                </a:highlight>
                <a:latin typeface="Nunito"/>
                <a:ea typeface="Nunito"/>
                <a:cs typeface="Nunito"/>
                <a:sym typeface="Nunito"/>
              </a:rPr>
              <a:t>: Once the goal node is found, return the path from the start node to the goal.</a:t>
            </a:r>
            <a:endParaRPr sz="1450">
              <a:solidFill>
                <a:srgbClr val="273239"/>
              </a:solidFill>
              <a:highlight>
                <a:srgbClr val="FFFFFF"/>
              </a:highlight>
              <a:latin typeface="Nunito"/>
              <a:ea typeface="Nunito"/>
              <a:cs typeface="Nunito"/>
              <a:sym typeface="Nunito"/>
            </a:endParaRPr>
          </a:p>
          <a:p>
            <a:pPr indent="-320675" lvl="0" marL="685800" rtl="0" algn="l">
              <a:lnSpc>
                <a:spcPct val="158000"/>
              </a:lnSpc>
              <a:spcBef>
                <a:spcPts val="0"/>
              </a:spcBef>
              <a:spcAft>
                <a:spcPts val="0"/>
              </a:spcAft>
              <a:buClr>
                <a:srgbClr val="273239"/>
              </a:buClr>
              <a:buSzPts val="1450"/>
              <a:buFont typeface="Nunito"/>
              <a:buAutoNum type="arabicPeriod"/>
            </a:pPr>
            <a:r>
              <a:rPr b="1" lang="en-US" sz="1450">
                <a:solidFill>
                  <a:srgbClr val="273239"/>
                </a:solidFill>
                <a:highlight>
                  <a:srgbClr val="FFFFFF"/>
                </a:highlight>
                <a:latin typeface="Nunito"/>
                <a:ea typeface="Nunito"/>
                <a:cs typeface="Nunito"/>
                <a:sym typeface="Nunito"/>
              </a:rPr>
              <a:t>Update Threshold</a:t>
            </a:r>
            <a:r>
              <a:rPr lang="en-US" sz="1450">
                <a:solidFill>
                  <a:srgbClr val="273239"/>
                </a:solidFill>
                <a:highlight>
                  <a:srgbClr val="FFFFFF"/>
                </a:highlight>
                <a:latin typeface="Nunito"/>
                <a:ea typeface="Nunito"/>
                <a:cs typeface="Nunito"/>
                <a:sym typeface="Nunito"/>
              </a:rPr>
              <a:t>: If the goal is not found, increase the threshold based on the minimum pruned value and repeat the process.</a:t>
            </a:r>
            <a:endParaRPr sz="1450">
              <a:solidFill>
                <a:srgbClr val="273239"/>
              </a:solidFill>
              <a:highlight>
                <a:srgbClr val="FFFFFF"/>
              </a:highlight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4" name="Shape 8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5" name="Google Shape;845;g3f601a604c6_0_430"/>
          <p:cNvSpPr txBox="1"/>
          <p:nvPr>
            <p:ph type="title"/>
          </p:nvPr>
        </p:nvSpPr>
        <p:spPr>
          <a:xfrm>
            <a:off x="0" y="-25400"/>
            <a:ext cx="12192000" cy="1143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>
                <a:solidFill>
                  <a:srgbClr val="273239"/>
                </a:solidFill>
                <a:highlight>
                  <a:srgbClr val="FFFFFF"/>
                </a:highlight>
                <a:latin typeface="Nunito"/>
                <a:ea typeface="Nunito"/>
                <a:cs typeface="Nunito"/>
                <a:sym typeface="Nunito"/>
              </a:rPr>
              <a:t>IDA* Algorithm</a:t>
            </a:r>
            <a:endParaRPr/>
          </a:p>
        </p:txBody>
      </p:sp>
      <p:sp>
        <p:nvSpPr>
          <p:cNvPr id="846" name="Google Shape;846;g3f601a604c6_0_430"/>
          <p:cNvSpPr txBox="1"/>
          <p:nvPr>
            <p:ph idx="12" type="sldNum"/>
          </p:nvPr>
        </p:nvSpPr>
        <p:spPr>
          <a:xfrm>
            <a:off x="9652000" y="6246404"/>
            <a:ext cx="2133600" cy="476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847" name="Google Shape;847;g3f601a604c6_0_4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48975" y="2609976"/>
            <a:ext cx="8031824" cy="4112825"/>
          </a:xfrm>
          <a:prstGeom prst="rect">
            <a:avLst/>
          </a:prstGeom>
          <a:noFill/>
          <a:ln>
            <a:noFill/>
          </a:ln>
        </p:spPr>
      </p:pic>
      <p:sp>
        <p:nvSpPr>
          <p:cNvPr id="848" name="Google Shape;848;g3f601a604c6_0_430"/>
          <p:cNvSpPr txBox="1"/>
          <p:nvPr/>
        </p:nvSpPr>
        <p:spPr>
          <a:xfrm>
            <a:off x="107525" y="1117600"/>
            <a:ext cx="11816400" cy="106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273239"/>
                </a:solidFill>
                <a:highlight>
                  <a:srgbClr val="FFFFFF"/>
                </a:highlight>
                <a:latin typeface="Nunito"/>
                <a:ea typeface="Nunito"/>
                <a:cs typeface="Nunito"/>
                <a:sym typeface="Nunito"/>
              </a:rPr>
              <a:t>Example of IDA* Algorithm</a:t>
            </a:r>
            <a:endParaRPr b="1" sz="1800">
              <a:solidFill>
                <a:srgbClr val="273239"/>
              </a:solidFill>
              <a:highlight>
                <a:srgbClr val="FFFFFF"/>
              </a:highlight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273239"/>
                </a:solidFill>
                <a:highlight>
                  <a:srgbClr val="FFFFFF"/>
                </a:highlight>
                <a:latin typeface="Nunito"/>
                <a:ea typeface="Nunito"/>
                <a:cs typeface="Nunito"/>
                <a:sym typeface="Nunito"/>
              </a:rPr>
              <a:t>In the below tree, the</a:t>
            </a:r>
            <a:r>
              <a:rPr b="1" lang="en-US" sz="1350">
                <a:solidFill>
                  <a:srgbClr val="273239"/>
                </a:solidFill>
                <a:highlight>
                  <a:srgbClr val="FFFFFF"/>
                </a:highlight>
                <a:latin typeface="Nunito"/>
                <a:ea typeface="Nunito"/>
                <a:cs typeface="Nunito"/>
                <a:sym typeface="Nunito"/>
              </a:rPr>
              <a:t> f score</a:t>
            </a:r>
            <a:r>
              <a:rPr lang="en-US" sz="1350">
                <a:solidFill>
                  <a:srgbClr val="273239"/>
                </a:solidFill>
                <a:highlight>
                  <a:srgbClr val="FFFFFF"/>
                </a:highlight>
                <a:latin typeface="Nunito"/>
                <a:ea typeface="Nunito"/>
                <a:cs typeface="Nunito"/>
                <a:sym typeface="Nunito"/>
              </a:rPr>
              <a:t> is written inside the nodes means the f score is already computed and the start node is </a:t>
            </a:r>
            <a:r>
              <a:rPr b="1" lang="en-US" sz="1350">
                <a:solidFill>
                  <a:srgbClr val="273239"/>
                </a:solidFill>
                <a:highlight>
                  <a:srgbClr val="FFFFFF"/>
                </a:highlight>
                <a:latin typeface="Nunito"/>
                <a:ea typeface="Nunito"/>
                <a:cs typeface="Nunito"/>
                <a:sym typeface="Nunito"/>
              </a:rPr>
              <a:t>1</a:t>
            </a:r>
            <a:r>
              <a:rPr lang="en-US" sz="1350">
                <a:solidFill>
                  <a:srgbClr val="273239"/>
                </a:solidFill>
                <a:highlight>
                  <a:srgbClr val="FFFFFF"/>
                </a:highlight>
                <a:latin typeface="Nunito"/>
                <a:ea typeface="Nunito"/>
                <a:cs typeface="Nunito"/>
                <a:sym typeface="Nunito"/>
              </a:rPr>
              <a:t> whereas the goal node is </a:t>
            </a:r>
            <a:r>
              <a:rPr b="1" lang="en-US" sz="1350">
                <a:solidFill>
                  <a:srgbClr val="273239"/>
                </a:solidFill>
                <a:highlight>
                  <a:srgbClr val="FFFFFF"/>
                </a:highlight>
                <a:latin typeface="Nunito"/>
                <a:ea typeface="Nunito"/>
                <a:cs typeface="Nunito"/>
                <a:sym typeface="Nunito"/>
              </a:rPr>
              <a:t>14</a:t>
            </a:r>
            <a:r>
              <a:rPr lang="en-US" sz="1350">
                <a:solidFill>
                  <a:srgbClr val="273239"/>
                </a:solidFill>
                <a:highlight>
                  <a:srgbClr val="FFFFFF"/>
                </a:highlight>
                <a:latin typeface="Nunito"/>
                <a:ea typeface="Nunito"/>
                <a:cs typeface="Nunito"/>
                <a:sym typeface="Nunito"/>
              </a:rPr>
              <a:t>.</a:t>
            </a:r>
            <a:endParaRPr sz="1350">
              <a:solidFill>
                <a:srgbClr val="273239"/>
              </a:solidFill>
              <a:highlight>
                <a:srgbClr val="FFFFFF"/>
              </a:highlight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just">
              <a:lnSpc>
                <a:spcPct val="120000"/>
              </a:lnSpc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1350">
                <a:solidFill>
                  <a:srgbClr val="273239"/>
                </a:solidFill>
                <a:highlight>
                  <a:srgbClr val="FFFFFF"/>
                </a:highlight>
                <a:latin typeface="Nunito"/>
                <a:ea typeface="Nunito"/>
                <a:cs typeface="Nunito"/>
                <a:sym typeface="Nunito"/>
              </a:rPr>
              <a:t>So now we have to go to a given goal by using IDA* algorithm.</a:t>
            </a:r>
            <a:endParaRPr sz="1350">
              <a:solidFill>
                <a:srgbClr val="273239"/>
              </a:solidFill>
              <a:highlight>
                <a:srgbClr val="FFFFFF"/>
              </a:highlight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849" name="Google Shape;849;g3f601a604c6_0_430"/>
          <p:cNvSpPr txBox="1"/>
          <p:nvPr/>
        </p:nvSpPr>
        <p:spPr>
          <a:xfrm>
            <a:off x="167375" y="6144900"/>
            <a:ext cx="11696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https://algorithmsinsight.wordpress.com/graph-theory-2/ida-star-algorithm-in-general/</a:t>
            </a:r>
            <a:endParaRPr sz="120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4" name="Shape 8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5" name="Google Shape;855;g3f601a604c6_0_439"/>
          <p:cNvSpPr txBox="1"/>
          <p:nvPr>
            <p:ph type="title"/>
          </p:nvPr>
        </p:nvSpPr>
        <p:spPr>
          <a:xfrm>
            <a:off x="0" y="-25400"/>
            <a:ext cx="12192000" cy="1143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500"/>
              </a:spcAft>
              <a:buNone/>
            </a:pPr>
            <a:r>
              <a:rPr b="1" lang="en-US" sz="2200">
                <a:solidFill>
                  <a:srgbClr val="383838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SMA*</a:t>
            </a:r>
            <a:r>
              <a:rPr lang="en-US" sz="2200">
                <a:solidFill>
                  <a:srgbClr val="383838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 ( </a:t>
            </a:r>
            <a:r>
              <a:rPr b="1" lang="en-US" sz="2200">
                <a:solidFill>
                  <a:srgbClr val="383838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Simplified Memory Bounded A*</a:t>
            </a:r>
            <a:r>
              <a:rPr lang="en-US" sz="2200">
                <a:solidFill>
                  <a:srgbClr val="383838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)</a:t>
            </a:r>
            <a:endParaRPr sz="2400"/>
          </a:p>
        </p:txBody>
      </p:sp>
      <p:sp>
        <p:nvSpPr>
          <p:cNvPr id="856" name="Google Shape;856;g3f601a604c6_0_439"/>
          <p:cNvSpPr txBox="1"/>
          <p:nvPr>
            <p:ph idx="12" type="sldNum"/>
          </p:nvPr>
        </p:nvSpPr>
        <p:spPr>
          <a:xfrm>
            <a:off x="9652000" y="6246404"/>
            <a:ext cx="2133600" cy="476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57" name="Google Shape;857;g3f601a604c6_0_439"/>
          <p:cNvSpPr txBox="1"/>
          <p:nvPr/>
        </p:nvSpPr>
        <p:spPr>
          <a:xfrm>
            <a:off x="979725" y="1445675"/>
            <a:ext cx="10095900" cy="418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00">
                <a:solidFill>
                  <a:srgbClr val="383838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SMA*</a:t>
            </a:r>
            <a:r>
              <a:rPr lang="en-US" sz="2300">
                <a:solidFill>
                  <a:srgbClr val="383838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 ( </a:t>
            </a:r>
            <a:r>
              <a:rPr b="1" lang="en-US" sz="2300">
                <a:solidFill>
                  <a:srgbClr val="383838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Simplified Memory Bounded A*</a:t>
            </a:r>
            <a:r>
              <a:rPr lang="en-US" sz="2300">
                <a:solidFill>
                  <a:srgbClr val="383838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) is a shortest path algorithm that is based on the A* algorithm. The difference between SMA* and A* is that SMA* uses a bounded memory, while the A* algorithm might need exponential memory.</a:t>
            </a:r>
            <a:endParaRPr sz="2300">
              <a:solidFill>
                <a:srgbClr val="383838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lang="en-US" sz="2300">
                <a:solidFill>
                  <a:srgbClr val="383838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Like the A*, it expands the most promising branches according to the heuristic. What sets SMA* apart is that it prunes nodes whose expansion has revealed less promising than expected.</a:t>
            </a:r>
            <a:endParaRPr sz="2300">
              <a:solidFill>
                <a:srgbClr val="383838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500"/>
              </a:spcBef>
              <a:spcAft>
                <a:spcPts val="1500"/>
              </a:spcAft>
              <a:buNone/>
            </a:pPr>
            <a:r>
              <a:rPr lang="en-US" sz="2300">
                <a:solidFill>
                  <a:srgbClr val="383838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SMA*, just like A* evaluates nodes by combining g(n) and h(n): f(n) = g(n) + h(n).</a:t>
            </a:r>
            <a:endParaRPr sz="2300">
              <a:solidFill>
                <a:srgbClr val="383838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2" name="Shape 8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3" name="Google Shape;863;g3f601a604c6_0_446"/>
          <p:cNvSpPr txBox="1"/>
          <p:nvPr>
            <p:ph type="title"/>
          </p:nvPr>
        </p:nvSpPr>
        <p:spPr>
          <a:xfrm>
            <a:off x="0" y="-25400"/>
            <a:ext cx="12192000" cy="1143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500"/>
              </a:spcAft>
              <a:buNone/>
            </a:pPr>
            <a:r>
              <a:rPr b="1" lang="en-US" sz="2000">
                <a:solidFill>
                  <a:srgbClr val="383838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SMA*</a:t>
            </a:r>
            <a:r>
              <a:rPr lang="en-US" sz="2000">
                <a:solidFill>
                  <a:srgbClr val="383838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 ( </a:t>
            </a:r>
            <a:r>
              <a:rPr b="1" lang="en-US" sz="2000">
                <a:solidFill>
                  <a:srgbClr val="383838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Simplified Memory Bounded A*</a:t>
            </a:r>
            <a:r>
              <a:rPr lang="en-US" sz="2000">
                <a:solidFill>
                  <a:srgbClr val="383838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)</a:t>
            </a:r>
            <a:endParaRPr sz="2200"/>
          </a:p>
        </p:txBody>
      </p:sp>
      <p:sp>
        <p:nvSpPr>
          <p:cNvPr id="864" name="Google Shape;864;g3f601a604c6_0_446"/>
          <p:cNvSpPr txBox="1"/>
          <p:nvPr>
            <p:ph idx="12" type="sldNum"/>
          </p:nvPr>
        </p:nvSpPr>
        <p:spPr>
          <a:xfrm>
            <a:off x="9652000" y="6246404"/>
            <a:ext cx="2133600" cy="476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865" name="Google Shape;865;g3f601a604c6_0_4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10025" y="1258050"/>
            <a:ext cx="7800975" cy="5400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0" name="Shape 8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1" name="Google Shape;871;g3f601a604c6_0_453"/>
          <p:cNvSpPr txBox="1"/>
          <p:nvPr>
            <p:ph type="title"/>
          </p:nvPr>
        </p:nvSpPr>
        <p:spPr>
          <a:xfrm>
            <a:off x="0" y="-25400"/>
            <a:ext cx="12192000" cy="1143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500"/>
              </a:spcAft>
              <a:buNone/>
            </a:pPr>
            <a:r>
              <a:rPr b="1" lang="en-US" sz="2000">
                <a:solidFill>
                  <a:srgbClr val="383838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SMA*</a:t>
            </a:r>
            <a:r>
              <a:rPr lang="en-US" sz="2000">
                <a:solidFill>
                  <a:srgbClr val="383838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 ( </a:t>
            </a:r>
            <a:r>
              <a:rPr b="1" lang="en-US" sz="2000">
                <a:solidFill>
                  <a:srgbClr val="383838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Simplified Memory Bounded A*</a:t>
            </a:r>
            <a:r>
              <a:rPr lang="en-US" sz="2000">
                <a:solidFill>
                  <a:srgbClr val="383838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)</a:t>
            </a:r>
            <a:endParaRPr sz="2200"/>
          </a:p>
        </p:txBody>
      </p:sp>
      <p:sp>
        <p:nvSpPr>
          <p:cNvPr id="872" name="Google Shape;872;g3f601a604c6_0_453"/>
          <p:cNvSpPr txBox="1"/>
          <p:nvPr>
            <p:ph idx="12" type="sldNum"/>
          </p:nvPr>
        </p:nvSpPr>
        <p:spPr>
          <a:xfrm>
            <a:off x="9652000" y="6246404"/>
            <a:ext cx="2133600" cy="476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873" name="Google Shape;873;g3f601a604c6_0_4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3225" y="1187025"/>
            <a:ext cx="5041950" cy="2780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74" name="Google Shape;874;g3f601a604c6_0_45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7575" y="4151198"/>
            <a:ext cx="4232425" cy="2571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75" name="Google Shape;875;g3f601a604c6_0_45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616100" y="1187024"/>
            <a:ext cx="4709528" cy="2930849"/>
          </a:xfrm>
          <a:prstGeom prst="rect">
            <a:avLst/>
          </a:prstGeom>
          <a:noFill/>
          <a:ln>
            <a:noFill/>
          </a:ln>
        </p:spPr>
      </p:pic>
      <p:pic>
        <p:nvPicPr>
          <p:cNvPr id="876" name="Google Shape;876;g3f601a604c6_0_45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246475" y="4287474"/>
            <a:ext cx="3740978" cy="2435326"/>
          </a:xfrm>
          <a:prstGeom prst="rect">
            <a:avLst/>
          </a:prstGeom>
          <a:noFill/>
          <a:ln>
            <a:noFill/>
          </a:ln>
        </p:spPr>
      </p:pic>
      <p:sp>
        <p:nvSpPr>
          <p:cNvPr id="877" name="Google Shape;877;g3f601a604c6_0_453"/>
          <p:cNvSpPr txBox="1"/>
          <p:nvPr/>
        </p:nvSpPr>
        <p:spPr>
          <a:xfrm>
            <a:off x="477900" y="1816075"/>
            <a:ext cx="7647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step 1</a:t>
            </a:r>
            <a:endParaRPr b="1" sz="170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8" name="Google Shape;878;g3f601a604c6_0_453"/>
          <p:cNvSpPr txBox="1"/>
          <p:nvPr/>
        </p:nvSpPr>
        <p:spPr>
          <a:xfrm>
            <a:off x="477900" y="4549200"/>
            <a:ext cx="7647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step 2</a:t>
            </a:r>
            <a:endParaRPr b="1" sz="170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9" name="Google Shape;879;g3f601a604c6_0_453"/>
          <p:cNvSpPr txBox="1"/>
          <p:nvPr/>
        </p:nvSpPr>
        <p:spPr>
          <a:xfrm>
            <a:off x="6481775" y="1762450"/>
            <a:ext cx="7647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step 3</a:t>
            </a:r>
            <a:endParaRPr b="1" sz="170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0" name="Google Shape;880;g3f601a604c6_0_453"/>
          <p:cNvSpPr txBox="1"/>
          <p:nvPr/>
        </p:nvSpPr>
        <p:spPr>
          <a:xfrm>
            <a:off x="6481775" y="4549200"/>
            <a:ext cx="7647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step 4</a:t>
            </a:r>
            <a:endParaRPr b="1" sz="170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5" name="Shape 8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6" name="Google Shape;886;g3f601a604c6_0_467"/>
          <p:cNvSpPr txBox="1"/>
          <p:nvPr>
            <p:ph type="title"/>
          </p:nvPr>
        </p:nvSpPr>
        <p:spPr>
          <a:xfrm>
            <a:off x="0" y="-25400"/>
            <a:ext cx="12192000" cy="1143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500"/>
              </a:spcAft>
              <a:buNone/>
            </a:pPr>
            <a:r>
              <a:rPr b="1" lang="en-US" sz="2000">
                <a:solidFill>
                  <a:srgbClr val="383838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SMA*</a:t>
            </a:r>
            <a:r>
              <a:rPr lang="en-US" sz="2000">
                <a:solidFill>
                  <a:srgbClr val="383838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 ( </a:t>
            </a:r>
            <a:r>
              <a:rPr b="1" lang="en-US" sz="2000">
                <a:solidFill>
                  <a:srgbClr val="383838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Simplified Memory Bounded A*</a:t>
            </a:r>
            <a:r>
              <a:rPr lang="en-US" sz="2000">
                <a:solidFill>
                  <a:srgbClr val="383838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)</a:t>
            </a:r>
            <a:endParaRPr sz="2200"/>
          </a:p>
        </p:txBody>
      </p:sp>
      <p:sp>
        <p:nvSpPr>
          <p:cNvPr id="887" name="Google Shape;887;g3f601a604c6_0_467"/>
          <p:cNvSpPr txBox="1"/>
          <p:nvPr>
            <p:ph idx="12" type="sldNum"/>
          </p:nvPr>
        </p:nvSpPr>
        <p:spPr>
          <a:xfrm>
            <a:off x="9652000" y="6246404"/>
            <a:ext cx="2133600" cy="476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888" name="Google Shape;888;g3f601a604c6_0_46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9600" y="1197165"/>
            <a:ext cx="3992400" cy="2795969"/>
          </a:xfrm>
          <a:prstGeom prst="rect">
            <a:avLst/>
          </a:prstGeom>
          <a:noFill/>
          <a:ln>
            <a:noFill/>
          </a:ln>
        </p:spPr>
      </p:pic>
      <p:pic>
        <p:nvPicPr>
          <p:cNvPr id="889" name="Google Shape;889;g3f601a604c6_0_46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9974" y="4361552"/>
            <a:ext cx="4226276" cy="2511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90" name="Google Shape;890;g3f601a604c6_0_46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313475" y="1197169"/>
            <a:ext cx="3992399" cy="2418081"/>
          </a:xfrm>
          <a:prstGeom prst="rect">
            <a:avLst/>
          </a:prstGeom>
          <a:noFill/>
          <a:ln>
            <a:noFill/>
          </a:ln>
        </p:spPr>
      </p:pic>
      <p:sp>
        <p:nvSpPr>
          <p:cNvPr id="891" name="Google Shape;891;g3f601a604c6_0_467"/>
          <p:cNvSpPr txBox="1"/>
          <p:nvPr/>
        </p:nvSpPr>
        <p:spPr>
          <a:xfrm>
            <a:off x="6081400" y="5113650"/>
            <a:ext cx="5149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Ref: https://laconicml.com/simplified-memory-bounded-a-star/</a:t>
            </a:r>
            <a:endParaRPr/>
          </a:p>
        </p:txBody>
      </p:sp>
      <p:sp>
        <p:nvSpPr>
          <p:cNvPr id="892" name="Google Shape;892;g3f601a604c6_0_467"/>
          <p:cNvSpPr txBox="1"/>
          <p:nvPr/>
        </p:nvSpPr>
        <p:spPr>
          <a:xfrm>
            <a:off x="218275" y="1612950"/>
            <a:ext cx="7647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step 5</a:t>
            </a:r>
            <a:endParaRPr b="1" sz="170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3" name="Google Shape;893;g3f601a604c6_0_467"/>
          <p:cNvSpPr txBox="1"/>
          <p:nvPr/>
        </p:nvSpPr>
        <p:spPr>
          <a:xfrm>
            <a:off x="218275" y="4526700"/>
            <a:ext cx="7647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step 6</a:t>
            </a:r>
            <a:endParaRPr b="1" sz="170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4" name="Google Shape;894;g3f601a604c6_0_467"/>
          <p:cNvSpPr txBox="1"/>
          <p:nvPr/>
        </p:nvSpPr>
        <p:spPr>
          <a:xfrm>
            <a:off x="6081400" y="1702700"/>
            <a:ext cx="7647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step 7</a:t>
            </a:r>
            <a:endParaRPr b="1" sz="170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9" name="Shape 8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Google Shape;900;g3f601a604c6_0_480"/>
          <p:cNvSpPr txBox="1"/>
          <p:nvPr>
            <p:ph type="title"/>
          </p:nvPr>
        </p:nvSpPr>
        <p:spPr>
          <a:xfrm>
            <a:off x="0" y="-25400"/>
            <a:ext cx="12192000" cy="1143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RBFS (recursive best-first search)</a:t>
            </a:r>
            <a:endParaRPr b="1" sz="31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01" name="Google Shape;901;g3f601a604c6_0_480"/>
          <p:cNvSpPr txBox="1"/>
          <p:nvPr>
            <p:ph idx="12" type="sldNum"/>
          </p:nvPr>
        </p:nvSpPr>
        <p:spPr>
          <a:xfrm>
            <a:off x="9652000" y="6246404"/>
            <a:ext cx="2133600" cy="476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902" name="Google Shape;902;g3f601a604c6_0_48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56525" y="1287200"/>
            <a:ext cx="7089432" cy="54355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07" name="Shape 9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8" name="Google Shape;908;g3f601a604c6_0_487"/>
          <p:cNvSpPr/>
          <p:nvPr/>
        </p:nvSpPr>
        <p:spPr>
          <a:xfrm>
            <a:off x="0" y="0"/>
            <a:ext cx="12189000" cy="868800"/>
          </a:xfrm>
          <a:prstGeom prst="rect">
            <a:avLst/>
          </a:prstGeom>
          <a:solidFill>
            <a:srgbClr val="1B3B6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9" name="Google Shape;909;g3f601a604c6_0_487"/>
          <p:cNvSpPr/>
          <p:nvPr/>
        </p:nvSpPr>
        <p:spPr>
          <a:xfrm>
            <a:off x="457200" y="237744"/>
            <a:ext cx="384000" cy="384000"/>
          </a:xfrm>
          <a:prstGeom prst="ellipse">
            <a:avLst/>
          </a:prstGeom>
          <a:solidFill>
            <a:srgbClr val="FF7A3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0" name="Google Shape;910;g3f601a604c6_0_487"/>
          <p:cNvSpPr/>
          <p:nvPr/>
        </p:nvSpPr>
        <p:spPr>
          <a:xfrm>
            <a:off x="457200" y="237744"/>
            <a:ext cx="3840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1" name="Google Shape;911;g3f601a604c6_0_487"/>
          <p:cNvSpPr/>
          <p:nvPr/>
        </p:nvSpPr>
        <p:spPr>
          <a:xfrm>
            <a:off x="960120" y="118872"/>
            <a:ext cx="106071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Cambria"/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Expand A — Generate Its Children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2" name="Google Shape;912;g3f601a604c6_0_487"/>
          <p:cNvSpPr/>
          <p:nvPr/>
        </p:nvSpPr>
        <p:spPr>
          <a:xfrm>
            <a:off x="457200" y="932688"/>
            <a:ext cx="1938600" cy="329100"/>
          </a:xfrm>
          <a:prstGeom prst="roundRect">
            <a:avLst>
              <a:gd fmla="val 16667" name="adj"/>
            </a:avLst>
          </a:prstGeom>
          <a:solidFill>
            <a:srgbClr val="EAF2FB"/>
          </a:solidFill>
          <a:ln cap="flat" cmpd="sng" w="9525">
            <a:solidFill>
              <a:srgbClr val="D7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3" name="Google Shape;913;g3f601a604c6_0_487"/>
          <p:cNvSpPr/>
          <p:nvPr/>
        </p:nvSpPr>
        <p:spPr>
          <a:xfrm>
            <a:off x="457200" y="932688"/>
            <a:ext cx="19386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Best: </a:t>
            </a:r>
            <a:r>
              <a:rPr b="0" i="0" lang="en-US" sz="1200" u="none" cap="none" strike="noStrike">
                <a:solidFill>
                  <a:srgbClr val="1B2430"/>
                </a:solidFill>
                <a:latin typeface="Consolas"/>
                <a:ea typeface="Consolas"/>
                <a:cs typeface="Consolas"/>
                <a:sym typeface="Consolas"/>
              </a:rPr>
              <a:t>D (f=12)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4" name="Google Shape;914;g3f601a604c6_0_487"/>
          <p:cNvSpPr/>
          <p:nvPr/>
        </p:nvSpPr>
        <p:spPr>
          <a:xfrm>
            <a:off x="2578608" y="932688"/>
            <a:ext cx="1819800" cy="329100"/>
          </a:xfrm>
          <a:prstGeom prst="roundRect">
            <a:avLst>
              <a:gd fmla="val 16667" name="adj"/>
            </a:avLst>
          </a:prstGeom>
          <a:solidFill>
            <a:srgbClr val="EAF2FB"/>
          </a:solidFill>
          <a:ln cap="flat" cmpd="sng" w="9525">
            <a:solidFill>
              <a:srgbClr val="D7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5" name="Google Shape;915;g3f601a604c6_0_487"/>
          <p:cNvSpPr/>
          <p:nvPr/>
        </p:nvSpPr>
        <p:spPr>
          <a:xfrm>
            <a:off x="2578608" y="932688"/>
            <a:ext cx="18198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0000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8B0000"/>
                </a:solidFill>
                <a:latin typeface="Calibri"/>
                <a:ea typeface="Calibri"/>
                <a:cs typeface="Calibri"/>
                <a:sym typeface="Calibri"/>
              </a:rPr>
              <a:t>Alt: </a:t>
            </a:r>
            <a:r>
              <a:rPr b="0" i="0" lang="en-US" sz="1200" u="none" cap="none" strike="noStrike">
                <a:solidFill>
                  <a:srgbClr val="1B2430"/>
                </a:solidFill>
                <a:latin typeface="Consolas"/>
                <a:ea typeface="Consolas"/>
                <a:cs typeface="Consolas"/>
                <a:sym typeface="Consolas"/>
              </a:rPr>
              <a:t>C (f=14)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6" name="Google Shape;916;g3f601a604c6_0_487"/>
          <p:cNvSpPr/>
          <p:nvPr/>
        </p:nvSpPr>
        <p:spPr>
          <a:xfrm>
            <a:off x="4581144" y="932688"/>
            <a:ext cx="1581900" cy="329100"/>
          </a:xfrm>
          <a:prstGeom prst="roundRect">
            <a:avLst>
              <a:gd fmla="val 16667" name="adj"/>
            </a:avLst>
          </a:prstGeom>
          <a:solidFill>
            <a:srgbClr val="EAF2FB"/>
          </a:solidFill>
          <a:ln cap="flat" cmpd="sng" w="9525">
            <a:solidFill>
              <a:srgbClr val="D7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7" name="Google Shape;917;g3f601a604c6_0_487"/>
          <p:cNvSpPr/>
          <p:nvPr/>
        </p:nvSpPr>
        <p:spPr>
          <a:xfrm>
            <a:off x="4581144" y="932688"/>
            <a:ext cx="15819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75B6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2E75B6"/>
                </a:solidFill>
                <a:latin typeface="Calibri"/>
                <a:ea typeface="Calibri"/>
                <a:cs typeface="Calibri"/>
                <a:sym typeface="Calibri"/>
              </a:rPr>
              <a:t>f_limit: </a:t>
            </a:r>
            <a:r>
              <a:rPr b="0" i="0" lang="en-US" sz="1200" u="none" cap="none" strike="noStrike">
                <a:solidFill>
                  <a:srgbClr val="1B2430"/>
                </a:solidFill>
                <a:latin typeface="Consolas"/>
                <a:ea typeface="Consolas"/>
                <a:cs typeface="Consolas"/>
                <a:sym typeface="Consolas"/>
              </a:rPr>
              <a:t>14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18" name="Google Shape;918;g3f601a604c6_0_487"/>
          <p:cNvCxnSpPr/>
          <p:nvPr/>
        </p:nvCxnSpPr>
        <p:spPr>
          <a:xfrm flipH="1" rot="10800000">
            <a:off x="2916936" y="2093940"/>
            <a:ext cx="3758100" cy="512100"/>
          </a:xfrm>
          <a:prstGeom prst="straightConnector1">
            <a:avLst/>
          </a:prstGeom>
          <a:noFill/>
          <a:ln cap="flat" cmpd="sng" w="38100">
            <a:solidFill>
              <a:srgbClr val="FF7A3D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19" name="Google Shape;919;g3f601a604c6_0_487"/>
          <p:cNvCxnSpPr/>
          <p:nvPr/>
        </p:nvCxnSpPr>
        <p:spPr>
          <a:xfrm>
            <a:off x="6675120" y="2093976"/>
            <a:ext cx="9000" cy="512100"/>
          </a:xfrm>
          <a:prstGeom prst="straightConnector1">
            <a:avLst/>
          </a:prstGeom>
          <a:noFill/>
          <a:ln cap="flat" cmpd="sng" w="19050">
            <a:solidFill>
              <a:srgbClr val="D7DEE8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20" name="Google Shape;920;g3f601a604c6_0_487"/>
          <p:cNvCxnSpPr/>
          <p:nvPr/>
        </p:nvCxnSpPr>
        <p:spPr>
          <a:xfrm>
            <a:off x="6675120" y="2093976"/>
            <a:ext cx="3739800" cy="512100"/>
          </a:xfrm>
          <a:prstGeom prst="straightConnector1">
            <a:avLst/>
          </a:prstGeom>
          <a:noFill/>
          <a:ln cap="flat" cmpd="sng" w="19050">
            <a:solidFill>
              <a:srgbClr val="D7DEE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21" name="Google Shape;921;g3f601a604c6_0_487"/>
          <p:cNvSpPr/>
          <p:nvPr/>
        </p:nvSpPr>
        <p:spPr>
          <a:xfrm>
            <a:off x="6089904" y="1417320"/>
            <a:ext cx="1170300" cy="676800"/>
          </a:xfrm>
          <a:prstGeom prst="roundRect">
            <a:avLst>
              <a:gd fmla="val 10811" name="adj"/>
            </a:avLst>
          </a:prstGeom>
          <a:solidFill>
            <a:srgbClr val="12294D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5400000" dist="25400">
              <a:srgbClr val="000000">
                <a:alpha val="219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2" name="Google Shape;922;g3f601a604c6_0_487"/>
          <p:cNvSpPr/>
          <p:nvPr/>
        </p:nvSpPr>
        <p:spPr>
          <a:xfrm>
            <a:off x="6089904" y="1444752"/>
            <a:ext cx="11703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3" name="Google Shape;923;g3f601a604c6_0_487"/>
          <p:cNvSpPr/>
          <p:nvPr/>
        </p:nvSpPr>
        <p:spPr>
          <a:xfrm>
            <a:off x="6089904" y="1746504"/>
            <a:ext cx="11703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onsolas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f=12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4" name="Google Shape;924;g3f601a604c6_0_487"/>
          <p:cNvSpPr/>
          <p:nvPr/>
        </p:nvSpPr>
        <p:spPr>
          <a:xfrm>
            <a:off x="2532888" y="2350008"/>
            <a:ext cx="768000" cy="201300"/>
          </a:xfrm>
          <a:prstGeom prst="roundRect">
            <a:avLst>
              <a:gd fmla="val 22727" name="adj"/>
            </a:avLst>
          </a:prstGeom>
          <a:solidFill>
            <a:srgbClr val="C039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5" name="Google Shape;925;g3f601a604c6_0_487"/>
          <p:cNvSpPr/>
          <p:nvPr/>
        </p:nvSpPr>
        <p:spPr>
          <a:xfrm>
            <a:off x="2532888" y="2350008"/>
            <a:ext cx="7680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BEST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6" name="Google Shape;926;g3f601a604c6_0_487"/>
          <p:cNvSpPr/>
          <p:nvPr/>
        </p:nvSpPr>
        <p:spPr>
          <a:xfrm>
            <a:off x="2331720" y="2606040"/>
            <a:ext cx="1170300" cy="676800"/>
          </a:xfrm>
          <a:prstGeom prst="roundRect">
            <a:avLst>
              <a:gd fmla="val 10811" name="adj"/>
            </a:avLst>
          </a:prstGeom>
          <a:solidFill>
            <a:srgbClr val="FF7A3D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5400000" dist="25400">
              <a:srgbClr val="000000">
                <a:alpha val="219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7" name="Google Shape;927;g3f601a604c6_0_487"/>
          <p:cNvSpPr/>
          <p:nvPr/>
        </p:nvSpPr>
        <p:spPr>
          <a:xfrm>
            <a:off x="2331720" y="2633472"/>
            <a:ext cx="11703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8" name="Google Shape;928;g3f601a604c6_0_487"/>
          <p:cNvSpPr/>
          <p:nvPr/>
        </p:nvSpPr>
        <p:spPr>
          <a:xfrm>
            <a:off x="2331720" y="2935224"/>
            <a:ext cx="11703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onsolas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f=12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9" name="Google Shape;929;g3f601a604c6_0_487"/>
          <p:cNvSpPr/>
          <p:nvPr/>
        </p:nvSpPr>
        <p:spPr>
          <a:xfrm>
            <a:off x="6291072" y="2350008"/>
            <a:ext cx="768000" cy="201300"/>
          </a:xfrm>
          <a:prstGeom prst="roundRect">
            <a:avLst>
              <a:gd fmla="val 22727" name="adj"/>
            </a:avLst>
          </a:prstGeom>
          <a:solidFill>
            <a:srgbClr val="8B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0" name="Google Shape;930;g3f601a604c6_0_487"/>
          <p:cNvSpPr/>
          <p:nvPr/>
        </p:nvSpPr>
        <p:spPr>
          <a:xfrm>
            <a:off x="6291072" y="2350008"/>
            <a:ext cx="7680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ALT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1" name="Google Shape;931;g3f601a604c6_0_487"/>
          <p:cNvSpPr/>
          <p:nvPr/>
        </p:nvSpPr>
        <p:spPr>
          <a:xfrm>
            <a:off x="6089904" y="2606040"/>
            <a:ext cx="1170300" cy="676800"/>
          </a:xfrm>
          <a:prstGeom prst="roundRect">
            <a:avLst>
              <a:gd fmla="val 10811" name="adj"/>
            </a:avLst>
          </a:prstGeom>
          <a:solidFill>
            <a:srgbClr val="12294D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5400000" dist="25400">
              <a:srgbClr val="000000">
                <a:alpha val="219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2" name="Google Shape;932;g3f601a604c6_0_487"/>
          <p:cNvSpPr/>
          <p:nvPr/>
        </p:nvSpPr>
        <p:spPr>
          <a:xfrm>
            <a:off x="6089904" y="2633472"/>
            <a:ext cx="11703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3" name="Google Shape;933;g3f601a604c6_0_487"/>
          <p:cNvSpPr/>
          <p:nvPr/>
        </p:nvSpPr>
        <p:spPr>
          <a:xfrm>
            <a:off x="6089904" y="2935224"/>
            <a:ext cx="11703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onsolas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f=14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4" name="Google Shape;934;g3f601a604c6_0_487"/>
          <p:cNvSpPr/>
          <p:nvPr/>
        </p:nvSpPr>
        <p:spPr>
          <a:xfrm>
            <a:off x="9829800" y="2606040"/>
            <a:ext cx="1170300" cy="676800"/>
          </a:xfrm>
          <a:prstGeom prst="roundRect">
            <a:avLst>
              <a:gd fmla="val 10811" name="adj"/>
            </a:avLst>
          </a:prstGeom>
          <a:solidFill>
            <a:srgbClr val="12294D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5400000" dist="25400">
              <a:srgbClr val="000000">
                <a:alpha val="219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5" name="Google Shape;935;g3f601a604c6_0_487"/>
          <p:cNvSpPr/>
          <p:nvPr/>
        </p:nvSpPr>
        <p:spPr>
          <a:xfrm>
            <a:off x="9829800" y="2633472"/>
            <a:ext cx="11703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6" name="Google Shape;936;g3f601a604c6_0_487"/>
          <p:cNvSpPr/>
          <p:nvPr/>
        </p:nvSpPr>
        <p:spPr>
          <a:xfrm>
            <a:off x="9829800" y="2935224"/>
            <a:ext cx="11703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onsolas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f=17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7" name="Google Shape;937;g3f601a604c6_0_487"/>
          <p:cNvSpPr/>
          <p:nvPr/>
        </p:nvSpPr>
        <p:spPr>
          <a:xfrm>
            <a:off x="457200" y="5779008"/>
            <a:ext cx="11274600" cy="896100"/>
          </a:xfrm>
          <a:prstGeom prst="roundRect">
            <a:avLst>
              <a:gd fmla="val 8163" name="adj"/>
            </a:avLst>
          </a:prstGeom>
          <a:solidFill>
            <a:srgbClr val="1B3B6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8" name="Google Shape;938;g3f601a604c6_0_487"/>
          <p:cNvSpPr/>
          <p:nvPr/>
        </p:nvSpPr>
        <p:spPr>
          <a:xfrm>
            <a:off x="685800" y="5779008"/>
            <a:ext cx="10881300" cy="89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 has three children: B (17), C (14), D (12). D has the lowest f, so it becomes Best — RBFS recurses into D first, capping the search at f_limit = 14 (C’s value).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43" name="Shape 9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4" name="Google Shape;944;g3f601a604c6_0_522"/>
          <p:cNvSpPr/>
          <p:nvPr/>
        </p:nvSpPr>
        <p:spPr>
          <a:xfrm>
            <a:off x="0" y="0"/>
            <a:ext cx="12189000" cy="868800"/>
          </a:xfrm>
          <a:prstGeom prst="rect">
            <a:avLst/>
          </a:prstGeom>
          <a:solidFill>
            <a:srgbClr val="1B3B6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5" name="Google Shape;945;g3f601a604c6_0_522"/>
          <p:cNvSpPr/>
          <p:nvPr/>
        </p:nvSpPr>
        <p:spPr>
          <a:xfrm>
            <a:off x="457200" y="237744"/>
            <a:ext cx="384000" cy="384000"/>
          </a:xfrm>
          <a:prstGeom prst="ellipse">
            <a:avLst/>
          </a:prstGeom>
          <a:solidFill>
            <a:srgbClr val="FF7A3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6" name="Google Shape;946;g3f601a604c6_0_522"/>
          <p:cNvSpPr/>
          <p:nvPr/>
        </p:nvSpPr>
        <p:spPr>
          <a:xfrm>
            <a:off x="457200" y="237744"/>
            <a:ext cx="3840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7" name="Google Shape;947;g3f601a604c6_0_522"/>
          <p:cNvSpPr/>
          <p:nvPr/>
        </p:nvSpPr>
        <p:spPr>
          <a:xfrm>
            <a:off x="960120" y="118872"/>
            <a:ext cx="106071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Cambria"/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Expand D → F — Limit Exceeded, Back Up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8" name="Google Shape;948;g3f601a604c6_0_522"/>
          <p:cNvSpPr/>
          <p:nvPr/>
        </p:nvSpPr>
        <p:spPr>
          <a:xfrm>
            <a:off x="457200" y="932688"/>
            <a:ext cx="1938600" cy="329100"/>
          </a:xfrm>
          <a:prstGeom prst="roundRect">
            <a:avLst>
              <a:gd fmla="val 16667" name="adj"/>
            </a:avLst>
          </a:prstGeom>
          <a:solidFill>
            <a:srgbClr val="EAF2FB"/>
          </a:solidFill>
          <a:ln cap="flat" cmpd="sng" w="9525">
            <a:solidFill>
              <a:srgbClr val="D7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9" name="Google Shape;949;g3f601a604c6_0_522"/>
          <p:cNvSpPr/>
          <p:nvPr/>
        </p:nvSpPr>
        <p:spPr>
          <a:xfrm>
            <a:off x="457200" y="932688"/>
            <a:ext cx="19386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Best: </a:t>
            </a:r>
            <a:r>
              <a:rPr b="0" i="0" lang="en-US" sz="1200" u="none" cap="none" strike="noStrike">
                <a:solidFill>
                  <a:srgbClr val="1B2430"/>
                </a:solidFill>
                <a:latin typeface="Consolas"/>
                <a:ea typeface="Consolas"/>
                <a:cs typeface="Consolas"/>
                <a:sym typeface="Consolas"/>
              </a:rPr>
              <a:t>F (f=15)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0" name="Google Shape;950;g3f601a604c6_0_522"/>
          <p:cNvSpPr/>
          <p:nvPr/>
        </p:nvSpPr>
        <p:spPr>
          <a:xfrm>
            <a:off x="2578608" y="932688"/>
            <a:ext cx="987600" cy="329100"/>
          </a:xfrm>
          <a:prstGeom prst="roundRect">
            <a:avLst>
              <a:gd fmla="val 16667" name="adj"/>
            </a:avLst>
          </a:prstGeom>
          <a:solidFill>
            <a:srgbClr val="EAF2FB"/>
          </a:solidFill>
          <a:ln cap="flat" cmpd="sng" w="9525">
            <a:solidFill>
              <a:srgbClr val="D7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1" name="Google Shape;951;g3f601a604c6_0_522"/>
          <p:cNvSpPr/>
          <p:nvPr/>
        </p:nvSpPr>
        <p:spPr>
          <a:xfrm>
            <a:off x="2578608" y="932688"/>
            <a:ext cx="9876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0000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8B0000"/>
                </a:solidFill>
                <a:latin typeface="Calibri"/>
                <a:ea typeface="Calibri"/>
                <a:cs typeface="Calibri"/>
                <a:sym typeface="Calibri"/>
              </a:rPr>
              <a:t>Alt: </a:t>
            </a:r>
            <a:r>
              <a:rPr b="0" i="0" lang="en-US" sz="1200" u="none" cap="none" strike="noStrike">
                <a:solidFill>
                  <a:srgbClr val="1B2430"/>
                </a:solidFill>
                <a:latin typeface="Consolas"/>
                <a:ea typeface="Consolas"/>
                <a:cs typeface="Consolas"/>
                <a:sym typeface="Consolas"/>
              </a:rPr>
              <a:t>—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2" name="Google Shape;952;g3f601a604c6_0_522"/>
          <p:cNvSpPr/>
          <p:nvPr/>
        </p:nvSpPr>
        <p:spPr>
          <a:xfrm>
            <a:off x="3749040" y="932688"/>
            <a:ext cx="1581900" cy="329100"/>
          </a:xfrm>
          <a:prstGeom prst="roundRect">
            <a:avLst>
              <a:gd fmla="val 16667" name="adj"/>
            </a:avLst>
          </a:prstGeom>
          <a:solidFill>
            <a:srgbClr val="EAF2FB"/>
          </a:solidFill>
          <a:ln cap="flat" cmpd="sng" w="9525">
            <a:solidFill>
              <a:srgbClr val="D7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3" name="Google Shape;953;g3f601a604c6_0_522"/>
          <p:cNvSpPr/>
          <p:nvPr/>
        </p:nvSpPr>
        <p:spPr>
          <a:xfrm>
            <a:off x="3749040" y="932688"/>
            <a:ext cx="15819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75B6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2E75B6"/>
                </a:solidFill>
                <a:latin typeface="Calibri"/>
                <a:ea typeface="Calibri"/>
                <a:cs typeface="Calibri"/>
                <a:sym typeface="Calibri"/>
              </a:rPr>
              <a:t>f_limit: </a:t>
            </a:r>
            <a:r>
              <a:rPr b="0" i="0" lang="en-US" sz="1200" u="none" cap="none" strike="noStrike">
                <a:solidFill>
                  <a:srgbClr val="1B2430"/>
                </a:solidFill>
                <a:latin typeface="Consolas"/>
                <a:ea typeface="Consolas"/>
                <a:cs typeface="Consolas"/>
                <a:sym typeface="Consolas"/>
              </a:rPr>
              <a:t>14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4" name="Google Shape;954;g3f601a604c6_0_522"/>
          <p:cNvSpPr/>
          <p:nvPr/>
        </p:nvSpPr>
        <p:spPr>
          <a:xfrm>
            <a:off x="5513832" y="932688"/>
            <a:ext cx="6217800" cy="329100"/>
          </a:xfrm>
          <a:prstGeom prst="roundRect">
            <a:avLst>
              <a:gd fmla="val 16667" name="adj"/>
            </a:avLst>
          </a:prstGeom>
          <a:solidFill>
            <a:srgbClr val="C039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5" name="Google Shape;955;g3f601a604c6_0_522"/>
          <p:cNvSpPr/>
          <p:nvPr/>
        </p:nvSpPr>
        <p:spPr>
          <a:xfrm>
            <a:off x="5513832" y="932688"/>
            <a:ext cx="62178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Best.f (15) &gt; f_limit (14)  →  FAIL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56" name="Google Shape;956;g3f601a604c6_0_522"/>
          <p:cNvCxnSpPr/>
          <p:nvPr/>
        </p:nvCxnSpPr>
        <p:spPr>
          <a:xfrm flipH="1" rot="10800000">
            <a:off x="2916936" y="2093940"/>
            <a:ext cx="3758100" cy="512100"/>
          </a:xfrm>
          <a:prstGeom prst="straightConnector1">
            <a:avLst/>
          </a:prstGeom>
          <a:noFill/>
          <a:ln cap="flat" cmpd="sng" w="381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57" name="Google Shape;957;g3f601a604c6_0_522"/>
          <p:cNvCxnSpPr/>
          <p:nvPr/>
        </p:nvCxnSpPr>
        <p:spPr>
          <a:xfrm>
            <a:off x="6675120" y="2093976"/>
            <a:ext cx="9000" cy="512100"/>
          </a:xfrm>
          <a:prstGeom prst="straightConnector1">
            <a:avLst/>
          </a:prstGeom>
          <a:noFill/>
          <a:ln cap="flat" cmpd="sng" w="19050">
            <a:solidFill>
              <a:srgbClr val="D7DEE8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58" name="Google Shape;958;g3f601a604c6_0_522"/>
          <p:cNvCxnSpPr/>
          <p:nvPr/>
        </p:nvCxnSpPr>
        <p:spPr>
          <a:xfrm>
            <a:off x="6675120" y="2093976"/>
            <a:ext cx="3739800" cy="512100"/>
          </a:xfrm>
          <a:prstGeom prst="straightConnector1">
            <a:avLst/>
          </a:prstGeom>
          <a:noFill/>
          <a:ln cap="flat" cmpd="sng" w="19050">
            <a:solidFill>
              <a:srgbClr val="D7DEE8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59" name="Google Shape;959;g3f601a604c6_0_522"/>
          <p:cNvCxnSpPr/>
          <p:nvPr/>
        </p:nvCxnSpPr>
        <p:spPr>
          <a:xfrm>
            <a:off x="2916936" y="3282696"/>
            <a:ext cx="9000" cy="512100"/>
          </a:xfrm>
          <a:prstGeom prst="straightConnector1">
            <a:avLst/>
          </a:prstGeom>
          <a:noFill/>
          <a:ln cap="flat" cmpd="sng" w="381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60" name="Google Shape;960;g3f601a604c6_0_522"/>
          <p:cNvSpPr/>
          <p:nvPr/>
        </p:nvSpPr>
        <p:spPr>
          <a:xfrm>
            <a:off x="6089904" y="1417320"/>
            <a:ext cx="1170300" cy="676800"/>
          </a:xfrm>
          <a:prstGeom prst="roundRect">
            <a:avLst>
              <a:gd fmla="val 10811" name="adj"/>
            </a:avLst>
          </a:prstGeom>
          <a:solidFill>
            <a:srgbClr val="12294D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5400000" dist="25400">
              <a:srgbClr val="000000">
                <a:alpha val="219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1" name="Google Shape;961;g3f601a604c6_0_522"/>
          <p:cNvSpPr/>
          <p:nvPr/>
        </p:nvSpPr>
        <p:spPr>
          <a:xfrm>
            <a:off x="6089904" y="1444752"/>
            <a:ext cx="11703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2" name="Google Shape;962;g3f601a604c6_0_522"/>
          <p:cNvSpPr/>
          <p:nvPr/>
        </p:nvSpPr>
        <p:spPr>
          <a:xfrm>
            <a:off x="6089904" y="1746504"/>
            <a:ext cx="11703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onsolas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f=12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3" name="Google Shape;963;g3f601a604c6_0_522"/>
          <p:cNvSpPr/>
          <p:nvPr/>
        </p:nvSpPr>
        <p:spPr>
          <a:xfrm>
            <a:off x="2331720" y="2606040"/>
            <a:ext cx="1170300" cy="676800"/>
          </a:xfrm>
          <a:prstGeom prst="roundRect">
            <a:avLst>
              <a:gd fmla="val 10811" name="adj"/>
            </a:avLst>
          </a:prstGeom>
          <a:solidFill>
            <a:srgbClr val="C0392B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5400000" dist="25400">
              <a:srgbClr val="000000">
                <a:alpha val="219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4" name="Google Shape;964;g3f601a604c6_0_522"/>
          <p:cNvSpPr/>
          <p:nvPr/>
        </p:nvSpPr>
        <p:spPr>
          <a:xfrm>
            <a:off x="2331720" y="2633472"/>
            <a:ext cx="11703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5" name="Google Shape;965;g3f601a604c6_0_522"/>
          <p:cNvSpPr/>
          <p:nvPr/>
        </p:nvSpPr>
        <p:spPr>
          <a:xfrm>
            <a:off x="2331720" y="2935224"/>
            <a:ext cx="11703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onsolas"/>
              <a:buNone/>
            </a:pPr>
            <a:r>
              <a:rPr b="0" i="0" lang="en-US" sz="1050" u="none" cap="none" strike="sng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f=12  </a:t>
            </a:r>
            <a:r>
              <a:rPr b="1" i="0" lang="en-US" sz="12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15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6" name="Google Shape;966;g3f601a604c6_0_522"/>
          <p:cNvSpPr/>
          <p:nvPr/>
        </p:nvSpPr>
        <p:spPr>
          <a:xfrm>
            <a:off x="6089904" y="2606040"/>
            <a:ext cx="1170300" cy="676800"/>
          </a:xfrm>
          <a:prstGeom prst="roundRect">
            <a:avLst>
              <a:gd fmla="val 10811" name="adj"/>
            </a:avLst>
          </a:prstGeom>
          <a:solidFill>
            <a:srgbClr val="12294D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5400000" dist="25400">
              <a:srgbClr val="000000">
                <a:alpha val="219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7" name="Google Shape;967;g3f601a604c6_0_522"/>
          <p:cNvSpPr/>
          <p:nvPr/>
        </p:nvSpPr>
        <p:spPr>
          <a:xfrm>
            <a:off x="6089904" y="2633472"/>
            <a:ext cx="11703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8" name="Google Shape;968;g3f601a604c6_0_522"/>
          <p:cNvSpPr/>
          <p:nvPr/>
        </p:nvSpPr>
        <p:spPr>
          <a:xfrm>
            <a:off x="6089904" y="2935224"/>
            <a:ext cx="11703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onsolas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f=14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9" name="Google Shape;969;g3f601a604c6_0_522"/>
          <p:cNvSpPr/>
          <p:nvPr/>
        </p:nvSpPr>
        <p:spPr>
          <a:xfrm>
            <a:off x="9829800" y="2606040"/>
            <a:ext cx="1170300" cy="676800"/>
          </a:xfrm>
          <a:prstGeom prst="roundRect">
            <a:avLst>
              <a:gd fmla="val 10811" name="adj"/>
            </a:avLst>
          </a:prstGeom>
          <a:solidFill>
            <a:srgbClr val="12294D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5400000" dist="25400">
              <a:srgbClr val="000000">
                <a:alpha val="219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0" name="Google Shape;970;g3f601a604c6_0_522"/>
          <p:cNvSpPr/>
          <p:nvPr/>
        </p:nvSpPr>
        <p:spPr>
          <a:xfrm>
            <a:off x="9829800" y="2633472"/>
            <a:ext cx="11703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1" name="Google Shape;971;g3f601a604c6_0_522"/>
          <p:cNvSpPr/>
          <p:nvPr/>
        </p:nvSpPr>
        <p:spPr>
          <a:xfrm>
            <a:off x="9829800" y="2935224"/>
            <a:ext cx="11703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onsolas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f=17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2" name="Google Shape;972;g3f601a604c6_0_522"/>
          <p:cNvSpPr/>
          <p:nvPr/>
        </p:nvSpPr>
        <p:spPr>
          <a:xfrm>
            <a:off x="2331720" y="3794760"/>
            <a:ext cx="1170300" cy="676800"/>
          </a:xfrm>
          <a:prstGeom prst="roundRect">
            <a:avLst>
              <a:gd fmla="val 10811" name="adj"/>
            </a:avLst>
          </a:prstGeom>
          <a:solidFill>
            <a:srgbClr val="C0392B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5400000" dist="25400">
              <a:srgbClr val="000000">
                <a:alpha val="219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3" name="Google Shape;973;g3f601a604c6_0_522"/>
          <p:cNvSpPr/>
          <p:nvPr/>
        </p:nvSpPr>
        <p:spPr>
          <a:xfrm>
            <a:off x="2331720" y="3822192"/>
            <a:ext cx="11703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4" name="Google Shape;974;g3f601a604c6_0_522"/>
          <p:cNvSpPr/>
          <p:nvPr/>
        </p:nvSpPr>
        <p:spPr>
          <a:xfrm>
            <a:off x="2331720" y="4123944"/>
            <a:ext cx="11703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onsolas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f=15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5" name="Google Shape;975;g3f601a604c6_0_522"/>
          <p:cNvSpPr/>
          <p:nvPr/>
        </p:nvSpPr>
        <p:spPr>
          <a:xfrm>
            <a:off x="457200" y="5779008"/>
            <a:ext cx="11274600" cy="896100"/>
          </a:xfrm>
          <a:prstGeom prst="roundRect">
            <a:avLst>
              <a:gd fmla="val 8163" name="adj"/>
            </a:avLst>
          </a:prstGeom>
          <a:solidFill>
            <a:srgbClr val="1B3B6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6" name="Google Shape;976;g3f601a604c6_0_522"/>
          <p:cNvSpPr/>
          <p:nvPr/>
        </p:nvSpPr>
        <p:spPr>
          <a:xfrm>
            <a:off x="685800" y="5779008"/>
            <a:ext cx="10881300" cy="89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D's only child is F, with f = max(9+6, 12) = 15. That's above the limit (14), so RBFS gives up on this branch and backs up: D's f is updated from 12 to 15.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81" name="Shape 9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2" name="Google Shape;982;g3f601a604c6_0_559"/>
          <p:cNvSpPr/>
          <p:nvPr/>
        </p:nvSpPr>
        <p:spPr>
          <a:xfrm>
            <a:off x="0" y="0"/>
            <a:ext cx="12189000" cy="868800"/>
          </a:xfrm>
          <a:prstGeom prst="rect">
            <a:avLst/>
          </a:prstGeom>
          <a:solidFill>
            <a:srgbClr val="1B3B6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3" name="Google Shape;983;g3f601a604c6_0_559"/>
          <p:cNvSpPr/>
          <p:nvPr/>
        </p:nvSpPr>
        <p:spPr>
          <a:xfrm>
            <a:off x="457200" y="237744"/>
            <a:ext cx="384000" cy="384000"/>
          </a:xfrm>
          <a:prstGeom prst="ellipse">
            <a:avLst/>
          </a:prstGeom>
          <a:solidFill>
            <a:srgbClr val="FF7A3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4" name="Google Shape;984;g3f601a604c6_0_559"/>
          <p:cNvSpPr/>
          <p:nvPr/>
        </p:nvSpPr>
        <p:spPr>
          <a:xfrm>
            <a:off x="457200" y="237744"/>
            <a:ext cx="3840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5" name="Google Shape;985;g3f601a604c6_0_559"/>
          <p:cNvSpPr/>
          <p:nvPr/>
        </p:nvSpPr>
        <p:spPr>
          <a:xfrm>
            <a:off x="960120" y="118872"/>
            <a:ext cx="106071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Cambria"/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Backtrack to A → Try C → Generate E, F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6" name="Google Shape;986;g3f601a604c6_0_559"/>
          <p:cNvSpPr/>
          <p:nvPr/>
        </p:nvSpPr>
        <p:spPr>
          <a:xfrm>
            <a:off x="457200" y="932688"/>
            <a:ext cx="1938600" cy="329100"/>
          </a:xfrm>
          <a:prstGeom prst="roundRect">
            <a:avLst>
              <a:gd fmla="val 16667" name="adj"/>
            </a:avLst>
          </a:prstGeom>
          <a:solidFill>
            <a:srgbClr val="EAF2FB"/>
          </a:solidFill>
          <a:ln cap="flat" cmpd="sng" w="9525">
            <a:solidFill>
              <a:srgbClr val="D7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7" name="Google Shape;987;g3f601a604c6_0_559"/>
          <p:cNvSpPr/>
          <p:nvPr/>
        </p:nvSpPr>
        <p:spPr>
          <a:xfrm>
            <a:off x="457200" y="932688"/>
            <a:ext cx="19386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Best: </a:t>
            </a:r>
            <a:r>
              <a:rPr b="0" i="0" lang="en-US" sz="1200" u="none" cap="none" strike="noStrike">
                <a:solidFill>
                  <a:srgbClr val="1B2430"/>
                </a:solidFill>
                <a:latin typeface="Consolas"/>
                <a:ea typeface="Consolas"/>
                <a:cs typeface="Consolas"/>
                <a:sym typeface="Consolas"/>
              </a:rPr>
              <a:t>E (f=15)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8" name="Google Shape;988;g3f601a604c6_0_559"/>
          <p:cNvSpPr/>
          <p:nvPr/>
        </p:nvSpPr>
        <p:spPr>
          <a:xfrm>
            <a:off x="2578608" y="932688"/>
            <a:ext cx="1819800" cy="329100"/>
          </a:xfrm>
          <a:prstGeom prst="roundRect">
            <a:avLst>
              <a:gd fmla="val 16667" name="adj"/>
            </a:avLst>
          </a:prstGeom>
          <a:solidFill>
            <a:srgbClr val="EAF2FB"/>
          </a:solidFill>
          <a:ln cap="flat" cmpd="sng" w="9525">
            <a:solidFill>
              <a:srgbClr val="D7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9" name="Google Shape;989;g3f601a604c6_0_559"/>
          <p:cNvSpPr/>
          <p:nvPr/>
        </p:nvSpPr>
        <p:spPr>
          <a:xfrm>
            <a:off x="2578608" y="932688"/>
            <a:ext cx="18198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0000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8B0000"/>
                </a:solidFill>
                <a:latin typeface="Calibri"/>
                <a:ea typeface="Calibri"/>
                <a:cs typeface="Calibri"/>
                <a:sym typeface="Calibri"/>
              </a:rPr>
              <a:t>Alt: </a:t>
            </a:r>
            <a:r>
              <a:rPr b="0" i="0" lang="en-US" sz="1200" u="none" cap="none" strike="noStrike">
                <a:solidFill>
                  <a:srgbClr val="1B2430"/>
                </a:solidFill>
                <a:latin typeface="Consolas"/>
                <a:ea typeface="Consolas"/>
                <a:cs typeface="Consolas"/>
                <a:sym typeface="Consolas"/>
              </a:rPr>
              <a:t>F (f=17)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0" name="Google Shape;990;g3f601a604c6_0_559"/>
          <p:cNvSpPr/>
          <p:nvPr/>
        </p:nvSpPr>
        <p:spPr>
          <a:xfrm>
            <a:off x="4581144" y="932688"/>
            <a:ext cx="1581900" cy="329100"/>
          </a:xfrm>
          <a:prstGeom prst="roundRect">
            <a:avLst>
              <a:gd fmla="val 16667" name="adj"/>
            </a:avLst>
          </a:prstGeom>
          <a:solidFill>
            <a:srgbClr val="EAF2FB"/>
          </a:solidFill>
          <a:ln cap="flat" cmpd="sng" w="9525">
            <a:solidFill>
              <a:srgbClr val="D7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1" name="Google Shape;991;g3f601a604c6_0_559"/>
          <p:cNvSpPr/>
          <p:nvPr/>
        </p:nvSpPr>
        <p:spPr>
          <a:xfrm>
            <a:off x="4581144" y="932688"/>
            <a:ext cx="15819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75B6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2E75B6"/>
                </a:solidFill>
                <a:latin typeface="Calibri"/>
                <a:ea typeface="Calibri"/>
                <a:cs typeface="Calibri"/>
                <a:sym typeface="Calibri"/>
              </a:rPr>
              <a:t>f_limit: </a:t>
            </a:r>
            <a:r>
              <a:rPr b="0" i="0" lang="en-US" sz="1200" u="none" cap="none" strike="noStrike">
                <a:solidFill>
                  <a:srgbClr val="1B2430"/>
                </a:solidFill>
                <a:latin typeface="Consolas"/>
                <a:ea typeface="Consolas"/>
                <a:cs typeface="Consolas"/>
                <a:sym typeface="Consolas"/>
              </a:rPr>
              <a:t>15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92" name="Google Shape;992;g3f601a604c6_0_559"/>
          <p:cNvCxnSpPr/>
          <p:nvPr/>
        </p:nvCxnSpPr>
        <p:spPr>
          <a:xfrm flipH="1" rot="10800000">
            <a:off x="2916936" y="2093940"/>
            <a:ext cx="3758100" cy="512100"/>
          </a:xfrm>
          <a:prstGeom prst="straightConnector1">
            <a:avLst/>
          </a:prstGeom>
          <a:noFill/>
          <a:ln cap="flat" cmpd="sng" w="19050">
            <a:solidFill>
              <a:srgbClr val="D7DEE8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93" name="Google Shape;993;g3f601a604c6_0_559"/>
          <p:cNvCxnSpPr/>
          <p:nvPr/>
        </p:nvCxnSpPr>
        <p:spPr>
          <a:xfrm>
            <a:off x="6675120" y="2093976"/>
            <a:ext cx="9000" cy="512100"/>
          </a:xfrm>
          <a:prstGeom prst="straightConnector1">
            <a:avLst/>
          </a:prstGeom>
          <a:noFill/>
          <a:ln cap="flat" cmpd="sng" w="38100">
            <a:solidFill>
              <a:srgbClr val="FF7A3D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94" name="Google Shape;994;g3f601a604c6_0_559"/>
          <p:cNvCxnSpPr/>
          <p:nvPr/>
        </p:nvCxnSpPr>
        <p:spPr>
          <a:xfrm>
            <a:off x="6675120" y="2093976"/>
            <a:ext cx="3739800" cy="512100"/>
          </a:xfrm>
          <a:prstGeom prst="straightConnector1">
            <a:avLst/>
          </a:prstGeom>
          <a:noFill/>
          <a:ln cap="flat" cmpd="sng" w="19050">
            <a:solidFill>
              <a:srgbClr val="D7DEE8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95" name="Google Shape;995;g3f601a604c6_0_559"/>
          <p:cNvCxnSpPr/>
          <p:nvPr/>
        </p:nvCxnSpPr>
        <p:spPr>
          <a:xfrm>
            <a:off x="2916936" y="3282696"/>
            <a:ext cx="9000" cy="512100"/>
          </a:xfrm>
          <a:prstGeom prst="straightConnector1">
            <a:avLst/>
          </a:prstGeom>
          <a:noFill/>
          <a:ln cap="flat" cmpd="sng" w="19050">
            <a:solidFill>
              <a:srgbClr val="D7DEE8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96" name="Google Shape;996;g3f601a604c6_0_559"/>
          <p:cNvCxnSpPr/>
          <p:nvPr/>
        </p:nvCxnSpPr>
        <p:spPr>
          <a:xfrm flipH="1" rot="10800000">
            <a:off x="5294376" y="3282660"/>
            <a:ext cx="1380600" cy="512100"/>
          </a:xfrm>
          <a:prstGeom prst="straightConnector1">
            <a:avLst/>
          </a:prstGeom>
          <a:noFill/>
          <a:ln cap="flat" cmpd="sng" w="38100">
            <a:solidFill>
              <a:srgbClr val="FF7A3D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97" name="Google Shape;997;g3f601a604c6_0_559"/>
          <p:cNvCxnSpPr/>
          <p:nvPr/>
        </p:nvCxnSpPr>
        <p:spPr>
          <a:xfrm>
            <a:off x="6675120" y="3282696"/>
            <a:ext cx="1362600" cy="512100"/>
          </a:xfrm>
          <a:prstGeom prst="straightConnector1">
            <a:avLst/>
          </a:prstGeom>
          <a:noFill/>
          <a:ln cap="flat" cmpd="sng" w="19050">
            <a:solidFill>
              <a:srgbClr val="D7DEE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98" name="Google Shape;998;g3f601a604c6_0_559"/>
          <p:cNvSpPr/>
          <p:nvPr/>
        </p:nvSpPr>
        <p:spPr>
          <a:xfrm>
            <a:off x="6089904" y="1417320"/>
            <a:ext cx="1170300" cy="676800"/>
          </a:xfrm>
          <a:prstGeom prst="roundRect">
            <a:avLst>
              <a:gd fmla="val 10811" name="adj"/>
            </a:avLst>
          </a:prstGeom>
          <a:solidFill>
            <a:srgbClr val="12294D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5400000" dist="25400">
              <a:srgbClr val="000000">
                <a:alpha val="219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9" name="Google Shape;999;g3f601a604c6_0_559"/>
          <p:cNvSpPr/>
          <p:nvPr/>
        </p:nvSpPr>
        <p:spPr>
          <a:xfrm>
            <a:off x="6089904" y="1444752"/>
            <a:ext cx="11703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0" name="Google Shape;1000;g3f601a604c6_0_559"/>
          <p:cNvSpPr/>
          <p:nvPr/>
        </p:nvSpPr>
        <p:spPr>
          <a:xfrm>
            <a:off x="6089904" y="1746504"/>
            <a:ext cx="11703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onsolas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f=12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1" name="Google Shape;1001;g3f601a604c6_0_559"/>
          <p:cNvSpPr/>
          <p:nvPr/>
        </p:nvSpPr>
        <p:spPr>
          <a:xfrm>
            <a:off x="2331720" y="2606040"/>
            <a:ext cx="1170300" cy="676800"/>
          </a:xfrm>
          <a:prstGeom prst="roundRect">
            <a:avLst>
              <a:gd fmla="val 10811" name="adj"/>
            </a:avLst>
          </a:prstGeom>
          <a:solidFill>
            <a:srgbClr val="D7DEE8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2" name="Google Shape;1002;g3f601a604c6_0_559"/>
          <p:cNvSpPr/>
          <p:nvPr/>
        </p:nvSpPr>
        <p:spPr>
          <a:xfrm>
            <a:off x="2331720" y="2633472"/>
            <a:ext cx="11703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E7A8A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6E7A8A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3" name="Google Shape;1003;g3f601a604c6_0_559"/>
          <p:cNvSpPr/>
          <p:nvPr/>
        </p:nvSpPr>
        <p:spPr>
          <a:xfrm>
            <a:off x="2331720" y="2935224"/>
            <a:ext cx="11703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E7A8A"/>
              </a:buClr>
              <a:buSzPts val="1200"/>
              <a:buFont typeface="Consolas"/>
              <a:buNone/>
            </a:pPr>
            <a:r>
              <a:rPr b="1" i="0" lang="en-US" sz="1200" u="none" cap="none" strike="noStrike">
                <a:solidFill>
                  <a:srgbClr val="6E7A8A"/>
                </a:solidFill>
                <a:latin typeface="Consolas"/>
                <a:ea typeface="Consolas"/>
                <a:cs typeface="Consolas"/>
                <a:sym typeface="Consolas"/>
              </a:rPr>
              <a:t>f=15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4" name="Google Shape;1004;g3f601a604c6_0_559"/>
          <p:cNvSpPr/>
          <p:nvPr/>
        </p:nvSpPr>
        <p:spPr>
          <a:xfrm>
            <a:off x="6089904" y="2606040"/>
            <a:ext cx="1170300" cy="676800"/>
          </a:xfrm>
          <a:prstGeom prst="roundRect">
            <a:avLst>
              <a:gd fmla="val 10811" name="adj"/>
            </a:avLst>
          </a:prstGeom>
          <a:solidFill>
            <a:srgbClr val="FF7A3D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5400000" dist="25400">
              <a:srgbClr val="000000">
                <a:alpha val="219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5" name="Google Shape;1005;g3f601a604c6_0_559"/>
          <p:cNvSpPr/>
          <p:nvPr/>
        </p:nvSpPr>
        <p:spPr>
          <a:xfrm>
            <a:off x="6089904" y="2633472"/>
            <a:ext cx="11703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6" name="Google Shape;1006;g3f601a604c6_0_559"/>
          <p:cNvSpPr/>
          <p:nvPr/>
        </p:nvSpPr>
        <p:spPr>
          <a:xfrm>
            <a:off x="6089904" y="2935224"/>
            <a:ext cx="11703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onsolas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f=14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7" name="Google Shape;1007;g3f601a604c6_0_559"/>
          <p:cNvSpPr/>
          <p:nvPr/>
        </p:nvSpPr>
        <p:spPr>
          <a:xfrm>
            <a:off x="9829800" y="2606040"/>
            <a:ext cx="1170300" cy="676800"/>
          </a:xfrm>
          <a:prstGeom prst="roundRect">
            <a:avLst>
              <a:gd fmla="val 10811" name="adj"/>
            </a:avLst>
          </a:prstGeom>
          <a:solidFill>
            <a:srgbClr val="12294D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5400000" dist="25400">
              <a:srgbClr val="000000">
                <a:alpha val="219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8" name="Google Shape;1008;g3f601a604c6_0_559"/>
          <p:cNvSpPr/>
          <p:nvPr/>
        </p:nvSpPr>
        <p:spPr>
          <a:xfrm>
            <a:off x="9829800" y="2633472"/>
            <a:ext cx="11703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9" name="Google Shape;1009;g3f601a604c6_0_559"/>
          <p:cNvSpPr/>
          <p:nvPr/>
        </p:nvSpPr>
        <p:spPr>
          <a:xfrm>
            <a:off x="9829800" y="2935224"/>
            <a:ext cx="11703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onsolas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f=17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0" name="Google Shape;1010;g3f601a604c6_0_559"/>
          <p:cNvSpPr/>
          <p:nvPr/>
        </p:nvSpPr>
        <p:spPr>
          <a:xfrm>
            <a:off x="2331720" y="3794760"/>
            <a:ext cx="1170300" cy="676800"/>
          </a:xfrm>
          <a:prstGeom prst="roundRect">
            <a:avLst>
              <a:gd fmla="val 10811" name="adj"/>
            </a:avLst>
          </a:prstGeom>
          <a:solidFill>
            <a:srgbClr val="D7DEE8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1" name="Google Shape;1011;g3f601a604c6_0_559"/>
          <p:cNvSpPr/>
          <p:nvPr/>
        </p:nvSpPr>
        <p:spPr>
          <a:xfrm>
            <a:off x="2331720" y="3822192"/>
            <a:ext cx="11703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E7A8A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6E7A8A"/>
                </a:solidFill>
                <a:latin typeface="Calibri"/>
                <a:ea typeface="Calibri"/>
                <a:cs typeface="Calibri"/>
                <a:sym typeface="Calibri"/>
              </a:rPr>
              <a:t>F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2" name="Google Shape;1012;g3f601a604c6_0_559"/>
          <p:cNvSpPr/>
          <p:nvPr/>
        </p:nvSpPr>
        <p:spPr>
          <a:xfrm>
            <a:off x="2331720" y="4123944"/>
            <a:ext cx="11703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E7A8A"/>
              </a:buClr>
              <a:buSzPts val="1200"/>
              <a:buFont typeface="Consolas"/>
              <a:buNone/>
            </a:pPr>
            <a:r>
              <a:rPr b="1" i="0" lang="en-US" sz="1200" u="none" cap="none" strike="noStrike">
                <a:solidFill>
                  <a:srgbClr val="6E7A8A"/>
                </a:solidFill>
                <a:latin typeface="Consolas"/>
                <a:ea typeface="Consolas"/>
                <a:cs typeface="Consolas"/>
                <a:sym typeface="Consolas"/>
              </a:rPr>
              <a:t>f=15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3" name="Google Shape;1013;g3f601a604c6_0_559"/>
          <p:cNvSpPr/>
          <p:nvPr/>
        </p:nvSpPr>
        <p:spPr>
          <a:xfrm>
            <a:off x="4910328" y="3538728"/>
            <a:ext cx="768000" cy="201300"/>
          </a:xfrm>
          <a:prstGeom prst="roundRect">
            <a:avLst>
              <a:gd fmla="val 22727" name="adj"/>
            </a:avLst>
          </a:prstGeom>
          <a:solidFill>
            <a:srgbClr val="C039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4" name="Google Shape;1014;g3f601a604c6_0_559"/>
          <p:cNvSpPr/>
          <p:nvPr/>
        </p:nvSpPr>
        <p:spPr>
          <a:xfrm>
            <a:off x="4910328" y="3538728"/>
            <a:ext cx="7680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BEST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5" name="Google Shape;1015;g3f601a604c6_0_559"/>
          <p:cNvSpPr/>
          <p:nvPr/>
        </p:nvSpPr>
        <p:spPr>
          <a:xfrm>
            <a:off x="4709160" y="3794760"/>
            <a:ext cx="1170300" cy="676800"/>
          </a:xfrm>
          <a:prstGeom prst="roundRect">
            <a:avLst>
              <a:gd fmla="val 10811" name="adj"/>
            </a:avLst>
          </a:prstGeom>
          <a:solidFill>
            <a:srgbClr val="FF7A3D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5400000" dist="25400">
              <a:srgbClr val="000000">
                <a:alpha val="219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6" name="Google Shape;1016;g3f601a604c6_0_559"/>
          <p:cNvSpPr/>
          <p:nvPr/>
        </p:nvSpPr>
        <p:spPr>
          <a:xfrm>
            <a:off x="4709160" y="3822192"/>
            <a:ext cx="11703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7" name="Google Shape;1017;g3f601a604c6_0_559"/>
          <p:cNvSpPr/>
          <p:nvPr/>
        </p:nvSpPr>
        <p:spPr>
          <a:xfrm>
            <a:off x="4709160" y="4123944"/>
            <a:ext cx="11703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onsolas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f=15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8" name="Google Shape;1018;g3f601a604c6_0_559"/>
          <p:cNvSpPr/>
          <p:nvPr/>
        </p:nvSpPr>
        <p:spPr>
          <a:xfrm>
            <a:off x="7653528" y="3538728"/>
            <a:ext cx="768000" cy="201300"/>
          </a:xfrm>
          <a:prstGeom prst="roundRect">
            <a:avLst>
              <a:gd fmla="val 22727" name="adj"/>
            </a:avLst>
          </a:prstGeom>
          <a:solidFill>
            <a:srgbClr val="8B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9" name="Google Shape;1019;g3f601a604c6_0_559"/>
          <p:cNvSpPr/>
          <p:nvPr/>
        </p:nvSpPr>
        <p:spPr>
          <a:xfrm>
            <a:off x="7653528" y="3538728"/>
            <a:ext cx="7680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ALT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0" name="Google Shape;1020;g3f601a604c6_0_559"/>
          <p:cNvSpPr/>
          <p:nvPr/>
        </p:nvSpPr>
        <p:spPr>
          <a:xfrm>
            <a:off x="7452360" y="3794760"/>
            <a:ext cx="1170300" cy="676800"/>
          </a:xfrm>
          <a:prstGeom prst="roundRect">
            <a:avLst>
              <a:gd fmla="val 10811" name="adj"/>
            </a:avLst>
          </a:prstGeom>
          <a:solidFill>
            <a:srgbClr val="12294D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5400000" dist="25400">
              <a:srgbClr val="000000">
                <a:alpha val="219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1" name="Google Shape;1021;g3f601a604c6_0_559"/>
          <p:cNvSpPr/>
          <p:nvPr/>
        </p:nvSpPr>
        <p:spPr>
          <a:xfrm>
            <a:off x="7452360" y="3822192"/>
            <a:ext cx="11703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2" name="Google Shape;1022;g3f601a604c6_0_559"/>
          <p:cNvSpPr/>
          <p:nvPr/>
        </p:nvSpPr>
        <p:spPr>
          <a:xfrm>
            <a:off x="7452360" y="4123944"/>
            <a:ext cx="11703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onsolas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f=17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3" name="Google Shape;1023;g3f601a604c6_0_559"/>
          <p:cNvSpPr/>
          <p:nvPr/>
        </p:nvSpPr>
        <p:spPr>
          <a:xfrm>
            <a:off x="457200" y="5779008"/>
            <a:ext cx="11274600" cy="896100"/>
          </a:xfrm>
          <a:prstGeom prst="roundRect">
            <a:avLst>
              <a:gd fmla="val 8163" name="adj"/>
            </a:avLst>
          </a:prstGeom>
          <a:solidFill>
            <a:srgbClr val="1B3B6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4" name="Google Shape;1024;g3f601a604c6_0_559"/>
          <p:cNvSpPr/>
          <p:nvPr/>
        </p:nvSpPr>
        <p:spPr>
          <a:xfrm>
            <a:off x="685800" y="5779008"/>
            <a:ext cx="10881300" cy="89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Back at A, C (14) is now the best child — cheaper than D's updated 15. Expanding C generates E (15) and F (17); E becomes the new Best, with f_limit tightened to 15.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29" name="Shape 10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0" name="Google Shape;1030;g3f601a604c6_0_606"/>
          <p:cNvSpPr/>
          <p:nvPr/>
        </p:nvSpPr>
        <p:spPr>
          <a:xfrm>
            <a:off x="0" y="0"/>
            <a:ext cx="12189000" cy="868800"/>
          </a:xfrm>
          <a:prstGeom prst="rect">
            <a:avLst/>
          </a:prstGeom>
          <a:solidFill>
            <a:srgbClr val="1B3B6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1" name="Google Shape;1031;g3f601a604c6_0_606"/>
          <p:cNvSpPr/>
          <p:nvPr/>
        </p:nvSpPr>
        <p:spPr>
          <a:xfrm>
            <a:off x="457200" y="237744"/>
            <a:ext cx="384000" cy="384000"/>
          </a:xfrm>
          <a:prstGeom prst="ellipse">
            <a:avLst/>
          </a:prstGeom>
          <a:solidFill>
            <a:srgbClr val="FF7A3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2" name="Google Shape;1032;g3f601a604c6_0_606"/>
          <p:cNvSpPr/>
          <p:nvPr/>
        </p:nvSpPr>
        <p:spPr>
          <a:xfrm>
            <a:off x="457200" y="237744"/>
            <a:ext cx="3840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3" name="Google Shape;1033;g3f601a604c6_0_606"/>
          <p:cNvSpPr/>
          <p:nvPr/>
        </p:nvSpPr>
        <p:spPr>
          <a:xfrm>
            <a:off x="960120" y="118872"/>
            <a:ext cx="106071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Cambria"/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Expand E → G — Fails, Then C Fails Too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4" name="Google Shape;1034;g3f601a604c6_0_606"/>
          <p:cNvSpPr/>
          <p:nvPr/>
        </p:nvSpPr>
        <p:spPr>
          <a:xfrm>
            <a:off x="457200" y="932688"/>
            <a:ext cx="1938600" cy="329100"/>
          </a:xfrm>
          <a:prstGeom prst="roundRect">
            <a:avLst>
              <a:gd fmla="val 16667" name="adj"/>
            </a:avLst>
          </a:prstGeom>
          <a:solidFill>
            <a:srgbClr val="EAF2FB"/>
          </a:solidFill>
          <a:ln cap="flat" cmpd="sng" w="9525">
            <a:solidFill>
              <a:srgbClr val="D7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5" name="Google Shape;1035;g3f601a604c6_0_606"/>
          <p:cNvSpPr/>
          <p:nvPr/>
        </p:nvSpPr>
        <p:spPr>
          <a:xfrm>
            <a:off x="457200" y="932688"/>
            <a:ext cx="19386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Best: </a:t>
            </a:r>
            <a:r>
              <a:rPr b="0" i="0" lang="en-US" sz="1200" u="none" cap="none" strike="noStrike">
                <a:solidFill>
                  <a:srgbClr val="1B2430"/>
                </a:solidFill>
                <a:latin typeface="Consolas"/>
                <a:ea typeface="Consolas"/>
                <a:cs typeface="Consolas"/>
                <a:sym typeface="Consolas"/>
              </a:rPr>
              <a:t>G (f=17)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6" name="Google Shape;1036;g3f601a604c6_0_606"/>
          <p:cNvSpPr/>
          <p:nvPr/>
        </p:nvSpPr>
        <p:spPr>
          <a:xfrm>
            <a:off x="2578608" y="932688"/>
            <a:ext cx="987600" cy="329100"/>
          </a:xfrm>
          <a:prstGeom prst="roundRect">
            <a:avLst>
              <a:gd fmla="val 16667" name="adj"/>
            </a:avLst>
          </a:prstGeom>
          <a:solidFill>
            <a:srgbClr val="EAF2FB"/>
          </a:solidFill>
          <a:ln cap="flat" cmpd="sng" w="9525">
            <a:solidFill>
              <a:srgbClr val="D7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7" name="Google Shape;1037;g3f601a604c6_0_606"/>
          <p:cNvSpPr/>
          <p:nvPr/>
        </p:nvSpPr>
        <p:spPr>
          <a:xfrm>
            <a:off x="2578608" y="932688"/>
            <a:ext cx="9876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0000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8B0000"/>
                </a:solidFill>
                <a:latin typeface="Calibri"/>
                <a:ea typeface="Calibri"/>
                <a:cs typeface="Calibri"/>
                <a:sym typeface="Calibri"/>
              </a:rPr>
              <a:t>Alt: </a:t>
            </a:r>
            <a:r>
              <a:rPr b="0" i="0" lang="en-US" sz="1200" u="none" cap="none" strike="noStrike">
                <a:solidFill>
                  <a:srgbClr val="1B2430"/>
                </a:solidFill>
                <a:latin typeface="Consolas"/>
                <a:ea typeface="Consolas"/>
                <a:cs typeface="Consolas"/>
                <a:sym typeface="Consolas"/>
              </a:rPr>
              <a:t>—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8" name="Google Shape;1038;g3f601a604c6_0_606"/>
          <p:cNvSpPr/>
          <p:nvPr/>
        </p:nvSpPr>
        <p:spPr>
          <a:xfrm>
            <a:off x="3749040" y="932688"/>
            <a:ext cx="1581900" cy="329100"/>
          </a:xfrm>
          <a:prstGeom prst="roundRect">
            <a:avLst>
              <a:gd fmla="val 16667" name="adj"/>
            </a:avLst>
          </a:prstGeom>
          <a:solidFill>
            <a:srgbClr val="EAF2FB"/>
          </a:solidFill>
          <a:ln cap="flat" cmpd="sng" w="9525">
            <a:solidFill>
              <a:srgbClr val="D7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9" name="Google Shape;1039;g3f601a604c6_0_606"/>
          <p:cNvSpPr/>
          <p:nvPr/>
        </p:nvSpPr>
        <p:spPr>
          <a:xfrm>
            <a:off x="3749040" y="932688"/>
            <a:ext cx="15819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75B6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2E75B6"/>
                </a:solidFill>
                <a:latin typeface="Calibri"/>
                <a:ea typeface="Calibri"/>
                <a:cs typeface="Calibri"/>
                <a:sym typeface="Calibri"/>
              </a:rPr>
              <a:t>f_limit: </a:t>
            </a:r>
            <a:r>
              <a:rPr b="0" i="0" lang="en-US" sz="1200" u="none" cap="none" strike="noStrike">
                <a:solidFill>
                  <a:srgbClr val="1B2430"/>
                </a:solidFill>
                <a:latin typeface="Consolas"/>
                <a:ea typeface="Consolas"/>
                <a:cs typeface="Consolas"/>
                <a:sym typeface="Consolas"/>
              </a:rPr>
              <a:t>15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0" name="Google Shape;1040;g3f601a604c6_0_606"/>
          <p:cNvSpPr/>
          <p:nvPr/>
        </p:nvSpPr>
        <p:spPr>
          <a:xfrm>
            <a:off x="5513832" y="932688"/>
            <a:ext cx="6217800" cy="329100"/>
          </a:xfrm>
          <a:prstGeom prst="roundRect">
            <a:avLst>
              <a:gd fmla="val 16667" name="adj"/>
            </a:avLst>
          </a:prstGeom>
          <a:solidFill>
            <a:srgbClr val="C039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1" name="Google Shape;1041;g3f601a604c6_0_606"/>
          <p:cNvSpPr/>
          <p:nvPr/>
        </p:nvSpPr>
        <p:spPr>
          <a:xfrm>
            <a:off x="5513832" y="932688"/>
            <a:ext cx="62178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Both E and F now exceed f_limit → C FAILS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42" name="Google Shape;1042;g3f601a604c6_0_606"/>
          <p:cNvCxnSpPr/>
          <p:nvPr/>
        </p:nvCxnSpPr>
        <p:spPr>
          <a:xfrm flipH="1" rot="10800000">
            <a:off x="2916936" y="2093940"/>
            <a:ext cx="3758100" cy="512100"/>
          </a:xfrm>
          <a:prstGeom prst="straightConnector1">
            <a:avLst/>
          </a:prstGeom>
          <a:noFill/>
          <a:ln cap="flat" cmpd="sng" w="19050">
            <a:solidFill>
              <a:srgbClr val="D7DEE8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43" name="Google Shape;1043;g3f601a604c6_0_606"/>
          <p:cNvCxnSpPr/>
          <p:nvPr/>
        </p:nvCxnSpPr>
        <p:spPr>
          <a:xfrm>
            <a:off x="6675120" y="2093976"/>
            <a:ext cx="9000" cy="512100"/>
          </a:xfrm>
          <a:prstGeom prst="straightConnector1">
            <a:avLst/>
          </a:prstGeom>
          <a:noFill/>
          <a:ln cap="flat" cmpd="sng" w="19050">
            <a:solidFill>
              <a:srgbClr val="D7DEE8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44" name="Google Shape;1044;g3f601a604c6_0_606"/>
          <p:cNvCxnSpPr/>
          <p:nvPr/>
        </p:nvCxnSpPr>
        <p:spPr>
          <a:xfrm>
            <a:off x="6675120" y="2093976"/>
            <a:ext cx="3739800" cy="512100"/>
          </a:xfrm>
          <a:prstGeom prst="straightConnector1">
            <a:avLst/>
          </a:prstGeom>
          <a:noFill/>
          <a:ln cap="flat" cmpd="sng" w="19050">
            <a:solidFill>
              <a:srgbClr val="D7DEE8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45" name="Google Shape;1045;g3f601a604c6_0_606"/>
          <p:cNvCxnSpPr/>
          <p:nvPr/>
        </p:nvCxnSpPr>
        <p:spPr>
          <a:xfrm>
            <a:off x="2916936" y="3282696"/>
            <a:ext cx="9000" cy="512100"/>
          </a:xfrm>
          <a:prstGeom prst="straightConnector1">
            <a:avLst/>
          </a:prstGeom>
          <a:noFill/>
          <a:ln cap="flat" cmpd="sng" w="19050">
            <a:solidFill>
              <a:srgbClr val="D7DEE8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46" name="Google Shape;1046;g3f601a604c6_0_606"/>
          <p:cNvCxnSpPr/>
          <p:nvPr/>
        </p:nvCxnSpPr>
        <p:spPr>
          <a:xfrm flipH="1" rot="10800000">
            <a:off x="5294376" y="3282660"/>
            <a:ext cx="1380600" cy="512100"/>
          </a:xfrm>
          <a:prstGeom prst="straightConnector1">
            <a:avLst/>
          </a:prstGeom>
          <a:noFill/>
          <a:ln cap="flat" cmpd="sng" w="381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47" name="Google Shape;1047;g3f601a604c6_0_606"/>
          <p:cNvCxnSpPr/>
          <p:nvPr/>
        </p:nvCxnSpPr>
        <p:spPr>
          <a:xfrm>
            <a:off x="6675120" y="3282696"/>
            <a:ext cx="1362600" cy="512100"/>
          </a:xfrm>
          <a:prstGeom prst="straightConnector1">
            <a:avLst/>
          </a:prstGeom>
          <a:noFill/>
          <a:ln cap="flat" cmpd="sng" w="19050">
            <a:solidFill>
              <a:srgbClr val="D7DEE8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48" name="Google Shape;1048;g3f601a604c6_0_606"/>
          <p:cNvCxnSpPr/>
          <p:nvPr/>
        </p:nvCxnSpPr>
        <p:spPr>
          <a:xfrm>
            <a:off x="5294376" y="4471416"/>
            <a:ext cx="9000" cy="512100"/>
          </a:xfrm>
          <a:prstGeom prst="straightConnector1">
            <a:avLst/>
          </a:prstGeom>
          <a:noFill/>
          <a:ln cap="flat" cmpd="sng" w="381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49" name="Google Shape;1049;g3f601a604c6_0_606"/>
          <p:cNvSpPr/>
          <p:nvPr/>
        </p:nvSpPr>
        <p:spPr>
          <a:xfrm>
            <a:off x="6089904" y="1417320"/>
            <a:ext cx="1170300" cy="676800"/>
          </a:xfrm>
          <a:prstGeom prst="roundRect">
            <a:avLst>
              <a:gd fmla="val 10811" name="adj"/>
            </a:avLst>
          </a:prstGeom>
          <a:solidFill>
            <a:srgbClr val="12294D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5400000" dist="25400">
              <a:srgbClr val="000000">
                <a:alpha val="219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0" name="Google Shape;1050;g3f601a604c6_0_606"/>
          <p:cNvSpPr/>
          <p:nvPr/>
        </p:nvSpPr>
        <p:spPr>
          <a:xfrm>
            <a:off x="6089904" y="1444752"/>
            <a:ext cx="11703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1" name="Google Shape;1051;g3f601a604c6_0_606"/>
          <p:cNvSpPr/>
          <p:nvPr/>
        </p:nvSpPr>
        <p:spPr>
          <a:xfrm>
            <a:off x="6089904" y="1746504"/>
            <a:ext cx="11703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onsolas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f=12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2" name="Google Shape;1052;g3f601a604c6_0_606"/>
          <p:cNvSpPr/>
          <p:nvPr/>
        </p:nvSpPr>
        <p:spPr>
          <a:xfrm>
            <a:off x="2331720" y="2606040"/>
            <a:ext cx="1170300" cy="676800"/>
          </a:xfrm>
          <a:prstGeom prst="roundRect">
            <a:avLst>
              <a:gd fmla="val 10811" name="adj"/>
            </a:avLst>
          </a:prstGeom>
          <a:solidFill>
            <a:srgbClr val="D7DEE8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3" name="Google Shape;1053;g3f601a604c6_0_606"/>
          <p:cNvSpPr/>
          <p:nvPr/>
        </p:nvSpPr>
        <p:spPr>
          <a:xfrm>
            <a:off x="2331720" y="2633472"/>
            <a:ext cx="11703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E7A8A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6E7A8A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4" name="Google Shape;1054;g3f601a604c6_0_606"/>
          <p:cNvSpPr/>
          <p:nvPr/>
        </p:nvSpPr>
        <p:spPr>
          <a:xfrm>
            <a:off x="2331720" y="2935224"/>
            <a:ext cx="11703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E7A8A"/>
              </a:buClr>
              <a:buSzPts val="1200"/>
              <a:buFont typeface="Consolas"/>
              <a:buNone/>
            </a:pPr>
            <a:r>
              <a:rPr b="1" i="0" lang="en-US" sz="1200" u="none" cap="none" strike="noStrike">
                <a:solidFill>
                  <a:srgbClr val="6E7A8A"/>
                </a:solidFill>
                <a:latin typeface="Consolas"/>
                <a:ea typeface="Consolas"/>
                <a:cs typeface="Consolas"/>
                <a:sym typeface="Consolas"/>
              </a:rPr>
              <a:t>f=15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5" name="Google Shape;1055;g3f601a604c6_0_606"/>
          <p:cNvSpPr/>
          <p:nvPr/>
        </p:nvSpPr>
        <p:spPr>
          <a:xfrm>
            <a:off x="6089904" y="2606040"/>
            <a:ext cx="1170300" cy="676800"/>
          </a:xfrm>
          <a:prstGeom prst="roundRect">
            <a:avLst>
              <a:gd fmla="val 10811" name="adj"/>
            </a:avLst>
          </a:prstGeom>
          <a:solidFill>
            <a:srgbClr val="C0392B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5400000" dist="25400">
              <a:srgbClr val="000000">
                <a:alpha val="219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6" name="Google Shape;1056;g3f601a604c6_0_606"/>
          <p:cNvSpPr/>
          <p:nvPr/>
        </p:nvSpPr>
        <p:spPr>
          <a:xfrm>
            <a:off x="6089904" y="2633472"/>
            <a:ext cx="11703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7" name="Google Shape;1057;g3f601a604c6_0_606"/>
          <p:cNvSpPr/>
          <p:nvPr/>
        </p:nvSpPr>
        <p:spPr>
          <a:xfrm>
            <a:off x="6089904" y="2935224"/>
            <a:ext cx="11703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onsolas"/>
              <a:buNone/>
            </a:pPr>
            <a:r>
              <a:rPr b="0" i="0" lang="en-US" sz="1050" u="none" cap="none" strike="sng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f=14  </a:t>
            </a:r>
            <a:r>
              <a:rPr b="1" i="0" lang="en-US" sz="12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17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8" name="Google Shape;1058;g3f601a604c6_0_606"/>
          <p:cNvSpPr/>
          <p:nvPr/>
        </p:nvSpPr>
        <p:spPr>
          <a:xfrm>
            <a:off x="9829800" y="2606040"/>
            <a:ext cx="1170300" cy="676800"/>
          </a:xfrm>
          <a:prstGeom prst="roundRect">
            <a:avLst>
              <a:gd fmla="val 10811" name="adj"/>
            </a:avLst>
          </a:prstGeom>
          <a:solidFill>
            <a:srgbClr val="12294D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5400000" dist="25400">
              <a:srgbClr val="000000">
                <a:alpha val="219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9" name="Google Shape;1059;g3f601a604c6_0_606"/>
          <p:cNvSpPr/>
          <p:nvPr/>
        </p:nvSpPr>
        <p:spPr>
          <a:xfrm>
            <a:off x="9829800" y="2633472"/>
            <a:ext cx="11703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0" name="Google Shape;1060;g3f601a604c6_0_606"/>
          <p:cNvSpPr/>
          <p:nvPr/>
        </p:nvSpPr>
        <p:spPr>
          <a:xfrm>
            <a:off x="9829800" y="2935224"/>
            <a:ext cx="11703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onsolas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f=17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1" name="Google Shape;1061;g3f601a604c6_0_606"/>
          <p:cNvSpPr/>
          <p:nvPr/>
        </p:nvSpPr>
        <p:spPr>
          <a:xfrm>
            <a:off x="2331720" y="3794760"/>
            <a:ext cx="1170300" cy="676800"/>
          </a:xfrm>
          <a:prstGeom prst="roundRect">
            <a:avLst>
              <a:gd fmla="val 10811" name="adj"/>
            </a:avLst>
          </a:prstGeom>
          <a:solidFill>
            <a:srgbClr val="D7DEE8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2" name="Google Shape;1062;g3f601a604c6_0_606"/>
          <p:cNvSpPr/>
          <p:nvPr/>
        </p:nvSpPr>
        <p:spPr>
          <a:xfrm>
            <a:off x="2331720" y="3822192"/>
            <a:ext cx="11703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E7A8A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6E7A8A"/>
                </a:solidFill>
                <a:latin typeface="Calibri"/>
                <a:ea typeface="Calibri"/>
                <a:cs typeface="Calibri"/>
                <a:sym typeface="Calibri"/>
              </a:rPr>
              <a:t>F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3" name="Google Shape;1063;g3f601a604c6_0_606"/>
          <p:cNvSpPr/>
          <p:nvPr/>
        </p:nvSpPr>
        <p:spPr>
          <a:xfrm>
            <a:off x="2331720" y="4123944"/>
            <a:ext cx="11703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E7A8A"/>
              </a:buClr>
              <a:buSzPts val="1200"/>
              <a:buFont typeface="Consolas"/>
              <a:buNone/>
            </a:pPr>
            <a:r>
              <a:rPr b="1" i="0" lang="en-US" sz="1200" u="none" cap="none" strike="noStrike">
                <a:solidFill>
                  <a:srgbClr val="6E7A8A"/>
                </a:solidFill>
                <a:latin typeface="Consolas"/>
                <a:ea typeface="Consolas"/>
                <a:cs typeface="Consolas"/>
                <a:sym typeface="Consolas"/>
              </a:rPr>
              <a:t>f=15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4" name="Google Shape;1064;g3f601a604c6_0_606"/>
          <p:cNvSpPr/>
          <p:nvPr/>
        </p:nvSpPr>
        <p:spPr>
          <a:xfrm>
            <a:off x="4709160" y="3794760"/>
            <a:ext cx="1170300" cy="676800"/>
          </a:xfrm>
          <a:prstGeom prst="roundRect">
            <a:avLst>
              <a:gd fmla="val 10811" name="adj"/>
            </a:avLst>
          </a:prstGeom>
          <a:solidFill>
            <a:srgbClr val="C0392B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5400000" dist="25400">
              <a:srgbClr val="000000">
                <a:alpha val="219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5" name="Google Shape;1065;g3f601a604c6_0_606"/>
          <p:cNvSpPr/>
          <p:nvPr/>
        </p:nvSpPr>
        <p:spPr>
          <a:xfrm>
            <a:off x="4709160" y="3822192"/>
            <a:ext cx="11703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6" name="Google Shape;1066;g3f601a604c6_0_606"/>
          <p:cNvSpPr/>
          <p:nvPr/>
        </p:nvSpPr>
        <p:spPr>
          <a:xfrm>
            <a:off x="4709160" y="4123944"/>
            <a:ext cx="11703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onsolas"/>
              <a:buNone/>
            </a:pPr>
            <a:r>
              <a:rPr b="0" i="0" lang="en-US" sz="1050" u="none" cap="none" strike="sng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f=15  </a:t>
            </a:r>
            <a:r>
              <a:rPr b="1" i="0" lang="en-US" sz="12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17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7" name="Google Shape;1067;g3f601a604c6_0_606"/>
          <p:cNvSpPr/>
          <p:nvPr/>
        </p:nvSpPr>
        <p:spPr>
          <a:xfrm>
            <a:off x="7452360" y="3794760"/>
            <a:ext cx="1170300" cy="676800"/>
          </a:xfrm>
          <a:prstGeom prst="roundRect">
            <a:avLst>
              <a:gd fmla="val 10811" name="adj"/>
            </a:avLst>
          </a:prstGeom>
          <a:solidFill>
            <a:srgbClr val="D7DEE8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8" name="Google Shape;1068;g3f601a604c6_0_606"/>
          <p:cNvSpPr/>
          <p:nvPr/>
        </p:nvSpPr>
        <p:spPr>
          <a:xfrm>
            <a:off x="7452360" y="3822192"/>
            <a:ext cx="11703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E7A8A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6E7A8A"/>
                </a:solidFill>
                <a:latin typeface="Calibri"/>
                <a:ea typeface="Calibri"/>
                <a:cs typeface="Calibri"/>
                <a:sym typeface="Calibri"/>
              </a:rPr>
              <a:t>F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9" name="Google Shape;1069;g3f601a604c6_0_606"/>
          <p:cNvSpPr/>
          <p:nvPr/>
        </p:nvSpPr>
        <p:spPr>
          <a:xfrm>
            <a:off x="7452360" y="4123944"/>
            <a:ext cx="11703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E7A8A"/>
              </a:buClr>
              <a:buSzPts val="1200"/>
              <a:buFont typeface="Consolas"/>
              <a:buNone/>
            </a:pPr>
            <a:r>
              <a:rPr b="1" i="0" lang="en-US" sz="1200" u="none" cap="none" strike="noStrike">
                <a:solidFill>
                  <a:srgbClr val="6E7A8A"/>
                </a:solidFill>
                <a:latin typeface="Consolas"/>
                <a:ea typeface="Consolas"/>
                <a:cs typeface="Consolas"/>
                <a:sym typeface="Consolas"/>
              </a:rPr>
              <a:t>f=17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0" name="Google Shape;1070;g3f601a604c6_0_606"/>
          <p:cNvSpPr/>
          <p:nvPr/>
        </p:nvSpPr>
        <p:spPr>
          <a:xfrm>
            <a:off x="4709160" y="4983480"/>
            <a:ext cx="1170300" cy="676800"/>
          </a:xfrm>
          <a:prstGeom prst="roundRect">
            <a:avLst>
              <a:gd fmla="val 10811" name="adj"/>
            </a:avLst>
          </a:prstGeom>
          <a:solidFill>
            <a:srgbClr val="C0392B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5400000" dist="25400">
              <a:srgbClr val="000000">
                <a:alpha val="219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1" name="Google Shape;1071;g3f601a604c6_0_606"/>
          <p:cNvSpPr/>
          <p:nvPr/>
        </p:nvSpPr>
        <p:spPr>
          <a:xfrm>
            <a:off x="4709160" y="5010912"/>
            <a:ext cx="11703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2" name="Google Shape;1072;g3f601a604c6_0_606"/>
          <p:cNvSpPr/>
          <p:nvPr/>
        </p:nvSpPr>
        <p:spPr>
          <a:xfrm>
            <a:off x="4709160" y="5312664"/>
            <a:ext cx="11703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onsolas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f=17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3" name="Google Shape;1073;g3f601a604c6_0_606"/>
          <p:cNvSpPr/>
          <p:nvPr/>
        </p:nvSpPr>
        <p:spPr>
          <a:xfrm>
            <a:off x="457200" y="5779008"/>
            <a:ext cx="11274600" cy="896100"/>
          </a:xfrm>
          <a:prstGeom prst="roundRect">
            <a:avLst>
              <a:gd fmla="val 8163" name="adj"/>
            </a:avLst>
          </a:prstGeom>
          <a:solidFill>
            <a:srgbClr val="1B3B6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4" name="Google Shape;1074;g3f601a604c6_0_606"/>
          <p:cNvSpPr/>
          <p:nvPr/>
        </p:nvSpPr>
        <p:spPr>
          <a:xfrm>
            <a:off x="685800" y="5779008"/>
            <a:ext cx="10881300" cy="89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E's child G has f = max(13+4, 15) = 17, over the limit — E backs up to 17. Now both of C's children (E=17, F=17) exceed f_limit(15), so C itself fails and updates to 17.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79" name="Shape 10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0" name="Google Shape;1080;g3f601a604c6_0_655"/>
          <p:cNvSpPr/>
          <p:nvPr/>
        </p:nvSpPr>
        <p:spPr>
          <a:xfrm>
            <a:off x="0" y="0"/>
            <a:ext cx="12189000" cy="868800"/>
          </a:xfrm>
          <a:prstGeom prst="rect">
            <a:avLst/>
          </a:prstGeom>
          <a:solidFill>
            <a:srgbClr val="1B3B6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1" name="Google Shape;1081;g3f601a604c6_0_655"/>
          <p:cNvSpPr/>
          <p:nvPr/>
        </p:nvSpPr>
        <p:spPr>
          <a:xfrm>
            <a:off x="457200" y="237744"/>
            <a:ext cx="384000" cy="384000"/>
          </a:xfrm>
          <a:prstGeom prst="ellipse">
            <a:avLst/>
          </a:prstGeom>
          <a:solidFill>
            <a:srgbClr val="FF7A3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2" name="Google Shape;1082;g3f601a604c6_0_655"/>
          <p:cNvSpPr/>
          <p:nvPr/>
        </p:nvSpPr>
        <p:spPr>
          <a:xfrm>
            <a:off x="457200" y="237744"/>
            <a:ext cx="3840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3" name="Google Shape;1083;g3f601a604c6_0_655"/>
          <p:cNvSpPr/>
          <p:nvPr/>
        </p:nvSpPr>
        <p:spPr>
          <a:xfrm>
            <a:off x="960120" y="118872"/>
            <a:ext cx="106071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Cambria"/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Back to D → F → G — Goal Reached!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4" name="Google Shape;1084;g3f601a604c6_0_655"/>
          <p:cNvSpPr/>
          <p:nvPr/>
        </p:nvSpPr>
        <p:spPr>
          <a:xfrm>
            <a:off x="457200" y="932688"/>
            <a:ext cx="1938600" cy="329100"/>
          </a:xfrm>
          <a:prstGeom prst="roundRect">
            <a:avLst>
              <a:gd fmla="val 16667" name="adj"/>
            </a:avLst>
          </a:prstGeom>
          <a:solidFill>
            <a:srgbClr val="EAF2FB"/>
          </a:solidFill>
          <a:ln cap="flat" cmpd="sng" w="9525">
            <a:solidFill>
              <a:srgbClr val="D7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5" name="Google Shape;1085;g3f601a604c6_0_655"/>
          <p:cNvSpPr/>
          <p:nvPr/>
        </p:nvSpPr>
        <p:spPr>
          <a:xfrm>
            <a:off x="457200" y="932688"/>
            <a:ext cx="19386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Best: </a:t>
            </a:r>
            <a:r>
              <a:rPr b="0" i="0" lang="en-US" sz="1200" u="none" cap="none" strike="noStrike">
                <a:solidFill>
                  <a:srgbClr val="1B2430"/>
                </a:solidFill>
                <a:latin typeface="Consolas"/>
                <a:ea typeface="Consolas"/>
                <a:cs typeface="Consolas"/>
                <a:sym typeface="Consolas"/>
              </a:rPr>
              <a:t>D (f=15)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6" name="Google Shape;1086;g3f601a604c6_0_655"/>
          <p:cNvSpPr/>
          <p:nvPr/>
        </p:nvSpPr>
        <p:spPr>
          <a:xfrm>
            <a:off x="2578608" y="932688"/>
            <a:ext cx="1819800" cy="329100"/>
          </a:xfrm>
          <a:prstGeom prst="roundRect">
            <a:avLst>
              <a:gd fmla="val 16667" name="adj"/>
            </a:avLst>
          </a:prstGeom>
          <a:solidFill>
            <a:srgbClr val="EAF2FB"/>
          </a:solidFill>
          <a:ln cap="flat" cmpd="sng" w="9525">
            <a:solidFill>
              <a:srgbClr val="D7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7" name="Google Shape;1087;g3f601a604c6_0_655"/>
          <p:cNvSpPr/>
          <p:nvPr/>
        </p:nvSpPr>
        <p:spPr>
          <a:xfrm>
            <a:off x="2578608" y="932688"/>
            <a:ext cx="18198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0000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8B0000"/>
                </a:solidFill>
                <a:latin typeface="Calibri"/>
                <a:ea typeface="Calibri"/>
                <a:cs typeface="Calibri"/>
                <a:sym typeface="Calibri"/>
              </a:rPr>
              <a:t>Alt: </a:t>
            </a:r>
            <a:r>
              <a:rPr b="0" i="0" lang="en-US" sz="1200" u="none" cap="none" strike="noStrike">
                <a:solidFill>
                  <a:srgbClr val="1B2430"/>
                </a:solidFill>
                <a:latin typeface="Consolas"/>
                <a:ea typeface="Consolas"/>
                <a:cs typeface="Consolas"/>
                <a:sym typeface="Consolas"/>
              </a:rPr>
              <a:t>C (f=17)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8" name="Google Shape;1088;g3f601a604c6_0_655"/>
          <p:cNvSpPr/>
          <p:nvPr/>
        </p:nvSpPr>
        <p:spPr>
          <a:xfrm>
            <a:off x="4581144" y="932688"/>
            <a:ext cx="1581900" cy="329100"/>
          </a:xfrm>
          <a:prstGeom prst="roundRect">
            <a:avLst>
              <a:gd fmla="val 16667" name="adj"/>
            </a:avLst>
          </a:prstGeom>
          <a:solidFill>
            <a:srgbClr val="EAF2FB"/>
          </a:solidFill>
          <a:ln cap="flat" cmpd="sng" w="9525">
            <a:solidFill>
              <a:srgbClr val="D7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9" name="Google Shape;1089;g3f601a604c6_0_655"/>
          <p:cNvSpPr/>
          <p:nvPr/>
        </p:nvSpPr>
        <p:spPr>
          <a:xfrm>
            <a:off x="4581144" y="932688"/>
            <a:ext cx="15819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75B6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2E75B6"/>
                </a:solidFill>
                <a:latin typeface="Calibri"/>
                <a:ea typeface="Calibri"/>
                <a:cs typeface="Calibri"/>
                <a:sym typeface="Calibri"/>
              </a:rPr>
              <a:t>f_limit: </a:t>
            </a:r>
            <a:r>
              <a:rPr b="0" i="0" lang="en-US" sz="1200" u="none" cap="none" strike="noStrike">
                <a:solidFill>
                  <a:srgbClr val="1B2430"/>
                </a:solidFill>
                <a:latin typeface="Consolas"/>
                <a:ea typeface="Consolas"/>
                <a:cs typeface="Consolas"/>
                <a:sym typeface="Consolas"/>
              </a:rPr>
              <a:t>17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0" name="Google Shape;1090;g3f601a604c6_0_655"/>
          <p:cNvSpPr/>
          <p:nvPr/>
        </p:nvSpPr>
        <p:spPr>
          <a:xfrm>
            <a:off x="6345936" y="932688"/>
            <a:ext cx="5385900" cy="329100"/>
          </a:xfrm>
          <a:prstGeom prst="roundRect">
            <a:avLst>
              <a:gd fmla="val 16667" name="adj"/>
            </a:avLst>
          </a:prstGeom>
          <a:solidFill>
            <a:srgbClr val="2E9E6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1" name="Google Shape;1091;g3f601a604c6_0_655"/>
          <p:cNvSpPr/>
          <p:nvPr/>
        </p:nvSpPr>
        <p:spPr>
          <a:xfrm>
            <a:off x="6345936" y="932688"/>
            <a:ext cx="53859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 is the goal, f=15 ≤ f_limit  →  SUCCESS!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92" name="Google Shape;1092;g3f601a604c6_0_655"/>
          <p:cNvCxnSpPr/>
          <p:nvPr/>
        </p:nvCxnSpPr>
        <p:spPr>
          <a:xfrm flipH="1" rot="10800000">
            <a:off x="2916936" y="2093940"/>
            <a:ext cx="3758100" cy="512100"/>
          </a:xfrm>
          <a:prstGeom prst="straightConnector1">
            <a:avLst/>
          </a:prstGeom>
          <a:noFill/>
          <a:ln cap="flat" cmpd="sng" w="38100">
            <a:solidFill>
              <a:srgbClr val="2E9E6D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93" name="Google Shape;1093;g3f601a604c6_0_655"/>
          <p:cNvCxnSpPr/>
          <p:nvPr/>
        </p:nvCxnSpPr>
        <p:spPr>
          <a:xfrm>
            <a:off x="6675120" y="2093976"/>
            <a:ext cx="9000" cy="512100"/>
          </a:xfrm>
          <a:prstGeom prst="straightConnector1">
            <a:avLst/>
          </a:prstGeom>
          <a:noFill/>
          <a:ln cap="flat" cmpd="sng" w="19050">
            <a:solidFill>
              <a:srgbClr val="D7DEE8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94" name="Google Shape;1094;g3f601a604c6_0_655"/>
          <p:cNvCxnSpPr/>
          <p:nvPr/>
        </p:nvCxnSpPr>
        <p:spPr>
          <a:xfrm>
            <a:off x="6675120" y="2093976"/>
            <a:ext cx="3739800" cy="512100"/>
          </a:xfrm>
          <a:prstGeom prst="straightConnector1">
            <a:avLst/>
          </a:prstGeom>
          <a:noFill/>
          <a:ln cap="flat" cmpd="sng" w="19050">
            <a:solidFill>
              <a:srgbClr val="D7DEE8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95" name="Google Shape;1095;g3f601a604c6_0_655"/>
          <p:cNvCxnSpPr/>
          <p:nvPr/>
        </p:nvCxnSpPr>
        <p:spPr>
          <a:xfrm>
            <a:off x="2916936" y="3282696"/>
            <a:ext cx="9000" cy="512100"/>
          </a:xfrm>
          <a:prstGeom prst="straightConnector1">
            <a:avLst/>
          </a:prstGeom>
          <a:noFill/>
          <a:ln cap="flat" cmpd="sng" w="38100">
            <a:solidFill>
              <a:srgbClr val="2E9E6D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96" name="Google Shape;1096;g3f601a604c6_0_655"/>
          <p:cNvCxnSpPr/>
          <p:nvPr/>
        </p:nvCxnSpPr>
        <p:spPr>
          <a:xfrm flipH="1" rot="10800000">
            <a:off x="5294376" y="3282660"/>
            <a:ext cx="1380600" cy="512100"/>
          </a:xfrm>
          <a:prstGeom prst="straightConnector1">
            <a:avLst/>
          </a:prstGeom>
          <a:noFill/>
          <a:ln cap="flat" cmpd="sng" w="19050">
            <a:solidFill>
              <a:srgbClr val="D7DEE8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97" name="Google Shape;1097;g3f601a604c6_0_655"/>
          <p:cNvCxnSpPr/>
          <p:nvPr/>
        </p:nvCxnSpPr>
        <p:spPr>
          <a:xfrm>
            <a:off x="6675120" y="3282696"/>
            <a:ext cx="1362600" cy="512100"/>
          </a:xfrm>
          <a:prstGeom prst="straightConnector1">
            <a:avLst/>
          </a:prstGeom>
          <a:noFill/>
          <a:ln cap="flat" cmpd="sng" w="19050">
            <a:solidFill>
              <a:srgbClr val="D7DEE8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98" name="Google Shape;1098;g3f601a604c6_0_655"/>
          <p:cNvCxnSpPr/>
          <p:nvPr/>
        </p:nvCxnSpPr>
        <p:spPr>
          <a:xfrm>
            <a:off x="2916936" y="4471416"/>
            <a:ext cx="9000" cy="512100"/>
          </a:xfrm>
          <a:prstGeom prst="straightConnector1">
            <a:avLst/>
          </a:prstGeom>
          <a:noFill/>
          <a:ln cap="flat" cmpd="sng" w="38100">
            <a:solidFill>
              <a:srgbClr val="2E9E6D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99" name="Google Shape;1099;g3f601a604c6_0_655"/>
          <p:cNvCxnSpPr/>
          <p:nvPr/>
        </p:nvCxnSpPr>
        <p:spPr>
          <a:xfrm>
            <a:off x="5294376" y="4471416"/>
            <a:ext cx="9000" cy="512100"/>
          </a:xfrm>
          <a:prstGeom prst="straightConnector1">
            <a:avLst/>
          </a:prstGeom>
          <a:noFill/>
          <a:ln cap="flat" cmpd="sng" w="19050">
            <a:solidFill>
              <a:srgbClr val="D7DEE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00" name="Google Shape;1100;g3f601a604c6_0_655"/>
          <p:cNvSpPr/>
          <p:nvPr/>
        </p:nvSpPr>
        <p:spPr>
          <a:xfrm>
            <a:off x="6089904" y="1417320"/>
            <a:ext cx="1170300" cy="676800"/>
          </a:xfrm>
          <a:prstGeom prst="roundRect">
            <a:avLst>
              <a:gd fmla="val 10811" name="adj"/>
            </a:avLst>
          </a:prstGeom>
          <a:solidFill>
            <a:srgbClr val="12294D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5400000" dist="25400">
              <a:srgbClr val="000000">
                <a:alpha val="219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1" name="Google Shape;1101;g3f601a604c6_0_655"/>
          <p:cNvSpPr/>
          <p:nvPr/>
        </p:nvSpPr>
        <p:spPr>
          <a:xfrm>
            <a:off x="6089904" y="1444752"/>
            <a:ext cx="11703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2" name="Google Shape;1102;g3f601a604c6_0_655"/>
          <p:cNvSpPr/>
          <p:nvPr/>
        </p:nvSpPr>
        <p:spPr>
          <a:xfrm>
            <a:off x="6089904" y="1746504"/>
            <a:ext cx="11703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onsolas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f=12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3" name="Google Shape;1103;g3f601a604c6_0_655"/>
          <p:cNvSpPr/>
          <p:nvPr/>
        </p:nvSpPr>
        <p:spPr>
          <a:xfrm>
            <a:off x="2331720" y="2606040"/>
            <a:ext cx="1170300" cy="676800"/>
          </a:xfrm>
          <a:prstGeom prst="roundRect">
            <a:avLst>
              <a:gd fmla="val 10811" name="adj"/>
            </a:avLst>
          </a:prstGeom>
          <a:solidFill>
            <a:srgbClr val="2E9E6D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5400000" dist="25400">
              <a:srgbClr val="000000">
                <a:alpha val="219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4" name="Google Shape;1104;g3f601a604c6_0_655"/>
          <p:cNvSpPr/>
          <p:nvPr/>
        </p:nvSpPr>
        <p:spPr>
          <a:xfrm>
            <a:off x="2331720" y="2633472"/>
            <a:ext cx="11703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5" name="Google Shape;1105;g3f601a604c6_0_655"/>
          <p:cNvSpPr/>
          <p:nvPr/>
        </p:nvSpPr>
        <p:spPr>
          <a:xfrm>
            <a:off x="2331720" y="2935224"/>
            <a:ext cx="11703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onsolas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f=15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6" name="Google Shape;1106;g3f601a604c6_0_655"/>
          <p:cNvSpPr/>
          <p:nvPr/>
        </p:nvSpPr>
        <p:spPr>
          <a:xfrm>
            <a:off x="6089904" y="2606040"/>
            <a:ext cx="1170300" cy="676800"/>
          </a:xfrm>
          <a:prstGeom prst="roundRect">
            <a:avLst>
              <a:gd fmla="val 10811" name="adj"/>
            </a:avLst>
          </a:prstGeom>
          <a:solidFill>
            <a:srgbClr val="D7DEE8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7" name="Google Shape;1107;g3f601a604c6_0_655"/>
          <p:cNvSpPr/>
          <p:nvPr/>
        </p:nvSpPr>
        <p:spPr>
          <a:xfrm>
            <a:off x="6089904" y="2633472"/>
            <a:ext cx="11703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E7A8A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6E7A8A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8" name="Google Shape;1108;g3f601a604c6_0_655"/>
          <p:cNvSpPr/>
          <p:nvPr/>
        </p:nvSpPr>
        <p:spPr>
          <a:xfrm>
            <a:off x="6089904" y="2935224"/>
            <a:ext cx="11703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E7A8A"/>
              </a:buClr>
              <a:buSzPts val="1200"/>
              <a:buFont typeface="Consolas"/>
              <a:buNone/>
            </a:pPr>
            <a:r>
              <a:rPr b="1" i="0" lang="en-US" sz="1200" u="none" cap="none" strike="noStrike">
                <a:solidFill>
                  <a:srgbClr val="6E7A8A"/>
                </a:solidFill>
                <a:latin typeface="Consolas"/>
                <a:ea typeface="Consolas"/>
                <a:cs typeface="Consolas"/>
                <a:sym typeface="Consolas"/>
              </a:rPr>
              <a:t>f=17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9" name="Google Shape;1109;g3f601a604c6_0_655"/>
          <p:cNvSpPr/>
          <p:nvPr/>
        </p:nvSpPr>
        <p:spPr>
          <a:xfrm>
            <a:off x="9829800" y="2606040"/>
            <a:ext cx="1170300" cy="676800"/>
          </a:xfrm>
          <a:prstGeom prst="roundRect">
            <a:avLst>
              <a:gd fmla="val 10811" name="adj"/>
            </a:avLst>
          </a:prstGeom>
          <a:solidFill>
            <a:srgbClr val="12294D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5400000" dist="25400">
              <a:srgbClr val="000000">
                <a:alpha val="219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0" name="Google Shape;1110;g3f601a604c6_0_655"/>
          <p:cNvSpPr/>
          <p:nvPr/>
        </p:nvSpPr>
        <p:spPr>
          <a:xfrm>
            <a:off x="9829800" y="2633472"/>
            <a:ext cx="11703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1" name="Google Shape;1111;g3f601a604c6_0_655"/>
          <p:cNvSpPr/>
          <p:nvPr/>
        </p:nvSpPr>
        <p:spPr>
          <a:xfrm>
            <a:off x="9829800" y="2935224"/>
            <a:ext cx="11703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onsolas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f=17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2" name="Google Shape;1112;g3f601a604c6_0_655"/>
          <p:cNvSpPr/>
          <p:nvPr/>
        </p:nvSpPr>
        <p:spPr>
          <a:xfrm>
            <a:off x="2331720" y="3794760"/>
            <a:ext cx="1170300" cy="676800"/>
          </a:xfrm>
          <a:prstGeom prst="roundRect">
            <a:avLst>
              <a:gd fmla="val 10811" name="adj"/>
            </a:avLst>
          </a:prstGeom>
          <a:solidFill>
            <a:srgbClr val="2E9E6D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5400000" dist="25400">
              <a:srgbClr val="000000">
                <a:alpha val="219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3" name="Google Shape;1113;g3f601a604c6_0_655"/>
          <p:cNvSpPr/>
          <p:nvPr/>
        </p:nvSpPr>
        <p:spPr>
          <a:xfrm>
            <a:off x="2331720" y="3822192"/>
            <a:ext cx="11703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4" name="Google Shape;1114;g3f601a604c6_0_655"/>
          <p:cNvSpPr/>
          <p:nvPr/>
        </p:nvSpPr>
        <p:spPr>
          <a:xfrm>
            <a:off x="2331720" y="4123944"/>
            <a:ext cx="11703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onsolas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f=15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5" name="Google Shape;1115;g3f601a604c6_0_655"/>
          <p:cNvSpPr/>
          <p:nvPr/>
        </p:nvSpPr>
        <p:spPr>
          <a:xfrm>
            <a:off x="4709160" y="3794760"/>
            <a:ext cx="1170300" cy="676800"/>
          </a:xfrm>
          <a:prstGeom prst="roundRect">
            <a:avLst>
              <a:gd fmla="val 10811" name="adj"/>
            </a:avLst>
          </a:prstGeom>
          <a:solidFill>
            <a:srgbClr val="D7DEE8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6" name="Google Shape;1116;g3f601a604c6_0_655"/>
          <p:cNvSpPr/>
          <p:nvPr/>
        </p:nvSpPr>
        <p:spPr>
          <a:xfrm>
            <a:off x="4709160" y="3822192"/>
            <a:ext cx="11703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E7A8A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6E7A8A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7" name="Google Shape;1117;g3f601a604c6_0_655"/>
          <p:cNvSpPr/>
          <p:nvPr/>
        </p:nvSpPr>
        <p:spPr>
          <a:xfrm>
            <a:off x="4709160" y="4123944"/>
            <a:ext cx="11703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E7A8A"/>
              </a:buClr>
              <a:buSzPts val="1200"/>
              <a:buFont typeface="Consolas"/>
              <a:buNone/>
            </a:pPr>
            <a:r>
              <a:rPr b="1" i="0" lang="en-US" sz="1200" u="none" cap="none" strike="noStrike">
                <a:solidFill>
                  <a:srgbClr val="6E7A8A"/>
                </a:solidFill>
                <a:latin typeface="Consolas"/>
                <a:ea typeface="Consolas"/>
                <a:cs typeface="Consolas"/>
                <a:sym typeface="Consolas"/>
              </a:rPr>
              <a:t>f=17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8" name="Google Shape;1118;g3f601a604c6_0_655"/>
          <p:cNvSpPr/>
          <p:nvPr/>
        </p:nvSpPr>
        <p:spPr>
          <a:xfrm>
            <a:off x="7452360" y="3794760"/>
            <a:ext cx="1170300" cy="676800"/>
          </a:xfrm>
          <a:prstGeom prst="roundRect">
            <a:avLst>
              <a:gd fmla="val 10811" name="adj"/>
            </a:avLst>
          </a:prstGeom>
          <a:solidFill>
            <a:srgbClr val="D7DEE8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9" name="Google Shape;1119;g3f601a604c6_0_655"/>
          <p:cNvSpPr/>
          <p:nvPr/>
        </p:nvSpPr>
        <p:spPr>
          <a:xfrm>
            <a:off x="7452360" y="3822192"/>
            <a:ext cx="11703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E7A8A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6E7A8A"/>
                </a:solidFill>
                <a:latin typeface="Calibri"/>
                <a:ea typeface="Calibri"/>
                <a:cs typeface="Calibri"/>
                <a:sym typeface="Calibri"/>
              </a:rPr>
              <a:t>F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0" name="Google Shape;1120;g3f601a604c6_0_655"/>
          <p:cNvSpPr/>
          <p:nvPr/>
        </p:nvSpPr>
        <p:spPr>
          <a:xfrm>
            <a:off x="7452360" y="4123944"/>
            <a:ext cx="11703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E7A8A"/>
              </a:buClr>
              <a:buSzPts val="1200"/>
              <a:buFont typeface="Consolas"/>
              <a:buNone/>
            </a:pPr>
            <a:r>
              <a:rPr b="1" i="0" lang="en-US" sz="1200" u="none" cap="none" strike="noStrike">
                <a:solidFill>
                  <a:srgbClr val="6E7A8A"/>
                </a:solidFill>
                <a:latin typeface="Consolas"/>
                <a:ea typeface="Consolas"/>
                <a:cs typeface="Consolas"/>
                <a:sym typeface="Consolas"/>
              </a:rPr>
              <a:t>f=17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1" name="Google Shape;1121;g3f601a604c6_0_655"/>
          <p:cNvSpPr/>
          <p:nvPr/>
        </p:nvSpPr>
        <p:spPr>
          <a:xfrm>
            <a:off x="2331720" y="4983480"/>
            <a:ext cx="1170300" cy="676800"/>
          </a:xfrm>
          <a:prstGeom prst="roundRect">
            <a:avLst>
              <a:gd fmla="val 10811" name="adj"/>
            </a:avLst>
          </a:prstGeom>
          <a:solidFill>
            <a:srgbClr val="2E9E6D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5400000" dist="25400">
              <a:srgbClr val="000000">
                <a:alpha val="219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2" name="Google Shape;1122;g3f601a604c6_0_655"/>
          <p:cNvSpPr/>
          <p:nvPr/>
        </p:nvSpPr>
        <p:spPr>
          <a:xfrm>
            <a:off x="2331720" y="5010912"/>
            <a:ext cx="11703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3" name="Google Shape;1123;g3f601a604c6_0_655"/>
          <p:cNvSpPr/>
          <p:nvPr/>
        </p:nvSpPr>
        <p:spPr>
          <a:xfrm>
            <a:off x="2331720" y="5312664"/>
            <a:ext cx="11703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onsolas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f=15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4" name="Google Shape;1124;g3f601a604c6_0_655"/>
          <p:cNvSpPr/>
          <p:nvPr/>
        </p:nvSpPr>
        <p:spPr>
          <a:xfrm>
            <a:off x="4709160" y="4983480"/>
            <a:ext cx="1170300" cy="676800"/>
          </a:xfrm>
          <a:prstGeom prst="roundRect">
            <a:avLst>
              <a:gd fmla="val 10811" name="adj"/>
            </a:avLst>
          </a:prstGeom>
          <a:solidFill>
            <a:srgbClr val="D7DEE8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5" name="Google Shape;1125;g3f601a604c6_0_655"/>
          <p:cNvSpPr/>
          <p:nvPr/>
        </p:nvSpPr>
        <p:spPr>
          <a:xfrm>
            <a:off x="4709160" y="5010912"/>
            <a:ext cx="11703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E7A8A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6E7A8A"/>
                </a:solidFill>
                <a:latin typeface="Calibri"/>
                <a:ea typeface="Calibri"/>
                <a:cs typeface="Calibri"/>
                <a:sym typeface="Calibri"/>
              </a:rPr>
              <a:t>G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6" name="Google Shape;1126;g3f601a604c6_0_655"/>
          <p:cNvSpPr/>
          <p:nvPr/>
        </p:nvSpPr>
        <p:spPr>
          <a:xfrm>
            <a:off x="4709160" y="5312664"/>
            <a:ext cx="11703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E7A8A"/>
              </a:buClr>
              <a:buSzPts val="1200"/>
              <a:buFont typeface="Consolas"/>
              <a:buNone/>
            </a:pPr>
            <a:r>
              <a:rPr b="1" i="0" lang="en-US" sz="1200" u="none" cap="none" strike="noStrike">
                <a:solidFill>
                  <a:srgbClr val="6E7A8A"/>
                </a:solidFill>
                <a:latin typeface="Consolas"/>
                <a:ea typeface="Consolas"/>
                <a:cs typeface="Consolas"/>
                <a:sym typeface="Consolas"/>
              </a:rPr>
              <a:t>f=17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7" name="Google Shape;1127;g3f601a604c6_0_655"/>
          <p:cNvSpPr/>
          <p:nvPr/>
        </p:nvSpPr>
        <p:spPr>
          <a:xfrm>
            <a:off x="457200" y="5779008"/>
            <a:ext cx="11274600" cy="896100"/>
          </a:xfrm>
          <a:prstGeom prst="roundRect">
            <a:avLst>
              <a:gd fmla="val 8163" name="adj"/>
            </a:avLst>
          </a:prstGeom>
          <a:solidFill>
            <a:srgbClr val="1B3B6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8" name="Google Shape;1128;g3f601a604c6_0_655"/>
          <p:cNvSpPr/>
          <p:nvPr/>
        </p:nvSpPr>
        <p:spPr>
          <a:xfrm>
            <a:off x="685800" y="5779008"/>
            <a:ext cx="10881300" cy="89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 (15) beats C (17), so RBFS re-expands D → F (15, already known) → G. G's f = 15 is within the limit (17) and G is the goal — the search succeeds along A → D → F → G.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33" name="Shape 1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4" name="Google Shape;1134;g3f601a604c6_0_708"/>
          <p:cNvSpPr/>
          <p:nvPr/>
        </p:nvSpPr>
        <p:spPr>
          <a:xfrm>
            <a:off x="0" y="0"/>
            <a:ext cx="12189000" cy="868800"/>
          </a:xfrm>
          <a:prstGeom prst="rect">
            <a:avLst/>
          </a:prstGeom>
          <a:solidFill>
            <a:srgbClr val="1B3B6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5" name="Google Shape;1135;g3f601a604c6_0_708"/>
          <p:cNvSpPr/>
          <p:nvPr/>
        </p:nvSpPr>
        <p:spPr>
          <a:xfrm>
            <a:off x="457200" y="118872"/>
            <a:ext cx="106071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Cambria"/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Final Result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6" name="Google Shape;1136;g3f601a604c6_0_708"/>
          <p:cNvSpPr/>
          <p:nvPr/>
        </p:nvSpPr>
        <p:spPr>
          <a:xfrm>
            <a:off x="457200" y="530352"/>
            <a:ext cx="106071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F2FB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EAF2FB"/>
                </a:solidFill>
                <a:latin typeface="Calibri"/>
                <a:ea typeface="Calibri"/>
                <a:cs typeface="Calibri"/>
                <a:sym typeface="Calibri"/>
              </a:rPr>
              <a:t>The complete search tree, and the path RBFS returns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37" name="Google Shape;1137;g3f601a604c6_0_708"/>
          <p:cNvCxnSpPr/>
          <p:nvPr/>
        </p:nvCxnSpPr>
        <p:spPr>
          <a:xfrm flipH="1" rot="10800000">
            <a:off x="2916936" y="2093940"/>
            <a:ext cx="3758100" cy="512100"/>
          </a:xfrm>
          <a:prstGeom prst="straightConnector1">
            <a:avLst/>
          </a:prstGeom>
          <a:noFill/>
          <a:ln cap="flat" cmpd="sng" w="38100">
            <a:solidFill>
              <a:srgbClr val="2E9E6D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38" name="Google Shape;1138;g3f601a604c6_0_708"/>
          <p:cNvCxnSpPr/>
          <p:nvPr/>
        </p:nvCxnSpPr>
        <p:spPr>
          <a:xfrm>
            <a:off x="6675120" y="2093976"/>
            <a:ext cx="9000" cy="512100"/>
          </a:xfrm>
          <a:prstGeom prst="straightConnector1">
            <a:avLst/>
          </a:prstGeom>
          <a:noFill/>
          <a:ln cap="flat" cmpd="sng" w="19050">
            <a:solidFill>
              <a:srgbClr val="D7DEE8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39" name="Google Shape;1139;g3f601a604c6_0_708"/>
          <p:cNvCxnSpPr/>
          <p:nvPr/>
        </p:nvCxnSpPr>
        <p:spPr>
          <a:xfrm>
            <a:off x="6675120" y="2093976"/>
            <a:ext cx="3739800" cy="512100"/>
          </a:xfrm>
          <a:prstGeom prst="straightConnector1">
            <a:avLst/>
          </a:prstGeom>
          <a:noFill/>
          <a:ln cap="flat" cmpd="sng" w="19050">
            <a:solidFill>
              <a:srgbClr val="D7DEE8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40" name="Google Shape;1140;g3f601a604c6_0_708"/>
          <p:cNvCxnSpPr/>
          <p:nvPr/>
        </p:nvCxnSpPr>
        <p:spPr>
          <a:xfrm>
            <a:off x="2916936" y="3282696"/>
            <a:ext cx="9000" cy="512100"/>
          </a:xfrm>
          <a:prstGeom prst="straightConnector1">
            <a:avLst/>
          </a:prstGeom>
          <a:noFill/>
          <a:ln cap="flat" cmpd="sng" w="38100">
            <a:solidFill>
              <a:srgbClr val="2E9E6D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41" name="Google Shape;1141;g3f601a604c6_0_708"/>
          <p:cNvCxnSpPr/>
          <p:nvPr/>
        </p:nvCxnSpPr>
        <p:spPr>
          <a:xfrm flipH="1" rot="10800000">
            <a:off x="5294376" y="3282660"/>
            <a:ext cx="1380600" cy="512100"/>
          </a:xfrm>
          <a:prstGeom prst="straightConnector1">
            <a:avLst/>
          </a:prstGeom>
          <a:noFill/>
          <a:ln cap="flat" cmpd="sng" w="19050">
            <a:solidFill>
              <a:srgbClr val="D7DEE8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42" name="Google Shape;1142;g3f601a604c6_0_708"/>
          <p:cNvCxnSpPr/>
          <p:nvPr/>
        </p:nvCxnSpPr>
        <p:spPr>
          <a:xfrm>
            <a:off x="6675120" y="3282696"/>
            <a:ext cx="1362600" cy="512100"/>
          </a:xfrm>
          <a:prstGeom prst="straightConnector1">
            <a:avLst/>
          </a:prstGeom>
          <a:noFill/>
          <a:ln cap="flat" cmpd="sng" w="19050">
            <a:solidFill>
              <a:srgbClr val="D7DEE8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43" name="Google Shape;1143;g3f601a604c6_0_708"/>
          <p:cNvCxnSpPr/>
          <p:nvPr/>
        </p:nvCxnSpPr>
        <p:spPr>
          <a:xfrm>
            <a:off x="2916936" y="4471416"/>
            <a:ext cx="9000" cy="512100"/>
          </a:xfrm>
          <a:prstGeom prst="straightConnector1">
            <a:avLst/>
          </a:prstGeom>
          <a:noFill/>
          <a:ln cap="flat" cmpd="sng" w="38100">
            <a:solidFill>
              <a:srgbClr val="2E9E6D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44" name="Google Shape;1144;g3f601a604c6_0_708"/>
          <p:cNvCxnSpPr/>
          <p:nvPr/>
        </p:nvCxnSpPr>
        <p:spPr>
          <a:xfrm>
            <a:off x="5294376" y="4471416"/>
            <a:ext cx="9000" cy="512100"/>
          </a:xfrm>
          <a:prstGeom prst="straightConnector1">
            <a:avLst/>
          </a:prstGeom>
          <a:noFill/>
          <a:ln cap="flat" cmpd="sng" w="19050">
            <a:solidFill>
              <a:srgbClr val="D7DEE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45" name="Google Shape;1145;g3f601a604c6_0_708"/>
          <p:cNvSpPr/>
          <p:nvPr/>
        </p:nvSpPr>
        <p:spPr>
          <a:xfrm>
            <a:off x="6089904" y="1417320"/>
            <a:ext cx="1170300" cy="676800"/>
          </a:xfrm>
          <a:prstGeom prst="roundRect">
            <a:avLst>
              <a:gd fmla="val 10811" name="adj"/>
            </a:avLst>
          </a:prstGeom>
          <a:solidFill>
            <a:srgbClr val="12294D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5400000" dist="25400">
              <a:srgbClr val="000000">
                <a:alpha val="219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6" name="Google Shape;1146;g3f601a604c6_0_708"/>
          <p:cNvSpPr/>
          <p:nvPr/>
        </p:nvSpPr>
        <p:spPr>
          <a:xfrm>
            <a:off x="6089904" y="1444752"/>
            <a:ext cx="11703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7" name="Google Shape;1147;g3f601a604c6_0_708"/>
          <p:cNvSpPr/>
          <p:nvPr/>
        </p:nvSpPr>
        <p:spPr>
          <a:xfrm>
            <a:off x="6089904" y="1746504"/>
            <a:ext cx="11703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onsolas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f=12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8" name="Google Shape;1148;g3f601a604c6_0_708"/>
          <p:cNvSpPr/>
          <p:nvPr/>
        </p:nvSpPr>
        <p:spPr>
          <a:xfrm>
            <a:off x="2331720" y="2606040"/>
            <a:ext cx="1170300" cy="676800"/>
          </a:xfrm>
          <a:prstGeom prst="roundRect">
            <a:avLst>
              <a:gd fmla="val 10811" name="adj"/>
            </a:avLst>
          </a:prstGeom>
          <a:solidFill>
            <a:srgbClr val="2E9E6D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5400000" dist="25400">
              <a:srgbClr val="000000">
                <a:alpha val="219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9" name="Google Shape;1149;g3f601a604c6_0_708"/>
          <p:cNvSpPr/>
          <p:nvPr/>
        </p:nvSpPr>
        <p:spPr>
          <a:xfrm>
            <a:off x="2331720" y="2633472"/>
            <a:ext cx="11703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0" name="Google Shape;1150;g3f601a604c6_0_708"/>
          <p:cNvSpPr/>
          <p:nvPr/>
        </p:nvSpPr>
        <p:spPr>
          <a:xfrm>
            <a:off x="2331720" y="2935224"/>
            <a:ext cx="11703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onsolas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f=15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1" name="Google Shape;1151;g3f601a604c6_0_708"/>
          <p:cNvSpPr/>
          <p:nvPr/>
        </p:nvSpPr>
        <p:spPr>
          <a:xfrm>
            <a:off x="6089904" y="2606040"/>
            <a:ext cx="1170300" cy="676800"/>
          </a:xfrm>
          <a:prstGeom prst="roundRect">
            <a:avLst>
              <a:gd fmla="val 10811" name="adj"/>
            </a:avLst>
          </a:prstGeom>
          <a:solidFill>
            <a:srgbClr val="D7DEE8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2" name="Google Shape;1152;g3f601a604c6_0_708"/>
          <p:cNvSpPr/>
          <p:nvPr/>
        </p:nvSpPr>
        <p:spPr>
          <a:xfrm>
            <a:off x="6089904" y="2633472"/>
            <a:ext cx="11703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E7A8A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6E7A8A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3" name="Google Shape;1153;g3f601a604c6_0_708"/>
          <p:cNvSpPr/>
          <p:nvPr/>
        </p:nvSpPr>
        <p:spPr>
          <a:xfrm>
            <a:off x="6089904" y="2935224"/>
            <a:ext cx="11703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E7A8A"/>
              </a:buClr>
              <a:buSzPts val="1200"/>
              <a:buFont typeface="Consolas"/>
              <a:buNone/>
            </a:pPr>
            <a:r>
              <a:rPr b="1" i="0" lang="en-US" sz="1200" u="none" cap="none" strike="noStrike">
                <a:solidFill>
                  <a:srgbClr val="6E7A8A"/>
                </a:solidFill>
                <a:latin typeface="Consolas"/>
                <a:ea typeface="Consolas"/>
                <a:cs typeface="Consolas"/>
                <a:sym typeface="Consolas"/>
              </a:rPr>
              <a:t>f=17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4" name="Google Shape;1154;g3f601a604c6_0_708"/>
          <p:cNvSpPr/>
          <p:nvPr/>
        </p:nvSpPr>
        <p:spPr>
          <a:xfrm>
            <a:off x="9829800" y="2606040"/>
            <a:ext cx="1170300" cy="676800"/>
          </a:xfrm>
          <a:prstGeom prst="roundRect">
            <a:avLst>
              <a:gd fmla="val 10811" name="adj"/>
            </a:avLst>
          </a:prstGeom>
          <a:solidFill>
            <a:srgbClr val="D7DEE8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5" name="Google Shape;1155;g3f601a604c6_0_708"/>
          <p:cNvSpPr/>
          <p:nvPr/>
        </p:nvSpPr>
        <p:spPr>
          <a:xfrm>
            <a:off x="9829800" y="2633472"/>
            <a:ext cx="11703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E7A8A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6E7A8A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6" name="Google Shape;1156;g3f601a604c6_0_708"/>
          <p:cNvSpPr/>
          <p:nvPr/>
        </p:nvSpPr>
        <p:spPr>
          <a:xfrm>
            <a:off x="9829800" y="2935224"/>
            <a:ext cx="11703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E7A8A"/>
              </a:buClr>
              <a:buSzPts val="1200"/>
              <a:buFont typeface="Consolas"/>
              <a:buNone/>
            </a:pPr>
            <a:r>
              <a:rPr b="1" i="0" lang="en-US" sz="1200" u="none" cap="none" strike="noStrike">
                <a:solidFill>
                  <a:srgbClr val="6E7A8A"/>
                </a:solidFill>
                <a:latin typeface="Consolas"/>
                <a:ea typeface="Consolas"/>
                <a:cs typeface="Consolas"/>
                <a:sym typeface="Consolas"/>
              </a:rPr>
              <a:t>f=17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7" name="Google Shape;1157;g3f601a604c6_0_708"/>
          <p:cNvSpPr/>
          <p:nvPr/>
        </p:nvSpPr>
        <p:spPr>
          <a:xfrm>
            <a:off x="2331720" y="3794760"/>
            <a:ext cx="1170300" cy="676800"/>
          </a:xfrm>
          <a:prstGeom prst="roundRect">
            <a:avLst>
              <a:gd fmla="val 10811" name="adj"/>
            </a:avLst>
          </a:prstGeom>
          <a:solidFill>
            <a:srgbClr val="2E9E6D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5400000" dist="25400">
              <a:srgbClr val="000000">
                <a:alpha val="219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8" name="Google Shape;1158;g3f601a604c6_0_708"/>
          <p:cNvSpPr/>
          <p:nvPr/>
        </p:nvSpPr>
        <p:spPr>
          <a:xfrm>
            <a:off x="2331720" y="3822192"/>
            <a:ext cx="11703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9" name="Google Shape;1159;g3f601a604c6_0_708"/>
          <p:cNvSpPr/>
          <p:nvPr/>
        </p:nvSpPr>
        <p:spPr>
          <a:xfrm>
            <a:off x="2331720" y="4123944"/>
            <a:ext cx="11703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onsolas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f=15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0" name="Google Shape;1160;g3f601a604c6_0_708"/>
          <p:cNvSpPr/>
          <p:nvPr/>
        </p:nvSpPr>
        <p:spPr>
          <a:xfrm>
            <a:off x="4709160" y="3794760"/>
            <a:ext cx="1170300" cy="676800"/>
          </a:xfrm>
          <a:prstGeom prst="roundRect">
            <a:avLst>
              <a:gd fmla="val 10811" name="adj"/>
            </a:avLst>
          </a:prstGeom>
          <a:solidFill>
            <a:srgbClr val="D7DEE8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1" name="Google Shape;1161;g3f601a604c6_0_708"/>
          <p:cNvSpPr/>
          <p:nvPr/>
        </p:nvSpPr>
        <p:spPr>
          <a:xfrm>
            <a:off x="4709160" y="3822192"/>
            <a:ext cx="11703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E7A8A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6E7A8A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2" name="Google Shape;1162;g3f601a604c6_0_708"/>
          <p:cNvSpPr/>
          <p:nvPr/>
        </p:nvSpPr>
        <p:spPr>
          <a:xfrm>
            <a:off x="4709160" y="4123944"/>
            <a:ext cx="11703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E7A8A"/>
              </a:buClr>
              <a:buSzPts val="1200"/>
              <a:buFont typeface="Consolas"/>
              <a:buNone/>
            </a:pPr>
            <a:r>
              <a:rPr b="1" i="0" lang="en-US" sz="1200" u="none" cap="none" strike="noStrike">
                <a:solidFill>
                  <a:srgbClr val="6E7A8A"/>
                </a:solidFill>
                <a:latin typeface="Consolas"/>
                <a:ea typeface="Consolas"/>
                <a:cs typeface="Consolas"/>
                <a:sym typeface="Consolas"/>
              </a:rPr>
              <a:t>f=17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3" name="Google Shape;1163;g3f601a604c6_0_708"/>
          <p:cNvSpPr/>
          <p:nvPr/>
        </p:nvSpPr>
        <p:spPr>
          <a:xfrm>
            <a:off x="7452360" y="3794760"/>
            <a:ext cx="1170300" cy="676800"/>
          </a:xfrm>
          <a:prstGeom prst="roundRect">
            <a:avLst>
              <a:gd fmla="val 10811" name="adj"/>
            </a:avLst>
          </a:prstGeom>
          <a:solidFill>
            <a:srgbClr val="D7DEE8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4" name="Google Shape;1164;g3f601a604c6_0_708"/>
          <p:cNvSpPr/>
          <p:nvPr/>
        </p:nvSpPr>
        <p:spPr>
          <a:xfrm>
            <a:off x="7452360" y="3822192"/>
            <a:ext cx="11703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E7A8A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6E7A8A"/>
                </a:solidFill>
                <a:latin typeface="Calibri"/>
                <a:ea typeface="Calibri"/>
                <a:cs typeface="Calibri"/>
                <a:sym typeface="Calibri"/>
              </a:rPr>
              <a:t>F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5" name="Google Shape;1165;g3f601a604c6_0_708"/>
          <p:cNvSpPr/>
          <p:nvPr/>
        </p:nvSpPr>
        <p:spPr>
          <a:xfrm>
            <a:off x="7452360" y="4123944"/>
            <a:ext cx="11703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E7A8A"/>
              </a:buClr>
              <a:buSzPts val="1200"/>
              <a:buFont typeface="Consolas"/>
              <a:buNone/>
            </a:pPr>
            <a:r>
              <a:rPr b="1" i="0" lang="en-US" sz="1200" u="none" cap="none" strike="noStrike">
                <a:solidFill>
                  <a:srgbClr val="6E7A8A"/>
                </a:solidFill>
                <a:latin typeface="Consolas"/>
                <a:ea typeface="Consolas"/>
                <a:cs typeface="Consolas"/>
                <a:sym typeface="Consolas"/>
              </a:rPr>
              <a:t>f=17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6" name="Google Shape;1166;g3f601a604c6_0_708"/>
          <p:cNvSpPr/>
          <p:nvPr/>
        </p:nvSpPr>
        <p:spPr>
          <a:xfrm>
            <a:off x="2331720" y="4983480"/>
            <a:ext cx="1170300" cy="676800"/>
          </a:xfrm>
          <a:prstGeom prst="roundRect">
            <a:avLst>
              <a:gd fmla="val 10811" name="adj"/>
            </a:avLst>
          </a:prstGeom>
          <a:solidFill>
            <a:srgbClr val="2E9E6D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5400000" dist="25400">
              <a:srgbClr val="000000">
                <a:alpha val="219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7" name="Google Shape;1167;g3f601a604c6_0_708"/>
          <p:cNvSpPr/>
          <p:nvPr/>
        </p:nvSpPr>
        <p:spPr>
          <a:xfrm>
            <a:off x="2331720" y="5010912"/>
            <a:ext cx="11703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8" name="Google Shape;1168;g3f601a604c6_0_708"/>
          <p:cNvSpPr/>
          <p:nvPr/>
        </p:nvSpPr>
        <p:spPr>
          <a:xfrm>
            <a:off x="2331720" y="5312664"/>
            <a:ext cx="11703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onsolas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f=15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9" name="Google Shape;1169;g3f601a604c6_0_708"/>
          <p:cNvSpPr/>
          <p:nvPr/>
        </p:nvSpPr>
        <p:spPr>
          <a:xfrm>
            <a:off x="4709160" y="4983480"/>
            <a:ext cx="1170300" cy="676800"/>
          </a:xfrm>
          <a:prstGeom prst="roundRect">
            <a:avLst>
              <a:gd fmla="val 10811" name="adj"/>
            </a:avLst>
          </a:prstGeom>
          <a:solidFill>
            <a:srgbClr val="D7DEE8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0" name="Google Shape;1170;g3f601a604c6_0_708"/>
          <p:cNvSpPr/>
          <p:nvPr/>
        </p:nvSpPr>
        <p:spPr>
          <a:xfrm>
            <a:off x="4709160" y="5010912"/>
            <a:ext cx="11703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E7A8A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6E7A8A"/>
                </a:solidFill>
                <a:latin typeface="Calibri"/>
                <a:ea typeface="Calibri"/>
                <a:cs typeface="Calibri"/>
                <a:sym typeface="Calibri"/>
              </a:rPr>
              <a:t>G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1" name="Google Shape;1171;g3f601a604c6_0_708"/>
          <p:cNvSpPr/>
          <p:nvPr/>
        </p:nvSpPr>
        <p:spPr>
          <a:xfrm>
            <a:off x="4709160" y="5312664"/>
            <a:ext cx="11703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E7A8A"/>
              </a:buClr>
              <a:buSzPts val="1200"/>
              <a:buFont typeface="Consolas"/>
              <a:buNone/>
            </a:pPr>
            <a:r>
              <a:rPr b="1" i="0" lang="en-US" sz="1200" u="none" cap="none" strike="noStrike">
                <a:solidFill>
                  <a:srgbClr val="6E7A8A"/>
                </a:solidFill>
                <a:latin typeface="Consolas"/>
                <a:ea typeface="Consolas"/>
                <a:cs typeface="Consolas"/>
                <a:sym typeface="Consolas"/>
              </a:rPr>
              <a:t>f=17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2" name="Google Shape;1172;g3f601a604c6_0_708"/>
          <p:cNvSpPr/>
          <p:nvPr/>
        </p:nvSpPr>
        <p:spPr>
          <a:xfrm>
            <a:off x="457200" y="6035040"/>
            <a:ext cx="11274600" cy="713100"/>
          </a:xfrm>
          <a:prstGeom prst="roundRect">
            <a:avLst>
              <a:gd fmla="val 11538" name="adj"/>
            </a:avLst>
          </a:prstGeom>
          <a:solidFill>
            <a:srgbClr val="1B3B6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3" name="Google Shape;1173;g3f601a604c6_0_708"/>
          <p:cNvSpPr/>
          <p:nvPr/>
        </p:nvSpPr>
        <p:spPr>
          <a:xfrm>
            <a:off x="731520" y="6035040"/>
            <a:ext cx="10789800" cy="71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F2FB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EAF2FB"/>
                </a:solidFill>
                <a:latin typeface="Calibri"/>
                <a:ea typeface="Calibri"/>
                <a:cs typeface="Calibri"/>
                <a:sym typeface="Calibri"/>
              </a:rPr>
              <a:t>Path:  </a:t>
            </a:r>
            <a:r>
              <a:rPr b="1" i="0" lang="en-US" sz="1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 → D → F → G   </a:t>
            </a:r>
            <a:r>
              <a:rPr b="1" i="0" lang="en-US" sz="1500" u="none" cap="none" strike="noStrike">
                <a:solidFill>
                  <a:srgbClr val="EAF2FB"/>
                </a:solidFill>
                <a:latin typeface="Calibri"/>
                <a:ea typeface="Calibri"/>
                <a:cs typeface="Calibri"/>
                <a:sym typeface="Calibri"/>
              </a:rPr>
              <a:t>Cost:  </a:t>
            </a:r>
            <a:r>
              <a:rPr b="1" i="0" lang="en-US" sz="1700" u="none" cap="none" strike="noStrike">
                <a:solidFill>
                  <a:srgbClr val="2E9E6D"/>
                </a:solidFill>
                <a:latin typeface="Calibri"/>
                <a:ea typeface="Calibri"/>
                <a:cs typeface="Calibri"/>
                <a:sym typeface="Calibri"/>
              </a:rPr>
              <a:t>5 + 4 + 6 = 15   </a:t>
            </a:r>
            <a:r>
              <a:rPr b="0" i="1" lang="en-US" sz="1150" u="none" cap="none" strike="noStrike">
                <a:solidFill>
                  <a:srgbClr val="EAF2FB"/>
                </a:solidFill>
                <a:latin typeface="Calibri"/>
                <a:ea typeface="Calibri"/>
                <a:cs typeface="Calibri"/>
                <a:sym typeface="Calibri"/>
              </a:rPr>
              <a:t>(optimal — cheaper than A-C-E-G = 17 and A-B-E-G = 16)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dan-berkeley-nlp-v1">
  <a:themeElements>
    <a:clrScheme name="dan-berkeley-nlp-v1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dan-berkeley-nlp-v1">
  <a:themeElements>
    <a:clrScheme name="dan-berkeley-nlp-v1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2004-08-27T04:16:05Z</dcterms:created>
  <dc:creator>Preferred Customer</dc:creator>
</cp:coreProperties>
</file>