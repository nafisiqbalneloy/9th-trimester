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League Spartan" panose="020B0604020202020204" charset="0"/>
      <p:regular r:id="rId21"/>
    </p:embeddedFont>
    <p:embeddedFont>
      <p:font typeface="Libre Baskerville" panose="02000000000000000000" pitchFamily="2" charset="0"/>
      <p:regular r:id="rId22"/>
      <p:bold r:id="rId23"/>
    </p:embeddedFont>
    <p:embeddedFont>
      <p:font typeface="Libre Baskerville Bold" panose="02000000000000000000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8183">
            <a:off x="2673830" y="1738084"/>
            <a:ext cx="13022451" cy="4403956"/>
          </a:xfrm>
          <a:custGeom>
            <a:avLst/>
            <a:gdLst/>
            <a:ahLst/>
            <a:cxnLst/>
            <a:rect l="l" t="t" r="r" b="b"/>
            <a:pathLst>
              <a:path w="13022451" h="4403956">
                <a:moveTo>
                  <a:pt x="0" y="0"/>
                </a:moveTo>
                <a:lnTo>
                  <a:pt x="13022450" y="0"/>
                </a:lnTo>
                <a:lnTo>
                  <a:pt x="13022450" y="4403956"/>
                </a:lnTo>
                <a:lnTo>
                  <a:pt x="0" y="44039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72029" y="7647349"/>
            <a:ext cx="10152504" cy="2639651"/>
          </a:xfrm>
          <a:custGeom>
            <a:avLst/>
            <a:gdLst/>
            <a:ahLst/>
            <a:cxnLst/>
            <a:rect l="l" t="t" r="r" b="b"/>
            <a:pathLst>
              <a:path w="10152504" h="2639651">
                <a:moveTo>
                  <a:pt x="0" y="0"/>
                </a:moveTo>
                <a:lnTo>
                  <a:pt x="10152504" y="0"/>
                </a:lnTo>
                <a:lnTo>
                  <a:pt x="10152504" y="2639651"/>
                </a:lnTo>
                <a:lnTo>
                  <a:pt x="0" y="26396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76293" y="2122669"/>
            <a:ext cx="12298420" cy="319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Capitalization &amp; Punctuation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640986" y="8180533"/>
            <a:ext cx="10461427" cy="181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SAJJAD HOSSAIN</a:t>
            </a:r>
          </a:p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Faculty, UIU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2029" y="141605"/>
            <a:ext cx="5527632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ENG 1011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830" y="1779597"/>
            <a:ext cx="13268521" cy="8401134"/>
            <a:chOff x="0" y="0"/>
            <a:chExt cx="3494590" cy="2057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94590" cy="2057890"/>
            </a:xfrm>
            <a:custGeom>
              <a:avLst/>
              <a:gdLst/>
              <a:ahLst/>
              <a:cxnLst/>
              <a:rect l="l" t="t" r="r" b="b"/>
              <a:pathLst>
                <a:path w="3494590" h="2057890">
                  <a:moveTo>
                    <a:pt x="29757" y="0"/>
                  </a:moveTo>
                  <a:lnTo>
                    <a:pt x="3464832" y="0"/>
                  </a:lnTo>
                  <a:cubicBezTo>
                    <a:pt x="3472724" y="0"/>
                    <a:pt x="3480293" y="3135"/>
                    <a:pt x="3485874" y="8716"/>
                  </a:cubicBezTo>
                  <a:cubicBezTo>
                    <a:pt x="3491455" y="14296"/>
                    <a:pt x="3494590" y="21865"/>
                    <a:pt x="3494590" y="29757"/>
                  </a:cubicBezTo>
                  <a:lnTo>
                    <a:pt x="3494590" y="2028133"/>
                  </a:lnTo>
                  <a:cubicBezTo>
                    <a:pt x="3494590" y="2036025"/>
                    <a:pt x="3491455" y="2043594"/>
                    <a:pt x="3485874" y="2049174"/>
                  </a:cubicBezTo>
                  <a:cubicBezTo>
                    <a:pt x="3480293" y="2054755"/>
                    <a:pt x="3472724" y="2057890"/>
                    <a:pt x="3464832" y="2057890"/>
                  </a:cubicBezTo>
                  <a:lnTo>
                    <a:pt x="29757" y="2057890"/>
                  </a:lnTo>
                  <a:cubicBezTo>
                    <a:pt x="21865" y="2057890"/>
                    <a:pt x="14296" y="2054755"/>
                    <a:pt x="8716" y="2049174"/>
                  </a:cubicBezTo>
                  <a:cubicBezTo>
                    <a:pt x="3135" y="2043594"/>
                    <a:pt x="0" y="2036025"/>
                    <a:pt x="0" y="2028133"/>
                  </a:cubicBezTo>
                  <a:lnTo>
                    <a:pt x="0" y="29757"/>
                  </a:lnTo>
                  <a:cubicBezTo>
                    <a:pt x="0" y="21865"/>
                    <a:pt x="3135" y="14296"/>
                    <a:pt x="8716" y="8716"/>
                  </a:cubicBezTo>
                  <a:cubicBezTo>
                    <a:pt x="14296" y="3135"/>
                    <a:pt x="21865" y="0"/>
                    <a:pt x="29757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494590" cy="2115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625952" y="1384203"/>
            <a:ext cx="3958262" cy="6314681"/>
            <a:chOff x="0" y="0"/>
            <a:chExt cx="1042505" cy="16631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2505" cy="1663126"/>
            </a:xfrm>
            <a:custGeom>
              <a:avLst/>
              <a:gdLst/>
              <a:ahLst/>
              <a:cxnLst/>
              <a:rect l="l" t="t" r="r" b="b"/>
              <a:pathLst>
                <a:path w="1042505" h="1663126">
                  <a:moveTo>
                    <a:pt x="99750" y="0"/>
                  </a:moveTo>
                  <a:lnTo>
                    <a:pt x="942755" y="0"/>
                  </a:lnTo>
                  <a:cubicBezTo>
                    <a:pt x="997845" y="0"/>
                    <a:pt x="1042505" y="44660"/>
                    <a:pt x="1042505" y="99750"/>
                  </a:cubicBezTo>
                  <a:lnTo>
                    <a:pt x="1042505" y="1563376"/>
                  </a:lnTo>
                  <a:cubicBezTo>
                    <a:pt x="1042505" y="1589831"/>
                    <a:pt x="1031996" y="1615203"/>
                    <a:pt x="1013289" y="1633910"/>
                  </a:cubicBezTo>
                  <a:cubicBezTo>
                    <a:pt x="994582" y="1652617"/>
                    <a:pt x="969210" y="1663126"/>
                    <a:pt x="942755" y="1663126"/>
                  </a:cubicBezTo>
                  <a:lnTo>
                    <a:pt x="99750" y="1663126"/>
                  </a:lnTo>
                  <a:cubicBezTo>
                    <a:pt x="44660" y="1663126"/>
                    <a:pt x="0" y="1618466"/>
                    <a:pt x="0" y="1563376"/>
                  </a:cubicBezTo>
                  <a:lnTo>
                    <a:pt x="0" y="99750"/>
                  </a:lnTo>
                  <a:cubicBezTo>
                    <a:pt x="0" y="44660"/>
                    <a:pt x="44660" y="0"/>
                    <a:pt x="99750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42505" cy="17202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804168" y="3314700"/>
            <a:ext cx="1413995" cy="4114800"/>
          </a:xfrm>
          <a:custGeom>
            <a:avLst/>
            <a:gdLst/>
            <a:ahLst/>
            <a:cxnLst/>
            <a:rect l="l" t="t" r="r" b="b"/>
            <a:pathLst>
              <a:path w="1413995" h="4114800">
                <a:moveTo>
                  <a:pt x="0" y="0"/>
                </a:moveTo>
                <a:lnTo>
                  <a:pt x="1413995" y="0"/>
                </a:lnTo>
                <a:lnTo>
                  <a:pt x="14139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45202" y="1734209"/>
            <a:ext cx="1593550" cy="2057400"/>
          </a:xfrm>
          <a:custGeom>
            <a:avLst/>
            <a:gdLst/>
            <a:ahLst/>
            <a:cxnLst/>
            <a:rect l="l" t="t" r="r" b="b"/>
            <a:pathLst>
              <a:path w="1593550" h="205740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0" name="Group 10"/>
          <p:cNvGrpSpPr/>
          <p:nvPr/>
        </p:nvGrpSpPr>
        <p:grpSpPr>
          <a:xfrm>
            <a:off x="15245202" y="4141614"/>
            <a:ext cx="1370432" cy="3457848"/>
            <a:chOff x="0" y="0"/>
            <a:chExt cx="1827243" cy="4610463"/>
          </a:xfrm>
        </p:grpSpPr>
        <p:sp>
          <p:nvSpPr>
            <p:cNvPr id="11" name="Freeform 11"/>
            <p:cNvSpPr/>
            <p:nvPr/>
          </p:nvSpPr>
          <p:spPr>
            <a:xfrm flipV="1">
              <a:off x="0" y="0"/>
              <a:ext cx="1827243" cy="1874969"/>
            </a:xfrm>
            <a:custGeom>
              <a:avLst/>
              <a:gdLst/>
              <a:ahLst/>
              <a:cxnLst/>
              <a:rect l="l" t="t" r="r" b="b"/>
              <a:pathLst>
                <a:path w="1827243" h="1874969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flipV="1">
              <a:off x="0" y="2735494"/>
              <a:ext cx="1827243" cy="1874969"/>
            </a:xfrm>
            <a:custGeom>
              <a:avLst/>
              <a:gdLst/>
              <a:ahLst/>
              <a:cxnLst/>
              <a:rect l="l" t="t" r="r" b="b"/>
              <a:pathLst>
                <a:path w="1827243" h="1874969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203916" y="235267"/>
            <a:ext cx="9478744" cy="1208662"/>
            <a:chOff x="0" y="0"/>
            <a:chExt cx="2496459" cy="3183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74623" y="365783"/>
            <a:ext cx="718823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44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Rules of Capitalization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1384" y="3057714"/>
            <a:ext cx="13215992" cy="715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19"/>
              </a:lnSpc>
            </a:pPr>
            <a:r>
              <a:rPr lang="en-US" sz="3657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Sentence Openers:</a:t>
            </a: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Capitalize the first letter of every sentence and the independent pronoun "</a:t>
            </a:r>
            <a:r>
              <a:rPr lang="en-US" sz="3657" b="1" dirty="0">
                <a:solidFill>
                  <a:srgbClr val="000000"/>
                </a:solidFill>
                <a:latin typeface="Libre Baskerville Bold"/>
                <a:ea typeface="Libre Baskerville Bold"/>
                <a:cs typeface="Libre Baskerville Bold"/>
                <a:sym typeface="Libre Baskerville Bold"/>
              </a:rPr>
              <a:t>I"</a:t>
            </a: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  </a:t>
            </a:r>
          </a:p>
          <a:p>
            <a:pPr algn="l">
              <a:lnSpc>
                <a:spcPts val="5119"/>
              </a:lnSpc>
            </a:pPr>
            <a:endParaRPr lang="en-US" sz="3657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5119"/>
              </a:lnSpc>
            </a:pPr>
            <a:r>
              <a:rPr lang="en-US" sz="3657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Proper Nouns:</a:t>
            </a: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Capitalize names of specific people, places, organizations, and historical landmarks </a:t>
            </a:r>
          </a:p>
          <a:p>
            <a:pPr algn="l">
              <a:lnSpc>
                <a:spcPts val="5119"/>
              </a:lnSpc>
            </a:pP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(e.g., Tapan, Dhaka, Lalbagh Fort).  </a:t>
            </a:r>
          </a:p>
          <a:p>
            <a:pPr algn="l">
              <a:lnSpc>
                <a:spcPts val="5119"/>
              </a:lnSpc>
            </a:pPr>
            <a:endParaRPr lang="en-US" sz="3657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algn="l">
              <a:lnSpc>
                <a:spcPts val="5119"/>
              </a:lnSpc>
            </a:pPr>
            <a:r>
              <a:rPr lang="en-US" sz="3657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Capitalize proper adjectives derived from proper nouns:</a:t>
            </a: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l">
              <a:lnSpc>
                <a:spcPts val="5119"/>
              </a:lnSpc>
            </a:pP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(e.g., </a:t>
            </a:r>
            <a:r>
              <a:rPr lang="en-US" sz="3657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hakespearean tragedy, </a:t>
            </a:r>
            <a:r>
              <a:rPr lang="en-US" sz="3657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</a:t>
            </a:r>
            <a:r>
              <a:rPr lang="en-US" sz="365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angladeshi law).  </a:t>
            </a:r>
          </a:p>
          <a:p>
            <a:pPr algn="l">
              <a:lnSpc>
                <a:spcPts val="5119"/>
              </a:lnSpc>
            </a:pPr>
            <a:endParaRPr lang="en-US" sz="3657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" y="1363066"/>
            <a:ext cx="13929548" cy="8737764"/>
            <a:chOff x="-66026" y="-104138"/>
            <a:chExt cx="3431085" cy="2127831"/>
          </a:xfrm>
        </p:grpSpPr>
        <p:sp>
          <p:nvSpPr>
            <p:cNvPr id="3" name="Freeform 3"/>
            <p:cNvSpPr/>
            <p:nvPr/>
          </p:nvSpPr>
          <p:spPr>
            <a:xfrm>
              <a:off x="-66026" y="-104138"/>
              <a:ext cx="3423597" cy="2023693"/>
            </a:xfrm>
            <a:custGeom>
              <a:avLst/>
              <a:gdLst/>
              <a:ahLst/>
              <a:cxnLst/>
              <a:rect l="l" t="t" r="r" b="b"/>
              <a:pathLst>
                <a:path w="3365059" h="2023693">
                  <a:moveTo>
                    <a:pt x="30903" y="0"/>
                  </a:moveTo>
                  <a:lnTo>
                    <a:pt x="3334156" y="0"/>
                  </a:lnTo>
                  <a:cubicBezTo>
                    <a:pt x="3342352" y="0"/>
                    <a:pt x="3350212" y="3256"/>
                    <a:pt x="3356008" y="9051"/>
                  </a:cubicBezTo>
                  <a:cubicBezTo>
                    <a:pt x="3361803" y="14847"/>
                    <a:pt x="3365059" y="22707"/>
                    <a:pt x="3365059" y="30903"/>
                  </a:cubicBezTo>
                  <a:lnTo>
                    <a:pt x="3365059" y="1992790"/>
                  </a:lnTo>
                  <a:cubicBezTo>
                    <a:pt x="3365059" y="2009857"/>
                    <a:pt x="3351223" y="2023693"/>
                    <a:pt x="3334156" y="2023693"/>
                  </a:cubicBezTo>
                  <a:lnTo>
                    <a:pt x="30903" y="2023693"/>
                  </a:lnTo>
                  <a:cubicBezTo>
                    <a:pt x="22707" y="2023693"/>
                    <a:pt x="14847" y="2020437"/>
                    <a:pt x="9051" y="2014642"/>
                  </a:cubicBezTo>
                  <a:cubicBezTo>
                    <a:pt x="3256" y="2008846"/>
                    <a:pt x="0" y="2000986"/>
                    <a:pt x="0" y="1992790"/>
                  </a:cubicBezTo>
                  <a:lnTo>
                    <a:pt x="0" y="30903"/>
                  </a:lnTo>
                  <a:cubicBezTo>
                    <a:pt x="0" y="13836"/>
                    <a:pt x="13836" y="0"/>
                    <a:pt x="30903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365059" cy="208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49400" y="886966"/>
            <a:ext cx="3558057" cy="8513067"/>
            <a:chOff x="0" y="0"/>
            <a:chExt cx="937101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7102" cy="2242125"/>
            </a:xfrm>
            <a:custGeom>
              <a:avLst/>
              <a:gdLst/>
              <a:ahLst/>
              <a:cxnLst/>
              <a:rect l="l" t="t" r="r" b="b"/>
              <a:pathLst>
                <a:path w="937102" h="2242125">
                  <a:moveTo>
                    <a:pt x="110970" y="0"/>
                  </a:moveTo>
                  <a:lnTo>
                    <a:pt x="826131" y="0"/>
                  </a:lnTo>
                  <a:cubicBezTo>
                    <a:pt x="887419" y="0"/>
                    <a:pt x="937102" y="49683"/>
                    <a:pt x="937102" y="110970"/>
                  </a:cubicBezTo>
                  <a:lnTo>
                    <a:pt x="937102" y="2131154"/>
                  </a:lnTo>
                  <a:cubicBezTo>
                    <a:pt x="937102" y="2160586"/>
                    <a:pt x="925410" y="2188811"/>
                    <a:pt x="904599" y="2209622"/>
                  </a:cubicBezTo>
                  <a:cubicBezTo>
                    <a:pt x="883788" y="2230433"/>
                    <a:pt x="855563" y="2242125"/>
                    <a:pt x="826131" y="2242125"/>
                  </a:cubicBezTo>
                  <a:lnTo>
                    <a:pt x="110970" y="2242125"/>
                  </a:lnTo>
                  <a:cubicBezTo>
                    <a:pt x="81539" y="2242125"/>
                    <a:pt x="53313" y="2230433"/>
                    <a:pt x="32502" y="2209622"/>
                  </a:cubicBezTo>
                  <a:cubicBezTo>
                    <a:pt x="11691" y="2188811"/>
                    <a:pt x="0" y="2160586"/>
                    <a:pt x="0" y="2131154"/>
                  </a:cubicBezTo>
                  <a:lnTo>
                    <a:pt x="0" y="110970"/>
                  </a:lnTo>
                  <a:cubicBezTo>
                    <a:pt x="0" y="81539"/>
                    <a:pt x="11691" y="53313"/>
                    <a:pt x="32502" y="32502"/>
                  </a:cubicBezTo>
                  <a:cubicBezTo>
                    <a:pt x="53313" y="11691"/>
                    <a:pt x="81539" y="0"/>
                    <a:pt x="11097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37101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017472" y="1182052"/>
            <a:ext cx="1593550" cy="2057400"/>
          </a:xfrm>
          <a:custGeom>
            <a:avLst/>
            <a:gdLst/>
            <a:ahLst/>
            <a:cxnLst/>
            <a:rect l="l" t="t" r="r" b="b"/>
            <a:pathLst>
              <a:path w="1593550" h="2057400">
                <a:moveTo>
                  <a:pt x="0" y="0"/>
                </a:moveTo>
                <a:lnTo>
                  <a:pt x="1593550" y="0"/>
                </a:lnTo>
                <a:lnTo>
                  <a:pt x="15935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04800" y="129357"/>
            <a:ext cx="9220200" cy="1052695"/>
            <a:chOff x="0" y="0"/>
            <a:chExt cx="2496459" cy="318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493051" y="4600673"/>
            <a:ext cx="3070754" cy="2467770"/>
          </a:xfrm>
          <a:custGeom>
            <a:avLst/>
            <a:gdLst/>
            <a:ahLst/>
            <a:cxnLst/>
            <a:rect l="l" t="t" r="r" b="b"/>
            <a:pathLst>
              <a:path w="3070754" h="2467770">
                <a:moveTo>
                  <a:pt x="0" y="0"/>
                </a:moveTo>
                <a:lnTo>
                  <a:pt x="3070754" y="0"/>
                </a:lnTo>
                <a:lnTo>
                  <a:pt x="3070754" y="2467770"/>
                </a:lnTo>
                <a:lnTo>
                  <a:pt x="0" y="24677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53499" y="137960"/>
            <a:ext cx="7765002" cy="8867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48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Rules of Capitalization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8600" y="1371042"/>
            <a:ext cx="13335000" cy="7658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5775" lvl="1" indent="-387887" algn="l">
              <a:lnSpc>
                <a:spcPts val="5389"/>
              </a:lnSpc>
              <a:buFont typeface="Arial"/>
              <a:buChar char="•"/>
            </a:pPr>
            <a:r>
              <a:rPr lang="en-US" sz="359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Creator, Deity &amp; Religious Terms:</a:t>
            </a:r>
            <a:r>
              <a:rPr lang="en-US" sz="359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Capitalize terms referring to the Supreme Being (e.g., Allah, the Lord, God).  </a:t>
            </a:r>
          </a:p>
          <a:p>
            <a:pPr algn="l">
              <a:lnSpc>
                <a:spcPts val="5389"/>
              </a:lnSpc>
            </a:pPr>
            <a:endParaRPr lang="en-US" sz="3593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75775" lvl="1" indent="-387887" algn="l">
              <a:lnSpc>
                <a:spcPts val="5389"/>
              </a:lnSpc>
              <a:buFont typeface="Arial"/>
              <a:buChar char="•"/>
            </a:pPr>
            <a:r>
              <a:rPr lang="en-US" sz="359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Days, Months &amp; Holidays:</a:t>
            </a:r>
            <a:r>
              <a:rPr lang="en-US" sz="359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Capitalize specific days and months (e.g., Friday, April), but do not capitalize general seasons (spring, winter) or time of day (morning, night) unless part of a proper title.  </a:t>
            </a:r>
          </a:p>
          <a:p>
            <a:pPr algn="l">
              <a:lnSpc>
                <a:spcPts val="5389"/>
              </a:lnSpc>
            </a:pPr>
            <a:endParaRPr lang="en-US" sz="3593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75775" lvl="1" indent="-387887" algn="l">
              <a:lnSpc>
                <a:spcPts val="5389"/>
              </a:lnSpc>
              <a:buFont typeface="Arial"/>
              <a:buChar char="•"/>
            </a:pPr>
            <a:r>
              <a:rPr lang="en-US" sz="359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Degrees &amp; Abbreviations: </a:t>
            </a:r>
            <a:r>
              <a:rPr lang="en-US" sz="359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Capitalize educational degrees and acronyms (e.g., HSC, M.A., F.R.C.S.).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6672" y="1714500"/>
            <a:ext cx="17621868" cy="8043655"/>
            <a:chOff x="0" y="0"/>
            <a:chExt cx="4097617" cy="21722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97617" cy="2172236"/>
            </a:xfrm>
            <a:custGeom>
              <a:avLst/>
              <a:gdLst/>
              <a:ahLst/>
              <a:cxnLst/>
              <a:rect l="l" t="t" r="r" b="b"/>
              <a:pathLst>
                <a:path w="4097617" h="2172236">
                  <a:moveTo>
                    <a:pt x="25378" y="0"/>
                  </a:moveTo>
                  <a:lnTo>
                    <a:pt x="4072239" y="0"/>
                  </a:lnTo>
                  <a:cubicBezTo>
                    <a:pt x="4078970" y="0"/>
                    <a:pt x="4085425" y="2674"/>
                    <a:pt x="4090184" y="7433"/>
                  </a:cubicBezTo>
                  <a:cubicBezTo>
                    <a:pt x="4094943" y="12192"/>
                    <a:pt x="4097617" y="18647"/>
                    <a:pt x="4097617" y="25378"/>
                  </a:cubicBezTo>
                  <a:lnTo>
                    <a:pt x="4097617" y="2146858"/>
                  </a:lnTo>
                  <a:cubicBezTo>
                    <a:pt x="4097617" y="2153588"/>
                    <a:pt x="4094943" y="2160043"/>
                    <a:pt x="4090184" y="2164803"/>
                  </a:cubicBezTo>
                  <a:cubicBezTo>
                    <a:pt x="4085425" y="2169562"/>
                    <a:pt x="4078970" y="2172236"/>
                    <a:pt x="4072239" y="2172236"/>
                  </a:cubicBezTo>
                  <a:lnTo>
                    <a:pt x="25378" y="2172236"/>
                  </a:lnTo>
                  <a:cubicBezTo>
                    <a:pt x="18647" y="2172236"/>
                    <a:pt x="12192" y="2169562"/>
                    <a:pt x="7433" y="2164803"/>
                  </a:cubicBezTo>
                  <a:cubicBezTo>
                    <a:pt x="2674" y="2160043"/>
                    <a:pt x="0" y="2153588"/>
                    <a:pt x="0" y="2146858"/>
                  </a:cubicBezTo>
                  <a:lnTo>
                    <a:pt x="0" y="25378"/>
                  </a:lnTo>
                  <a:cubicBezTo>
                    <a:pt x="0" y="18647"/>
                    <a:pt x="2674" y="12192"/>
                    <a:pt x="7433" y="7433"/>
                  </a:cubicBezTo>
                  <a:cubicBezTo>
                    <a:pt x="12192" y="2674"/>
                    <a:pt x="18647" y="0"/>
                    <a:pt x="25378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97617" cy="2229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6673" y="120217"/>
            <a:ext cx="9478744" cy="1208662"/>
            <a:chOff x="0" y="0"/>
            <a:chExt cx="2496459" cy="3183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41223" y="239643"/>
            <a:ext cx="718823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48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Capitalization in Titles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6672" y="2348338"/>
            <a:ext cx="17393267" cy="70094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4179" lvl="1" indent="-427089" algn="l">
              <a:lnSpc>
                <a:spcPts val="5538"/>
              </a:lnSpc>
              <a:buFont typeface="Arial"/>
              <a:buChar char="•"/>
            </a:pPr>
            <a:r>
              <a:rPr lang="en-US" sz="3956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First &amp; Last Words:</a:t>
            </a:r>
            <a:r>
              <a:rPr lang="en-US" sz="3956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Always capitalize the first and last words of a title.  </a:t>
            </a:r>
          </a:p>
          <a:p>
            <a:pPr algn="l">
              <a:lnSpc>
                <a:spcPts val="5538"/>
              </a:lnSpc>
            </a:pPr>
            <a:endParaRPr lang="en-US" sz="3956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854179" lvl="1" indent="-427089" algn="l">
              <a:lnSpc>
                <a:spcPts val="5538"/>
              </a:lnSpc>
              <a:buFont typeface="Arial"/>
              <a:buChar char="•"/>
            </a:pPr>
            <a:r>
              <a:rPr lang="en-US" sz="3956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Major Word Classes:</a:t>
            </a:r>
            <a:r>
              <a:rPr lang="en-US" sz="3956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Capitalize all nouns, verbs, adjectives, adverbs, and pronouns (including it).  </a:t>
            </a:r>
          </a:p>
          <a:p>
            <a:pPr algn="l">
              <a:lnSpc>
                <a:spcPts val="5538"/>
              </a:lnSpc>
            </a:pPr>
            <a:endParaRPr lang="en-US" sz="3956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854179" lvl="1" indent="-427089" algn="l">
              <a:lnSpc>
                <a:spcPts val="5538"/>
              </a:lnSpc>
              <a:buFont typeface="Arial"/>
              <a:buChar char="•"/>
            </a:pPr>
            <a:r>
              <a:rPr lang="en-US" sz="3956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Lowercase Elements:</a:t>
            </a:r>
            <a:r>
              <a:rPr lang="en-US" sz="3956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Do not capitalize articles (a, an, the), coordinating conjunctions (and, but, or), or short prepositions (in, on, at, to) unless they begin or end the title.  </a:t>
            </a:r>
          </a:p>
          <a:p>
            <a:pPr algn="l">
              <a:lnSpc>
                <a:spcPts val="5538"/>
              </a:lnSpc>
            </a:pPr>
            <a:endParaRPr lang="en-US" sz="3956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9554" y="1658077"/>
            <a:ext cx="14250558" cy="8513067"/>
            <a:chOff x="0" y="0"/>
            <a:chExt cx="3707016" cy="22183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7016" cy="2218345"/>
            </a:xfrm>
            <a:custGeom>
              <a:avLst/>
              <a:gdLst/>
              <a:ahLst/>
              <a:cxnLst/>
              <a:rect l="l" t="t" r="r" b="b"/>
              <a:pathLst>
                <a:path w="3707016" h="2218345">
                  <a:moveTo>
                    <a:pt x="28052" y="0"/>
                  </a:moveTo>
                  <a:lnTo>
                    <a:pt x="3678964" y="0"/>
                  </a:lnTo>
                  <a:cubicBezTo>
                    <a:pt x="3694457" y="0"/>
                    <a:pt x="3707016" y="12559"/>
                    <a:pt x="3707016" y="28052"/>
                  </a:cubicBezTo>
                  <a:lnTo>
                    <a:pt x="3707016" y="2190293"/>
                  </a:lnTo>
                  <a:cubicBezTo>
                    <a:pt x="3707016" y="2205786"/>
                    <a:pt x="3694457" y="2218345"/>
                    <a:pt x="3678964" y="2218345"/>
                  </a:cubicBezTo>
                  <a:lnTo>
                    <a:pt x="28052" y="2218345"/>
                  </a:lnTo>
                  <a:cubicBezTo>
                    <a:pt x="12559" y="2218345"/>
                    <a:pt x="0" y="2205786"/>
                    <a:pt x="0" y="2190293"/>
                  </a:cubicBezTo>
                  <a:lnTo>
                    <a:pt x="0" y="28052"/>
                  </a:lnTo>
                  <a:cubicBezTo>
                    <a:pt x="0" y="12559"/>
                    <a:pt x="12559" y="0"/>
                    <a:pt x="28052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707016" cy="22754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37824" y="745233"/>
            <a:ext cx="3340446" cy="8513067"/>
            <a:chOff x="0" y="0"/>
            <a:chExt cx="916058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58" cy="2242125"/>
            </a:xfrm>
            <a:custGeom>
              <a:avLst/>
              <a:gdLst/>
              <a:ahLst/>
              <a:cxnLst/>
              <a:rect l="l" t="t" r="r" b="b"/>
              <a:pathLst>
                <a:path w="916058" h="2242125">
                  <a:moveTo>
                    <a:pt x="113519" y="0"/>
                  </a:moveTo>
                  <a:lnTo>
                    <a:pt x="802539" y="0"/>
                  </a:lnTo>
                  <a:cubicBezTo>
                    <a:pt x="832646" y="0"/>
                    <a:pt x="861520" y="11960"/>
                    <a:pt x="882809" y="33249"/>
                  </a:cubicBezTo>
                  <a:cubicBezTo>
                    <a:pt x="904098" y="54538"/>
                    <a:pt x="916058" y="83412"/>
                    <a:pt x="916058" y="113519"/>
                  </a:cubicBezTo>
                  <a:lnTo>
                    <a:pt x="916058" y="2128605"/>
                  </a:lnTo>
                  <a:cubicBezTo>
                    <a:pt x="916058" y="2158712"/>
                    <a:pt x="904098" y="2187587"/>
                    <a:pt x="882809" y="2208876"/>
                  </a:cubicBezTo>
                  <a:cubicBezTo>
                    <a:pt x="861520" y="2230165"/>
                    <a:pt x="832646" y="2242125"/>
                    <a:pt x="802539" y="2242125"/>
                  </a:cubicBezTo>
                  <a:lnTo>
                    <a:pt x="113519" y="2242125"/>
                  </a:lnTo>
                  <a:cubicBezTo>
                    <a:pt x="83412" y="2242125"/>
                    <a:pt x="54538" y="2230165"/>
                    <a:pt x="33249" y="2208876"/>
                  </a:cubicBezTo>
                  <a:cubicBezTo>
                    <a:pt x="11960" y="2187587"/>
                    <a:pt x="0" y="2158712"/>
                    <a:pt x="0" y="2128605"/>
                  </a:cubicBezTo>
                  <a:lnTo>
                    <a:pt x="0" y="113519"/>
                  </a:lnTo>
                  <a:cubicBezTo>
                    <a:pt x="0" y="83412"/>
                    <a:pt x="11960" y="54538"/>
                    <a:pt x="33249" y="33249"/>
                  </a:cubicBezTo>
                  <a:cubicBezTo>
                    <a:pt x="54538" y="11960"/>
                    <a:pt x="83412" y="0"/>
                    <a:pt x="11351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6058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936317" y="1028700"/>
            <a:ext cx="1593550" cy="2057400"/>
          </a:xfrm>
          <a:custGeom>
            <a:avLst/>
            <a:gdLst/>
            <a:ahLst/>
            <a:cxnLst/>
            <a:rect l="l" t="t" r="r" b="b"/>
            <a:pathLst>
              <a:path w="1593550" h="205740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71652" y="174686"/>
            <a:ext cx="11315547" cy="1208662"/>
            <a:chOff x="0" y="0"/>
            <a:chExt cx="2496459" cy="318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949666" y="5143501"/>
            <a:ext cx="2972934" cy="2438400"/>
          </a:xfrm>
          <a:custGeom>
            <a:avLst/>
            <a:gdLst/>
            <a:ahLst/>
            <a:cxnLst/>
            <a:rect l="l" t="t" r="r" b="b"/>
            <a:pathLst>
              <a:path w="3184776" h="2559401">
                <a:moveTo>
                  <a:pt x="0" y="0"/>
                </a:moveTo>
                <a:lnTo>
                  <a:pt x="3184775" y="0"/>
                </a:lnTo>
                <a:lnTo>
                  <a:pt x="3184775" y="2559401"/>
                </a:lnTo>
                <a:lnTo>
                  <a:pt x="0" y="2559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24802" y="326386"/>
            <a:ext cx="10247998" cy="82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93"/>
              </a:lnSpc>
            </a:pPr>
            <a:r>
              <a:rPr lang="en-US" sz="478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Punctuation: Comma Rules (,)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0" y="1535048"/>
            <a:ext cx="14189421" cy="8576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69"/>
              </a:lnSpc>
            </a:pPr>
            <a:endParaRPr lang="en-US" sz="2800" dirty="0"/>
          </a:p>
          <a:p>
            <a:pPr marL="787230" lvl="1" indent="-393615" algn="l">
              <a:lnSpc>
                <a:spcPts val="5469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Items in a Series: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Separate three or more words, phrases, or clauses in a list.  </a:t>
            </a:r>
          </a:p>
          <a:p>
            <a:pPr marL="787230" lvl="1" indent="-393615" algn="l">
              <a:lnSpc>
                <a:spcPts val="546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I need to buy books, pens, paper, and glue. </a:t>
            </a:r>
          </a:p>
          <a:p>
            <a:pPr algn="l">
              <a:lnSpc>
                <a:spcPts val="5469"/>
              </a:lnSpc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787230" lvl="1" indent="-393615"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Introductory Elements: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800" dirty="0">
                <a:latin typeface="Libre Baskerville" panose="02000000000000000000" pitchFamily="2" charset="0"/>
              </a:rPr>
              <a:t>Always place a comma after introductory elements that set the stage for the main sentence.</a:t>
            </a:r>
          </a:p>
          <a:p>
            <a:pPr marL="393615" lvl="1"/>
            <a:endParaRPr lang="en-US" sz="2800" dirty="0">
              <a:latin typeface="Libre Baskerville" panose="02000000000000000000" pitchFamily="2" charset="0"/>
            </a:endParaRPr>
          </a:p>
          <a:p>
            <a:pPr marL="1200150" lvl="2" indent="-285750"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sz="2800" b="1" dirty="0">
                <a:latin typeface="Libre Baskerville" panose="02000000000000000000" pitchFamily="2" charset="0"/>
              </a:rPr>
              <a:t>Formula:</a:t>
            </a:r>
          </a:p>
          <a:p>
            <a:r>
              <a:rPr lang="en-US" sz="2800" b="1" dirty="0">
                <a:latin typeface="Libre Baskerville" panose="02000000000000000000" pitchFamily="2" charset="0"/>
              </a:rPr>
              <a:t>              [Introductory Element]</a:t>
            </a:r>
            <a:r>
              <a:rPr lang="en-US" sz="2800" dirty="0">
                <a:latin typeface="Libre Baskerville" panose="02000000000000000000" pitchFamily="2" charset="0"/>
              </a:rPr>
              <a:t> +</a:t>
            </a:r>
            <a:r>
              <a:rPr lang="en-US" sz="2800" dirty="0">
                <a:solidFill>
                  <a:srgbClr val="FF0000"/>
                </a:solidFill>
                <a:latin typeface="Libre Baskerville" panose="02000000000000000000" pitchFamily="2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latin typeface="Libre Baskerville" panose="02000000000000000000" pitchFamily="2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Libre Baskerville" panose="02000000000000000000" pitchFamily="2" charset="0"/>
              </a:rPr>
              <a:t> </a:t>
            </a:r>
            <a:r>
              <a:rPr lang="en-US" sz="2800" dirty="0">
                <a:latin typeface="Libre Baskerville" panose="02000000000000000000" pitchFamily="2" charset="0"/>
              </a:rPr>
              <a:t>+ </a:t>
            </a:r>
            <a:r>
              <a:rPr lang="en-US" sz="2800" b="1" dirty="0">
                <a:latin typeface="Libre Baskerville" panose="02000000000000000000" pitchFamily="2" charset="0"/>
              </a:rPr>
              <a:t>[Main Sentence (Complete Thought)]</a:t>
            </a:r>
            <a:endParaRPr lang="en-US" sz="2800" dirty="0">
              <a:solidFill>
                <a:srgbClr val="000000"/>
              </a:solidFill>
              <a:latin typeface="Libre Baskerville" panose="02000000000000000000" pitchFamily="2" charset="0"/>
              <a:ea typeface="Libre Baskerville"/>
              <a:cs typeface="Libre Baskerville"/>
              <a:sym typeface="Libre Baskerville"/>
            </a:endParaRPr>
          </a:p>
          <a:p>
            <a:pPr marL="787230" lvl="1" indent="-393615" algn="l">
              <a:lnSpc>
                <a:spcPts val="546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Seeing what happened, I called for help.</a:t>
            </a:r>
          </a:p>
          <a:p>
            <a:pPr marL="787230" lvl="1" indent="-393615" algn="l">
              <a:lnSpc>
                <a:spcPts val="5469"/>
              </a:lnSpc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87230" lvl="1" indent="-393615"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Appositives: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2800" dirty="0">
                <a:latin typeface="Libre Baskerville" panose="02000000000000000000" pitchFamily="2" charset="0"/>
              </a:rPr>
              <a:t>Put </a:t>
            </a:r>
            <a:r>
              <a:rPr lang="en-US" sz="2800" b="1" dirty="0">
                <a:latin typeface="Libre Baskerville" panose="02000000000000000000" pitchFamily="2" charset="0"/>
              </a:rPr>
              <a:t>commas</a:t>
            </a:r>
            <a:r>
              <a:rPr lang="en-US" sz="2800" dirty="0">
                <a:latin typeface="Libre Baskerville" panose="02000000000000000000" pitchFamily="2" charset="0"/>
              </a:rPr>
              <a:t> around extra details if you can </a:t>
            </a:r>
            <a:r>
              <a:rPr lang="en-US" sz="2800" b="1" dirty="0">
                <a:latin typeface="Libre Baskerville" panose="02000000000000000000" pitchFamily="2" charset="0"/>
              </a:rPr>
              <a:t>delete them</a:t>
            </a:r>
            <a:r>
              <a:rPr lang="en-US" sz="2800" dirty="0">
                <a:latin typeface="Libre Baskerville" panose="02000000000000000000" pitchFamily="2" charset="0"/>
              </a:rPr>
              <a:t> without changing the main point</a:t>
            </a:r>
            <a:r>
              <a:rPr lang="en-US" sz="28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.  </a:t>
            </a:r>
          </a:p>
          <a:p>
            <a:pPr marL="787230" lvl="1" indent="-393615" algn="l">
              <a:lnSpc>
                <a:spcPts val="546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Alexander, the king of Macedonia, invaded India.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9554" y="951746"/>
            <a:ext cx="14075076" cy="9335253"/>
            <a:chOff x="0" y="0"/>
            <a:chExt cx="3707016" cy="23340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7016" cy="2334084"/>
            </a:xfrm>
            <a:custGeom>
              <a:avLst/>
              <a:gdLst/>
              <a:ahLst/>
              <a:cxnLst/>
              <a:rect l="l" t="t" r="r" b="b"/>
              <a:pathLst>
                <a:path w="3707016" h="2334084">
                  <a:moveTo>
                    <a:pt x="28052" y="0"/>
                  </a:moveTo>
                  <a:lnTo>
                    <a:pt x="3678964" y="0"/>
                  </a:lnTo>
                  <a:cubicBezTo>
                    <a:pt x="3694457" y="0"/>
                    <a:pt x="3707016" y="12559"/>
                    <a:pt x="3707016" y="28052"/>
                  </a:cubicBezTo>
                  <a:lnTo>
                    <a:pt x="3707016" y="2306032"/>
                  </a:lnTo>
                  <a:cubicBezTo>
                    <a:pt x="3707016" y="2321525"/>
                    <a:pt x="3694457" y="2334084"/>
                    <a:pt x="3678964" y="2334084"/>
                  </a:cubicBezTo>
                  <a:lnTo>
                    <a:pt x="28052" y="2334084"/>
                  </a:lnTo>
                  <a:cubicBezTo>
                    <a:pt x="12559" y="2334084"/>
                    <a:pt x="0" y="2321525"/>
                    <a:pt x="0" y="2306032"/>
                  </a:cubicBezTo>
                  <a:lnTo>
                    <a:pt x="0" y="28052"/>
                  </a:lnTo>
                  <a:cubicBezTo>
                    <a:pt x="0" y="12559"/>
                    <a:pt x="12559" y="0"/>
                    <a:pt x="28052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707016" cy="2391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600112" y="745233"/>
            <a:ext cx="3478158" cy="8513067"/>
            <a:chOff x="0" y="0"/>
            <a:chExt cx="916058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6058" cy="2242125"/>
            </a:xfrm>
            <a:custGeom>
              <a:avLst/>
              <a:gdLst/>
              <a:ahLst/>
              <a:cxnLst/>
              <a:rect l="l" t="t" r="r" b="b"/>
              <a:pathLst>
                <a:path w="916058" h="2242125">
                  <a:moveTo>
                    <a:pt x="113519" y="0"/>
                  </a:moveTo>
                  <a:lnTo>
                    <a:pt x="802539" y="0"/>
                  </a:lnTo>
                  <a:cubicBezTo>
                    <a:pt x="832646" y="0"/>
                    <a:pt x="861520" y="11960"/>
                    <a:pt x="882809" y="33249"/>
                  </a:cubicBezTo>
                  <a:cubicBezTo>
                    <a:pt x="904098" y="54538"/>
                    <a:pt x="916058" y="83412"/>
                    <a:pt x="916058" y="113519"/>
                  </a:cubicBezTo>
                  <a:lnTo>
                    <a:pt x="916058" y="2128605"/>
                  </a:lnTo>
                  <a:cubicBezTo>
                    <a:pt x="916058" y="2158712"/>
                    <a:pt x="904098" y="2187587"/>
                    <a:pt x="882809" y="2208876"/>
                  </a:cubicBezTo>
                  <a:cubicBezTo>
                    <a:pt x="861520" y="2230165"/>
                    <a:pt x="832646" y="2242125"/>
                    <a:pt x="802539" y="2242125"/>
                  </a:cubicBezTo>
                  <a:lnTo>
                    <a:pt x="113519" y="2242125"/>
                  </a:lnTo>
                  <a:cubicBezTo>
                    <a:pt x="83412" y="2242125"/>
                    <a:pt x="54538" y="2230165"/>
                    <a:pt x="33249" y="2208876"/>
                  </a:cubicBezTo>
                  <a:cubicBezTo>
                    <a:pt x="11960" y="2187587"/>
                    <a:pt x="0" y="2158712"/>
                    <a:pt x="0" y="2128605"/>
                  </a:cubicBezTo>
                  <a:lnTo>
                    <a:pt x="0" y="113519"/>
                  </a:lnTo>
                  <a:cubicBezTo>
                    <a:pt x="0" y="83412"/>
                    <a:pt x="11960" y="54538"/>
                    <a:pt x="33249" y="33249"/>
                  </a:cubicBezTo>
                  <a:cubicBezTo>
                    <a:pt x="54538" y="11960"/>
                    <a:pt x="83412" y="0"/>
                    <a:pt x="11351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916058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5936317" y="1028700"/>
            <a:ext cx="1593550" cy="2057400"/>
          </a:xfrm>
          <a:custGeom>
            <a:avLst/>
            <a:gdLst/>
            <a:ahLst/>
            <a:cxnLst/>
            <a:rect l="l" t="t" r="r" b="b"/>
            <a:pathLst>
              <a:path w="1593550" h="205740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229706" y="47979"/>
            <a:ext cx="8172808" cy="831613"/>
            <a:chOff x="-4816" y="-57150"/>
            <a:chExt cx="2496459" cy="354229"/>
          </a:xfrm>
        </p:grpSpPr>
        <p:sp>
          <p:nvSpPr>
            <p:cNvPr id="10" name="Freeform 10"/>
            <p:cNvSpPr/>
            <p:nvPr/>
          </p:nvSpPr>
          <p:spPr>
            <a:xfrm>
              <a:off x="-4816" y="-18753"/>
              <a:ext cx="2496459" cy="315832"/>
            </a:xfrm>
            <a:custGeom>
              <a:avLst/>
              <a:gdLst/>
              <a:ahLst/>
              <a:cxnLst/>
              <a:rect l="l" t="t" r="r" b="b"/>
              <a:pathLst>
                <a:path w="2496459" h="270664">
                  <a:moveTo>
                    <a:pt x="2293259" y="0"/>
                  </a:moveTo>
                  <a:lnTo>
                    <a:pt x="0" y="0"/>
                  </a:lnTo>
                  <a:lnTo>
                    <a:pt x="0" y="270664"/>
                  </a:lnTo>
                  <a:lnTo>
                    <a:pt x="2293259" y="270664"/>
                  </a:lnTo>
                  <a:lnTo>
                    <a:pt x="2496459" y="135332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382159" cy="3278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737824" y="5143500"/>
            <a:ext cx="3184776" cy="2559401"/>
          </a:xfrm>
          <a:custGeom>
            <a:avLst/>
            <a:gdLst/>
            <a:ahLst/>
            <a:cxnLst/>
            <a:rect l="l" t="t" r="r" b="b"/>
            <a:pathLst>
              <a:path w="3184776" h="2559401">
                <a:moveTo>
                  <a:pt x="0" y="0"/>
                </a:moveTo>
                <a:lnTo>
                  <a:pt x="3184775" y="0"/>
                </a:lnTo>
                <a:lnTo>
                  <a:pt x="3184775" y="2559401"/>
                </a:lnTo>
                <a:lnTo>
                  <a:pt x="0" y="2559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5800" y="99164"/>
            <a:ext cx="5715000" cy="773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36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 Rules (,):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5407" y="1021251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Use Commas: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1108" y="7472504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Don’t Use Commas: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345" y="1595496"/>
            <a:ext cx="14075076" cy="6451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6086" lvl="1" indent="-363043">
              <a:buFont typeface="Arial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Libre Baskerville" panose="02000000000000000000" pitchFamily="2" charset="0"/>
              </a:rPr>
              <a:t>Joining Clauses</a:t>
            </a:r>
            <a:r>
              <a:rPr lang="en-US" sz="3200" b="1" dirty="0">
                <a:latin typeface="Libre Baskerville" panose="02000000000000000000" pitchFamily="2" charset="0"/>
              </a:rPr>
              <a:t>:</a:t>
            </a:r>
            <a:r>
              <a:rPr lang="en-US" sz="3200" dirty="0">
                <a:latin typeface="Libre Baskerville" panose="02000000000000000000" pitchFamily="2" charset="0"/>
              </a:rPr>
              <a:t> Put a comma after a </a:t>
            </a:r>
            <a:r>
              <a:rPr lang="en-US" sz="3200" b="1" dirty="0">
                <a:latin typeface="Libre Baskerville" panose="02000000000000000000" pitchFamily="2" charset="0"/>
              </a:rPr>
              <a:t>dependent/subordinate starting clause</a:t>
            </a:r>
            <a:r>
              <a:rPr lang="en-US" sz="3200" dirty="0">
                <a:latin typeface="Libre Baskerville" panose="02000000000000000000" pitchFamily="2" charset="0"/>
              </a:rPr>
              <a:t> before the main complete thought.</a:t>
            </a: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 (</a:t>
            </a:r>
            <a:r>
              <a:rPr lang="en-US" sz="3200" dirty="0" err="1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e.g</a:t>
            </a: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,. If you go, I will come.)</a:t>
            </a:r>
          </a:p>
          <a:p>
            <a:pPr marL="363043" lvl="1"/>
            <a:endParaRPr lang="en-US" sz="3200" dirty="0">
              <a:solidFill>
                <a:srgbClr val="000000"/>
              </a:solidFill>
              <a:latin typeface="Libre Baskerville" panose="02000000000000000000" pitchFamily="2" charset="0"/>
              <a:ea typeface="Libre Baskerville"/>
              <a:cs typeface="Libre Baskerville"/>
              <a:sym typeface="Libre Baskerville"/>
            </a:endParaRPr>
          </a:p>
          <a:p>
            <a:pPr marL="726086" lvl="1" indent="-363043">
              <a:buFont typeface="Arial"/>
              <a:buChar char="•"/>
            </a:pPr>
            <a:r>
              <a:rPr lang="en-US" sz="3200" b="1" dirty="0">
                <a:solidFill>
                  <a:srgbClr val="C00000"/>
                </a:solidFill>
                <a:latin typeface="Libre Baskerville" panose="02000000000000000000" pitchFamily="2" charset="0"/>
              </a:rPr>
              <a:t>Direct Speech:</a:t>
            </a:r>
            <a:r>
              <a:rPr lang="en-US" sz="3200" dirty="0">
                <a:solidFill>
                  <a:srgbClr val="C00000"/>
                </a:solidFill>
                <a:latin typeface="Libre Baskerville" panose="02000000000000000000" pitchFamily="2" charset="0"/>
              </a:rPr>
              <a:t> </a:t>
            </a:r>
            <a:r>
              <a:rPr lang="en-US" sz="3200" dirty="0">
                <a:latin typeface="Libre Baskerville" panose="02000000000000000000" pitchFamily="2" charset="0"/>
              </a:rPr>
              <a:t>Use a comma to </a:t>
            </a:r>
            <a:r>
              <a:rPr lang="en-US" sz="3200" b="1" dirty="0">
                <a:latin typeface="Libre Baskerville" panose="02000000000000000000" pitchFamily="2" charset="0"/>
              </a:rPr>
              <a:t>separate the speaker</a:t>
            </a:r>
            <a:r>
              <a:rPr lang="en-US" sz="3200" dirty="0">
                <a:latin typeface="Libre Baskerville" panose="02000000000000000000" pitchFamily="2" charset="0"/>
              </a:rPr>
              <a:t> from their quoted words</a:t>
            </a: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.  </a:t>
            </a:r>
          </a:p>
          <a:p>
            <a:pPr marL="726086" lvl="1" indent="-363043" algn="l">
              <a:lnSpc>
                <a:spcPts val="504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Example: He said, "I will return soon.“</a:t>
            </a:r>
          </a:p>
          <a:p>
            <a:pPr marL="363043" lvl="1" algn="l">
              <a:lnSpc>
                <a:spcPts val="5044"/>
              </a:lnSpc>
            </a:pP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  </a:t>
            </a:r>
          </a:p>
          <a:p>
            <a:pPr marL="726086" lvl="1" indent="-363043">
              <a:lnSpc>
                <a:spcPct val="100000"/>
              </a:lnSpc>
              <a:buFont typeface="Arial"/>
              <a:buChar char="•"/>
            </a:pPr>
            <a:r>
              <a:rPr lang="en-US" sz="3200" b="1" dirty="0">
                <a:solidFill>
                  <a:srgbClr val="C1272D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Dates and Addresses:</a:t>
            </a:r>
            <a:r>
              <a:rPr lang="en-US" sz="3200" b="1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200" dirty="0">
                <a:latin typeface="Libre Baskerville" panose="02000000000000000000" pitchFamily="2" charset="0"/>
              </a:rPr>
              <a:t>Use commas to </a:t>
            </a:r>
            <a:r>
              <a:rPr lang="en-US" sz="3200" b="1" dirty="0">
                <a:latin typeface="Libre Baskerville" panose="02000000000000000000" pitchFamily="2" charset="0"/>
              </a:rPr>
              <a:t>split up parts</a:t>
            </a:r>
            <a:r>
              <a:rPr lang="en-US" sz="3200" dirty="0">
                <a:latin typeface="Libre Baskerville" panose="02000000000000000000" pitchFamily="2" charset="0"/>
              </a:rPr>
              <a:t> of a date, city, or address.</a:t>
            </a:r>
            <a:endParaRPr lang="en-US" sz="3200" dirty="0">
              <a:solidFill>
                <a:srgbClr val="000000"/>
              </a:solidFill>
              <a:latin typeface="Libre Baskerville" panose="02000000000000000000" pitchFamily="2" charset="0"/>
              <a:ea typeface="Libre Baskerville"/>
              <a:cs typeface="Libre Baskerville"/>
              <a:sym typeface="Libre Baskerville"/>
            </a:endParaRPr>
          </a:p>
          <a:p>
            <a:pPr marL="726086" lvl="1" indent="-363043" algn="l">
              <a:lnSpc>
                <a:spcPts val="504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Example: April 7, 2010, in Concord, California.  </a:t>
            </a:r>
          </a:p>
          <a:p>
            <a:pPr algn="l">
              <a:lnSpc>
                <a:spcPts val="5044"/>
              </a:lnSpc>
            </a:pPr>
            <a:endParaRPr lang="en-US" sz="3200" dirty="0">
              <a:solidFill>
                <a:srgbClr val="000000"/>
              </a:solidFill>
              <a:latin typeface="Libre Baskerville" panose="02000000000000000000" pitchFamily="2" charset="0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49554" y="8052894"/>
            <a:ext cx="13297878" cy="2190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8134" lvl="1" indent="-339067" algn="l">
              <a:lnSpc>
                <a:spcPts val="4711"/>
              </a:lnSpc>
              <a:buFont typeface="Arial"/>
              <a:buChar char="•"/>
            </a:pPr>
            <a:r>
              <a:rPr lang="en-US" sz="314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independents clauses without using a </a:t>
            </a:r>
            <a:r>
              <a:rPr lang="en-US" sz="3140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co-ordinating</a:t>
            </a:r>
            <a:r>
              <a:rPr lang="en-US" sz="314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conjunction (FANBOYS)</a:t>
            </a:r>
          </a:p>
          <a:p>
            <a:pPr marL="678134" lvl="1" indent="-339067">
              <a:buFont typeface="Arial"/>
              <a:buChar char="•"/>
            </a:pPr>
            <a:r>
              <a:rPr lang="en-US" sz="314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separate a subject and its verb. (</a:t>
            </a:r>
            <a:r>
              <a:rPr lang="en-US" sz="2800" dirty="0">
                <a:latin typeface="Libre Baskerville" panose="02000000000000000000" pitchFamily="2" charset="0"/>
              </a:rPr>
              <a:t>❌ </a:t>
            </a:r>
            <a:r>
              <a:rPr lang="en-US" sz="2800" b="1" dirty="0">
                <a:latin typeface="Libre Baskerville" panose="02000000000000000000" pitchFamily="2" charset="0"/>
              </a:rPr>
              <a:t>Incorrect:</a:t>
            </a:r>
            <a:r>
              <a:rPr lang="en-US" sz="2800" dirty="0">
                <a:latin typeface="Libre Baskerville" panose="02000000000000000000" pitchFamily="2" charset="0"/>
              </a:rPr>
              <a:t> The </a:t>
            </a:r>
            <a:r>
              <a:rPr lang="en-US" sz="2800" b="1" dirty="0">
                <a:latin typeface="Libre Baskerville" panose="02000000000000000000" pitchFamily="2" charset="0"/>
              </a:rPr>
              <a:t>chef, chopped</a:t>
            </a:r>
            <a:r>
              <a:rPr lang="en-US" sz="2800" dirty="0">
                <a:latin typeface="Libre Baskerville" panose="02000000000000000000" pitchFamily="2" charset="0"/>
              </a:rPr>
              <a:t> the vegetables.</a:t>
            </a:r>
            <a:endParaRPr lang="en-US" sz="2800" dirty="0">
              <a:solidFill>
                <a:srgbClr val="000000"/>
              </a:solidFill>
              <a:latin typeface="Libre Baskerville" panose="02000000000000000000" pitchFamily="2" charset="0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6846"/>
            <a:ext cx="10559497" cy="6621454"/>
            <a:chOff x="0" y="0"/>
            <a:chExt cx="2781102" cy="1743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1102" cy="1743922"/>
            </a:xfrm>
            <a:custGeom>
              <a:avLst/>
              <a:gdLst/>
              <a:ahLst/>
              <a:cxnLst/>
              <a:rect l="l" t="t" r="r" b="b"/>
              <a:pathLst>
                <a:path w="2781102" h="1743922">
                  <a:moveTo>
                    <a:pt x="37392" y="0"/>
                  </a:moveTo>
                  <a:lnTo>
                    <a:pt x="2743710" y="0"/>
                  </a:lnTo>
                  <a:cubicBezTo>
                    <a:pt x="2753627" y="0"/>
                    <a:pt x="2763138" y="3939"/>
                    <a:pt x="2770150" y="10952"/>
                  </a:cubicBezTo>
                  <a:cubicBezTo>
                    <a:pt x="2777163" y="17964"/>
                    <a:pt x="2781102" y="27475"/>
                    <a:pt x="2781102" y="37392"/>
                  </a:cubicBezTo>
                  <a:lnTo>
                    <a:pt x="2781102" y="1706530"/>
                  </a:lnTo>
                  <a:cubicBezTo>
                    <a:pt x="2781102" y="1727181"/>
                    <a:pt x="2764361" y="1743922"/>
                    <a:pt x="2743710" y="1743922"/>
                  </a:cubicBezTo>
                  <a:lnTo>
                    <a:pt x="37392" y="1743922"/>
                  </a:lnTo>
                  <a:cubicBezTo>
                    <a:pt x="16741" y="1743922"/>
                    <a:pt x="0" y="1727181"/>
                    <a:pt x="0" y="1706530"/>
                  </a:cubicBezTo>
                  <a:lnTo>
                    <a:pt x="0" y="37392"/>
                  </a:lnTo>
                  <a:cubicBezTo>
                    <a:pt x="0" y="16741"/>
                    <a:pt x="16741" y="0"/>
                    <a:pt x="37392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81102" cy="180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3579" y="745233"/>
            <a:ext cx="5415721" cy="8513067"/>
            <a:chOff x="0" y="0"/>
            <a:chExt cx="1426363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6363" cy="2242125"/>
            </a:xfrm>
            <a:custGeom>
              <a:avLst/>
              <a:gdLst/>
              <a:ahLst/>
              <a:cxnLst/>
              <a:rect l="l" t="t" r="r" b="b"/>
              <a:pathLst>
                <a:path w="1426363" h="2242125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26363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754665" y="1028700"/>
            <a:ext cx="1593550" cy="2057400"/>
          </a:xfrm>
          <a:custGeom>
            <a:avLst/>
            <a:gdLst/>
            <a:ahLst/>
            <a:cxnLst/>
            <a:rect l="l" t="t" r="r" b="b"/>
            <a:pathLst>
              <a:path w="1593550" h="205740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012039" y="4031552"/>
            <a:ext cx="5047865" cy="4533900"/>
          </a:xfrm>
          <a:custGeom>
            <a:avLst/>
            <a:gdLst/>
            <a:ahLst/>
            <a:cxnLst/>
            <a:rect l="l" t="t" r="r" b="b"/>
            <a:pathLst>
              <a:path w="5047865" h="4533900">
                <a:moveTo>
                  <a:pt x="0" y="0"/>
                </a:moveTo>
                <a:lnTo>
                  <a:pt x="5047864" y="0"/>
                </a:lnTo>
                <a:lnTo>
                  <a:pt x="5047864" y="4533901"/>
                </a:lnTo>
                <a:lnTo>
                  <a:pt x="0" y="4533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820292"/>
            <a:ext cx="9478744" cy="1208662"/>
            <a:chOff x="0" y="0"/>
            <a:chExt cx="2496459" cy="3183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65787" y="995998"/>
            <a:ext cx="717117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Commas  &amp; Clauses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5495" y="2915920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5495" y="5927028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5495" y="6879682"/>
            <a:ext cx="8473348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 to the store to get milk, and don’t forget to take money.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5495" y="3926777"/>
            <a:ext cx="8473348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 to the store to get milk, don’t forget to take money.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6846"/>
            <a:ext cx="10100075" cy="6621454"/>
            <a:chOff x="0" y="0"/>
            <a:chExt cx="2660102" cy="1743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0102" cy="1743922"/>
            </a:xfrm>
            <a:custGeom>
              <a:avLst/>
              <a:gdLst/>
              <a:ahLst/>
              <a:cxnLst/>
              <a:rect l="l" t="t" r="r" b="b"/>
              <a:pathLst>
                <a:path w="2660102" h="174392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60102" cy="180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3579" y="745233"/>
            <a:ext cx="5415721" cy="8513067"/>
            <a:chOff x="0" y="0"/>
            <a:chExt cx="1426363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6363" cy="2242125"/>
            </a:xfrm>
            <a:custGeom>
              <a:avLst/>
              <a:gdLst/>
              <a:ahLst/>
              <a:cxnLst/>
              <a:rect l="l" t="t" r="r" b="b"/>
              <a:pathLst>
                <a:path w="1426363" h="2242125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26363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754665" y="1028700"/>
            <a:ext cx="1593550" cy="2057400"/>
          </a:xfrm>
          <a:custGeom>
            <a:avLst/>
            <a:gdLst/>
            <a:ahLst/>
            <a:cxnLst/>
            <a:rect l="l" t="t" r="r" b="b"/>
            <a:pathLst>
              <a:path w="1593550" h="2057400">
                <a:moveTo>
                  <a:pt x="0" y="0"/>
                </a:moveTo>
                <a:lnTo>
                  <a:pt x="1593549" y="0"/>
                </a:lnTo>
                <a:lnTo>
                  <a:pt x="159354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28700" y="820292"/>
            <a:ext cx="9478744" cy="1208662"/>
            <a:chOff x="0" y="0"/>
            <a:chExt cx="2496459" cy="318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2152453" y="5041203"/>
            <a:ext cx="4797974" cy="3288793"/>
          </a:xfrm>
          <a:custGeom>
            <a:avLst/>
            <a:gdLst/>
            <a:ahLst/>
            <a:cxnLst/>
            <a:rect l="l" t="t" r="r" b="b"/>
            <a:pathLst>
              <a:path w="4797974" h="3288793">
                <a:moveTo>
                  <a:pt x="0" y="0"/>
                </a:moveTo>
                <a:lnTo>
                  <a:pt x="4797973" y="0"/>
                </a:lnTo>
                <a:lnTo>
                  <a:pt x="4797973" y="3288793"/>
                </a:lnTo>
                <a:lnTo>
                  <a:pt x="0" y="3288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65787" y="995998"/>
            <a:ext cx="717117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Commas  &amp; Lists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5495" y="2915920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5495" y="5927028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5495" y="6889207"/>
            <a:ext cx="8473348" cy="124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 bought bread, banana, milk and cheese from the grocery store yesterday.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5495" y="3936302"/>
            <a:ext cx="8473348" cy="1242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33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 bought bread, banana; milk and cheese from the grocery store yesterday.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60" y="1198857"/>
            <a:ext cx="15062294" cy="8958011"/>
            <a:chOff x="0" y="0"/>
            <a:chExt cx="3727834" cy="23390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27834" cy="2339076"/>
            </a:xfrm>
            <a:custGeom>
              <a:avLst/>
              <a:gdLst/>
              <a:ahLst/>
              <a:cxnLst/>
              <a:rect l="l" t="t" r="r" b="b"/>
              <a:pathLst>
                <a:path w="3727834" h="2339076">
                  <a:moveTo>
                    <a:pt x="27896" y="0"/>
                  </a:moveTo>
                  <a:lnTo>
                    <a:pt x="3699939" y="0"/>
                  </a:lnTo>
                  <a:cubicBezTo>
                    <a:pt x="3715345" y="0"/>
                    <a:pt x="3727834" y="12489"/>
                    <a:pt x="3727834" y="27896"/>
                  </a:cubicBezTo>
                  <a:lnTo>
                    <a:pt x="3727834" y="2311180"/>
                  </a:lnTo>
                  <a:cubicBezTo>
                    <a:pt x="3727834" y="2318579"/>
                    <a:pt x="3724895" y="2325674"/>
                    <a:pt x="3719664" y="2330906"/>
                  </a:cubicBezTo>
                  <a:cubicBezTo>
                    <a:pt x="3714432" y="2336137"/>
                    <a:pt x="3707337" y="2339076"/>
                    <a:pt x="3699939" y="2339076"/>
                  </a:cubicBezTo>
                  <a:lnTo>
                    <a:pt x="27896" y="2339076"/>
                  </a:lnTo>
                  <a:cubicBezTo>
                    <a:pt x="12489" y="2339076"/>
                    <a:pt x="0" y="2326587"/>
                    <a:pt x="0" y="2311180"/>
                  </a:cubicBezTo>
                  <a:lnTo>
                    <a:pt x="0" y="27896"/>
                  </a:lnTo>
                  <a:cubicBezTo>
                    <a:pt x="0" y="12489"/>
                    <a:pt x="12489" y="0"/>
                    <a:pt x="27896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727834" cy="23962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034637" y="528242"/>
            <a:ext cx="3083583" cy="8730058"/>
            <a:chOff x="0" y="-57150"/>
            <a:chExt cx="784536" cy="2299275"/>
          </a:xfrm>
        </p:grpSpPr>
        <p:sp>
          <p:nvSpPr>
            <p:cNvPr id="6" name="Freeform 6"/>
            <p:cNvSpPr/>
            <p:nvPr/>
          </p:nvSpPr>
          <p:spPr>
            <a:xfrm>
              <a:off x="76895" y="0"/>
              <a:ext cx="707641" cy="2242125"/>
            </a:xfrm>
            <a:custGeom>
              <a:avLst/>
              <a:gdLst/>
              <a:ahLst/>
              <a:cxnLst/>
              <a:rect l="l" t="t" r="r" b="b"/>
              <a:pathLst>
                <a:path w="784536" h="2242125">
                  <a:moveTo>
                    <a:pt x="132550" y="0"/>
                  </a:moveTo>
                  <a:lnTo>
                    <a:pt x="651986" y="0"/>
                  </a:lnTo>
                  <a:cubicBezTo>
                    <a:pt x="687141" y="0"/>
                    <a:pt x="720855" y="13965"/>
                    <a:pt x="745713" y="38823"/>
                  </a:cubicBezTo>
                  <a:cubicBezTo>
                    <a:pt x="770571" y="63681"/>
                    <a:pt x="784536" y="97396"/>
                    <a:pt x="784536" y="132550"/>
                  </a:cubicBezTo>
                  <a:lnTo>
                    <a:pt x="784536" y="2109575"/>
                  </a:lnTo>
                  <a:cubicBezTo>
                    <a:pt x="784536" y="2144729"/>
                    <a:pt x="770571" y="2178444"/>
                    <a:pt x="745713" y="2203302"/>
                  </a:cubicBezTo>
                  <a:cubicBezTo>
                    <a:pt x="720855" y="2228160"/>
                    <a:pt x="687141" y="2242125"/>
                    <a:pt x="651986" y="2242125"/>
                  </a:cubicBezTo>
                  <a:lnTo>
                    <a:pt x="132550" y="2242125"/>
                  </a:lnTo>
                  <a:cubicBezTo>
                    <a:pt x="97396" y="2242125"/>
                    <a:pt x="63681" y="2228160"/>
                    <a:pt x="38823" y="2203302"/>
                  </a:cubicBezTo>
                  <a:cubicBezTo>
                    <a:pt x="13965" y="2178444"/>
                    <a:pt x="0" y="2144729"/>
                    <a:pt x="0" y="2109575"/>
                  </a:cubicBezTo>
                  <a:lnTo>
                    <a:pt x="0" y="132550"/>
                  </a:lnTo>
                  <a:cubicBezTo>
                    <a:pt x="0" y="97396"/>
                    <a:pt x="13965" y="63681"/>
                    <a:pt x="38823" y="38823"/>
                  </a:cubicBezTo>
                  <a:cubicBezTo>
                    <a:pt x="63681" y="13965"/>
                    <a:pt x="97396" y="0"/>
                    <a:pt x="13255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84536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001" y="140902"/>
            <a:ext cx="8574799" cy="887798"/>
            <a:chOff x="0" y="0"/>
            <a:chExt cx="2737895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7895" cy="318331"/>
            </a:xfrm>
            <a:custGeom>
              <a:avLst/>
              <a:gdLst/>
              <a:ahLst/>
              <a:cxnLst/>
              <a:rect l="l" t="t" r="r" b="b"/>
              <a:pathLst>
                <a:path w="2737895" h="318331">
                  <a:moveTo>
                    <a:pt x="2534695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534695" y="318331"/>
                  </a:lnTo>
                  <a:lnTo>
                    <a:pt x="2737895" y="159165"/>
                  </a:lnTo>
                  <a:lnTo>
                    <a:pt x="2534695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623595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299558" y="1028700"/>
            <a:ext cx="811288" cy="2360890"/>
          </a:xfrm>
          <a:custGeom>
            <a:avLst/>
            <a:gdLst/>
            <a:ahLst/>
            <a:cxnLst/>
            <a:rect l="l" t="t" r="r" b="b"/>
            <a:pathLst>
              <a:path w="811288" h="2360890">
                <a:moveTo>
                  <a:pt x="0" y="0"/>
                </a:moveTo>
                <a:lnTo>
                  <a:pt x="811288" y="0"/>
                </a:lnTo>
                <a:lnTo>
                  <a:pt x="811288" y="2360890"/>
                </a:lnTo>
                <a:lnTo>
                  <a:pt x="0" y="2360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12"/>
          <p:cNvSpPr/>
          <p:nvPr/>
        </p:nvSpPr>
        <p:spPr>
          <a:xfrm>
            <a:off x="15558906" y="2785130"/>
            <a:ext cx="2349720" cy="4786466"/>
          </a:xfrm>
          <a:custGeom>
            <a:avLst/>
            <a:gdLst/>
            <a:ahLst/>
            <a:cxnLst/>
            <a:rect l="l" t="t" r="r" b="b"/>
            <a:pathLst>
              <a:path w="2349720" h="4786466">
                <a:moveTo>
                  <a:pt x="0" y="0"/>
                </a:moveTo>
                <a:lnTo>
                  <a:pt x="2349720" y="0"/>
                </a:lnTo>
                <a:lnTo>
                  <a:pt x="2349720" y="4786467"/>
                </a:lnTo>
                <a:lnTo>
                  <a:pt x="0" y="4786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7018" y="265121"/>
            <a:ext cx="9229881" cy="653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 Punctuation Marks: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577" y="1207460"/>
            <a:ext cx="14760060" cy="89365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Period (.) / Full Stop:</a:t>
            </a: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Ends declarative, imperative and optative complete sentences.  </a:t>
            </a: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Used after standard abbreviations (e.g., Dr., Rd., St.).  </a:t>
            </a:r>
          </a:p>
          <a:p>
            <a:pPr algn="l">
              <a:lnSpc>
                <a:spcPts val="5395"/>
              </a:lnSpc>
            </a:pPr>
            <a:endParaRPr lang="en-US" sz="32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Question Mark (?):</a:t>
            </a: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Placed at the end of direct questions (e.g., "When will you leave for Dhaka?").  </a:t>
            </a: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Note: Do not use for indirect questions (e.g., He asked when I would leave.)</a:t>
            </a: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endParaRPr lang="en-US" sz="32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Exclamation Point (!)</a:t>
            </a: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</a:p>
          <a:p>
            <a:pPr marL="776593" lvl="1" indent="-388296" algn="l">
              <a:lnSpc>
                <a:spcPts val="5395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Expresses strong emotion, surprise, urgency, or interjections (e.g., "Wow!", "Be careful!").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78" y="1325443"/>
            <a:ext cx="14266202" cy="8910323"/>
            <a:chOff x="0" y="0"/>
            <a:chExt cx="3691233" cy="21867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91233" cy="2186780"/>
            </a:xfrm>
            <a:custGeom>
              <a:avLst/>
              <a:gdLst/>
              <a:ahLst/>
              <a:cxnLst/>
              <a:rect l="l" t="t" r="r" b="b"/>
              <a:pathLst>
                <a:path w="3691233" h="2186780">
                  <a:moveTo>
                    <a:pt x="28172" y="0"/>
                  </a:moveTo>
                  <a:lnTo>
                    <a:pt x="3663061" y="0"/>
                  </a:lnTo>
                  <a:cubicBezTo>
                    <a:pt x="3670533" y="0"/>
                    <a:pt x="3677698" y="2968"/>
                    <a:pt x="3682982" y="8251"/>
                  </a:cubicBezTo>
                  <a:cubicBezTo>
                    <a:pt x="3688265" y="13535"/>
                    <a:pt x="3691233" y="20700"/>
                    <a:pt x="3691233" y="28172"/>
                  </a:cubicBezTo>
                  <a:lnTo>
                    <a:pt x="3691233" y="2158608"/>
                  </a:lnTo>
                  <a:cubicBezTo>
                    <a:pt x="3691233" y="2166079"/>
                    <a:pt x="3688265" y="2173245"/>
                    <a:pt x="3682982" y="2178528"/>
                  </a:cubicBezTo>
                  <a:cubicBezTo>
                    <a:pt x="3677698" y="2183812"/>
                    <a:pt x="3670533" y="2186780"/>
                    <a:pt x="3663061" y="2186780"/>
                  </a:cubicBezTo>
                  <a:lnTo>
                    <a:pt x="28172" y="2186780"/>
                  </a:lnTo>
                  <a:cubicBezTo>
                    <a:pt x="20700" y="2186780"/>
                    <a:pt x="13535" y="2183812"/>
                    <a:pt x="8251" y="2178528"/>
                  </a:cubicBezTo>
                  <a:cubicBezTo>
                    <a:pt x="2968" y="2173245"/>
                    <a:pt x="0" y="2166079"/>
                    <a:pt x="0" y="2158608"/>
                  </a:cubicBezTo>
                  <a:lnTo>
                    <a:pt x="0" y="28172"/>
                  </a:lnTo>
                  <a:cubicBezTo>
                    <a:pt x="0" y="20700"/>
                    <a:pt x="2968" y="13535"/>
                    <a:pt x="8251" y="8251"/>
                  </a:cubicBezTo>
                  <a:cubicBezTo>
                    <a:pt x="13535" y="2968"/>
                    <a:pt x="20700" y="0"/>
                    <a:pt x="28172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691233" cy="2243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75805" y="431166"/>
            <a:ext cx="3390493" cy="8513067"/>
            <a:chOff x="0" y="0"/>
            <a:chExt cx="892969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2969" cy="2242125"/>
            </a:xfrm>
            <a:custGeom>
              <a:avLst/>
              <a:gdLst/>
              <a:ahLst/>
              <a:cxnLst/>
              <a:rect l="l" t="t" r="r" b="b"/>
              <a:pathLst>
                <a:path w="892969" h="2242125">
                  <a:moveTo>
                    <a:pt x="116454" y="0"/>
                  </a:moveTo>
                  <a:lnTo>
                    <a:pt x="776515" y="0"/>
                  </a:lnTo>
                  <a:cubicBezTo>
                    <a:pt x="807401" y="0"/>
                    <a:pt x="837021" y="12269"/>
                    <a:pt x="858861" y="34109"/>
                  </a:cubicBezTo>
                  <a:cubicBezTo>
                    <a:pt x="880700" y="55948"/>
                    <a:pt x="892969" y="85569"/>
                    <a:pt x="892969" y="116454"/>
                  </a:cubicBezTo>
                  <a:lnTo>
                    <a:pt x="892969" y="2125670"/>
                  </a:lnTo>
                  <a:cubicBezTo>
                    <a:pt x="892969" y="2156556"/>
                    <a:pt x="880700" y="2186176"/>
                    <a:pt x="858861" y="2208016"/>
                  </a:cubicBezTo>
                  <a:cubicBezTo>
                    <a:pt x="837021" y="2229855"/>
                    <a:pt x="807401" y="2242125"/>
                    <a:pt x="776515" y="2242125"/>
                  </a:cubicBezTo>
                  <a:lnTo>
                    <a:pt x="116454" y="2242125"/>
                  </a:lnTo>
                  <a:cubicBezTo>
                    <a:pt x="85569" y="2242125"/>
                    <a:pt x="55948" y="2229855"/>
                    <a:pt x="34109" y="2208016"/>
                  </a:cubicBezTo>
                  <a:cubicBezTo>
                    <a:pt x="12269" y="2186176"/>
                    <a:pt x="0" y="2156556"/>
                    <a:pt x="0" y="2125670"/>
                  </a:cubicBezTo>
                  <a:lnTo>
                    <a:pt x="0" y="116454"/>
                  </a:lnTo>
                  <a:cubicBezTo>
                    <a:pt x="0" y="85569"/>
                    <a:pt x="12269" y="55948"/>
                    <a:pt x="34109" y="34109"/>
                  </a:cubicBezTo>
                  <a:cubicBezTo>
                    <a:pt x="55948" y="12269"/>
                    <a:pt x="85569" y="0"/>
                    <a:pt x="11645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92969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977" y="325420"/>
            <a:ext cx="10273223" cy="913938"/>
            <a:chOff x="0" y="0"/>
            <a:chExt cx="2178642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8641" cy="318331"/>
            </a:xfrm>
            <a:custGeom>
              <a:avLst/>
              <a:gdLst/>
              <a:ahLst/>
              <a:cxnLst/>
              <a:rect l="l" t="t" r="r" b="b"/>
              <a:pathLst>
                <a:path w="2178641" h="318331">
                  <a:moveTo>
                    <a:pt x="1975441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1975441" y="318331"/>
                  </a:lnTo>
                  <a:lnTo>
                    <a:pt x="2178641" y="159165"/>
                  </a:lnTo>
                  <a:lnTo>
                    <a:pt x="1975441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064342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240000" y="1445346"/>
            <a:ext cx="1413995" cy="4114800"/>
          </a:xfrm>
          <a:custGeom>
            <a:avLst/>
            <a:gdLst/>
            <a:ahLst/>
            <a:cxnLst/>
            <a:rect l="l" t="t" r="r" b="b"/>
            <a:pathLst>
              <a:path w="1413995" h="4114800">
                <a:moveTo>
                  <a:pt x="0" y="0"/>
                </a:moveTo>
                <a:lnTo>
                  <a:pt x="1413995" y="0"/>
                </a:lnTo>
                <a:lnTo>
                  <a:pt x="14139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740338" y="4687699"/>
            <a:ext cx="2710570" cy="2845063"/>
          </a:xfrm>
          <a:custGeom>
            <a:avLst/>
            <a:gdLst/>
            <a:ahLst/>
            <a:cxnLst/>
            <a:rect l="l" t="t" r="r" b="b"/>
            <a:pathLst>
              <a:path w="2710570" h="2845063">
                <a:moveTo>
                  <a:pt x="0" y="0"/>
                </a:moveTo>
                <a:lnTo>
                  <a:pt x="2710570" y="0"/>
                </a:lnTo>
                <a:lnTo>
                  <a:pt x="2710570" y="2845064"/>
                </a:lnTo>
                <a:lnTo>
                  <a:pt x="0" y="2845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57200" y="337188"/>
            <a:ext cx="7429500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Quotation Marks (" ")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1703" y="1370555"/>
            <a:ext cx="13534814" cy="8741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3074" lvl="1" indent="-361537" algn="l">
              <a:lnSpc>
                <a:spcPts val="5023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Direct Quotations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Use quotations mark around the exact words someone says or copies.</a:t>
            </a:r>
          </a:p>
          <a:p>
            <a:pPr marL="818737" lvl="1" indent="-45720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President Mirza said, "We will not fail."  </a:t>
            </a:r>
          </a:p>
          <a:p>
            <a:pPr marL="723074" lvl="1" indent="-361537" algn="l"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23074" lvl="1" indent="-361537" algn="l"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Sentence Capitalization Inside Quotes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Capitalize the first word of a quoted statement if it forms a complete sentence.  </a:t>
            </a:r>
          </a:p>
          <a:p>
            <a:pPr marL="818737" lvl="1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Father asked, "What do you require?“</a:t>
            </a:r>
          </a:p>
          <a:p>
            <a:pPr marL="361537" lvl="1" algn="l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</a:p>
          <a:p>
            <a:pPr marL="723074" lvl="1" indent="-361537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Split Quotations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If a quotation is interrupted by a tag/reporting verb, lowercase the second part unless it begins a new sentence. </a:t>
            </a:r>
          </a:p>
          <a:p>
            <a:pPr marL="361537" lvl="1" algn="l">
              <a:lnSpc>
                <a:spcPts val="5023"/>
              </a:lnSpc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marL="818737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("I'm going now," he said, "and don't expect me back.”) But, (</a:t>
            </a:r>
            <a:r>
              <a:rPr lang="en-US" sz="2800" dirty="0">
                <a:latin typeface="Libre Baskerville" panose="02000000000000000000" pitchFamily="2" charset="0"/>
              </a:rPr>
              <a:t>"I'm going now," said he. "And don't expect me back.“</a:t>
            </a:r>
            <a:r>
              <a:rPr lang="en-US" sz="2800" dirty="0">
                <a:solidFill>
                  <a:srgbClr val="000000"/>
                </a:solidFill>
                <a:latin typeface="Libre Baskerville" panose="02000000000000000000" pitchFamily="2" charset="0"/>
                <a:sym typeface="Libre Baskerville"/>
              </a:rPr>
              <a:t>)</a:t>
            </a:r>
          </a:p>
          <a:p>
            <a:pPr marL="361537" lvl="1"/>
            <a:r>
              <a:rPr lang="en-US" sz="28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 </a:t>
            </a:r>
            <a:endParaRPr lang="en-US" sz="28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23074" lvl="1" indent="-361537" algn="l">
              <a:lnSpc>
                <a:spcPts val="5023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Punctuation Placement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Commas and periods go inside quotation marks in standard practice.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2834" y="1293175"/>
            <a:ext cx="15073820" cy="8813779"/>
            <a:chOff x="0" y="0"/>
            <a:chExt cx="3970059" cy="20763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70060" cy="2076302"/>
            </a:xfrm>
            <a:custGeom>
              <a:avLst/>
              <a:gdLst/>
              <a:ahLst/>
              <a:cxnLst/>
              <a:rect l="l" t="t" r="r" b="b"/>
              <a:pathLst>
                <a:path w="3970060" h="2076302">
                  <a:moveTo>
                    <a:pt x="26194" y="0"/>
                  </a:moveTo>
                  <a:lnTo>
                    <a:pt x="3943866" y="0"/>
                  </a:lnTo>
                  <a:cubicBezTo>
                    <a:pt x="3950813" y="0"/>
                    <a:pt x="3957475" y="2760"/>
                    <a:pt x="3962388" y="7672"/>
                  </a:cubicBezTo>
                  <a:cubicBezTo>
                    <a:pt x="3967300" y="12584"/>
                    <a:pt x="3970060" y="19247"/>
                    <a:pt x="3970060" y="26194"/>
                  </a:cubicBezTo>
                  <a:lnTo>
                    <a:pt x="3970060" y="2050108"/>
                  </a:lnTo>
                  <a:cubicBezTo>
                    <a:pt x="3970060" y="2064574"/>
                    <a:pt x="3958332" y="2076302"/>
                    <a:pt x="3943866" y="2076302"/>
                  </a:cubicBezTo>
                  <a:lnTo>
                    <a:pt x="26194" y="2076302"/>
                  </a:lnTo>
                  <a:cubicBezTo>
                    <a:pt x="11727" y="2076302"/>
                    <a:pt x="0" y="2064574"/>
                    <a:pt x="0" y="2050108"/>
                  </a:cubicBezTo>
                  <a:lnTo>
                    <a:pt x="0" y="26194"/>
                  </a:lnTo>
                  <a:cubicBezTo>
                    <a:pt x="0" y="11727"/>
                    <a:pt x="11727" y="0"/>
                    <a:pt x="26194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970059" cy="2133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66042" y="1589557"/>
            <a:ext cx="2707860" cy="8438008"/>
            <a:chOff x="0" y="0"/>
            <a:chExt cx="713181" cy="22223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3181" cy="2222356"/>
            </a:xfrm>
            <a:custGeom>
              <a:avLst/>
              <a:gdLst/>
              <a:ahLst/>
              <a:cxnLst/>
              <a:rect l="l" t="t" r="r" b="b"/>
              <a:pathLst>
                <a:path w="713181" h="2222356">
                  <a:moveTo>
                    <a:pt x="145812" y="0"/>
                  </a:moveTo>
                  <a:lnTo>
                    <a:pt x="567370" y="0"/>
                  </a:lnTo>
                  <a:cubicBezTo>
                    <a:pt x="647899" y="0"/>
                    <a:pt x="713181" y="65282"/>
                    <a:pt x="713181" y="145812"/>
                  </a:cubicBezTo>
                  <a:lnTo>
                    <a:pt x="713181" y="2076544"/>
                  </a:lnTo>
                  <a:cubicBezTo>
                    <a:pt x="713181" y="2157074"/>
                    <a:pt x="647899" y="2222356"/>
                    <a:pt x="567370" y="2222356"/>
                  </a:cubicBezTo>
                  <a:lnTo>
                    <a:pt x="145812" y="2222356"/>
                  </a:lnTo>
                  <a:cubicBezTo>
                    <a:pt x="65282" y="2222356"/>
                    <a:pt x="0" y="2157074"/>
                    <a:pt x="0" y="2076544"/>
                  </a:cubicBezTo>
                  <a:lnTo>
                    <a:pt x="0" y="145812"/>
                  </a:lnTo>
                  <a:cubicBezTo>
                    <a:pt x="0" y="65282"/>
                    <a:pt x="65282" y="0"/>
                    <a:pt x="1458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13181" cy="2279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29705" y="48368"/>
            <a:ext cx="9478744" cy="1129803"/>
            <a:chOff x="0" y="0"/>
            <a:chExt cx="2496459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170022" y="2294926"/>
            <a:ext cx="1413995" cy="4114800"/>
          </a:xfrm>
          <a:custGeom>
            <a:avLst/>
            <a:gdLst/>
            <a:ahLst/>
            <a:cxnLst/>
            <a:rect l="l" t="t" r="r" b="b"/>
            <a:pathLst>
              <a:path w="1413995" h="4114800">
                <a:moveTo>
                  <a:pt x="0" y="0"/>
                </a:moveTo>
                <a:lnTo>
                  <a:pt x="1413995" y="0"/>
                </a:lnTo>
                <a:lnTo>
                  <a:pt x="14139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Freeform 12"/>
          <p:cNvSpPr/>
          <p:nvPr/>
        </p:nvSpPr>
        <p:spPr>
          <a:xfrm>
            <a:off x="15580139" y="7048500"/>
            <a:ext cx="2593763" cy="2722461"/>
          </a:xfrm>
          <a:custGeom>
            <a:avLst/>
            <a:gdLst/>
            <a:ahLst/>
            <a:cxnLst/>
            <a:rect l="l" t="t" r="r" b="b"/>
            <a:pathLst>
              <a:path w="2593763" h="2722461">
                <a:moveTo>
                  <a:pt x="0" y="0"/>
                </a:moveTo>
                <a:lnTo>
                  <a:pt x="2593762" y="0"/>
                </a:lnTo>
                <a:lnTo>
                  <a:pt x="2593762" y="2722461"/>
                </a:lnTo>
                <a:lnTo>
                  <a:pt x="0" y="27224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96851" y="100655"/>
            <a:ext cx="642004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Semicolons (;)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4391" y="1346085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Use Semicolons: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4392" y="7412152"/>
            <a:ext cx="784140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Don’t Use Semicolons: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2830" y="1838585"/>
            <a:ext cx="14850347" cy="694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8112" lvl="1" indent="-364056" algn="l">
              <a:lnSpc>
                <a:spcPts val="5058"/>
              </a:lnSpc>
              <a:buFont typeface="Arial"/>
              <a:buChar char="•"/>
            </a:pPr>
            <a:r>
              <a:rPr lang="en-US" sz="3372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Semicolon (;): </a:t>
            </a:r>
            <a:r>
              <a:rPr lang="en-US" sz="337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Signals a pause longer than a comma but shorter than a period.  </a:t>
            </a:r>
          </a:p>
          <a:p>
            <a:pPr marL="728112" lvl="1" indent="-364056" algn="l">
              <a:lnSpc>
                <a:spcPct val="150000"/>
              </a:lnSpc>
              <a:buFont typeface="Arial"/>
              <a:buChar char="•"/>
            </a:pPr>
            <a:r>
              <a:rPr lang="en-US" sz="3372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Linking Clauses</a:t>
            </a:r>
            <a:r>
              <a:rPr lang="en-US" sz="337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Joins two closely related independent clauses without a conjunction.   </a:t>
            </a:r>
          </a:p>
          <a:p>
            <a:pPr marL="728112" lvl="1" indent="-364056">
              <a:lnSpc>
                <a:spcPct val="150000"/>
              </a:lnSpc>
              <a:buFont typeface="Arial"/>
              <a:buChar char="•"/>
            </a:pPr>
            <a:r>
              <a:rPr lang="en-US" sz="3372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</a:t>
            </a:r>
            <a:r>
              <a:rPr lang="en-US" sz="3372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omplex Series</a:t>
            </a:r>
            <a:r>
              <a:rPr lang="en-US" sz="337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</a:t>
            </a:r>
            <a:r>
              <a:rPr lang="en-US" sz="3200" dirty="0">
                <a:latin typeface="Libre Baskerville" panose="02000000000000000000" pitchFamily="2" charset="0"/>
              </a:rPr>
              <a:t>Use </a:t>
            </a:r>
            <a:r>
              <a:rPr lang="en-US" sz="3200" b="1" dirty="0">
                <a:latin typeface="Libre Baskerville" panose="02000000000000000000" pitchFamily="2" charset="0"/>
              </a:rPr>
              <a:t>semicolons</a:t>
            </a:r>
            <a:r>
              <a:rPr lang="en-US" sz="3200" dirty="0">
                <a:latin typeface="Libre Baskerville" panose="02000000000000000000" pitchFamily="2" charset="0"/>
              </a:rPr>
              <a:t> to separate items in a list if the items already have </a:t>
            </a:r>
            <a:r>
              <a:rPr lang="en-US" sz="3200" b="1" dirty="0">
                <a:latin typeface="Libre Baskerville" panose="02000000000000000000" pitchFamily="2" charset="0"/>
              </a:rPr>
              <a:t>commas</a:t>
            </a:r>
            <a:r>
              <a:rPr lang="en-US" sz="3200" dirty="0">
                <a:latin typeface="Libre Baskerville" panose="02000000000000000000" pitchFamily="2" charset="0"/>
              </a:rPr>
              <a:t> inside them</a:t>
            </a:r>
            <a:r>
              <a:rPr lang="en-US" sz="3200" dirty="0">
                <a:solidFill>
                  <a:srgbClr val="000000"/>
                </a:solidFill>
                <a:latin typeface="Libre Baskerville" panose="02000000000000000000" pitchFamily="2" charset="0"/>
                <a:ea typeface="Libre Baskerville"/>
                <a:cs typeface="Libre Baskerville"/>
                <a:sym typeface="Libre Baskerville"/>
              </a:rPr>
              <a:t>.  </a:t>
            </a:r>
          </a:p>
          <a:p>
            <a:pPr marL="728112" lvl="1" indent="-364056" algn="l">
              <a:lnSpc>
                <a:spcPts val="5058"/>
              </a:lnSpc>
              <a:buFont typeface="Arial"/>
              <a:buChar char="•"/>
            </a:pPr>
            <a:r>
              <a:rPr lang="en-US" sz="337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I played golf, which I love; read a book, which I needed; and slept late. </a:t>
            </a:r>
          </a:p>
          <a:p>
            <a:pPr marL="364056" lvl="1" algn="l">
              <a:lnSpc>
                <a:spcPts val="5058"/>
              </a:lnSpc>
            </a:pPr>
            <a:r>
              <a:rPr lang="en-US" sz="3372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</a:p>
          <a:p>
            <a:pPr algn="l">
              <a:lnSpc>
                <a:spcPts val="5058"/>
              </a:lnSpc>
            </a:pPr>
            <a:endParaRPr lang="en-US" sz="3372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46540" y="8211493"/>
            <a:ext cx="14233093" cy="1235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9826" lvl="1" indent="-359913" algn="l">
              <a:lnSpc>
                <a:spcPts val="5001"/>
              </a:lnSpc>
              <a:buFont typeface="Arial"/>
              <a:buChar char="•"/>
            </a:pPr>
            <a:r>
              <a:rPr lang="en-US" sz="3334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 join an independent clause with a dependent clause</a:t>
            </a:r>
          </a:p>
          <a:p>
            <a:pPr marL="719826" lvl="1" indent="-359913" algn="l">
              <a:lnSpc>
                <a:spcPts val="5001"/>
              </a:lnSpc>
              <a:buFont typeface="Arial"/>
              <a:buChar char="•"/>
            </a:pPr>
            <a:r>
              <a:rPr lang="en-US" sz="3334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After a dependent clause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6846"/>
            <a:ext cx="10100075" cy="6621454"/>
            <a:chOff x="0" y="0"/>
            <a:chExt cx="2660102" cy="1743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0102" cy="1743922"/>
            </a:xfrm>
            <a:custGeom>
              <a:avLst/>
              <a:gdLst/>
              <a:ahLst/>
              <a:cxnLst/>
              <a:rect l="l" t="t" r="r" b="b"/>
              <a:pathLst>
                <a:path w="2660102" h="174392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60102" cy="180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3579" y="745233"/>
            <a:ext cx="5415721" cy="8513067"/>
            <a:chOff x="0" y="0"/>
            <a:chExt cx="1426363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6363" cy="2242125"/>
            </a:xfrm>
            <a:custGeom>
              <a:avLst/>
              <a:gdLst/>
              <a:ahLst/>
              <a:cxnLst/>
              <a:rect l="l" t="t" r="r" b="b"/>
              <a:pathLst>
                <a:path w="1426363" h="2242125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26363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20292"/>
            <a:ext cx="9478744" cy="1208662"/>
            <a:chOff x="0" y="0"/>
            <a:chExt cx="2496459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035495" y="1135420"/>
            <a:ext cx="811288" cy="2360890"/>
          </a:xfrm>
          <a:custGeom>
            <a:avLst/>
            <a:gdLst/>
            <a:ahLst/>
            <a:cxnLst/>
            <a:rect l="l" t="t" r="r" b="b"/>
            <a:pathLst>
              <a:path w="811288" h="2360890">
                <a:moveTo>
                  <a:pt x="0" y="0"/>
                </a:moveTo>
                <a:lnTo>
                  <a:pt x="811288" y="0"/>
                </a:lnTo>
                <a:lnTo>
                  <a:pt x="811288" y="2360890"/>
                </a:lnTo>
                <a:lnTo>
                  <a:pt x="0" y="2360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541443" y="4255390"/>
            <a:ext cx="2349720" cy="4786466"/>
          </a:xfrm>
          <a:custGeom>
            <a:avLst/>
            <a:gdLst/>
            <a:ahLst/>
            <a:cxnLst/>
            <a:rect l="l" t="t" r="r" b="b"/>
            <a:pathLst>
              <a:path w="2349720" h="4786466">
                <a:moveTo>
                  <a:pt x="0" y="0"/>
                </a:moveTo>
                <a:lnTo>
                  <a:pt x="2349720" y="0"/>
                </a:lnTo>
                <a:lnTo>
                  <a:pt x="2349720" y="4786467"/>
                </a:lnTo>
                <a:lnTo>
                  <a:pt x="0" y="4786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65787" y="995998"/>
            <a:ext cx="717117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Semicolons &amp; Clauses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5947" y="2915920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5947" y="5927028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5787" y="6672698"/>
            <a:ext cx="9241657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George loves to use his compass when he travels; he has been to Italy, Spain, and Germany.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5787" y="3926777"/>
            <a:ext cx="9241657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George loves to use his compass when he travels, he has been to Italy, Spain, and Germany,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6846"/>
            <a:ext cx="10100075" cy="6861153"/>
            <a:chOff x="0" y="0"/>
            <a:chExt cx="2660102" cy="18070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0102" cy="1807053"/>
            </a:xfrm>
            <a:custGeom>
              <a:avLst/>
              <a:gdLst/>
              <a:ahLst/>
              <a:cxnLst/>
              <a:rect l="l" t="t" r="r" b="b"/>
              <a:pathLst>
                <a:path w="2660102" h="1807053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67960"/>
                  </a:lnTo>
                  <a:cubicBezTo>
                    <a:pt x="2660102" y="1778328"/>
                    <a:pt x="2655983" y="1788271"/>
                    <a:pt x="2648652" y="1795603"/>
                  </a:cubicBezTo>
                  <a:cubicBezTo>
                    <a:pt x="2641321" y="1802934"/>
                    <a:pt x="2631377" y="1807053"/>
                    <a:pt x="2621009" y="1807053"/>
                  </a:cubicBezTo>
                  <a:lnTo>
                    <a:pt x="39093" y="1807053"/>
                  </a:lnTo>
                  <a:cubicBezTo>
                    <a:pt x="28725" y="1807053"/>
                    <a:pt x="18781" y="1802934"/>
                    <a:pt x="11450" y="1795603"/>
                  </a:cubicBezTo>
                  <a:cubicBezTo>
                    <a:pt x="4119" y="1788271"/>
                    <a:pt x="0" y="1778328"/>
                    <a:pt x="0" y="1767960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60102" cy="1864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3579" y="745233"/>
            <a:ext cx="5415721" cy="8513067"/>
            <a:chOff x="0" y="0"/>
            <a:chExt cx="1426363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6363" cy="2242125"/>
            </a:xfrm>
            <a:custGeom>
              <a:avLst/>
              <a:gdLst/>
              <a:ahLst/>
              <a:cxnLst/>
              <a:rect l="l" t="t" r="r" b="b"/>
              <a:pathLst>
                <a:path w="1426363" h="2242125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26363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20292"/>
            <a:ext cx="9478744" cy="1208662"/>
            <a:chOff x="0" y="0"/>
            <a:chExt cx="2496459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035495" y="1135420"/>
            <a:ext cx="811288" cy="2360890"/>
          </a:xfrm>
          <a:custGeom>
            <a:avLst/>
            <a:gdLst/>
            <a:ahLst/>
            <a:cxnLst/>
            <a:rect l="l" t="t" r="r" b="b"/>
            <a:pathLst>
              <a:path w="811288" h="2360890">
                <a:moveTo>
                  <a:pt x="0" y="0"/>
                </a:moveTo>
                <a:lnTo>
                  <a:pt x="811288" y="0"/>
                </a:lnTo>
                <a:lnTo>
                  <a:pt x="811288" y="2360890"/>
                </a:lnTo>
                <a:lnTo>
                  <a:pt x="0" y="23608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014287" y="4441283"/>
            <a:ext cx="5074305" cy="4114800"/>
          </a:xfrm>
          <a:custGeom>
            <a:avLst/>
            <a:gdLst/>
            <a:ahLst/>
            <a:cxnLst/>
            <a:rect l="l" t="t" r="r" b="b"/>
            <a:pathLst>
              <a:path w="5074305" h="4114800">
                <a:moveTo>
                  <a:pt x="0" y="0"/>
                </a:moveTo>
                <a:lnTo>
                  <a:pt x="5074305" y="0"/>
                </a:lnTo>
                <a:lnTo>
                  <a:pt x="50743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65787" y="995998"/>
            <a:ext cx="986298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Semicolons &amp; Commas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5495" y="2915920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5495" y="5927028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5495" y="6879682"/>
            <a:ext cx="8473348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Today I met Linda, who is a parent; Alex, who is a teacher; and Ali, who is a student.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5495" y="3926777"/>
            <a:ext cx="8473348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Today I met Linda, a parent, Alex, a teacher, and Ali, a student.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111" y="1454421"/>
            <a:ext cx="15141624" cy="8742377"/>
            <a:chOff x="0" y="0"/>
            <a:chExt cx="3586016" cy="23025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6016" cy="2302519"/>
            </a:xfrm>
            <a:custGeom>
              <a:avLst/>
              <a:gdLst/>
              <a:ahLst/>
              <a:cxnLst/>
              <a:rect l="l" t="t" r="r" b="b"/>
              <a:pathLst>
                <a:path w="3586016" h="2302519">
                  <a:moveTo>
                    <a:pt x="28999" y="0"/>
                  </a:moveTo>
                  <a:lnTo>
                    <a:pt x="3557017" y="0"/>
                  </a:lnTo>
                  <a:cubicBezTo>
                    <a:pt x="3573032" y="0"/>
                    <a:pt x="3586016" y="12983"/>
                    <a:pt x="3586016" y="28999"/>
                  </a:cubicBezTo>
                  <a:lnTo>
                    <a:pt x="3586016" y="2273520"/>
                  </a:lnTo>
                  <a:cubicBezTo>
                    <a:pt x="3586016" y="2289536"/>
                    <a:pt x="3573032" y="2302519"/>
                    <a:pt x="3557017" y="2302519"/>
                  </a:cubicBezTo>
                  <a:lnTo>
                    <a:pt x="28999" y="2302519"/>
                  </a:lnTo>
                  <a:cubicBezTo>
                    <a:pt x="12983" y="2302519"/>
                    <a:pt x="0" y="2289536"/>
                    <a:pt x="0" y="2273520"/>
                  </a:cubicBezTo>
                  <a:lnTo>
                    <a:pt x="0" y="28999"/>
                  </a:lnTo>
                  <a:cubicBezTo>
                    <a:pt x="0" y="12983"/>
                    <a:pt x="12983" y="0"/>
                    <a:pt x="28999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586016" cy="2359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44800" y="745233"/>
            <a:ext cx="2533470" cy="8513067"/>
            <a:chOff x="0" y="0"/>
            <a:chExt cx="1084406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84406" cy="2242125"/>
            </a:xfrm>
            <a:custGeom>
              <a:avLst/>
              <a:gdLst/>
              <a:ahLst/>
              <a:cxnLst/>
              <a:rect l="l" t="t" r="r" b="b"/>
              <a:pathLst>
                <a:path w="1084406" h="2242125">
                  <a:moveTo>
                    <a:pt x="95896" y="0"/>
                  </a:moveTo>
                  <a:lnTo>
                    <a:pt x="988510" y="0"/>
                  </a:lnTo>
                  <a:cubicBezTo>
                    <a:pt x="1041472" y="0"/>
                    <a:pt x="1084406" y="42934"/>
                    <a:pt x="1084406" y="95896"/>
                  </a:cubicBezTo>
                  <a:lnTo>
                    <a:pt x="1084406" y="2146228"/>
                  </a:lnTo>
                  <a:cubicBezTo>
                    <a:pt x="1084406" y="2199190"/>
                    <a:pt x="1041472" y="2242125"/>
                    <a:pt x="988510" y="2242125"/>
                  </a:cubicBezTo>
                  <a:lnTo>
                    <a:pt x="95896" y="2242125"/>
                  </a:lnTo>
                  <a:cubicBezTo>
                    <a:pt x="42934" y="2242125"/>
                    <a:pt x="0" y="2199190"/>
                    <a:pt x="0" y="2146228"/>
                  </a:cubicBezTo>
                  <a:lnTo>
                    <a:pt x="0" y="95896"/>
                  </a:lnTo>
                  <a:cubicBezTo>
                    <a:pt x="0" y="42934"/>
                    <a:pt x="42934" y="0"/>
                    <a:pt x="9589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84406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68154" y="225190"/>
            <a:ext cx="8172791" cy="1042136"/>
            <a:chOff x="0" y="0"/>
            <a:chExt cx="2496459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554751" y="1404881"/>
            <a:ext cx="1007006" cy="3306929"/>
            <a:chOff x="0" y="0"/>
            <a:chExt cx="1827243" cy="4610463"/>
          </a:xfrm>
        </p:grpSpPr>
        <p:sp>
          <p:nvSpPr>
            <p:cNvPr id="12" name="Freeform 12"/>
            <p:cNvSpPr/>
            <p:nvPr/>
          </p:nvSpPr>
          <p:spPr>
            <a:xfrm flipV="1">
              <a:off x="0" y="0"/>
              <a:ext cx="1827243" cy="1874969"/>
            </a:xfrm>
            <a:custGeom>
              <a:avLst/>
              <a:gdLst/>
              <a:ahLst/>
              <a:cxnLst/>
              <a:rect l="l" t="t" r="r" b="b"/>
              <a:pathLst>
                <a:path w="1827243" h="1874969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V="1">
              <a:off x="0" y="2735494"/>
              <a:ext cx="1827243" cy="1874969"/>
            </a:xfrm>
            <a:custGeom>
              <a:avLst/>
              <a:gdLst/>
              <a:ahLst/>
              <a:cxnLst/>
              <a:rect l="l" t="t" r="r" b="b"/>
              <a:pathLst>
                <a:path w="1827243" h="1874969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956355" y="6057900"/>
            <a:ext cx="2071034" cy="2590800"/>
          </a:xfrm>
          <a:custGeom>
            <a:avLst/>
            <a:gdLst/>
            <a:ahLst/>
            <a:cxnLst/>
            <a:rect l="l" t="t" r="r" b="b"/>
            <a:pathLst>
              <a:path w="2735282" h="2843866">
                <a:moveTo>
                  <a:pt x="0" y="0"/>
                </a:moveTo>
                <a:lnTo>
                  <a:pt x="2735282" y="0"/>
                </a:lnTo>
                <a:lnTo>
                  <a:pt x="2735282" y="2843865"/>
                </a:lnTo>
                <a:lnTo>
                  <a:pt x="0" y="2843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85800" y="191995"/>
            <a:ext cx="642004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Apostrophe (')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-64465" y="1454421"/>
            <a:ext cx="15316200" cy="8522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50173" lvl="1" indent="-425087" algn="l">
              <a:lnSpc>
                <a:spcPts val="5906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Contractions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It marks omitted letters in shortened words.  </a:t>
            </a:r>
          </a:p>
          <a:p>
            <a:pPr marL="785392" lvl="1" indent="-392696" algn="l">
              <a:lnSpc>
                <a:spcPts val="5456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Examples: mustn't (must not), what's (what is), we'll (we will), It’s (It is).</a:t>
            </a:r>
          </a:p>
          <a:p>
            <a:pPr algn="l">
              <a:lnSpc>
                <a:spcPts val="5906"/>
              </a:lnSpc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</a:p>
          <a:p>
            <a:pPr marL="785392" lvl="1" indent="-392696" algn="l">
              <a:lnSpc>
                <a:spcPts val="5456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Singular &amp; Plural Possession:</a:t>
            </a:r>
          </a:p>
          <a:p>
            <a:pPr marL="806301" lvl="1" indent="-403150" algn="l">
              <a:lnSpc>
                <a:spcPts val="5601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's for singular nouns/words having no [s] sound in the end (e.g., Zarif's money, the car's color).</a:t>
            </a:r>
          </a:p>
          <a:p>
            <a:pPr algn="l">
              <a:lnSpc>
                <a:spcPts val="5601"/>
              </a:lnSpc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</a:t>
            </a:r>
          </a:p>
          <a:p>
            <a:pPr marL="785392" lvl="1" indent="-392696" algn="l">
              <a:lnSpc>
                <a:spcPts val="5456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 only (</a:t>
            </a:r>
            <a:r>
              <a:rPr lang="en-US" sz="2800" b="1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‘)</a:t>
            </a: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after regular plural nouns ending in ‘s’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(e.g., the students' books).</a:t>
            </a:r>
          </a:p>
          <a:p>
            <a:pPr algn="l">
              <a:lnSpc>
                <a:spcPts val="5456"/>
              </a:lnSpc>
            </a:pPr>
            <a:endParaRPr lang="en-US" sz="28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85392" lvl="1" indent="-392696" algn="l">
              <a:lnSpc>
                <a:spcPts val="5456"/>
              </a:lnSpc>
              <a:buFont typeface="Arial"/>
              <a:buChar char="•"/>
            </a:pPr>
            <a:r>
              <a:rPr lang="en-US" sz="28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Pluralizing Non-Words</a:t>
            </a: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It marks plurals of single letters or numbers to prevent confusion.  </a:t>
            </a:r>
          </a:p>
          <a:p>
            <a:pPr marL="788283" lvl="1" indent="-394142"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</a:t>
            </a:r>
            <a:r>
              <a:rPr lang="en-US" sz="2800" dirty="0">
                <a:latin typeface="Libre Baskerville" panose="02000000000000000000" pitchFamily="2" charset="0"/>
              </a:rPr>
              <a:t>They received mostly A's and B's on the reports.</a:t>
            </a:r>
            <a:endParaRPr lang="en-US" sz="2800" dirty="0">
              <a:solidFill>
                <a:srgbClr val="000000"/>
              </a:solidFill>
              <a:latin typeface="Libre Baskerville" panose="02000000000000000000" pitchFamily="2" charset="0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6545" y="2757624"/>
            <a:ext cx="10379723" cy="7034076"/>
            <a:chOff x="0" y="0"/>
            <a:chExt cx="2733754" cy="14976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3754" cy="1497605"/>
            </a:xfrm>
            <a:custGeom>
              <a:avLst/>
              <a:gdLst/>
              <a:ahLst/>
              <a:cxnLst/>
              <a:rect l="l" t="t" r="r" b="b"/>
              <a:pathLst>
                <a:path w="2733754" h="1497605">
                  <a:moveTo>
                    <a:pt x="38039" y="0"/>
                  </a:moveTo>
                  <a:lnTo>
                    <a:pt x="2695715" y="0"/>
                  </a:lnTo>
                  <a:cubicBezTo>
                    <a:pt x="2716724" y="0"/>
                    <a:pt x="2733754" y="17031"/>
                    <a:pt x="2733754" y="38039"/>
                  </a:cubicBezTo>
                  <a:lnTo>
                    <a:pt x="2733754" y="1459566"/>
                  </a:lnTo>
                  <a:cubicBezTo>
                    <a:pt x="2733754" y="1469655"/>
                    <a:pt x="2729747" y="1479330"/>
                    <a:pt x="2722613" y="1486464"/>
                  </a:cubicBezTo>
                  <a:cubicBezTo>
                    <a:pt x="2715479" y="1493598"/>
                    <a:pt x="2705804" y="1497605"/>
                    <a:pt x="2695715" y="1497605"/>
                  </a:cubicBezTo>
                  <a:lnTo>
                    <a:pt x="38039" y="1497605"/>
                  </a:lnTo>
                  <a:cubicBezTo>
                    <a:pt x="27951" y="1497605"/>
                    <a:pt x="18275" y="1493598"/>
                    <a:pt x="11141" y="1486464"/>
                  </a:cubicBezTo>
                  <a:cubicBezTo>
                    <a:pt x="4008" y="1479330"/>
                    <a:pt x="0" y="1469655"/>
                    <a:pt x="0" y="1459566"/>
                  </a:cubicBezTo>
                  <a:lnTo>
                    <a:pt x="0" y="38039"/>
                  </a:lnTo>
                  <a:cubicBezTo>
                    <a:pt x="0" y="27951"/>
                    <a:pt x="4008" y="18275"/>
                    <a:pt x="11141" y="11141"/>
                  </a:cubicBezTo>
                  <a:cubicBezTo>
                    <a:pt x="18275" y="4008"/>
                    <a:pt x="27951" y="0"/>
                    <a:pt x="38039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733754" cy="155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3579" y="745233"/>
            <a:ext cx="5415721" cy="8513067"/>
            <a:chOff x="0" y="0"/>
            <a:chExt cx="1426363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6363" cy="2242125"/>
            </a:xfrm>
            <a:custGeom>
              <a:avLst/>
              <a:gdLst/>
              <a:ahLst/>
              <a:cxnLst/>
              <a:rect l="l" t="t" r="r" b="b"/>
              <a:pathLst>
                <a:path w="1426363" h="2242125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26363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20292"/>
            <a:ext cx="9478744" cy="1208662"/>
            <a:chOff x="0" y="0"/>
            <a:chExt cx="2496459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126405" y="1028700"/>
            <a:ext cx="1370432" cy="3457848"/>
            <a:chOff x="0" y="0"/>
            <a:chExt cx="1827243" cy="4610463"/>
          </a:xfrm>
        </p:grpSpPr>
        <p:sp>
          <p:nvSpPr>
            <p:cNvPr id="12" name="Freeform 12"/>
            <p:cNvSpPr/>
            <p:nvPr/>
          </p:nvSpPr>
          <p:spPr>
            <a:xfrm flipV="1">
              <a:off x="0" y="0"/>
              <a:ext cx="1827243" cy="1874969"/>
            </a:xfrm>
            <a:custGeom>
              <a:avLst/>
              <a:gdLst/>
              <a:ahLst/>
              <a:cxnLst/>
              <a:rect l="l" t="t" r="r" b="b"/>
              <a:pathLst>
                <a:path w="1827243" h="1874969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V="1">
              <a:off x="0" y="2735494"/>
              <a:ext cx="1827243" cy="1874969"/>
            </a:xfrm>
            <a:custGeom>
              <a:avLst/>
              <a:gdLst/>
              <a:ahLst/>
              <a:cxnLst/>
              <a:rect l="l" t="t" r="r" b="b"/>
              <a:pathLst>
                <a:path w="1827243" h="1874969">
                  <a:moveTo>
                    <a:pt x="0" y="1874969"/>
                  </a:moveTo>
                  <a:lnTo>
                    <a:pt x="1827243" y="1874969"/>
                  </a:lnTo>
                  <a:lnTo>
                    <a:pt x="1827243" y="0"/>
                  </a:lnTo>
                  <a:lnTo>
                    <a:pt x="0" y="0"/>
                  </a:lnTo>
                  <a:lnTo>
                    <a:pt x="0" y="187496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2572595" y="4840796"/>
            <a:ext cx="3957689" cy="4114800"/>
          </a:xfrm>
          <a:custGeom>
            <a:avLst/>
            <a:gdLst/>
            <a:ahLst/>
            <a:cxnLst/>
            <a:rect l="l" t="t" r="r" b="b"/>
            <a:pathLst>
              <a:path w="3957689" h="4114800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31398" y="933450"/>
            <a:ext cx="642004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Colons (:)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5495" y="2915920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 Use Colons: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3916823"/>
            <a:ext cx="9795764" cy="4525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9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Introducing Lists/Explanations</a:t>
            </a:r>
            <a:r>
              <a:rPr lang="en-US" sz="379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</a:t>
            </a:r>
            <a:r>
              <a:rPr lang="en-US" sz="4000" dirty="0">
                <a:latin typeface="Libre Baskerville" panose="02000000000000000000" pitchFamily="2" charset="0"/>
              </a:rPr>
              <a:t>Use a </a:t>
            </a:r>
            <a:r>
              <a:rPr lang="en-US" sz="4000" b="1" dirty="0">
                <a:latin typeface="Libre Baskerville" panose="02000000000000000000" pitchFamily="2" charset="0"/>
              </a:rPr>
              <a:t>colon</a:t>
            </a:r>
            <a:r>
              <a:rPr lang="en-US" sz="4000" dirty="0">
                <a:latin typeface="Libre Baskerville" panose="02000000000000000000" pitchFamily="2" charset="0"/>
              </a:rPr>
              <a:t> to introduce a list or explanation after a complete sentence.</a:t>
            </a:r>
          </a:p>
          <a:p>
            <a:endParaRPr lang="en-US" sz="379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861469" lvl="1" indent="-430734" algn="l">
              <a:lnSpc>
                <a:spcPts val="5985"/>
              </a:lnSpc>
              <a:buFont typeface="Arial"/>
              <a:buChar char="•"/>
            </a:pPr>
            <a:r>
              <a:rPr lang="en-US" sz="399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Example: I need the following items: scissors, paper, and glue.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636846"/>
            <a:ext cx="10100075" cy="6621454"/>
            <a:chOff x="0" y="0"/>
            <a:chExt cx="2660102" cy="17439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0102" cy="1743922"/>
            </a:xfrm>
            <a:custGeom>
              <a:avLst/>
              <a:gdLst/>
              <a:ahLst/>
              <a:cxnLst/>
              <a:rect l="l" t="t" r="r" b="b"/>
              <a:pathLst>
                <a:path w="2660102" h="1743922">
                  <a:moveTo>
                    <a:pt x="39093" y="0"/>
                  </a:moveTo>
                  <a:lnTo>
                    <a:pt x="2621009" y="0"/>
                  </a:lnTo>
                  <a:cubicBezTo>
                    <a:pt x="2642600" y="0"/>
                    <a:pt x="2660102" y="17502"/>
                    <a:pt x="2660102" y="39093"/>
                  </a:cubicBezTo>
                  <a:lnTo>
                    <a:pt x="2660102" y="1704829"/>
                  </a:lnTo>
                  <a:cubicBezTo>
                    <a:pt x="2660102" y="1715197"/>
                    <a:pt x="2655983" y="1725141"/>
                    <a:pt x="2648652" y="1732472"/>
                  </a:cubicBezTo>
                  <a:cubicBezTo>
                    <a:pt x="2641321" y="1739803"/>
                    <a:pt x="2631377" y="1743922"/>
                    <a:pt x="2621009" y="1743922"/>
                  </a:cubicBezTo>
                  <a:lnTo>
                    <a:pt x="39093" y="1743922"/>
                  </a:lnTo>
                  <a:cubicBezTo>
                    <a:pt x="17502" y="1743922"/>
                    <a:pt x="0" y="1726420"/>
                    <a:pt x="0" y="1704829"/>
                  </a:cubicBezTo>
                  <a:lnTo>
                    <a:pt x="0" y="39093"/>
                  </a:lnTo>
                  <a:cubicBezTo>
                    <a:pt x="0" y="28725"/>
                    <a:pt x="4119" y="18781"/>
                    <a:pt x="11450" y="11450"/>
                  </a:cubicBezTo>
                  <a:cubicBezTo>
                    <a:pt x="18781" y="4119"/>
                    <a:pt x="28725" y="0"/>
                    <a:pt x="39093" y="0"/>
                  </a:cubicBezTo>
                  <a:close/>
                </a:path>
              </a:pathLst>
            </a:custGeom>
            <a:solidFill>
              <a:srgbClr val="F6F0D2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660102" cy="1801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43579" y="745233"/>
            <a:ext cx="5415721" cy="8513067"/>
            <a:chOff x="0" y="0"/>
            <a:chExt cx="1426363" cy="2242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26363" cy="2242125"/>
            </a:xfrm>
            <a:custGeom>
              <a:avLst/>
              <a:gdLst/>
              <a:ahLst/>
              <a:cxnLst/>
              <a:rect l="l" t="t" r="r" b="b"/>
              <a:pathLst>
                <a:path w="1426363" h="2242125">
                  <a:moveTo>
                    <a:pt x="72906" y="0"/>
                  </a:moveTo>
                  <a:lnTo>
                    <a:pt x="1353457" y="0"/>
                  </a:lnTo>
                  <a:cubicBezTo>
                    <a:pt x="1372793" y="0"/>
                    <a:pt x="1391337" y="7681"/>
                    <a:pt x="1405009" y="21354"/>
                  </a:cubicBezTo>
                  <a:cubicBezTo>
                    <a:pt x="1418682" y="35026"/>
                    <a:pt x="1426363" y="53570"/>
                    <a:pt x="1426363" y="72906"/>
                  </a:cubicBezTo>
                  <a:lnTo>
                    <a:pt x="1426363" y="2169219"/>
                  </a:lnTo>
                  <a:cubicBezTo>
                    <a:pt x="1426363" y="2188555"/>
                    <a:pt x="1418682" y="2207098"/>
                    <a:pt x="1405009" y="2220771"/>
                  </a:cubicBezTo>
                  <a:cubicBezTo>
                    <a:pt x="1391337" y="2234443"/>
                    <a:pt x="1372793" y="2242125"/>
                    <a:pt x="1353457" y="2242125"/>
                  </a:cubicBezTo>
                  <a:lnTo>
                    <a:pt x="72906" y="2242125"/>
                  </a:lnTo>
                  <a:cubicBezTo>
                    <a:pt x="53570" y="2242125"/>
                    <a:pt x="35026" y="2234443"/>
                    <a:pt x="21354" y="2220771"/>
                  </a:cubicBezTo>
                  <a:cubicBezTo>
                    <a:pt x="7681" y="2207098"/>
                    <a:pt x="0" y="2188555"/>
                    <a:pt x="0" y="2169219"/>
                  </a:cubicBezTo>
                  <a:lnTo>
                    <a:pt x="0" y="72906"/>
                  </a:lnTo>
                  <a:cubicBezTo>
                    <a:pt x="0" y="53570"/>
                    <a:pt x="7681" y="35026"/>
                    <a:pt x="21354" y="21354"/>
                  </a:cubicBezTo>
                  <a:cubicBezTo>
                    <a:pt x="35026" y="7681"/>
                    <a:pt x="53570" y="0"/>
                    <a:pt x="7290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26363" cy="2299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820292"/>
            <a:ext cx="9478744" cy="1208662"/>
            <a:chOff x="0" y="0"/>
            <a:chExt cx="2496459" cy="3183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96459" cy="318331"/>
            </a:xfrm>
            <a:custGeom>
              <a:avLst/>
              <a:gdLst/>
              <a:ahLst/>
              <a:cxnLst/>
              <a:rect l="l" t="t" r="r" b="b"/>
              <a:pathLst>
                <a:path w="2496459" h="318331">
                  <a:moveTo>
                    <a:pt x="2293259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2293259" y="318331"/>
                  </a:lnTo>
                  <a:lnTo>
                    <a:pt x="2496459" y="159165"/>
                  </a:lnTo>
                  <a:lnTo>
                    <a:pt x="2293259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82159" cy="3754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310073" y="1028700"/>
            <a:ext cx="1024247" cy="2584359"/>
            <a:chOff x="0" y="0"/>
            <a:chExt cx="1365662" cy="3445813"/>
          </a:xfrm>
        </p:grpSpPr>
        <p:sp>
          <p:nvSpPr>
            <p:cNvPr id="12" name="Freeform 12"/>
            <p:cNvSpPr/>
            <p:nvPr/>
          </p:nvSpPr>
          <p:spPr>
            <a:xfrm flipV="1">
              <a:off x="0" y="0"/>
              <a:ext cx="1365662" cy="1401333"/>
            </a:xfrm>
            <a:custGeom>
              <a:avLst/>
              <a:gdLst/>
              <a:ahLst/>
              <a:cxnLst/>
              <a:rect l="l" t="t" r="r" b="b"/>
              <a:pathLst>
                <a:path w="1365662" h="1401333">
                  <a:moveTo>
                    <a:pt x="0" y="1401333"/>
                  </a:moveTo>
                  <a:lnTo>
                    <a:pt x="1365662" y="1401333"/>
                  </a:lnTo>
                  <a:lnTo>
                    <a:pt x="1365662" y="0"/>
                  </a:lnTo>
                  <a:lnTo>
                    <a:pt x="0" y="0"/>
                  </a:lnTo>
                  <a:lnTo>
                    <a:pt x="0" y="1401333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flipV="1">
              <a:off x="0" y="2044480"/>
              <a:ext cx="1365662" cy="1401333"/>
            </a:xfrm>
            <a:custGeom>
              <a:avLst/>
              <a:gdLst/>
              <a:ahLst/>
              <a:cxnLst/>
              <a:rect l="l" t="t" r="r" b="b"/>
              <a:pathLst>
                <a:path w="1365662" h="1401333">
                  <a:moveTo>
                    <a:pt x="0" y="1401333"/>
                  </a:moveTo>
                  <a:lnTo>
                    <a:pt x="1365662" y="1401333"/>
                  </a:lnTo>
                  <a:lnTo>
                    <a:pt x="1365662" y="0"/>
                  </a:lnTo>
                  <a:lnTo>
                    <a:pt x="0" y="0"/>
                  </a:lnTo>
                  <a:lnTo>
                    <a:pt x="0" y="1401333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2226578" y="4536378"/>
            <a:ext cx="4649724" cy="4114800"/>
          </a:xfrm>
          <a:custGeom>
            <a:avLst/>
            <a:gdLst/>
            <a:ahLst/>
            <a:cxnLst/>
            <a:rect l="l" t="t" r="r" b="b"/>
            <a:pathLst>
              <a:path w="4649724" h="4114800">
                <a:moveTo>
                  <a:pt x="0" y="0"/>
                </a:moveTo>
                <a:lnTo>
                  <a:pt x="4649724" y="0"/>
                </a:lnTo>
                <a:lnTo>
                  <a:pt x="46497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65787" y="995998"/>
            <a:ext cx="825111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Colons &amp; Lists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5495" y="2915920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Incorrect: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5495" y="5927028"/>
            <a:ext cx="7841405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Correct: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5495" y="6879682"/>
            <a:ext cx="8473348" cy="132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cake needs to have three ingredients: flour, sugar, and eggs.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5495" y="3926777"/>
            <a:ext cx="8473348" cy="643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599">
                <a:solidFill>
                  <a:srgbClr val="FF313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cake needs to have: flour, sugar, and eggs.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9027" y="367808"/>
            <a:ext cx="4405787" cy="1042136"/>
            <a:chOff x="0" y="0"/>
            <a:chExt cx="1345791" cy="318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5791" cy="318331"/>
            </a:xfrm>
            <a:custGeom>
              <a:avLst/>
              <a:gdLst/>
              <a:ahLst/>
              <a:cxnLst/>
              <a:rect l="l" t="t" r="r" b="b"/>
              <a:pathLst>
                <a:path w="1345791" h="318331">
                  <a:moveTo>
                    <a:pt x="1142591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1142591" y="318331"/>
                  </a:lnTo>
                  <a:lnTo>
                    <a:pt x="1345791" y="159165"/>
                  </a:lnTo>
                  <a:lnTo>
                    <a:pt x="1142591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231491" cy="423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Practice Passages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400" y="1562100"/>
            <a:ext cx="17288681" cy="7665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0173" lvl="1" indent="-425086" algn="l">
              <a:lnSpc>
                <a:spcPts val="5906"/>
              </a:lnSpc>
              <a:buFont typeface="Arial"/>
              <a:buChar char="•"/>
            </a:pPr>
            <a:r>
              <a:rPr lang="en-US" sz="3937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Uncorrected Passage (A)</a:t>
            </a:r>
            <a:r>
              <a:rPr lang="en-US" sz="3937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</a:t>
            </a:r>
          </a:p>
          <a:p>
            <a:pPr marL="788283" lvl="1" indent="-394142" algn="l">
              <a:lnSpc>
                <a:spcPts val="5476"/>
              </a:lnSpc>
              <a:buFont typeface="Arial"/>
              <a:buChar char="•"/>
            </a:pP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Last week, we traveled to </a:t>
            </a:r>
            <a:r>
              <a:rPr lang="en-US" sz="3651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sylhet</a:t>
            </a: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to see the famous tea gardens. We visited sites like the </a:t>
            </a:r>
            <a:r>
              <a:rPr lang="en-US" sz="3651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ratargul</a:t>
            </a: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swamp forest and the shrine of Hazrat Shah Jalal. Our driver, </a:t>
            </a:r>
            <a:r>
              <a:rPr lang="en-US" sz="3651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mr.</a:t>
            </a: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651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karim</a:t>
            </a: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shared fascinating stories about the region. "have you ever seen," he asked, "a forest submerged under water?" It was an unforgettable trip.</a:t>
            </a:r>
          </a:p>
          <a:p>
            <a:pPr algn="l">
              <a:lnSpc>
                <a:spcPts val="5476"/>
              </a:lnSpc>
            </a:pPr>
            <a:endParaRPr lang="en-US" sz="3651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88283" lvl="1" indent="-394142" algn="l">
              <a:lnSpc>
                <a:spcPts val="5476"/>
              </a:lnSpc>
              <a:buFont typeface="Arial"/>
              <a:buChar char="•"/>
            </a:pPr>
            <a:r>
              <a:rPr lang="en-US" sz="3651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Uncorrected Passage (B):</a:t>
            </a:r>
          </a:p>
          <a:p>
            <a:pPr marL="788283" lvl="1" indent="-394142" algn="l">
              <a:lnSpc>
                <a:spcPts val="5476"/>
              </a:lnSpc>
              <a:buFont typeface="Arial"/>
              <a:buChar char="•"/>
            </a:pP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 April 16 2024, our class submitted a project titled The Art of effective Communication. I borrowed my brothers notebook to prepare my sections. The assignment was quite demanding; however, we </a:t>
            </a:r>
            <a:r>
              <a:rPr lang="en-US" sz="3651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couldnt</a:t>
            </a:r>
            <a:r>
              <a:rPr lang="en-US" sz="3651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submit it late without losing points.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858" y="58027"/>
            <a:ext cx="4405787" cy="1042136"/>
            <a:chOff x="0" y="0"/>
            <a:chExt cx="1345791" cy="318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5791" cy="318331"/>
            </a:xfrm>
            <a:custGeom>
              <a:avLst/>
              <a:gdLst/>
              <a:ahLst/>
              <a:cxnLst/>
              <a:rect l="l" t="t" r="r" b="b"/>
              <a:pathLst>
                <a:path w="1345791" h="318331">
                  <a:moveTo>
                    <a:pt x="1142591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1142591" y="318331"/>
                  </a:lnTo>
                  <a:lnTo>
                    <a:pt x="1345791" y="159165"/>
                  </a:lnTo>
                  <a:lnTo>
                    <a:pt x="1142591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231491" cy="423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Practice Answer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228600" y="1066979"/>
            <a:ext cx="18361742" cy="8877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Corrected Version (A):</a:t>
            </a:r>
          </a:p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Last week, we traveled to </a:t>
            </a:r>
            <a:r>
              <a:rPr lang="en-US" sz="336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ylhet to see the famous tea gardens. We visited sites like the </a:t>
            </a:r>
            <a:r>
              <a:rPr lang="en-US" sz="3363" dirty="0" err="1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</a:t>
            </a:r>
            <a:r>
              <a:rPr lang="en-US" sz="3363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atargul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36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wamp </a:t>
            </a:r>
            <a:r>
              <a:rPr lang="en-US" sz="336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orest and the shrine of Hazrat Shah Jalal. Our driver, </a:t>
            </a:r>
            <a:r>
              <a:rPr lang="en-US" sz="336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Mr. K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arim, shared fascinating stories about the region. "</a:t>
            </a:r>
            <a:r>
              <a:rPr lang="en-US" sz="3363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ave you ever seen," he asked, "a forest submerged under water?" It was an unforgettable trip.</a:t>
            </a:r>
          </a:p>
          <a:p>
            <a:pPr algn="l">
              <a:lnSpc>
                <a:spcPts val="5045"/>
              </a:lnSpc>
            </a:pPr>
            <a:endParaRPr lang="en-US" sz="3363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Errors Breakdown:</a:t>
            </a:r>
          </a:p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sylhet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→ Sylhet: City names are proper nouns and must be capitalized. </a:t>
            </a:r>
          </a:p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ratargul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swamp forest → </a:t>
            </a:r>
            <a:r>
              <a:rPr lang="en-US" sz="3363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Ratargul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Swamp Forest: Names of specific geographical landmarks and parks require capitalization.  </a:t>
            </a:r>
          </a:p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mr.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-US" sz="3363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karim</a:t>
            </a: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→ Mr. Karim: Both honorific titles (Mr.) and personal names (Karim) are proper nouns.  </a:t>
            </a:r>
          </a:p>
          <a:p>
            <a:pPr marL="726211" lvl="1" indent="-363105" algn="l">
              <a:lnSpc>
                <a:spcPts val="5045"/>
              </a:lnSpc>
              <a:buFont typeface="Arial"/>
              <a:buChar char="•"/>
            </a:pPr>
            <a:r>
              <a:rPr lang="en-US" sz="3363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"have → "Have: The first word inside direct speech must begin with a capital letter.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413" y="495300"/>
            <a:ext cx="3991623" cy="978268"/>
            <a:chOff x="0" y="0"/>
            <a:chExt cx="1345791" cy="3183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5791" cy="318331"/>
            </a:xfrm>
            <a:custGeom>
              <a:avLst/>
              <a:gdLst/>
              <a:ahLst/>
              <a:cxnLst/>
              <a:rect l="l" t="t" r="r" b="b"/>
              <a:pathLst>
                <a:path w="1345791" h="318331">
                  <a:moveTo>
                    <a:pt x="1142591" y="0"/>
                  </a:moveTo>
                  <a:lnTo>
                    <a:pt x="0" y="0"/>
                  </a:lnTo>
                  <a:lnTo>
                    <a:pt x="0" y="318331"/>
                  </a:lnTo>
                  <a:lnTo>
                    <a:pt x="1142591" y="318331"/>
                  </a:lnTo>
                  <a:lnTo>
                    <a:pt x="1345791" y="159165"/>
                  </a:lnTo>
                  <a:lnTo>
                    <a:pt x="1142591" y="0"/>
                  </a:lnTo>
                  <a:close/>
                </a:path>
              </a:pathLst>
            </a:custGeom>
            <a:solidFill>
              <a:srgbClr val="E0F1C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1231491" cy="423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59"/>
                </a:lnSpc>
              </a:pPr>
              <a:r>
                <a:rPr lang="en-US" sz="38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Practice Answer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-152400" y="1482171"/>
            <a:ext cx="18440400" cy="844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Corrected Version (B):</a:t>
            </a:r>
          </a:p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On April 16</a:t>
            </a: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</a:t>
            </a: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2024, our class submitted a project titled The Art of </a:t>
            </a: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</a:t>
            </a: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ffective Communication. I borrowed my broth</a:t>
            </a: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er's </a:t>
            </a: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notebook to prepare my sections. The assignment was quite demanding; however, we could</a:t>
            </a:r>
            <a:r>
              <a:rPr lang="en-US" sz="3200" dirty="0">
                <a:solidFill>
                  <a:srgbClr val="C1272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n't</a:t>
            </a: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submit it late without losing points.</a:t>
            </a:r>
          </a:p>
          <a:p>
            <a:pPr algn="l">
              <a:lnSpc>
                <a:spcPts val="5114"/>
              </a:lnSpc>
            </a:pPr>
            <a:endParaRPr lang="en-US" sz="3200" dirty="0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Errors Breakdown:</a:t>
            </a:r>
          </a:p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April 16 2024 → April 16, 2024: A comma is required to separate the day from the year in standard dates.  </a:t>
            </a:r>
          </a:p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effective → Effective: All major words (including adjectives) in composition titles must be capitalized.  </a:t>
            </a:r>
          </a:p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brothers → brother's: Singular possessive nouns require an apostrophe before the "s".  </a:t>
            </a:r>
          </a:p>
          <a:p>
            <a:pPr marL="736082" lvl="1" indent="-368041" algn="l">
              <a:lnSpc>
                <a:spcPts val="5114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couldnt</a:t>
            </a:r>
            <a:r>
              <a:rPr lang="en-US" sz="3200" dirty="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→ couldn't: Contractions require an apostrophe to mark omitted letters.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1614</Words>
  <Application>Microsoft Office PowerPoint</Application>
  <PresentationFormat>Custom</PresentationFormat>
  <Paragraphs>147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Libre Baskerville Bold</vt:lpstr>
      <vt:lpstr>Calibri</vt:lpstr>
      <vt:lpstr>Wingdings</vt:lpstr>
      <vt:lpstr>League Spartan</vt:lpstr>
      <vt:lpstr>Libre Baskerville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Punctuation Rules Grammar Presentation in Yellow Blue Green Hand Drawn Style</dc:title>
  <cp:lastModifiedBy>Sajjad Hossain</cp:lastModifiedBy>
  <cp:revision>5</cp:revision>
  <dcterms:created xsi:type="dcterms:W3CDTF">2006-08-16T00:00:00Z</dcterms:created>
  <dcterms:modified xsi:type="dcterms:W3CDTF">2026-09-18T21:27:47Z</dcterms:modified>
  <dc:identifier>DAHVSPRrjP8</dc:identifier>
</cp:coreProperties>
</file>