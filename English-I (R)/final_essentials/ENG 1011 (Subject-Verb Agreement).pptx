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7" r:id="rId4"/>
    <p:sldId id="261" r:id="rId5"/>
    <p:sldId id="266" r:id="rId6"/>
    <p:sldId id="267" r:id="rId7"/>
    <p:sldId id="260" r:id="rId8"/>
    <p:sldId id="259" r:id="rId9"/>
    <p:sldId id="262" r:id="rId10"/>
    <p:sldId id="263" r:id="rId11"/>
    <p:sldId id="264" r:id="rId12"/>
    <p:sldId id="269" r:id="rId13"/>
    <p:sldId id="270" r:id="rId14"/>
    <p:sldId id="268" r:id="rId1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987574"/>
            <a:ext cx="6912768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1664245"/>
            <a:ext cx="6912768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7D59-5EDB-4C39-B697-625748F703B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96764" y="4127470"/>
            <a:ext cx="36004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SAJJAD HOSSAIN</a:t>
            </a:r>
          </a:p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Faculty, UIU</a:t>
            </a:r>
          </a:p>
        </p:txBody>
      </p:sp>
      <p:sp>
        <p:nvSpPr>
          <p:cNvPr id="17" name="TextBox 1"/>
          <p:cNvSpPr txBox="1">
            <a:spLocks noChangeArrowheads="1"/>
          </p:cNvSpPr>
          <p:nvPr/>
        </p:nvSpPr>
        <p:spPr bwMode="auto">
          <a:xfrm>
            <a:off x="3131840" y="987574"/>
            <a:ext cx="33996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Subject- Verb Agreement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9925D9D-92FA-E19B-94EF-152C33AA1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23478"/>
            <a:ext cx="20882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ENG 1011</a:t>
            </a:r>
          </a:p>
        </p:txBody>
      </p:sp>
      <p:pic>
        <p:nvPicPr>
          <p:cNvPr id="8" name="Picture 7" descr="Woman reading a book">
            <a:extLst>
              <a:ext uri="{FF2B5EF4-FFF2-40B4-BE49-F238E27FC236}">
                <a16:creationId xmlns:a16="http://schemas.microsoft.com/office/drawing/2014/main" id="{632EF3CE-8161-D37C-818C-B168911275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827" y="2870670"/>
            <a:ext cx="3899173" cy="22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131590"/>
            <a:ext cx="6984776" cy="460648"/>
          </a:xfrm>
        </p:spPr>
        <p:txBody>
          <a:bodyPr/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Rule: A verb must match its subject in number.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321176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Subject → Singular Verb (usually ends in -s)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Plural Subject → Plural Verb (does not end in -s)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Singular: Jamil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enjoys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swimming. / The doctor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discussing the case.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Plural: The player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enjoy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winning. / The doctor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discussing the case.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7504" y="0"/>
            <a:ext cx="7056784" cy="884466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Golden Rule of Subject-Verb Agreement</a:t>
            </a:r>
          </a:p>
        </p:txBody>
      </p:sp>
    </p:spTree>
    <p:extLst>
      <p:ext uri="{BB962C8B-B14F-4D97-AF65-F5344CB8AC3E}">
        <p14:creationId xmlns:p14="http://schemas.microsoft.com/office/powerpoint/2010/main" val="209059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AFBF-B871-0A22-513B-0C8F08FC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8901D1-408C-9682-9C4C-FE51B7F020E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915566"/>
            <a:ext cx="8928992" cy="422793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(Standard): Two subjects connected by </a:t>
            </a:r>
            <a:r>
              <a:rPr lang="en-US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plural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Sally and her grandfather play chess on Tuesdays.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(Single Entity): If the items form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combination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idea, or meal, use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verb.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Bread and butter is my regular breakfast. (But, ‘Bread and butter are being sold now at the shop.’)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3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(Titles &amp; Roles): One person with two titles (one "The") → Singular Verb: The principal and president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separate people (two "The's") → Plural Verb: The principal and the president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come.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C79145-D7FF-B41F-FC0A-1C9B15DAA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7056784" cy="884466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Subjects Joined by "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35746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95DA-4C6F-A725-E804-C66C3FA0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BA4B1E-3843-B36D-F7EC-C1838B586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7574"/>
            <a:ext cx="8424936" cy="627619"/>
          </a:xfrm>
        </p:spPr>
        <p:txBody>
          <a:bodyPr/>
          <a:lstStyle/>
          <a:p>
            <a:r>
              <a:rPr lang="en-US" altLang="ko-K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Rule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look at the main word (the subject) before the preposition, not the words right next to the verb.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1EB215-23DB-9725-DA49-22D7FE283F7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1851670"/>
            <a:ext cx="8928992" cy="320934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 Word (Subject)+[Prepositional Phrase]+Verb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 Nouns with Plural Modifiers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a singular noun (like box, basket, or crowd) is followed by a plural prepositional phrase, the verb remains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box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[of chocolates]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from the kitchen counter. ("Box" is singular; ignore "chocolates.")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crowd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[of enthusiastic fans]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gathering outside the stadium. ("Crowd" is singular; ignore "fans.")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42A737-0E3B-76B4-8213-358C2CD6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95485"/>
            <a:ext cx="5760640" cy="555611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"Head Word" Rule)</a:t>
            </a:r>
          </a:p>
        </p:txBody>
      </p:sp>
    </p:spTree>
    <p:extLst>
      <p:ext uri="{BB962C8B-B14F-4D97-AF65-F5344CB8AC3E}">
        <p14:creationId xmlns:p14="http://schemas.microsoft.com/office/powerpoint/2010/main" val="289032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1F2D-E905-CB2F-D801-EAD6519F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9DD57E-9294-B480-1A60-79731703A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987574"/>
            <a:ext cx="8928992" cy="409214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"One of..."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 in the pattern "One of + Plural Noun," the subject is always the singular pronoun "One," requiring a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[of my closest friend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moving abroad next month. ("One" is singular; ignore "friends.")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Memory Trick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Bracket Test: Put brackets around any prepositional phrase starting with "of".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box [of chocolates] is...            → One [of my closest friends] is...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sentence without the bracketed phrase to instantly verify subject-verb agreement!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5DE520-BB56-0606-D6E7-8625E0DF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23477"/>
            <a:ext cx="5184576" cy="648073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"Head Word" Rule)</a:t>
            </a:r>
          </a:p>
        </p:txBody>
      </p:sp>
    </p:spTree>
    <p:extLst>
      <p:ext uri="{BB962C8B-B14F-4D97-AF65-F5344CB8AC3E}">
        <p14:creationId xmlns:p14="http://schemas.microsoft.com/office/powerpoint/2010/main" val="132041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31C3-5B74-821A-762D-D522503C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DE739C-C884-C54E-CE97-6F4CA71E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87573"/>
            <a:ext cx="8424936" cy="820687"/>
          </a:xfrm>
        </p:spPr>
        <p:txBody>
          <a:bodyPr/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Rule: Indefinite pronouns that refer to individual people or things always take a </a:t>
            </a:r>
            <a:r>
              <a:rPr lang="en-US" altLang="ko-K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 verb. 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02DE09-3F0B-8B1F-A1EA-D70D13010A7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1808260"/>
            <a:ext cx="9036496" cy="33352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Each, Every, Everyone, Everybody, Anyone, Anybody, Someone, Somebody, No one, Nobody, Either, Neither, One.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boys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brilliant.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notebook.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Nobody in our class 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lead the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 of these answers</a:t>
            </a: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correct.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8735D1-18D9-0A05-7DE6-B9144EBC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7056784" cy="884466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"Every, Each &amp; Either" Rule </a:t>
            </a:r>
          </a:p>
        </p:txBody>
      </p:sp>
    </p:spTree>
    <p:extLst>
      <p:ext uri="{BB962C8B-B14F-4D97-AF65-F5344CB8AC3E}">
        <p14:creationId xmlns:p14="http://schemas.microsoft.com/office/powerpoint/2010/main" val="358935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Joining Words – Which Subject Controls the Verb?</a:t>
            </a:r>
            <a:endParaRPr lang="ko-KR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619672" y="771550"/>
            <a:ext cx="7283152" cy="432047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(Focus on 1st Subject): Words like (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 with, together with, as well as, including, accompanied by/with, with, like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 not change the main subject. Agree with the first subject.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president,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 with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representatives,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attending the meeting.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You,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your brother,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honest.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(Focus on Closest Subject): When connected by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(or, nor, either...or, neither...nor, not only...but also,)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 the subject closest to the verb/second subject.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Either Ralph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twins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come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Neither Rahim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 friends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responsible.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CF3B-5B75-08A8-4AA5-3C179BEC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2FC5B4-AEC5-D858-5DCE-79079BB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0"/>
            <a:ext cx="5256584" cy="555526"/>
          </a:xfrm>
        </p:spPr>
        <p:txBody>
          <a:bodyPr/>
          <a:lstStyle/>
          <a:p>
            <a:r>
              <a:rPr lang="en-US" altLang="ko-K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Portions, Fractions, and Quantities</a:t>
            </a:r>
            <a:endParaRPr lang="ko-KR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60868F-E122-65E7-9A41-03C89A9223B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36275" y="591096"/>
            <a:ext cx="7283152" cy="432047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Preposition Trick): For (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of, some of, most of, half of, percentage of, majority of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look at the noun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"of":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Uncountable / Singular Noun → Singular Verb: Most of the weekend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enjoyable.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Plural Noun → Plural Verb: Most of my homework assignments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done.</a:t>
            </a: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 Number" vs. "The Number"):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number of + Plural Noun → Plural Verb: A number of students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+ Plural Noun → Singular Verb: The number of students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forty. .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886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019D-6983-DAB4-4942-7F7297CE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FD4B4E-32A1-F26A-AFB8-2159221BD8C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987574"/>
            <a:ext cx="8856984" cy="415592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Looks Plural, Acts Singular: Nouns ending in -s that mean a single subject (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Physics, Mathematics, News, Measles, Gallows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take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verb.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Mathematics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essential subject.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Looks Singular, Acts Plural: Words like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cattle, poultry, gentry, folk, vermin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plural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Cattle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grazing in the field.</a:t>
            </a:r>
          </a:p>
          <a:p>
            <a:endParaRPr lang="en-US" altLang="ko-K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Paired Items: Items with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parts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scissors, pants, spectacles, pliers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take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plural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My spectacles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broken.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Exception: If preceded by the word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"pair",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agreement on "pair". (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pair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pants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bed.) </a:t>
            </a:r>
            <a:endParaRPr lang="ko-KR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507BC9-2690-BB02-9E8D-B3B7492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95486"/>
            <a:ext cx="5760640" cy="5760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Tricky Nouns (Spelling vs. Meaning)</a:t>
            </a:r>
          </a:p>
        </p:txBody>
      </p:sp>
    </p:spTree>
    <p:extLst>
      <p:ext uri="{BB962C8B-B14F-4D97-AF65-F5344CB8AC3E}">
        <p14:creationId xmlns:p14="http://schemas.microsoft.com/office/powerpoint/2010/main" val="343875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2A471-4309-2606-F3DA-AB97F5C4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D2EC49-5EB3-05FA-27CD-4D7359BCE9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0" y="843558"/>
            <a:ext cx="9108504" cy="429994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(Actions as Subjects): When a Gerund (</a:t>
            </a:r>
            <a:r>
              <a:rPr lang="en-US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Verb+ing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Infinitive (To + Verb), or Clause is the subject, always use a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verb.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walk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 for health.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he knows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</a:p>
          <a:p>
            <a:endParaRPr lang="en-US" altLang="ko-K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(Measurements): Amounts of time, distance, weight, or money treated as a single unit take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singular verb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Ten miles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long distance to walk.</a:t>
            </a:r>
          </a:p>
          <a:p>
            <a:endParaRPr lang="en-US" altLang="ko-K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3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(Collective Nouns): Words like team, jury, family: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Acting as one unit → Singular Verb: The team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plays 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Acting as individuals → Plural Verb: The jury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staying in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hotels.</a:t>
            </a:r>
            <a:endParaRPr lang="ko-KR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15428B-AB9C-EC6A-46E8-ED6339DE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6264696" cy="77155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as Subjects &amp; Collective Units</a:t>
            </a:r>
          </a:p>
        </p:txBody>
      </p:sp>
    </p:spTree>
    <p:extLst>
      <p:ext uri="{BB962C8B-B14F-4D97-AF65-F5344CB8AC3E}">
        <p14:creationId xmlns:p14="http://schemas.microsoft.com/office/powerpoint/2010/main" val="829645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57A0-993A-B002-7C44-35E4627F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486"/>
            <a:ext cx="7452320" cy="5760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Exercise: Subject-Verb Agreement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F6A73-46F7-9DE0-6B08-1236BD7E7C2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1059583"/>
            <a:ext cx="8795320" cy="381642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correct verb form for each sentence: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collection of rare coins ___ (was, were) discovered in the attic.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Peanut butter and jelly ___ (is, are) my favorite quick snack.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 the manager nor the employees ___ (was, were) aware of the updated policy.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firefighter and paramedic ___ (deserves, deserve) recognition for their courage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highest mountain peaks ___ (requires, require) advanced climbing gear.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cake ___ (has, have) already been eaten by the guests.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band ___ (tunes, tune) their instruments individually before taking the stage.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captain, along with her crew members, ___ (has, have) reached the port safely.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Economics ___ (is, are) a required course for science majors.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pair of scissors ___ (is, are) sitting on the desk.</a:t>
            </a:r>
          </a:p>
        </p:txBody>
      </p:sp>
    </p:spTree>
    <p:extLst>
      <p:ext uri="{BB962C8B-B14F-4D97-AF65-F5344CB8AC3E}">
        <p14:creationId xmlns:p14="http://schemas.microsoft.com/office/powerpoint/2010/main" val="250916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4326-375F-B049-3BDC-95630983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DD02-E8B0-9AAC-B4A0-88BAFD9E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486"/>
            <a:ext cx="4716016" cy="576064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Key &amp; Explanations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1DC90-4F29-4338-3E42-CE7AD0D20F4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7504" y="987574"/>
            <a:ext cx="8795320" cy="4104455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(Singular) – The true head word is "collection," not the plural object "coins" inside the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prepositional phrase.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is (Singular) – "Peanut butter and jelly" refers to a single dish or combination entity. 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were (Plural) – When using neither... nor, the verb must agree with the closest subject. 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deserves (Singular) – Any subject preceded by "every" or "each" takes a singular verb.  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 requires (Singular) – In "one of..." constructions, the singular pronoun "One" is the true subject.</a:t>
            </a:r>
          </a:p>
          <a:p>
            <a:pPr marL="342900" indent="-342900">
              <a:buAutoNum type="arabicPeriod" startAt="6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(Singular) – Portions like "most of" depend on the noun following "of"; "cake" is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singular/uncountable.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  tune (Plural) – The collective noun "band" acts as individual members tuning distinct instruments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 has (Singular) – Intervening phrases like "along with" do not alter the main singular subject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("captain").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 is (Singular) – Academic disciplines ending in -s (like Economics or Physics) are singular in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meaning.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 is (Singular) – Paired items take a singular verb when preceded by the singular word "pair". </a:t>
            </a:r>
          </a:p>
        </p:txBody>
      </p:sp>
    </p:spTree>
    <p:extLst>
      <p:ext uri="{BB962C8B-B14F-4D97-AF65-F5344CB8AC3E}">
        <p14:creationId xmlns:p14="http://schemas.microsoft.com/office/powerpoint/2010/main" val="3833247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F929C-1C2F-79FA-088C-6EB58371092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5880" y="1059583"/>
            <a:ext cx="8496944" cy="3744416"/>
          </a:xfrm>
        </p:spPr>
        <p:txBody>
          <a:bodyPr/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THANK YOU</a:t>
            </a:r>
          </a:p>
          <a:p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ANY QUESTION??</a:t>
            </a:r>
          </a:p>
        </p:txBody>
      </p:sp>
    </p:spTree>
    <p:extLst>
      <p:ext uri="{BB962C8B-B14F-4D97-AF65-F5344CB8AC3E}">
        <p14:creationId xmlns:p14="http://schemas.microsoft.com/office/powerpoint/2010/main" val="191155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1508</Words>
  <Application>Microsoft Office PowerPoint</Application>
  <PresentationFormat>On-screen Show (16:9)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Custom Design</vt:lpstr>
      <vt:lpstr>PowerPoint Presentation</vt:lpstr>
      <vt:lpstr>The Golden Rule of Subject-Verb Agreement</vt:lpstr>
      <vt:lpstr>Compound Subjects Joined by "And"</vt:lpstr>
      <vt:lpstr>(The "Head Word" Rule)</vt:lpstr>
      <vt:lpstr>(The "Head Word" Rule)</vt:lpstr>
      <vt:lpstr>The "Every, Each &amp; Either" Rule </vt:lpstr>
      <vt:lpstr>Joining Words – Which Subject Controls the Verb?</vt:lpstr>
      <vt:lpstr> Portions, Fractions, and Quantities</vt:lpstr>
      <vt:lpstr>Tricky Nouns (Spelling vs. Meaning)</vt:lpstr>
      <vt:lpstr>Actions as Subjects &amp; Collective Units</vt:lpstr>
      <vt:lpstr>Practice Exercise: Subject-Verb Agreement</vt:lpstr>
      <vt:lpstr>Answer Key &amp; Explanations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Sajjad Hossain</cp:lastModifiedBy>
  <cp:revision>32</cp:revision>
  <dcterms:created xsi:type="dcterms:W3CDTF">2014-04-01T16:27:38Z</dcterms:created>
  <dcterms:modified xsi:type="dcterms:W3CDTF">2026-09-18T21:18:36Z</dcterms:modified>
</cp:coreProperties>
</file>