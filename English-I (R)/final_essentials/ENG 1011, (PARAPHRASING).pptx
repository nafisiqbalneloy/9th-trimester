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5.jpg" ContentType="image/jpeg"/>
  <Override PartName="/ppt/media/image17.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74" r:id="rId4"/>
    <p:sldId id="258" r:id="rId5"/>
    <p:sldId id="259" r:id="rId6"/>
    <p:sldId id="269" r:id="rId7"/>
    <p:sldId id="262" r:id="rId8"/>
    <p:sldId id="270" r:id="rId9"/>
    <p:sldId id="275" r:id="rId10"/>
    <p:sldId id="263" r:id="rId11"/>
    <p:sldId id="273" r:id="rId12"/>
    <p:sldId id="276" r:id="rId13"/>
    <p:sldId id="277" r:id="rId14"/>
    <p:sldId id="265"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18" autoAdjust="0"/>
  </p:normalViewPr>
  <p:slideViewPr>
    <p:cSldViewPr>
      <p:cViewPr varScale="1">
        <p:scale>
          <a:sx n="77" d="100"/>
          <a:sy n="77" d="100"/>
        </p:scale>
        <p:origin x="883"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D308319-DD7E-4360-8813-B4C08D5633CB}" type="datetimeFigureOut">
              <a:rPr lang="en-US" smtClean="0"/>
              <a:t>9/13/2026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B0BD40A-F6BD-49C1-A9F8-31AD13FEA62F}" type="slidenum">
              <a:rPr lang="en-US" smtClean="0"/>
              <a:t>‹#›</a:t>
            </a:fld>
            <a:endParaRPr lang="en-US"/>
          </a:p>
        </p:txBody>
      </p:sp>
    </p:spTree>
    <p:extLst>
      <p:ext uri="{BB962C8B-B14F-4D97-AF65-F5344CB8AC3E}">
        <p14:creationId xmlns:p14="http://schemas.microsoft.com/office/powerpoint/2010/main" val="2923055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0BD40A-F6BD-49C1-A9F8-31AD13FEA62F}" type="slidenum">
              <a:rPr lang="en-US" smtClean="0"/>
              <a:t>1</a:t>
            </a:fld>
            <a:endParaRPr lang="en-US"/>
          </a:p>
        </p:txBody>
      </p:sp>
    </p:spTree>
    <p:extLst>
      <p:ext uri="{BB962C8B-B14F-4D97-AF65-F5344CB8AC3E}">
        <p14:creationId xmlns:p14="http://schemas.microsoft.com/office/powerpoint/2010/main" val="3643282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rgbClr val="4471C4"/>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71C4"/>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71C4"/>
                </a:solidFill>
                <a:latin typeface="Calibri Light"/>
                <a:cs typeface="Calibri Light"/>
              </a:defRPr>
            </a:lvl1pPr>
          </a:lstStyle>
          <a:p>
            <a:endParaRPr/>
          </a:p>
        </p:txBody>
      </p:sp>
      <p:sp>
        <p:nvSpPr>
          <p:cNvPr id="3" name="Holder 3"/>
          <p:cNvSpPr>
            <a:spLocks noGrp="1"/>
          </p:cNvSpPr>
          <p:nvPr>
            <p:ph sz="half" idx="2"/>
          </p:nvPr>
        </p:nvSpPr>
        <p:spPr>
          <a:xfrm>
            <a:off x="1617980" y="2160778"/>
            <a:ext cx="3718560" cy="3590290"/>
          </a:xfrm>
          <a:prstGeom prst="rect">
            <a:avLst/>
          </a:prstGeom>
        </p:spPr>
        <p:txBody>
          <a:bodyPr wrap="square" lIns="0" tIns="0" rIns="0" bIns="0">
            <a:spAutoFit/>
          </a:bodyPr>
          <a:lstStyle>
            <a:lvl1pPr>
              <a:defRPr sz="1800" b="1" i="0">
                <a:solidFill>
                  <a:schemeClr val="tx1"/>
                </a:solidFill>
                <a:latin typeface="Calibri"/>
                <a:cs typeface="Calibri"/>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71C4"/>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53872" y="188417"/>
            <a:ext cx="7939582" cy="1590039"/>
          </a:xfrm>
          <a:prstGeom prst="rect">
            <a:avLst/>
          </a:prstGeom>
        </p:spPr>
        <p:txBody>
          <a:bodyPr wrap="square" lIns="0" tIns="0" rIns="0" bIns="0">
            <a:spAutoFit/>
          </a:bodyPr>
          <a:lstStyle>
            <a:lvl1pPr>
              <a:defRPr sz="4400" b="0" i="0">
                <a:solidFill>
                  <a:srgbClr val="4471C4"/>
                </a:solidFill>
                <a:latin typeface="Calibri Light"/>
                <a:cs typeface="Calibri Light"/>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51414" y="719356"/>
            <a:ext cx="7939582" cy="850233"/>
          </a:xfrm>
          <a:prstGeom prst="rect">
            <a:avLst/>
          </a:prstGeom>
        </p:spPr>
        <p:txBody>
          <a:bodyPr vert="horz" wrap="square" lIns="0" tIns="105410" rIns="0" bIns="0" rtlCol="0">
            <a:spAutoFit/>
          </a:bodyPr>
          <a:lstStyle/>
          <a:p>
            <a:pPr marL="12700" marR="5080">
              <a:lnSpc>
                <a:spcPts val="5840"/>
              </a:lnSpc>
              <a:spcBef>
                <a:spcPts val="830"/>
              </a:spcBef>
            </a:pPr>
            <a:r>
              <a:rPr sz="5400" b="1" spc="-90" dirty="0">
                <a:solidFill>
                  <a:srgbClr val="C00000"/>
                </a:solidFill>
              </a:rPr>
              <a:t>PARAPHRASING</a:t>
            </a:r>
            <a:endParaRPr sz="5400" b="1" dirty="0">
              <a:solidFill>
                <a:srgbClr val="C00000"/>
              </a:solidFill>
            </a:endParaRPr>
          </a:p>
        </p:txBody>
      </p:sp>
      <p:sp>
        <p:nvSpPr>
          <p:cNvPr id="3" name="object 3"/>
          <p:cNvSpPr txBox="1"/>
          <p:nvPr/>
        </p:nvSpPr>
        <p:spPr>
          <a:xfrm>
            <a:off x="753872" y="2241930"/>
            <a:ext cx="5753735" cy="360680"/>
          </a:xfrm>
          <a:prstGeom prst="rect">
            <a:avLst/>
          </a:prstGeom>
        </p:spPr>
        <p:txBody>
          <a:bodyPr vert="horz" wrap="square" lIns="0" tIns="12065" rIns="0" bIns="0" rtlCol="0">
            <a:spAutoFit/>
          </a:bodyPr>
          <a:lstStyle/>
          <a:p>
            <a:pPr marL="12700">
              <a:lnSpc>
                <a:spcPct val="100000"/>
              </a:lnSpc>
              <a:spcBef>
                <a:spcPts val="95"/>
              </a:spcBef>
            </a:pPr>
            <a:r>
              <a:rPr sz="2200" b="1" i="1" dirty="0">
                <a:solidFill>
                  <a:srgbClr val="002060"/>
                </a:solidFill>
                <a:latin typeface="Calibri"/>
                <a:cs typeface="Calibri"/>
              </a:rPr>
              <a:t>How</a:t>
            </a:r>
            <a:r>
              <a:rPr sz="2200" b="1" i="1" spc="-70" dirty="0">
                <a:solidFill>
                  <a:srgbClr val="002060"/>
                </a:solidFill>
                <a:latin typeface="Calibri"/>
                <a:cs typeface="Calibri"/>
              </a:rPr>
              <a:t> </a:t>
            </a:r>
            <a:r>
              <a:rPr sz="2200" b="1" i="1" dirty="0">
                <a:solidFill>
                  <a:srgbClr val="002060"/>
                </a:solidFill>
                <a:latin typeface="Calibri"/>
                <a:cs typeface="Calibri"/>
              </a:rPr>
              <a:t>to</a:t>
            </a:r>
            <a:r>
              <a:rPr sz="2200" b="1" i="1" spc="-70" dirty="0">
                <a:solidFill>
                  <a:srgbClr val="002060"/>
                </a:solidFill>
                <a:latin typeface="Calibri"/>
                <a:cs typeface="Calibri"/>
              </a:rPr>
              <a:t> </a:t>
            </a:r>
            <a:r>
              <a:rPr sz="2200" b="1" i="1" spc="-10" dirty="0">
                <a:solidFill>
                  <a:srgbClr val="002060"/>
                </a:solidFill>
                <a:latin typeface="Calibri"/>
                <a:cs typeface="Calibri"/>
              </a:rPr>
              <a:t>Restate</a:t>
            </a:r>
            <a:r>
              <a:rPr sz="2200" b="1" i="1" spc="-70" dirty="0">
                <a:solidFill>
                  <a:srgbClr val="002060"/>
                </a:solidFill>
                <a:latin typeface="Calibri"/>
                <a:cs typeface="Calibri"/>
              </a:rPr>
              <a:t> </a:t>
            </a:r>
            <a:r>
              <a:rPr sz="2200" b="1" i="1" dirty="0">
                <a:solidFill>
                  <a:srgbClr val="002060"/>
                </a:solidFill>
                <a:latin typeface="Calibri"/>
                <a:cs typeface="Calibri"/>
              </a:rPr>
              <a:t>Ideas</a:t>
            </a:r>
            <a:r>
              <a:rPr sz="2200" b="1" i="1" spc="-80" dirty="0">
                <a:solidFill>
                  <a:srgbClr val="002060"/>
                </a:solidFill>
                <a:latin typeface="Calibri"/>
                <a:cs typeface="Calibri"/>
              </a:rPr>
              <a:t> </a:t>
            </a:r>
            <a:r>
              <a:rPr sz="2200" b="1" i="1" dirty="0">
                <a:solidFill>
                  <a:srgbClr val="002060"/>
                </a:solidFill>
                <a:latin typeface="Calibri"/>
                <a:cs typeface="Calibri"/>
              </a:rPr>
              <a:t>Without</a:t>
            </a:r>
            <a:r>
              <a:rPr sz="2200" b="1" i="1" spc="-65" dirty="0">
                <a:solidFill>
                  <a:srgbClr val="002060"/>
                </a:solidFill>
                <a:latin typeface="Calibri"/>
                <a:cs typeface="Calibri"/>
              </a:rPr>
              <a:t> </a:t>
            </a:r>
            <a:r>
              <a:rPr sz="2200" b="1" i="1" dirty="0">
                <a:solidFill>
                  <a:srgbClr val="002060"/>
                </a:solidFill>
                <a:latin typeface="Calibri"/>
                <a:cs typeface="Calibri"/>
              </a:rPr>
              <a:t>Changing</a:t>
            </a:r>
            <a:r>
              <a:rPr sz="2200" b="1" i="1" spc="-90" dirty="0">
                <a:solidFill>
                  <a:srgbClr val="002060"/>
                </a:solidFill>
                <a:latin typeface="Calibri"/>
                <a:cs typeface="Calibri"/>
              </a:rPr>
              <a:t> </a:t>
            </a:r>
            <a:r>
              <a:rPr sz="2200" b="1" i="1" spc="-10" dirty="0">
                <a:solidFill>
                  <a:srgbClr val="002060"/>
                </a:solidFill>
                <a:latin typeface="Calibri"/>
                <a:cs typeface="Calibri"/>
              </a:rPr>
              <a:t>Meaning</a:t>
            </a:r>
            <a:endParaRPr sz="2200" dirty="0">
              <a:solidFill>
                <a:srgbClr val="002060"/>
              </a:solidFill>
              <a:latin typeface="Calibri"/>
              <a:cs typeface="Calibri"/>
            </a:endParaRPr>
          </a:p>
        </p:txBody>
      </p:sp>
      <p:sp>
        <p:nvSpPr>
          <p:cNvPr id="4" name="object 4"/>
          <p:cNvSpPr txBox="1"/>
          <p:nvPr/>
        </p:nvSpPr>
        <p:spPr>
          <a:xfrm>
            <a:off x="1196026" y="4797525"/>
            <a:ext cx="2690174" cy="1010918"/>
          </a:xfrm>
          <a:prstGeom prst="rect">
            <a:avLst/>
          </a:prstGeom>
        </p:spPr>
        <p:txBody>
          <a:bodyPr vert="horz" wrap="square" lIns="0" tIns="13335" rIns="0" bIns="0" rtlCol="0">
            <a:spAutoFit/>
          </a:bodyPr>
          <a:lstStyle/>
          <a:p>
            <a:pPr marL="76200" marR="5080" indent="-64135">
              <a:lnSpc>
                <a:spcPct val="118000"/>
              </a:lnSpc>
              <a:spcBef>
                <a:spcPts val="105"/>
              </a:spcBef>
            </a:pPr>
            <a:r>
              <a:rPr lang="en-US" sz="2800" b="1" spc="-10" dirty="0">
                <a:solidFill>
                  <a:srgbClr val="44536A"/>
                </a:solidFill>
                <a:latin typeface="Calibri"/>
                <a:cs typeface="Calibri"/>
              </a:rPr>
              <a:t>SAJJAD HOSSAIN</a:t>
            </a:r>
          </a:p>
          <a:p>
            <a:pPr marL="76200" marR="5080" indent="-64135">
              <a:lnSpc>
                <a:spcPct val="118000"/>
              </a:lnSpc>
              <a:spcBef>
                <a:spcPts val="105"/>
              </a:spcBef>
            </a:pPr>
            <a:r>
              <a:rPr lang="en-US" sz="2800" b="1" spc="-10" dirty="0">
                <a:solidFill>
                  <a:srgbClr val="44536A"/>
                </a:solidFill>
                <a:latin typeface="Calibri"/>
                <a:cs typeface="Calibri"/>
              </a:rPr>
              <a:t>Faculty, UIU</a:t>
            </a:r>
            <a:endParaRPr sz="2800" dirty="0">
              <a:latin typeface="Calibri"/>
              <a:cs typeface="Calibri"/>
            </a:endParaRPr>
          </a:p>
        </p:txBody>
      </p:sp>
      <p:grpSp>
        <p:nvGrpSpPr>
          <p:cNvPr id="5" name="object 5"/>
          <p:cNvGrpSpPr/>
          <p:nvPr/>
        </p:nvGrpSpPr>
        <p:grpSpPr>
          <a:xfrm>
            <a:off x="808380" y="1840560"/>
            <a:ext cx="5012690" cy="88900"/>
            <a:chOff x="808380" y="1840560"/>
            <a:chExt cx="5012690" cy="88900"/>
          </a:xfrm>
        </p:grpSpPr>
        <p:sp>
          <p:nvSpPr>
            <p:cNvPr id="6" name="object 6"/>
            <p:cNvSpPr/>
            <p:nvPr/>
          </p:nvSpPr>
          <p:spPr>
            <a:xfrm>
              <a:off x="814730" y="1846910"/>
              <a:ext cx="4999990" cy="76200"/>
            </a:xfrm>
            <a:custGeom>
              <a:avLst/>
              <a:gdLst/>
              <a:ahLst/>
              <a:cxnLst/>
              <a:rect l="l" t="t" r="r" b="b"/>
              <a:pathLst>
                <a:path w="4999990" h="76200">
                  <a:moveTo>
                    <a:pt x="4999990" y="0"/>
                  </a:moveTo>
                  <a:lnTo>
                    <a:pt x="0" y="0"/>
                  </a:lnTo>
                  <a:lnTo>
                    <a:pt x="0" y="75742"/>
                  </a:lnTo>
                  <a:lnTo>
                    <a:pt x="4999990" y="75742"/>
                  </a:lnTo>
                  <a:lnTo>
                    <a:pt x="4999990" y="0"/>
                  </a:lnTo>
                  <a:close/>
                </a:path>
              </a:pathLst>
            </a:custGeom>
            <a:solidFill>
              <a:srgbClr val="4471C4"/>
            </a:solidFill>
          </p:spPr>
          <p:txBody>
            <a:bodyPr wrap="square" lIns="0" tIns="0" rIns="0" bIns="0" rtlCol="0"/>
            <a:lstStyle/>
            <a:p>
              <a:endParaRPr/>
            </a:p>
          </p:txBody>
        </p:sp>
        <p:sp>
          <p:nvSpPr>
            <p:cNvPr id="7" name="object 7"/>
            <p:cNvSpPr/>
            <p:nvPr/>
          </p:nvSpPr>
          <p:spPr>
            <a:xfrm>
              <a:off x="814730" y="1846910"/>
              <a:ext cx="4999990" cy="76200"/>
            </a:xfrm>
            <a:custGeom>
              <a:avLst/>
              <a:gdLst/>
              <a:ahLst/>
              <a:cxnLst/>
              <a:rect l="l" t="t" r="r" b="b"/>
              <a:pathLst>
                <a:path w="4999990" h="76200">
                  <a:moveTo>
                    <a:pt x="0" y="75742"/>
                  </a:moveTo>
                  <a:lnTo>
                    <a:pt x="4999990" y="75742"/>
                  </a:lnTo>
                  <a:lnTo>
                    <a:pt x="4999990" y="0"/>
                  </a:lnTo>
                  <a:lnTo>
                    <a:pt x="0" y="0"/>
                  </a:lnTo>
                  <a:lnTo>
                    <a:pt x="0" y="75742"/>
                  </a:lnTo>
                  <a:close/>
                </a:path>
              </a:pathLst>
            </a:custGeom>
            <a:ln w="12700">
              <a:solidFill>
                <a:srgbClr val="172C51"/>
              </a:solidFill>
            </a:ln>
          </p:spPr>
          <p:txBody>
            <a:bodyPr wrap="square" lIns="0" tIns="0" rIns="0" bIns="0" rtlCol="0"/>
            <a:lstStyle/>
            <a:p>
              <a:endParaRPr/>
            </a:p>
          </p:txBody>
        </p:sp>
      </p:grpSp>
      <p:sp>
        <p:nvSpPr>
          <p:cNvPr id="8" name="object 8"/>
          <p:cNvSpPr/>
          <p:nvPr/>
        </p:nvSpPr>
        <p:spPr>
          <a:xfrm>
            <a:off x="221312" y="4876800"/>
            <a:ext cx="603250" cy="641350"/>
          </a:xfrm>
          <a:custGeom>
            <a:avLst/>
            <a:gdLst/>
            <a:ahLst/>
            <a:cxnLst/>
            <a:rect l="l" t="t" r="r" b="b"/>
            <a:pathLst>
              <a:path w="603250" h="641350">
                <a:moveTo>
                  <a:pt x="452043" y="150761"/>
                </a:moveTo>
                <a:lnTo>
                  <a:pt x="444360" y="103111"/>
                </a:lnTo>
                <a:lnTo>
                  <a:pt x="422960" y="61734"/>
                </a:lnTo>
                <a:lnTo>
                  <a:pt x="390347" y="29095"/>
                </a:lnTo>
                <a:lnTo>
                  <a:pt x="348983" y="7696"/>
                </a:lnTo>
                <a:lnTo>
                  <a:pt x="301358" y="0"/>
                </a:lnTo>
                <a:lnTo>
                  <a:pt x="253733" y="7696"/>
                </a:lnTo>
                <a:lnTo>
                  <a:pt x="212369" y="29095"/>
                </a:lnTo>
                <a:lnTo>
                  <a:pt x="179755" y="61734"/>
                </a:lnTo>
                <a:lnTo>
                  <a:pt x="158356" y="103111"/>
                </a:lnTo>
                <a:lnTo>
                  <a:pt x="150685" y="150761"/>
                </a:lnTo>
                <a:lnTo>
                  <a:pt x="158356" y="198424"/>
                </a:lnTo>
                <a:lnTo>
                  <a:pt x="179755" y="239801"/>
                </a:lnTo>
                <a:lnTo>
                  <a:pt x="212369" y="272440"/>
                </a:lnTo>
                <a:lnTo>
                  <a:pt x="253733" y="293839"/>
                </a:lnTo>
                <a:lnTo>
                  <a:pt x="301358" y="301523"/>
                </a:lnTo>
                <a:lnTo>
                  <a:pt x="348983" y="293839"/>
                </a:lnTo>
                <a:lnTo>
                  <a:pt x="390347" y="272440"/>
                </a:lnTo>
                <a:lnTo>
                  <a:pt x="422960" y="239801"/>
                </a:lnTo>
                <a:lnTo>
                  <a:pt x="444360" y="198424"/>
                </a:lnTo>
                <a:lnTo>
                  <a:pt x="452043" y="150761"/>
                </a:lnTo>
                <a:close/>
              </a:path>
              <a:path w="603250" h="641350">
                <a:moveTo>
                  <a:pt x="602716" y="489978"/>
                </a:moveTo>
                <a:lnTo>
                  <a:pt x="585241" y="442277"/>
                </a:lnTo>
                <a:lnTo>
                  <a:pt x="539559" y="406298"/>
                </a:lnTo>
                <a:lnTo>
                  <a:pt x="503364" y="386803"/>
                </a:lnTo>
                <a:lnTo>
                  <a:pt x="465048" y="370840"/>
                </a:lnTo>
                <a:lnTo>
                  <a:pt x="425665" y="358063"/>
                </a:lnTo>
                <a:lnTo>
                  <a:pt x="366344" y="344398"/>
                </a:lnTo>
                <a:lnTo>
                  <a:pt x="301358" y="339217"/>
                </a:lnTo>
                <a:lnTo>
                  <a:pt x="270281" y="340575"/>
                </a:lnTo>
                <a:lnTo>
                  <a:pt x="208127" y="350354"/>
                </a:lnTo>
                <a:lnTo>
                  <a:pt x="137668" y="371373"/>
                </a:lnTo>
                <a:lnTo>
                  <a:pt x="99352" y="388213"/>
                </a:lnTo>
                <a:lnTo>
                  <a:pt x="63157" y="407885"/>
                </a:lnTo>
                <a:lnTo>
                  <a:pt x="30137" y="429679"/>
                </a:lnTo>
                <a:lnTo>
                  <a:pt x="2057" y="473138"/>
                </a:lnTo>
                <a:lnTo>
                  <a:pt x="0" y="489978"/>
                </a:lnTo>
                <a:lnTo>
                  <a:pt x="0" y="640740"/>
                </a:lnTo>
                <a:lnTo>
                  <a:pt x="602716" y="640740"/>
                </a:lnTo>
                <a:lnTo>
                  <a:pt x="602716" y="489978"/>
                </a:lnTo>
                <a:close/>
              </a:path>
            </a:pathLst>
          </a:custGeom>
          <a:solidFill>
            <a:srgbClr val="000000"/>
          </a:solidFill>
        </p:spPr>
        <p:txBody>
          <a:bodyPr wrap="square" lIns="0" tIns="0" rIns="0" bIns="0" rtlCol="0"/>
          <a:lstStyle/>
          <a:p>
            <a:endParaRPr/>
          </a:p>
        </p:txBody>
      </p:sp>
      <p:pic>
        <p:nvPicPr>
          <p:cNvPr id="11" name="Picture 10" descr="Child writing on paper">
            <a:extLst>
              <a:ext uri="{FF2B5EF4-FFF2-40B4-BE49-F238E27FC236}">
                <a16:creationId xmlns:a16="http://schemas.microsoft.com/office/drawing/2014/main" id="{12D21747-44BB-DCB4-1E08-D5BAFC1827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44384" y="1778456"/>
            <a:ext cx="5447616" cy="36317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59255" y="304622"/>
            <a:ext cx="4554855" cy="627736"/>
          </a:xfrm>
          <a:prstGeom prst="rect">
            <a:avLst/>
          </a:prstGeom>
        </p:spPr>
        <p:txBody>
          <a:bodyPr vert="horz" wrap="square" lIns="0" tIns="12065" rIns="0" bIns="0" rtlCol="0">
            <a:spAutoFit/>
          </a:bodyPr>
          <a:lstStyle/>
          <a:p>
            <a:pPr marL="12700">
              <a:lnSpc>
                <a:spcPct val="100000"/>
              </a:lnSpc>
              <a:spcBef>
                <a:spcPts val="95"/>
              </a:spcBef>
            </a:pPr>
            <a:r>
              <a:rPr sz="4000" b="1" u="sng" spc="-30" dirty="0">
                <a:solidFill>
                  <a:srgbClr val="FF0000"/>
                </a:solidFill>
                <a:uFill>
                  <a:solidFill>
                    <a:srgbClr val="4471C4"/>
                  </a:solidFill>
                </a:uFill>
              </a:rPr>
              <a:t>LEARNING</a:t>
            </a:r>
            <a:r>
              <a:rPr sz="4000" b="1" u="sng" spc="-180" dirty="0">
                <a:solidFill>
                  <a:srgbClr val="FF0000"/>
                </a:solidFill>
                <a:uFill>
                  <a:solidFill>
                    <a:srgbClr val="4471C4"/>
                  </a:solidFill>
                </a:uFill>
              </a:rPr>
              <a:t> </a:t>
            </a:r>
            <a:r>
              <a:rPr sz="4000" b="1" u="sng" spc="-50" dirty="0">
                <a:solidFill>
                  <a:srgbClr val="FF0000"/>
                </a:solidFill>
                <a:uFill>
                  <a:solidFill>
                    <a:srgbClr val="4471C4"/>
                  </a:solidFill>
                </a:uFill>
              </a:rPr>
              <a:t>OUTCOMES</a:t>
            </a:r>
            <a:endParaRPr sz="4000" b="1" dirty="0">
              <a:solidFill>
                <a:srgbClr val="FF0000"/>
              </a:solidFill>
            </a:endParaRPr>
          </a:p>
        </p:txBody>
      </p:sp>
      <p:grpSp>
        <p:nvGrpSpPr>
          <p:cNvPr id="3" name="object 3"/>
          <p:cNvGrpSpPr/>
          <p:nvPr/>
        </p:nvGrpSpPr>
        <p:grpSpPr>
          <a:xfrm>
            <a:off x="295327" y="194985"/>
            <a:ext cx="711835" cy="755650"/>
            <a:chOff x="295327" y="194985"/>
            <a:chExt cx="711835" cy="755650"/>
          </a:xfrm>
        </p:grpSpPr>
        <p:sp>
          <p:nvSpPr>
            <p:cNvPr id="4" name="object 4"/>
            <p:cNvSpPr/>
            <p:nvPr/>
          </p:nvSpPr>
          <p:spPr>
            <a:xfrm>
              <a:off x="548132" y="200321"/>
              <a:ext cx="453390" cy="480695"/>
            </a:xfrm>
            <a:custGeom>
              <a:avLst/>
              <a:gdLst/>
              <a:ahLst/>
              <a:cxnLst/>
              <a:rect l="l" t="t" r="r" b="b"/>
              <a:pathLst>
                <a:path w="453390" h="480695">
                  <a:moveTo>
                    <a:pt x="364551" y="0"/>
                  </a:moveTo>
                  <a:lnTo>
                    <a:pt x="266983" y="103648"/>
                  </a:lnTo>
                  <a:lnTo>
                    <a:pt x="272305" y="152645"/>
                  </a:lnTo>
                  <a:lnTo>
                    <a:pt x="130387" y="303407"/>
                  </a:lnTo>
                  <a:lnTo>
                    <a:pt x="120755" y="298857"/>
                  </a:lnTo>
                  <a:lnTo>
                    <a:pt x="110540" y="295280"/>
                  </a:lnTo>
                  <a:lnTo>
                    <a:pt x="99827" y="292939"/>
                  </a:lnTo>
                  <a:lnTo>
                    <a:pt x="88698" y="292099"/>
                  </a:lnTo>
                  <a:lnTo>
                    <a:pt x="54258" y="299534"/>
                  </a:lnTo>
                  <a:lnTo>
                    <a:pt x="26055" y="319778"/>
                  </a:lnTo>
                  <a:lnTo>
                    <a:pt x="6998" y="349739"/>
                  </a:lnTo>
                  <a:lnTo>
                    <a:pt x="0" y="386325"/>
                  </a:lnTo>
                  <a:lnTo>
                    <a:pt x="6998" y="422911"/>
                  </a:lnTo>
                  <a:lnTo>
                    <a:pt x="26055" y="452872"/>
                  </a:lnTo>
                  <a:lnTo>
                    <a:pt x="54258" y="473116"/>
                  </a:lnTo>
                  <a:lnTo>
                    <a:pt x="88698" y="480551"/>
                  </a:lnTo>
                  <a:lnTo>
                    <a:pt x="123138" y="473116"/>
                  </a:lnTo>
                  <a:lnTo>
                    <a:pt x="151342" y="452872"/>
                  </a:lnTo>
                  <a:lnTo>
                    <a:pt x="170398" y="422912"/>
                  </a:lnTo>
                  <a:lnTo>
                    <a:pt x="177397" y="386325"/>
                  </a:lnTo>
                  <a:lnTo>
                    <a:pt x="176746" y="374650"/>
                  </a:lnTo>
                  <a:lnTo>
                    <a:pt x="174847" y="363593"/>
                  </a:lnTo>
                  <a:lnTo>
                    <a:pt x="171784" y="353067"/>
                  </a:lnTo>
                  <a:lnTo>
                    <a:pt x="167640" y="342982"/>
                  </a:lnTo>
                  <a:lnTo>
                    <a:pt x="309558" y="192220"/>
                  </a:lnTo>
                  <a:lnTo>
                    <a:pt x="355682" y="197874"/>
                  </a:lnTo>
                  <a:lnTo>
                    <a:pt x="453250" y="94225"/>
                  </a:lnTo>
                  <a:lnTo>
                    <a:pt x="373421" y="84803"/>
                  </a:lnTo>
                  <a:lnTo>
                    <a:pt x="364551" y="0"/>
                  </a:lnTo>
                  <a:close/>
                </a:path>
              </a:pathLst>
            </a:custGeom>
            <a:solidFill>
              <a:srgbClr val="000000"/>
            </a:solidFill>
          </p:spPr>
          <p:txBody>
            <a:bodyPr wrap="square" lIns="0" tIns="0" rIns="0" bIns="0" rtlCol="0"/>
            <a:lstStyle/>
            <a:p>
              <a:endParaRPr/>
            </a:p>
          </p:txBody>
        </p:sp>
        <p:sp>
          <p:nvSpPr>
            <p:cNvPr id="5" name="object 5"/>
            <p:cNvSpPr/>
            <p:nvPr/>
          </p:nvSpPr>
          <p:spPr>
            <a:xfrm>
              <a:off x="548132" y="200321"/>
              <a:ext cx="453390" cy="480695"/>
            </a:xfrm>
            <a:custGeom>
              <a:avLst/>
              <a:gdLst/>
              <a:ahLst/>
              <a:cxnLst/>
              <a:rect l="l" t="t" r="r" b="b"/>
              <a:pathLst>
                <a:path w="453390" h="480695">
                  <a:moveTo>
                    <a:pt x="373421" y="84803"/>
                  </a:moveTo>
                  <a:lnTo>
                    <a:pt x="364551" y="0"/>
                  </a:lnTo>
                  <a:lnTo>
                    <a:pt x="266983" y="103648"/>
                  </a:lnTo>
                  <a:lnTo>
                    <a:pt x="272305" y="152645"/>
                  </a:lnTo>
                  <a:lnTo>
                    <a:pt x="130387" y="303407"/>
                  </a:lnTo>
                  <a:lnTo>
                    <a:pt x="120755" y="298857"/>
                  </a:lnTo>
                  <a:lnTo>
                    <a:pt x="110540" y="295280"/>
                  </a:lnTo>
                  <a:lnTo>
                    <a:pt x="99827" y="292939"/>
                  </a:lnTo>
                  <a:lnTo>
                    <a:pt x="88698" y="292099"/>
                  </a:lnTo>
                  <a:lnTo>
                    <a:pt x="54258" y="299534"/>
                  </a:lnTo>
                  <a:lnTo>
                    <a:pt x="26055" y="319778"/>
                  </a:lnTo>
                  <a:lnTo>
                    <a:pt x="6998" y="349739"/>
                  </a:lnTo>
                  <a:lnTo>
                    <a:pt x="0" y="386325"/>
                  </a:lnTo>
                  <a:lnTo>
                    <a:pt x="6998" y="422911"/>
                  </a:lnTo>
                  <a:lnTo>
                    <a:pt x="26055" y="452872"/>
                  </a:lnTo>
                  <a:lnTo>
                    <a:pt x="54258" y="473116"/>
                  </a:lnTo>
                  <a:lnTo>
                    <a:pt x="88698" y="480551"/>
                  </a:lnTo>
                  <a:lnTo>
                    <a:pt x="123138" y="473116"/>
                  </a:lnTo>
                  <a:lnTo>
                    <a:pt x="151342" y="452872"/>
                  </a:lnTo>
                  <a:lnTo>
                    <a:pt x="170398" y="422912"/>
                  </a:lnTo>
                  <a:lnTo>
                    <a:pt x="177397" y="386325"/>
                  </a:lnTo>
                  <a:lnTo>
                    <a:pt x="176746" y="374650"/>
                  </a:lnTo>
                  <a:lnTo>
                    <a:pt x="174847" y="363593"/>
                  </a:lnTo>
                  <a:lnTo>
                    <a:pt x="171784" y="353067"/>
                  </a:lnTo>
                  <a:lnTo>
                    <a:pt x="167640" y="342982"/>
                  </a:lnTo>
                  <a:lnTo>
                    <a:pt x="309558" y="192220"/>
                  </a:lnTo>
                  <a:lnTo>
                    <a:pt x="355682" y="197874"/>
                  </a:lnTo>
                  <a:lnTo>
                    <a:pt x="453250" y="94225"/>
                  </a:lnTo>
                  <a:lnTo>
                    <a:pt x="373421" y="84803"/>
                  </a:lnTo>
                  <a:close/>
                </a:path>
              </a:pathLst>
            </a:custGeom>
            <a:ln w="10651">
              <a:solidFill>
                <a:srgbClr val="4471C4"/>
              </a:solidFill>
            </a:ln>
          </p:spPr>
          <p:txBody>
            <a:bodyPr wrap="square" lIns="0" tIns="0" rIns="0" bIns="0" rtlCol="0"/>
            <a:lstStyle/>
            <a:p>
              <a:endParaRPr/>
            </a:p>
          </p:txBody>
        </p:sp>
        <p:sp>
          <p:nvSpPr>
            <p:cNvPr id="6" name="object 6"/>
            <p:cNvSpPr/>
            <p:nvPr/>
          </p:nvSpPr>
          <p:spPr>
            <a:xfrm>
              <a:off x="300662" y="228588"/>
              <a:ext cx="674370" cy="716280"/>
            </a:xfrm>
            <a:custGeom>
              <a:avLst/>
              <a:gdLst/>
              <a:ahLst/>
              <a:cxnLst/>
              <a:rect l="l" t="t" r="r" b="b"/>
              <a:pathLst>
                <a:path w="674369" h="716280">
                  <a:moveTo>
                    <a:pt x="337055" y="0"/>
                  </a:moveTo>
                  <a:lnTo>
                    <a:pt x="291294" y="3266"/>
                  </a:lnTo>
                  <a:lnTo>
                    <a:pt x="247412" y="12781"/>
                  </a:lnTo>
                  <a:lnTo>
                    <a:pt x="205808" y="28120"/>
                  </a:lnTo>
                  <a:lnTo>
                    <a:pt x="166885" y="48857"/>
                  </a:lnTo>
                  <a:lnTo>
                    <a:pt x="131041" y="74568"/>
                  </a:lnTo>
                  <a:lnTo>
                    <a:pt x="98677" y="104826"/>
                  </a:lnTo>
                  <a:lnTo>
                    <a:pt x="70194" y="139206"/>
                  </a:lnTo>
                  <a:lnTo>
                    <a:pt x="45991" y="177283"/>
                  </a:lnTo>
                  <a:lnTo>
                    <a:pt x="26471" y="218633"/>
                  </a:lnTo>
                  <a:lnTo>
                    <a:pt x="12031" y="262828"/>
                  </a:lnTo>
                  <a:lnTo>
                    <a:pt x="3074" y="309445"/>
                  </a:lnTo>
                  <a:lnTo>
                    <a:pt x="0" y="358058"/>
                  </a:lnTo>
                  <a:lnTo>
                    <a:pt x="3074" y="406670"/>
                  </a:lnTo>
                  <a:lnTo>
                    <a:pt x="12031" y="453287"/>
                  </a:lnTo>
                  <a:lnTo>
                    <a:pt x="26471" y="497482"/>
                  </a:lnTo>
                  <a:lnTo>
                    <a:pt x="45991" y="538832"/>
                  </a:lnTo>
                  <a:lnTo>
                    <a:pt x="70194" y="576909"/>
                  </a:lnTo>
                  <a:lnTo>
                    <a:pt x="98677" y="611290"/>
                  </a:lnTo>
                  <a:lnTo>
                    <a:pt x="131041" y="641548"/>
                  </a:lnTo>
                  <a:lnTo>
                    <a:pt x="166885" y="667258"/>
                  </a:lnTo>
                  <a:lnTo>
                    <a:pt x="205808" y="687995"/>
                  </a:lnTo>
                  <a:lnTo>
                    <a:pt x="247412" y="703334"/>
                  </a:lnTo>
                  <a:lnTo>
                    <a:pt x="291294" y="712850"/>
                  </a:lnTo>
                  <a:lnTo>
                    <a:pt x="337055" y="716116"/>
                  </a:lnTo>
                  <a:lnTo>
                    <a:pt x="382816" y="712850"/>
                  </a:lnTo>
                  <a:lnTo>
                    <a:pt x="426698" y="703335"/>
                  </a:lnTo>
                  <a:lnTo>
                    <a:pt x="468301" y="687996"/>
                  </a:lnTo>
                  <a:lnTo>
                    <a:pt x="507225" y="667258"/>
                  </a:lnTo>
                  <a:lnTo>
                    <a:pt x="543069" y="641548"/>
                  </a:lnTo>
                  <a:lnTo>
                    <a:pt x="575433" y="611290"/>
                  </a:lnTo>
                  <a:lnTo>
                    <a:pt x="603916" y="576910"/>
                  </a:lnTo>
                  <a:lnTo>
                    <a:pt x="628118" y="538832"/>
                  </a:lnTo>
                  <a:lnTo>
                    <a:pt x="647639" y="497483"/>
                  </a:lnTo>
                  <a:lnTo>
                    <a:pt x="662078" y="453287"/>
                  </a:lnTo>
                  <a:lnTo>
                    <a:pt x="671036" y="406671"/>
                  </a:lnTo>
                  <a:lnTo>
                    <a:pt x="674110" y="358058"/>
                  </a:lnTo>
                  <a:lnTo>
                    <a:pt x="671491" y="313036"/>
                  </a:lnTo>
                  <a:lnTo>
                    <a:pt x="663799" y="269957"/>
                  </a:lnTo>
                  <a:lnTo>
                    <a:pt x="651284" y="228998"/>
                  </a:lnTo>
                  <a:lnTo>
                    <a:pt x="634196" y="190336"/>
                  </a:lnTo>
                  <a:lnTo>
                    <a:pt x="616456" y="209181"/>
                  </a:lnTo>
                  <a:lnTo>
                    <a:pt x="580977" y="204470"/>
                  </a:lnTo>
                  <a:lnTo>
                    <a:pt x="597691" y="239598"/>
                  </a:lnTo>
                  <a:lnTo>
                    <a:pt x="610247" y="277024"/>
                  </a:lnTo>
                  <a:lnTo>
                    <a:pt x="618147" y="316569"/>
                  </a:lnTo>
                  <a:lnTo>
                    <a:pt x="620891" y="358058"/>
                  </a:lnTo>
                  <a:lnTo>
                    <a:pt x="617159" y="406799"/>
                  </a:lnTo>
                  <a:lnTo>
                    <a:pt x="606359" y="453098"/>
                  </a:lnTo>
                  <a:lnTo>
                    <a:pt x="589087" y="496321"/>
                  </a:lnTo>
                  <a:lnTo>
                    <a:pt x="565940" y="535836"/>
                  </a:lnTo>
                  <a:lnTo>
                    <a:pt x="537514" y="571008"/>
                  </a:lnTo>
                  <a:lnTo>
                    <a:pt x="504405" y="601206"/>
                  </a:lnTo>
                  <a:lnTo>
                    <a:pt x="467208" y="625795"/>
                  </a:lnTo>
                  <a:lnTo>
                    <a:pt x="426520" y="644143"/>
                  </a:lnTo>
                  <a:lnTo>
                    <a:pt x="382937" y="655616"/>
                  </a:lnTo>
                  <a:lnTo>
                    <a:pt x="337055" y="659581"/>
                  </a:lnTo>
                  <a:lnTo>
                    <a:pt x="291173" y="655616"/>
                  </a:lnTo>
                  <a:lnTo>
                    <a:pt x="247590" y="644143"/>
                  </a:lnTo>
                  <a:lnTo>
                    <a:pt x="206902" y="625795"/>
                  </a:lnTo>
                  <a:lnTo>
                    <a:pt x="169705" y="601206"/>
                  </a:lnTo>
                  <a:lnTo>
                    <a:pt x="136596" y="571008"/>
                  </a:lnTo>
                  <a:lnTo>
                    <a:pt x="108169" y="535835"/>
                  </a:lnTo>
                  <a:lnTo>
                    <a:pt x="85023" y="496321"/>
                  </a:lnTo>
                  <a:lnTo>
                    <a:pt x="67751" y="453098"/>
                  </a:lnTo>
                  <a:lnTo>
                    <a:pt x="56951" y="406799"/>
                  </a:lnTo>
                  <a:lnTo>
                    <a:pt x="53219" y="358058"/>
                  </a:lnTo>
                  <a:lnTo>
                    <a:pt x="56951" y="309316"/>
                  </a:lnTo>
                  <a:lnTo>
                    <a:pt x="67751" y="263018"/>
                  </a:lnTo>
                  <a:lnTo>
                    <a:pt x="85023" y="219794"/>
                  </a:lnTo>
                  <a:lnTo>
                    <a:pt x="108169" y="180280"/>
                  </a:lnTo>
                  <a:lnTo>
                    <a:pt x="136596" y="145107"/>
                  </a:lnTo>
                  <a:lnTo>
                    <a:pt x="169705" y="114910"/>
                  </a:lnTo>
                  <a:lnTo>
                    <a:pt x="206902" y="90321"/>
                  </a:lnTo>
                  <a:lnTo>
                    <a:pt x="247590" y="71973"/>
                  </a:lnTo>
                  <a:lnTo>
                    <a:pt x="291173" y="60500"/>
                  </a:lnTo>
                  <a:lnTo>
                    <a:pt x="337055" y="56535"/>
                  </a:lnTo>
                  <a:lnTo>
                    <a:pt x="375736" y="59318"/>
                  </a:lnTo>
                  <a:lnTo>
                    <a:pt x="413003" y="67489"/>
                  </a:lnTo>
                  <a:lnTo>
                    <a:pt x="448441" y="80784"/>
                  </a:lnTo>
                  <a:lnTo>
                    <a:pt x="481634" y="98937"/>
                  </a:lnTo>
                  <a:lnTo>
                    <a:pt x="477199" y="61246"/>
                  </a:lnTo>
                  <a:lnTo>
                    <a:pt x="495826" y="41459"/>
                  </a:lnTo>
                  <a:lnTo>
                    <a:pt x="458919" y="23851"/>
                  </a:lnTo>
                  <a:lnTo>
                    <a:pt x="420099" y="10836"/>
                  </a:lnTo>
                  <a:lnTo>
                    <a:pt x="379450" y="2767"/>
                  </a:lnTo>
                  <a:lnTo>
                    <a:pt x="337055" y="0"/>
                  </a:lnTo>
                  <a:close/>
                </a:path>
              </a:pathLst>
            </a:custGeom>
            <a:solidFill>
              <a:srgbClr val="000000"/>
            </a:solidFill>
          </p:spPr>
          <p:txBody>
            <a:bodyPr wrap="square" lIns="0" tIns="0" rIns="0" bIns="0" rtlCol="0"/>
            <a:lstStyle/>
            <a:p>
              <a:endParaRPr/>
            </a:p>
          </p:txBody>
        </p:sp>
        <p:sp>
          <p:nvSpPr>
            <p:cNvPr id="7" name="object 7"/>
            <p:cNvSpPr/>
            <p:nvPr/>
          </p:nvSpPr>
          <p:spPr>
            <a:xfrm>
              <a:off x="300662" y="228588"/>
              <a:ext cx="674370" cy="716280"/>
            </a:xfrm>
            <a:custGeom>
              <a:avLst/>
              <a:gdLst/>
              <a:ahLst/>
              <a:cxnLst/>
              <a:rect l="l" t="t" r="r" b="b"/>
              <a:pathLst>
                <a:path w="674369" h="716280">
                  <a:moveTo>
                    <a:pt x="627987" y="195990"/>
                  </a:moveTo>
                  <a:lnTo>
                    <a:pt x="616456" y="209181"/>
                  </a:lnTo>
                  <a:lnTo>
                    <a:pt x="599603" y="207297"/>
                  </a:lnTo>
                  <a:lnTo>
                    <a:pt x="580977" y="204470"/>
                  </a:lnTo>
                  <a:lnTo>
                    <a:pt x="597691" y="239598"/>
                  </a:lnTo>
                  <a:lnTo>
                    <a:pt x="610247" y="277024"/>
                  </a:lnTo>
                  <a:lnTo>
                    <a:pt x="618147" y="316569"/>
                  </a:lnTo>
                  <a:lnTo>
                    <a:pt x="620891" y="358058"/>
                  </a:lnTo>
                  <a:lnTo>
                    <a:pt x="617159" y="406799"/>
                  </a:lnTo>
                  <a:lnTo>
                    <a:pt x="606359" y="453098"/>
                  </a:lnTo>
                  <a:lnTo>
                    <a:pt x="589087" y="496321"/>
                  </a:lnTo>
                  <a:lnTo>
                    <a:pt x="565940" y="535836"/>
                  </a:lnTo>
                  <a:lnTo>
                    <a:pt x="537514" y="571008"/>
                  </a:lnTo>
                  <a:lnTo>
                    <a:pt x="504405" y="601206"/>
                  </a:lnTo>
                  <a:lnTo>
                    <a:pt x="467208" y="625795"/>
                  </a:lnTo>
                  <a:lnTo>
                    <a:pt x="426520" y="644143"/>
                  </a:lnTo>
                  <a:lnTo>
                    <a:pt x="382937" y="655616"/>
                  </a:lnTo>
                  <a:lnTo>
                    <a:pt x="337055" y="659581"/>
                  </a:lnTo>
                  <a:lnTo>
                    <a:pt x="291173" y="655616"/>
                  </a:lnTo>
                  <a:lnTo>
                    <a:pt x="247590" y="644143"/>
                  </a:lnTo>
                  <a:lnTo>
                    <a:pt x="206902" y="625795"/>
                  </a:lnTo>
                  <a:lnTo>
                    <a:pt x="169705" y="601206"/>
                  </a:lnTo>
                  <a:lnTo>
                    <a:pt x="136596" y="571008"/>
                  </a:lnTo>
                  <a:lnTo>
                    <a:pt x="108169" y="535835"/>
                  </a:lnTo>
                  <a:lnTo>
                    <a:pt x="85023" y="496321"/>
                  </a:lnTo>
                  <a:lnTo>
                    <a:pt x="67751" y="453098"/>
                  </a:lnTo>
                  <a:lnTo>
                    <a:pt x="56951" y="406799"/>
                  </a:lnTo>
                  <a:lnTo>
                    <a:pt x="53219" y="358058"/>
                  </a:lnTo>
                  <a:lnTo>
                    <a:pt x="56951" y="309316"/>
                  </a:lnTo>
                  <a:lnTo>
                    <a:pt x="67751" y="263018"/>
                  </a:lnTo>
                  <a:lnTo>
                    <a:pt x="85023" y="219794"/>
                  </a:lnTo>
                  <a:lnTo>
                    <a:pt x="108169" y="180280"/>
                  </a:lnTo>
                  <a:lnTo>
                    <a:pt x="136596" y="145107"/>
                  </a:lnTo>
                  <a:lnTo>
                    <a:pt x="169705" y="114910"/>
                  </a:lnTo>
                  <a:lnTo>
                    <a:pt x="206902" y="90321"/>
                  </a:lnTo>
                  <a:lnTo>
                    <a:pt x="247590" y="71973"/>
                  </a:lnTo>
                  <a:lnTo>
                    <a:pt x="291173" y="60500"/>
                  </a:lnTo>
                  <a:lnTo>
                    <a:pt x="337055" y="56535"/>
                  </a:lnTo>
                  <a:lnTo>
                    <a:pt x="375736" y="59318"/>
                  </a:lnTo>
                  <a:lnTo>
                    <a:pt x="413003" y="67489"/>
                  </a:lnTo>
                  <a:lnTo>
                    <a:pt x="448441" y="80784"/>
                  </a:lnTo>
                  <a:lnTo>
                    <a:pt x="481634" y="98937"/>
                  </a:lnTo>
                  <a:lnTo>
                    <a:pt x="479860" y="80092"/>
                  </a:lnTo>
                  <a:lnTo>
                    <a:pt x="477199" y="61246"/>
                  </a:lnTo>
                  <a:lnTo>
                    <a:pt x="489617" y="48055"/>
                  </a:lnTo>
                  <a:lnTo>
                    <a:pt x="495826" y="41459"/>
                  </a:lnTo>
                  <a:lnTo>
                    <a:pt x="458919" y="23851"/>
                  </a:lnTo>
                  <a:lnTo>
                    <a:pt x="420099" y="10836"/>
                  </a:lnTo>
                  <a:lnTo>
                    <a:pt x="379450" y="2767"/>
                  </a:lnTo>
                  <a:lnTo>
                    <a:pt x="337055" y="0"/>
                  </a:lnTo>
                  <a:lnTo>
                    <a:pt x="291294" y="3266"/>
                  </a:lnTo>
                  <a:lnTo>
                    <a:pt x="247412" y="12781"/>
                  </a:lnTo>
                  <a:lnTo>
                    <a:pt x="205808" y="28120"/>
                  </a:lnTo>
                  <a:lnTo>
                    <a:pt x="166885" y="48857"/>
                  </a:lnTo>
                  <a:lnTo>
                    <a:pt x="131041" y="74568"/>
                  </a:lnTo>
                  <a:lnTo>
                    <a:pt x="98677" y="104826"/>
                  </a:lnTo>
                  <a:lnTo>
                    <a:pt x="70194" y="139206"/>
                  </a:lnTo>
                  <a:lnTo>
                    <a:pt x="45991" y="177283"/>
                  </a:lnTo>
                  <a:lnTo>
                    <a:pt x="26471" y="218633"/>
                  </a:lnTo>
                  <a:lnTo>
                    <a:pt x="12031" y="262828"/>
                  </a:lnTo>
                  <a:lnTo>
                    <a:pt x="3074" y="309445"/>
                  </a:lnTo>
                  <a:lnTo>
                    <a:pt x="0" y="358058"/>
                  </a:lnTo>
                  <a:lnTo>
                    <a:pt x="3074" y="406670"/>
                  </a:lnTo>
                  <a:lnTo>
                    <a:pt x="12031" y="453287"/>
                  </a:lnTo>
                  <a:lnTo>
                    <a:pt x="26471" y="497482"/>
                  </a:lnTo>
                  <a:lnTo>
                    <a:pt x="45991" y="538832"/>
                  </a:lnTo>
                  <a:lnTo>
                    <a:pt x="70194" y="576909"/>
                  </a:lnTo>
                  <a:lnTo>
                    <a:pt x="98677" y="611290"/>
                  </a:lnTo>
                  <a:lnTo>
                    <a:pt x="131041" y="641548"/>
                  </a:lnTo>
                  <a:lnTo>
                    <a:pt x="166885" y="667258"/>
                  </a:lnTo>
                  <a:lnTo>
                    <a:pt x="205808" y="687995"/>
                  </a:lnTo>
                  <a:lnTo>
                    <a:pt x="247412" y="703334"/>
                  </a:lnTo>
                  <a:lnTo>
                    <a:pt x="291294" y="712850"/>
                  </a:lnTo>
                  <a:lnTo>
                    <a:pt x="337055" y="716116"/>
                  </a:lnTo>
                  <a:lnTo>
                    <a:pt x="382816" y="712850"/>
                  </a:lnTo>
                  <a:lnTo>
                    <a:pt x="426698" y="703335"/>
                  </a:lnTo>
                  <a:lnTo>
                    <a:pt x="468301" y="687996"/>
                  </a:lnTo>
                  <a:lnTo>
                    <a:pt x="507225" y="667258"/>
                  </a:lnTo>
                  <a:lnTo>
                    <a:pt x="543069" y="641548"/>
                  </a:lnTo>
                  <a:lnTo>
                    <a:pt x="575433" y="611290"/>
                  </a:lnTo>
                  <a:lnTo>
                    <a:pt x="603916" y="576910"/>
                  </a:lnTo>
                  <a:lnTo>
                    <a:pt x="628118" y="538832"/>
                  </a:lnTo>
                  <a:lnTo>
                    <a:pt x="647639" y="497483"/>
                  </a:lnTo>
                  <a:lnTo>
                    <a:pt x="662078" y="453287"/>
                  </a:lnTo>
                  <a:lnTo>
                    <a:pt x="671036" y="406671"/>
                  </a:lnTo>
                  <a:lnTo>
                    <a:pt x="674110" y="358058"/>
                  </a:lnTo>
                  <a:lnTo>
                    <a:pt x="671491" y="313036"/>
                  </a:lnTo>
                  <a:lnTo>
                    <a:pt x="663799" y="269957"/>
                  </a:lnTo>
                  <a:lnTo>
                    <a:pt x="651284" y="228998"/>
                  </a:lnTo>
                  <a:lnTo>
                    <a:pt x="634196" y="190336"/>
                  </a:lnTo>
                  <a:lnTo>
                    <a:pt x="627987" y="195990"/>
                  </a:lnTo>
                  <a:close/>
                </a:path>
              </a:pathLst>
            </a:custGeom>
            <a:ln w="10651">
              <a:solidFill>
                <a:srgbClr val="4471C4"/>
              </a:solidFill>
            </a:ln>
          </p:spPr>
          <p:txBody>
            <a:bodyPr wrap="square" lIns="0" tIns="0" rIns="0" bIns="0" rtlCol="0"/>
            <a:lstStyle/>
            <a:p>
              <a:endParaRPr/>
            </a:p>
          </p:txBody>
        </p:sp>
        <p:sp>
          <p:nvSpPr>
            <p:cNvPr id="8" name="object 8"/>
            <p:cNvSpPr/>
            <p:nvPr/>
          </p:nvSpPr>
          <p:spPr>
            <a:xfrm>
              <a:off x="424841" y="360505"/>
              <a:ext cx="426084" cy="452755"/>
            </a:xfrm>
            <a:custGeom>
              <a:avLst/>
              <a:gdLst/>
              <a:ahLst/>
              <a:cxnLst/>
              <a:rect l="l" t="t" r="r" b="b"/>
              <a:pathLst>
                <a:path w="426084" h="452755">
                  <a:moveTo>
                    <a:pt x="212877" y="0"/>
                  </a:moveTo>
                  <a:lnTo>
                    <a:pt x="170114" y="4615"/>
                  </a:lnTo>
                  <a:lnTo>
                    <a:pt x="130220" y="17843"/>
                  </a:lnTo>
                  <a:lnTo>
                    <a:pt x="94069" y="38757"/>
                  </a:lnTo>
                  <a:lnTo>
                    <a:pt x="62532" y="66429"/>
                  </a:lnTo>
                  <a:lnTo>
                    <a:pt x="36484" y="99930"/>
                  </a:lnTo>
                  <a:lnTo>
                    <a:pt x="16797" y="138335"/>
                  </a:lnTo>
                  <a:lnTo>
                    <a:pt x="4344" y="180714"/>
                  </a:lnTo>
                  <a:lnTo>
                    <a:pt x="0" y="226141"/>
                  </a:lnTo>
                  <a:lnTo>
                    <a:pt x="4344" y="271569"/>
                  </a:lnTo>
                  <a:lnTo>
                    <a:pt x="16797" y="313948"/>
                  </a:lnTo>
                  <a:lnTo>
                    <a:pt x="36484" y="352353"/>
                  </a:lnTo>
                  <a:lnTo>
                    <a:pt x="62532" y="385854"/>
                  </a:lnTo>
                  <a:lnTo>
                    <a:pt x="94069" y="413526"/>
                  </a:lnTo>
                  <a:lnTo>
                    <a:pt x="130220" y="434440"/>
                  </a:lnTo>
                  <a:lnTo>
                    <a:pt x="170114" y="447668"/>
                  </a:lnTo>
                  <a:lnTo>
                    <a:pt x="212877" y="452284"/>
                  </a:lnTo>
                  <a:lnTo>
                    <a:pt x="255639" y="447668"/>
                  </a:lnTo>
                  <a:lnTo>
                    <a:pt x="295533" y="434440"/>
                  </a:lnTo>
                  <a:lnTo>
                    <a:pt x="331684" y="413526"/>
                  </a:lnTo>
                  <a:lnTo>
                    <a:pt x="363221" y="385855"/>
                  </a:lnTo>
                  <a:lnTo>
                    <a:pt x="389269" y="352353"/>
                  </a:lnTo>
                  <a:lnTo>
                    <a:pt x="408956" y="313948"/>
                  </a:lnTo>
                  <a:lnTo>
                    <a:pt x="421409" y="271569"/>
                  </a:lnTo>
                  <a:lnTo>
                    <a:pt x="425754" y="226142"/>
                  </a:lnTo>
                  <a:lnTo>
                    <a:pt x="424118" y="197712"/>
                  </a:lnTo>
                  <a:lnTo>
                    <a:pt x="411534" y="144386"/>
                  </a:lnTo>
                  <a:lnTo>
                    <a:pt x="361004" y="162068"/>
                  </a:lnTo>
                  <a:lnTo>
                    <a:pt x="366173" y="177247"/>
                  </a:lnTo>
                  <a:lnTo>
                    <a:pt x="369763" y="193045"/>
                  </a:lnTo>
                  <a:lnTo>
                    <a:pt x="371855" y="209372"/>
                  </a:lnTo>
                  <a:lnTo>
                    <a:pt x="372534" y="226142"/>
                  </a:lnTo>
                  <a:lnTo>
                    <a:pt x="366806" y="271095"/>
                  </a:lnTo>
                  <a:lnTo>
                    <a:pt x="350655" y="311573"/>
                  </a:lnTo>
                  <a:lnTo>
                    <a:pt x="325635" y="345926"/>
                  </a:lnTo>
                  <a:lnTo>
                    <a:pt x="293297" y="372506"/>
                  </a:lnTo>
                  <a:lnTo>
                    <a:pt x="255193" y="389663"/>
                  </a:lnTo>
                  <a:lnTo>
                    <a:pt x="212877" y="395748"/>
                  </a:lnTo>
                  <a:lnTo>
                    <a:pt x="170560" y="389663"/>
                  </a:lnTo>
                  <a:lnTo>
                    <a:pt x="132456" y="372506"/>
                  </a:lnTo>
                  <a:lnTo>
                    <a:pt x="100118" y="345926"/>
                  </a:lnTo>
                  <a:lnTo>
                    <a:pt x="75098" y="311573"/>
                  </a:lnTo>
                  <a:lnTo>
                    <a:pt x="58947" y="271095"/>
                  </a:lnTo>
                  <a:lnTo>
                    <a:pt x="53219" y="226141"/>
                  </a:lnTo>
                  <a:lnTo>
                    <a:pt x="58947" y="181188"/>
                  </a:lnTo>
                  <a:lnTo>
                    <a:pt x="75098" y="140710"/>
                  </a:lnTo>
                  <a:lnTo>
                    <a:pt x="100118" y="106357"/>
                  </a:lnTo>
                  <a:lnTo>
                    <a:pt x="132456" y="79777"/>
                  </a:lnTo>
                  <a:lnTo>
                    <a:pt x="170560" y="62620"/>
                  </a:lnTo>
                  <a:lnTo>
                    <a:pt x="212877" y="56535"/>
                  </a:lnTo>
                  <a:lnTo>
                    <a:pt x="228662" y="57389"/>
                  </a:lnTo>
                  <a:lnTo>
                    <a:pt x="244032" y="59833"/>
                  </a:lnTo>
                  <a:lnTo>
                    <a:pt x="258903" y="63690"/>
                  </a:lnTo>
                  <a:lnTo>
                    <a:pt x="273192" y="68784"/>
                  </a:lnTo>
                  <a:lnTo>
                    <a:pt x="313106" y="26383"/>
                  </a:lnTo>
                  <a:lnTo>
                    <a:pt x="289837" y="15105"/>
                  </a:lnTo>
                  <a:lnTo>
                    <a:pt x="265320" y="6831"/>
                  </a:lnTo>
                  <a:lnTo>
                    <a:pt x="239639" y="1737"/>
                  </a:lnTo>
                  <a:lnTo>
                    <a:pt x="212877" y="0"/>
                  </a:lnTo>
                  <a:close/>
                </a:path>
              </a:pathLst>
            </a:custGeom>
            <a:solidFill>
              <a:srgbClr val="000000"/>
            </a:solidFill>
          </p:spPr>
          <p:txBody>
            <a:bodyPr wrap="square" lIns="0" tIns="0" rIns="0" bIns="0" rtlCol="0"/>
            <a:lstStyle/>
            <a:p>
              <a:endParaRPr/>
            </a:p>
          </p:txBody>
        </p:sp>
        <p:sp>
          <p:nvSpPr>
            <p:cNvPr id="9" name="object 9"/>
            <p:cNvSpPr/>
            <p:nvPr/>
          </p:nvSpPr>
          <p:spPr>
            <a:xfrm>
              <a:off x="424841" y="360505"/>
              <a:ext cx="426084" cy="452755"/>
            </a:xfrm>
            <a:custGeom>
              <a:avLst/>
              <a:gdLst/>
              <a:ahLst/>
              <a:cxnLst/>
              <a:rect l="l" t="t" r="r" b="b"/>
              <a:pathLst>
                <a:path w="426084" h="452755">
                  <a:moveTo>
                    <a:pt x="361004" y="162068"/>
                  </a:moveTo>
                  <a:lnTo>
                    <a:pt x="366173" y="177247"/>
                  </a:lnTo>
                  <a:lnTo>
                    <a:pt x="369763" y="193045"/>
                  </a:lnTo>
                  <a:lnTo>
                    <a:pt x="371855" y="209372"/>
                  </a:lnTo>
                  <a:lnTo>
                    <a:pt x="372534" y="226142"/>
                  </a:lnTo>
                  <a:lnTo>
                    <a:pt x="366806" y="271095"/>
                  </a:lnTo>
                  <a:lnTo>
                    <a:pt x="350655" y="311573"/>
                  </a:lnTo>
                  <a:lnTo>
                    <a:pt x="325635" y="345926"/>
                  </a:lnTo>
                  <a:lnTo>
                    <a:pt x="293297" y="372506"/>
                  </a:lnTo>
                  <a:lnTo>
                    <a:pt x="255193" y="389663"/>
                  </a:lnTo>
                  <a:lnTo>
                    <a:pt x="212877" y="395748"/>
                  </a:lnTo>
                  <a:lnTo>
                    <a:pt x="170560" y="389663"/>
                  </a:lnTo>
                  <a:lnTo>
                    <a:pt x="132456" y="372506"/>
                  </a:lnTo>
                  <a:lnTo>
                    <a:pt x="100118" y="345926"/>
                  </a:lnTo>
                  <a:lnTo>
                    <a:pt x="75098" y="311573"/>
                  </a:lnTo>
                  <a:lnTo>
                    <a:pt x="58947" y="271095"/>
                  </a:lnTo>
                  <a:lnTo>
                    <a:pt x="53219" y="226141"/>
                  </a:lnTo>
                  <a:lnTo>
                    <a:pt x="58947" y="181188"/>
                  </a:lnTo>
                  <a:lnTo>
                    <a:pt x="75098" y="140710"/>
                  </a:lnTo>
                  <a:lnTo>
                    <a:pt x="100118" y="106357"/>
                  </a:lnTo>
                  <a:lnTo>
                    <a:pt x="132456" y="79777"/>
                  </a:lnTo>
                  <a:lnTo>
                    <a:pt x="170560" y="62620"/>
                  </a:lnTo>
                  <a:lnTo>
                    <a:pt x="212877" y="56535"/>
                  </a:lnTo>
                  <a:lnTo>
                    <a:pt x="228662" y="57389"/>
                  </a:lnTo>
                  <a:lnTo>
                    <a:pt x="244032" y="59833"/>
                  </a:lnTo>
                  <a:lnTo>
                    <a:pt x="258903" y="63690"/>
                  </a:lnTo>
                  <a:lnTo>
                    <a:pt x="273192" y="68784"/>
                  </a:lnTo>
                  <a:lnTo>
                    <a:pt x="313106" y="26383"/>
                  </a:lnTo>
                  <a:lnTo>
                    <a:pt x="289837" y="15105"/>
                  </a:lnTo>
                  <a:lnTo>
                    <a:pt x="265320" y="6831"/>
                  </a:lnTo>
                  <a:lnTo>
                    <a:pt x="239639" y="1737"/>
                  </a:lnTo>
                  <a:lnTo>
                    <a:pt x="212877" y="0"/>
                  </a:lnTo>
                  <a:lnTo>
                    <a:pt x="170114" y="4615"/>
                  </a:lnTo>
                  <a:lnTo>
                    <a:pt x="130220" y="17843"/>
                  </a:lnTo>
                  <a:lnTo>
                    <a:pt x="94069" y="38757"/>
                  </a:lnTo>
                  <a:lnTo>
                    <a:pt x="62532" y="66429"/>
                  </a:lnTo>
                  <a:lnTo>
                    <a:pt x="36484" y="99930"/>
                  </a:lnTo>
                  <a:lnTo>
                    <a:pt x="16797" y="138335"/>
                  </a:lnTo>
                  <a:lnTo>
                    <a:pt x="4344" y="180714"/>
                  </a:lnTo>
                  <a:lnTo>
                    <a:pt x="0" y="226141"/>
                  </a:lnTo>
                  <a:lnTo>
                    <a:pt x="4344" y="271569"/>
                  </a:lnTo>
                  <a:lnTo>
                    <a:pt x="16797" y="313948"/>
                  </a:lnTo>
                  <a:lnTo>
                    <a:pt x="36484" y="352353"/>
                  </a:lnTo>
                  <a:lnTo>
                    <a:pt x="62532" y="385854"/>
                  </a:lnTo>
                  <a:lnTo>
                    <a:pt x="94069" y="413526"/>
                  </a:lnTo>
                  <a:lnTo>
                    <a:pt x="130220" y="434440"/>
                  </a:lnTo>
                  <a:lnTo>
                    <a:pt x="170114" y="447668"/>
                  </a:lnTo>
                  <a:lnTo>
                    <a:pt x="212877" y="452284"/>
                  </a:lnTo>
                  <a:lnTo>
                    <a:pt x="255639" y="447668"/>
                  </a:lnTo>
                  <a:lnTo>
                    <a:pt x="295533" y="434440"/>
                  </a:lnTo>
                  <a:lnTo>
                    <a:pt x="331684" y="413526"/>
                  </a:lnTo>
                  <a:lnTo>
                    <a:pt x="363221" y="385855"/>
                  </a:lnTo>
                  <a:lnTo>
                    <a:pt x="389269" y="352353"/>
                  </a:lnTo>
                  <a:lnTo>
                    <a:pt x="408956" y="313948"/>
                  </a:lnTo>
                  <a:lnTo>
                    <a:pt x="421409" y="271569"/>
                  </a:lnTo>
                  <a:lnTo>
                    <a:pt x="425754" y="226142"/>
                  </a:lnTo>
                  <a:lnTo>
                    <a:pt x="424118" y="197712"/>
                  </a:lnTo>
                  <a:lnTo>
                    <a:pt x="419323" y="170431"/>
                  </a:lnTo>
                  <a:lnTo>
                    <a:pt x="411534" y="144386"/>
                  </a:lnTo>
                  <a:lnTo>
                    <a:pt x="400918" y="119667"/>
                  </a:lnTo>
                  <a:lnTo>
                    <a:pt x="361004" y="162068"/>
                  </a:lnTo>
                  <a:close/>
                </a:path>
              </a:pathLst>
            </a:custGeom>
            <a:ln w="10651">
              <a:solidFill>
                <a:srgbClr val="4471C4"/>
              </a:solidFill>
            </a:ln>
          </p:spPr>
          <p:txBody>
            <a:bodyPr wrap="square" lIns="0" tIns="0" rIns="0" bIns="0" rtlCol="0"/>
            <a:lstStyle/>
            <a:p>
              <a:endParaRPr/>
            </a:p>
          </p:txBody>
        </p:sp>
      </p:grpSp>
      <p:pic>
        <p:nvPicPr>
          <p:cNvPr id="10" name="object 10"/>
          <p:cNvPicPr/>
          <p:nvPr/>
        </p:nvPicPr>
        <p:blipFill>
          <a:blip r:embed="rId2" cstate="print"/>
          <a:stretch>
            <a:fillRect/>
          </a:stretch>
        </p:blipFill>
        <p:spPr>
          <a:xfrm>
            <a:off x="1091611" y="1120564"/>
            <a:ext cx="5624576" cy="761657"/>
          </a:xfrm>
          <a:prstGeom prst="rect">
            <a:avLst/>
          </a:prstGeom>
        </p:spPr>
      </p:pic>
      <p:sp>
        <p:nvSpPr>
          <p:cNvPr id="11" name="object 11"/>
          <p:cNvSpPr txBox="1"/>
          <p:nvPr/>
        </p:nvSpPr>
        <p:spPr>
          <a:xfrm>
            <a:off x="1080211" y="1115021"/>
            <a:ext cx="4482389" cy="538609"/>
          </a:xfrm>
          <a:prstGeom prst="rect">
            <a:avLst/>
          </a:prstGeom>
          <a:ln w="6350">
            <a:solidFill>
              <a:srgbClr val="5B9BD4"/>
            </a:solidFill>
          </a:ln>
        </p:spPr>
        <p:txBody>
          <a:bodyPr vert="horz" wrap="square" lIns="0" tIns="228600" rIns="0" bIns="0" rtlCol="0">
            <a:spAutoFit/>
          </a:bodyPr>
          <a:lstStyle/>
          <a:p>
            <a:pPr algn="ctr">
              <a:lnSpc>
                <a:spcPct val="100000"/>
              </a:lnSpc>
              <a:spcBef>
                <a:spcPts val="1800"/>
              </a:spcBef>
            </a:pPr>
            <a:r>
              <a:rPr sz="2000" b="1" dirty="0">
                <a:latin typeface="Calibri"/>
                <a:cs typeface="Calibri"/>
              </a:rPr>
              <a:t>Define</a:t>
            </a:r>
            <a:r>
              <a:rPr sz="2000" b="1" spc="-35" dirty="0">
                <a:latin typeface="Calibri"/>
                <a:cs typeface="Calibri"/>
              </a:rPr>
              <a:t> </a:t>
            </a:r>
            <a:r>
              <a:rPr sz="2000" b="1" spc="-10" dirty="0">
                <a:latin typeface="Calibri"/>
                <a:cs typeface="Calibri"/>
              </a:rPr>
              <a:t>paraphrasing</a:t>
            </a:r>
            <a:endParaRPr sz="2000" dirty="0">
              <a:latin typeface="Calibri"/>
              <a:cs typeface="Calibri"/>
            </a:endParaRPr>
          </a:p>
        </p:txBody>
      </p:sp>
      <p:sp>
        <p:nvSpPr>
          <p:cNvPr id="12" name="object 12"/>
          <p:cNvSpPr/>
          <p:nvPr/>
        </p:nvSpPr>
        <p:spPr>
          <a:xfrm>
            <a:off x="1212211" y="1187950"/>
            <a:ext cx="358775" cy="612140"/>
          </a:xfrm>
          <a:custGeom>
            <a:avLst/>
            <a:gdLst/>
            <a:ahLst/>
            <a:cxnLst/>
            <a:rect l="l" t="t" r="r" b="b"/>
            <a:pathLst>
              <a:path w="358775" h="612139">
                <a:moveTo>
                  <a:pt x="326827" y="0"/>
                </a:moveTo>
                <a:lnTo>
                  <a:pt x="128327" y="456053"/>
                </a:lnTo>
                <a:lnTo>
                  <a:pt x="32954" y="218603"/>
                </a:lnTo>
                <a:lnTo>
                  <a:pt x="0" y="294926"/>
                </a:lnTo>
                <a:lnTo>
                  <a:pt x="126776" y="611525"/>
                </a:lnTo>
                <a:lnTo>
                  <a:pt x="160118" y="536145"/>
                </a:lnTo>
                <a:lnTo>
                  <a:pt x="358230" y="79149"/>
                </a:lnTo>
                <a:lnTo>
                  <a:pt x="326827" y="0"/>
                </a:lnTo>
                <a:close/>
              </a:path>
            </a:pathLst>
          </a:custGeom>
          <a:solidFill>
            <a:srgbClr val="000000"/>
          </a:solidFill>
        </p:spPr>
        <p:txBody>
          <a:bodyPr wrap="square" lIns="0" tIns="0" rIns="0" bIns="0" rtlCol="0"/>
          <a:lstStyle/>
          <a:p>
            <a:endParaRPr sz="2000"/>
          </a:p>
        </p:txBody>
      </p:sp>
      <p:pic>
        <p:nvPicPr>
          <p:cNvPr id="13" name="object 13"/>
          <p:cNvPicPr/>
          <p:nvPr/>
        </p:nvPicPr>
        <p:blipFill>
          <a:blip r:embed="rId3" cstate="print"/>
          <a:stretch>
            <a:fillRect/>
          </a:stretch>
        </p:blipFill>
        <p:spPr>
          <a:xfrm>
            <a:off x="1109700" y="2162429"/>
            <a:ext cx="7958100" cy="794767"/>
          </a:xfrm>
          <a:prstGeom prst="rect">
            <a:avLst/>
          </a:prstGeom>
        </p:spPr>
      </p:pic>
      <p:sp>
        <p:nvSpPr>
          <p:cNvPr id="14" name="object 14"/>
          <p:cNvSpPr txBox="1"/>
          <p:nvPr/>
        </p:nvSpPr>
        <p:spPr>
          <a:xfrm>
            <a:off x="1109700" y="2162429"/>
            <a:ext cx="6434100" cy="555280"/>
          </a:xfrm>
          <a:prstGeom prst="rect">
            <a:avLst/>
          </a:prstGeom>
          <a:ln w="6350">
            <a:solidFill>
              <a:srgbClr val="5B9BD4"/>
            </a:solidFill>
          </a:ln>
        </p:spPr>
        <p:txBody>
          <a:bodyPr vert="horz" wrap="square" lIns="0" tIns="245110" rIns="0" bIns="0" rtlCol="0">
            <a:spAutoFit/>
          </a:bodyPr>
          <a:lstStyle/>
          <a:p>
            <a:pPr algn="ctr">
              <a:lnSpc>
                <a:spcPct val="100000"/>
              </a:lnSpc>
              <a:spcBef>
                <a:spcPts val="1930"/>
              </a:spcBef>
            </a:pPr>
            <a:r>
              <a:rPr lang="en-US" sz="2000" b="1" spc="-10" dirty="0">
                <a:latin typeface="Calibri"/>
                <a:cs typeface="Calibri"/>
              </a:rPr>
              <a:t>              Understand core guidelines and characteristics .</a:t>
            </a:r>
            <a:endParaRPr sz="2000" dirty="0">
              <a:latin typeface="Calibri"/>
              <a:cs typeface="Calibri"/>
            </a:endParaRPr>
          </a:p>
        </p:txBody>
      </p:sp>
      <p:sp>
        <p:nvSpPr>
          <p:cNvPr id="15" name="object 15"/>
          <p:cNvSpPr/>
          <p:nvPr/>
        </p:nvSpPr>
        <p:spPr>
          <a:xfrm>
            <a:off x="1250057" y="2258179"/>
            <a:ext cx="358775" cy="612140"/>
          </a:xfrm>
          <a:custGeom>
            <a:avLst/>
            <a:gdLst/>
            <a:ahLst/>
            <a:cxnLst/>
            <a:rect l="l" t="t" r="r" b="b"/>
            <a:pathLst>
              <a:path w="358775" h="612139">
                <a:moveTo>
                  <a:pt x="326827" y="0"/>
                </a:moveTo>
                <a:lnTo>
                  <a:pt x="128327" y="456053"/>
                </a:lnTo>
                <a:lnTo>
                  <a:pt x="32954" y="218603"/>
                </a:lnTo>
                <a:lnTo>
                  <a:pt x="0" y="294926"/>
                </a:lnTo>
                <a:lnTo>
                  <a:pt x="126776" y="611525"/>
                </a:lnTo>
                <a:lnTo>
                  <a:pt x="160118" y="536145"/>
                </a:lnTo>
                <a:lnTo>
                  <a:pt x="358230" y="79149"/>
                </a:lnTo>
                <a:lnTo>
                  <a:pt x="326827" y="0"/>
                </a:lnTo>
                <a:close/>
              </a:path>
            </a:pathLst>
          </a:custGeom>
          <a:solidFill>
            <a:srgbClr val="000000"/>
          </a:solidFill>
        </p:spPr>
        <p:txBody>
          <a:bodyPr wrap="square" lIns="0" tIns="0" rIns="0" bIns="0" rtlCol="0"/>
          <a:lstStyle/>
          <a:p>
            <a:endParaRPr sz="2000"/>
          </a:p>
        </p:txBody>
      </p:sp>
      <p:pic>
        <p:nvPicPr>
          <p:cNvPr id="16" name="object 16"/>
          <p:cNvPicPr/>
          <p:nvPr/>
        </p:nvPicPr>
        <p:blipFill>
          <a:blip r:embed="rId4" cstate="print"/>
          <a:stretch>
            <a:fillRect/>
          </a:stretch>
        </p:blipFill>
        <p:spPr>
          <a:xfrm>
            <a:off x="1161857" y="3172841"/>
            <a:ext cx="8363141" cy="914399"/>
          </a:xfrm>
          <a:prstGeom prst="rect">
            <a:avLst/>
          </a:prstGeom>
        </p:spPr>
      </p:pic>
      <p:sp>
        <p:nvSpPr>
          <p:cNvPr id="17" name="object 17"/>
          <p:cNvSpPr txBox="1"/>
          <p:nvPr/>
        </p:nvSpPr>
        <p:spPr>
          <a:xfrm>
            <a:off x="1161858" y="3172841"/>
            <a:ext cx="8363141" cy="658514"/>
          </a:xfrm>
          <a:prstGeom prst="rect">
            <a:avLst/>
          </a:prstGeom>
          <a:ln w="6350">
            <a:solidFill>
              <a:srgbClr val="5B9BD4"/>
            </a:solidFill>
          </a:ln>
        </p:spPr>
        <p:txBody>
          <a:bodyPr vert="horz" wrap="square" lIns="0" tIns="42545" rIns="0" bIns="0" rtlCol="0">
            <a:spAutoFit/>
          </a:bodyPr>
          <a:lstStyle/>
          <a:p>
            <a:pPr>
              <a:lnSpc>
                <a:spcPct val="100000"/>
              </a:lnSpc>
              <a:spcBef>
                <a:spcPts val="335"/>
              </a:spcBef>
            </a:pPr>
            <a:endParaRPr sz="2000" dirty="0">
              <a:latin typeface="Times New Roman"/>
              <a:cs typeface="Times New Roman"/>
            </a:endParaRPr>
          </a:p>
          <a:p>
            <a:pPr algn="ctr">
              <a:lnSpc>
                <a:spcPct val="100000"/>
              </a:lnSpc>
            </a:pPr>
            <a:r>
              <a:rPr lang="en-US" sz="2000" b="1" dirty="0">
                <a:latin typeface="Calibri"/>
                <a:cs typeface="Calibri"/>
              </a:rPr>
              <a:t>             Achieve actionable rewriting techniques (synonyms, grammar, voice).</a:t>
            </a:r>
            <a:endParaRPr sz="2000" dirty="0">
              <a:latin typeface="Calibri"/>
              <a:cs typeface="Calibri"/>
            </a:endParaRPr>
          </a:p>
        </p:txBody>
      </p:sp>
      <p:sp>
        <p:nvSpPr>
          <p:cNvPr id="18" name="object 18"/>
          <p:cNvSpPr/>
          <p:nvPr/>
        </p:nvSpPr>
        <p:spPr>
          <a:xfrm>
            <a:off x="1340811" y="3361047"/>
            <a:ext cx="358775" cy="612140"/>
          </a:xfrm>
          <a:custGeom>
            <a:avLst/>
            <a:gdLst/>
            <a:ahLst/>
            <a:cxnLst/>
            <a:rect l="l" t="t" r="r" b="b"/>
            <a:pathLst>
              <a:path w="358775" h="612139">
                <a:moveTo>
                  <a:pt x="326827" y="0"/>
                </a:moveTo>
                <a:lnTo>
                  <a:pt x="128327" y="456053"/>
                </a:lnTo>
                <a:lnTo>
                  <a:pt x="32954" y="218604"/>
                </a:lnTo>
                <a:lnTo>
                  <a:pt x="0" y="294926"/>
                </a:lnTo>
                <a:lnTo>
                  <a:pt x="126776" y="611525"/>
                </a:lnTo>
                <a:lnTo>
                  <a:pt x="160118" y="536145"/>
                </a:lnTo>
                <a:lnTo>
                  <a:pt x="358230" y="79149"/>
                </a:lnTo>
                <a:lnTo>
                  <a:pt x="326827" y="0"/>
                </a:lnTo>
                <a:close/>
              </a:path>
            </a:pathLst>
          </a:custGeom>
          <a:solidFill>
            <a:srgbClr val="000000"/>
          </a:solidFill>
        </p:spPr>
        <p:txBody>
          <a:bodyPr wrap="square" lIns="0" tIns="0" rIns="0" bIns="0" rtlCol="0"/>
          <a:lstStyle/>
          <a:p>
            <a:endParaRPr sz="2000"/>
          </a:p>
        </p:txBody>
      </p:sp>
      <p:pic>
        <p:nvPicPr>
          <p:cNvPr id="19" name="object 19"/>
          <p:cNvPicPr/>
          <p:nvPr/>
        </p:nvPicPr>
        <p:blipFill>
          <a:blip r:embed="rId5" cstate="print"/>
          <a:stretch>
            <a:fillRect/>
          </a:stretch>
        </p:blipFill>
        <p:spPr>
          <a:xfrm>
            <a:off x="1147111" y="4307802"/>
            <a:ext cx="7082488" cy="724147"/>
          </a:xfrm>
          <a:prstGeom prst="rect">
            <a:avLst/>
          </a:prstGeom>
        </p:spPr>
      </p:pic>
      <p:sp>
        <p:nvSpPr>
          <p:cNvPr id="20" name="object 20"/>
          <p:cNvSpPr txBox="1"/>
          <p:nvPr/>
        </p:nvSpPr>
        <p:spPr>
          <a:xfrm>
            <a:off x="1161858" y="4302886"/>
            <a:ext cx="7067741" cy="620042"/>
          </a:xfrm>
          <a:prstGeom prst="rect">
            <a:avLst/>
          </a:prstGeom>
          <a:ln w="6350">
            <a:solidFill>
              <a:srgbClr val="5B9BD4"/>
            </a:solidFill>
          </a:ln>
        </p:spPr>
        <p:txBody>
          <a:bodyPr vert="horz" wrap="square" lIns="0" tIns="4445" rIns="0" bIns="0" rtlCol="0">
            <a:spAutoFit/>
          </a:bodyPr>
          <a:lstStyle/>
          <a:p>
            <a:pPr>
              <a:lnSpc>
                <a:spcPct val="100000"/>
              </a:lnSpc>
              <a:spcBef>
                <a:spcPts val="35"/>
              </a:spcBef>
            </a:pPr>
            <a:endParaRPr lang="en-US" sz="2000" dirty="0">
              <a:latin typeface="Times New Roman"/>
              <a:cs typeface="Times New Roman"/>
            </a:endParaRPr>
          </a:p>
          <a:p>
            <a:pPr marL="956944">
              <a:lnSpc>
                <a:spcPct val="100000"/>
              </a:lnSpc>
            </a:pPr>
            <a:r>
              <a:rPr lang="en-US" sz="2000" b="1" dirty="0">
                <a:latin typeface="Calibri"/>
                <a:cs typeface="Calibri"/>
              </a:rPr>
              <a:t>Practice applying these skills to real text samples</a:t>
            </a:r>
            <a:endParaRPr sz="2000" dirty="0">
              <a:latin typeface="Calibri"/>
              <a:cs typeface="Calibri"/>
            </a:endParaRPr>
          </a:p>
        </p:txBody>
      </p:sp>
      <p:sp>
        <p:nvSpPr>
          <p:cNvPr id="21" name="object 21"/>
          <p:cNvSpPr/>
          <p:nvPr/>
        </p:nvSpPr>
        <p:spPr>
          <a:xfrm>
            <a:off x="1271186" y="4414893"/>
            <a:ext cx="349250" cy="612140"/>
          </a:xfrm>
          <a:custGeom>
            <a:avLst/>
            <a:gdLst/>
            <a:ahLst/>
            <a:cxnLst/>
            <a:rect l="l" t="t" r="r" b="b"/>
            <a:pathLst>
              <a:path w="349250" h="612139">
                <a:moveTo>
                  <a:pt x="318150" y="0"/>
                </a:moveTo>
                <a:lnTo>
                  <a:pt x="124920" y="456053"/>
                </a:lnTo>
                <a:lnTo>
                  <a:pt x="32079" y="218604"/>
                </a:lnTo>
                <a:lnTo>
                  <a:pt x="0" y="294926"/>
                </a:lnTo>
                <a:lnTo>
                  <a:pt x="123410" y="611525"/>
                </a:lnTo>
                <a:lnTo>
                  <a:pt x="155867" y="536145"/>
                </a:lnTo>
                <a:lnTo>
                  <a:pt x="348719" y="79149"/>
                </a:lnTo>
                <a:lnTo>
                  <a:pt x="318150" y="0"/>
                </a:lnTo>
                <a:close/>
              </a:path>
            </a:pathLst>
          </a:custGeom>
          <a:solidFill>
            <a:srgbClr val="000000"/>
          </a:solidFill>
        </p:spPr>
        <p:txBody>
          <a:bodyPr wrap="square" lIns="0" tIns="0" rIns="0" bIns="0" rtlCol="0"/>
          <a:lstStyle/>
          <a:p>
            <a:endParaRPr sz="2000"/>
          </a:p>
        </p:txBody>
      </p:sp>
      <p:pic>
        <p:nvPicPr>
          <p:cNvPr id="22" name="object 22"/>
          <p:cNvPicPr/>
          <p:nvPr/>
        </p:nvPicPr>
        <p:blipFill>
          <a:blip r:embed="rId6" cstate="print"/>
          <a:stretch>
            <a:fillRect/>
          </a:stretch>
        </p:blipFill>
        <p:spPr>
          <a:xfrm>
            <a:off x="1202485" y="5384685"/>
            <a:ext cx="9998914" cy="914400"/>
          </a:xfrm>
          <a:prstGeom prst="rect">
            <a:avLst/>
          </a:prstGeom>
        </p:spPr>
      </p:pic>
      <p:sp>
        <p:nvSpPr>
          <p:cNvPr id="23" name="object 23"/>
          <p:cNvSpPr txBox="1"/>
          <p:nvPr/>
        </p:nvSpPr>
        <p:spPr>
          <a:xfrm>
            <a:off x="1202486" y="5384685"/>
            <a:ext cx="9998914" cy="620042"/>
          </a:xfrm>
          <a:prstGeom prst="rect">
            <a:avLst/>
          </a:prstGeom>
          <a:ln w="6350">
            <a:solidFill>
              <a:srgbClr val="5B9BD4"/>
            </a:solidFill>
          </a:ln>
        </p:spPr>
        <p:txBody>
          <a:bodyPr vert="horz" wrap="square" lIns="0" tIns="4445" rIns="0" bIns="0" rtlCol="0">
            <a:spAutoFit/>
          </a:bodyPr>
          <a:lstStyle/>
          <a:p>
            <a:pPr>
              <a:lnSpc>
                <a:spcPct val="100000"/>
              </a:lnSpc>
              <a:spcBef>
                <a:spcPts val="35"/>
              </a:spcBef>
            </a:pPr>
            <a:endParaRPr sz="2000" dirty="0">
              <a:latin typeface="Times New Roman"/>
              <a:cs typeface="Times New Roman"/>
            </a:endParaRPr>
          </a:p>
          <a:p>
            <a:pPr marL="539750">
              <a:lnSpc>
                <a:spcPct val="100000"/>
              </a:lnSpc>
              <a:spcBef>
                <a:spcPts val="5"/>
              </a:spcBef>
            </a:pPr>
            <a:r>
              <a:rPr lang="en-US" sz="2000" b="1" dirty="0">
                <a:latin typeface="Calibri"/>
                <a:cs typeface="Calibri"/>
              </a:rPr>
              <a:t>       </a:t>
            </a:r>
            <a:r>
              <a:rPr sz="2000" b="1" dirty="0">
                <a:latin typeface="Calibri"/>
                <a:cs typeface="Calibri"/>
              </a:rPr>
              <a:t>Recognize</a:t>
            </a:r>
            <a:r>
              <a:rPr sz="2000" b="1" spc="-35" dirty="0">
                <a:latin typeface="Calibri"/>
                <a:cs typeface="Calibri"/>
              </a:rPr>
              <a:t> </a:t>
            </a:r>
            <a:r>
              <a:rPr sz="2000" b="1" dirty="0">
                <a:latin typeface="Calibri"/>
                <a:cs typeface="Calibri"/>
              </a:rPr>
              <a:t>the</a:t>
            </a:r>
            <a:r>
              <a:rPr sz="2000" b="1" spc="-70" dirty="0">
                <a:latin typeface="Calibri"/>
                <a:cs typeface="Calibri"/>
              </a:rPr>
              <a:t> </a:t>
            </a:r>
            <a:r>
              <a:rPr sz="2000" b="1" dirty="0">
                <a:latin typeface="Calibri"/>
                <a:cs typeface="Calibri"/>
              </a:rPr>
              <a:t>importance</a:t>
            </a:r>
            <a:r>
              <a:rPr sz="2000" b="1" spc="-30" dirty="0">
                <a:latin typeface="Calibri"/>
                <a:cs typeface="Calibri"/>
              </a:rPr>
              <a:t> </a:t>
            </a:r>
            <a:r>
              <a:rPr sz="2000" b="1" dirty="0">
                <a:latin typeface="Calibri"/>
                <a:cs typeface="Calibri"/>
              </a:rPr>
              <a:t>of</a:t>
            </a:r>
            <a:r>
              <a:rPr sz="2000" b="1" spc="-50" dirty="0">
                <a:latin typeface="Calibri"/>
                <a:cs typeface="Calibri"/>
              </a:rPr>
              <a:t> </a:t>
            </a:r>
            <a:r>
              <a:rPr sz="2000" b="1" spc="-10" dirty="0">
                <a:latin typeface="Calibri"/>
                <a:cs typeface="Calibri"/>
              </a:rPr>
              <a:t>paraphrasing</a:t>
            </a:r>
            <a:r>
              <a:rPr sz="2000" b="1" spc="-40" dirty="0">
                <a:latin typeface="Calibri"/>
                <a:cs typeface="Calibri"/>
              </a:rPr>
              <a:t> </a:t>
            </a:r>
            <a:r>
              <a:rPr sz="2000" b="1" dirty="0">
                <a:latin typeface="Calibri"/>
                <a:cs typeface="Calibri"/>
              </a:rPr>
              <a:t>in</a:t>
            </a:r>
            <a:r>
              <a:rPr sz="2000" b="1" spc="-30" dirty="0">
                <a:latin typeface="Calibri"/>
                <a:cs typeface="Calibri"/>
              </a:rPr>
              <a:t> </a:t>
            </a:r>
            <a:r>
              <a:rPr sz="2000" b="1" dirty="0">
                <a:latin typeface="Calibri"/>
                <a:cs typeface="Calibri"/>
              </a:rPr>
              <a:t>avoiding</a:t>
            </a:r>
            <a:r>
              <a:rPr sz="2000" b="1" spc="-50" dirty="0">
                <a:latin typeface="Calibri"/>
                <a:cs typeface="Calibri"/>
              </a:rPr>
              <a:t> </a:t>
            </a:r>
            <a:r>
              <a:rPr lang="en-US" sz="2000" b="1" spc="-50" dirty="0">
                <a:latin typeface="Calibri"/>
                <a:cs typeface="Calibri"/>
              </a:rPr>
              <a:t> </a:t>
            </a:r>
            <a:r>
              <a:rPr sz="2000" b="1" spc="-10" dirty="0">
                <a:latin typeface="Calibri"/>
                <a:cs typeface="Calibri"/>
              </a:rPr>
              <a:t>plagiarism</a:t>
            </a:r>
            <a:endParaRPr sz="2000" dirty="0">
              <a:latin typeface="Calibri"/>
              <a:cs typeface="Calibri"/>
            </a:endParaRPr>
          </a:p>
        </p:txBody>
      </p:sp>
      <p:sp>
        <p:nvSpPr>
          <p:cNvPr id="24" name="object 24"/>
          <p:cNvSpPr/>
          <p:nvPr/>
        </p:nvSpPr>
        <p:spPr>
          <a:xfrm>
            <a:off x="1360746" y="5476651"/>
            <a:ext cx="349250" cy="612140"/>
          </a:xfrm>
          <a:custGeom>
            <a:avLst/>
            <a:gdLst/>
            <a:ahLst/>
            <a:cxnLst/>
            <a:rect l="l" t="t" r="r" b="b"/>
            <a:pathLst>
              <a:path w="349250" h="612139">
                <a:moveTo>
                  <a:pt x="318150" y="0"/>
                </a:moveTo>
                <a:lnTo>
                  <a:pt x="124920" y="456053"/>
                </a:lnTo>
                <a:lnTo>
                  <a:pt x="32079" y="218604"/>
                </a:lnTo>
                <a:lnTo>
                  <a:pt x="0" y="294926"/>
                </a:lnTo>
                <a:lnTo>
                  <a:pt x="123410" y="611525"/>
                </a:lnTo>
                <a:lnTo>
                  <a:pt x="155867" y="536145"/>
                </a:lnTo>
                <a:lnTo>
                  <a:pt x="348719" y="79149"/>
                </a:lnTo>
                <a:lnTo>
                  <a:pt x="318150" y="0"/>
                </a:lnTo>
                <a:close/>
              </a:path>
            </a:pathLst>
          </a:custGeom>
          <a:solidFill>
            <a:srgbClr val="000000"/>
          </a:solidFill>
        </p:spPr>
        <p:txBody>
          <a:bodyPr wrap="square" lIns="0" tIns="0" rIns="0" bIns="0" rtlCol="0"/>
          <a:lstStyle/>
          <a:p>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B5E356-0C33-2D88-4123-658620E744AA}"/>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59D2ACF6-768F-4B7B-0942-E252E66DD568}"/>
              </a:ext>
            </a:extLst>
          </p:cNvPr>
          <p:cNvSpPr txBox="1">
            <a:spLocks noGrp="1"/>
          </p:cNvSpPr>
          <p:nvPr>
            <p:ph type="title"/>
          </p:nvPr>
        </p:nvSpPr>
        <p:spPr>
          <a:xfrm>
            <a:off x="753872" y="188417"/>
            <a:ext cx="7939582" cy="1115947"/>
          </a:xfrm>
          <a:prstGeom prst="rect">
            <a:avLst/>
          </a:prstGeom>
        </p:spPr>
        <p:txBody>
          <a:bodyPr vert="horz" wrap="square" lIns="0" tIns="434594" rIns="0" bIns="0" rtlCol="0">
            <a:spAutoFit/>
          </a:bodyPr>
          <a:lstStyle/>
          <a:p>
            <a:pPr marL="175260">
              <a:lnSpc>
                <a:spcPct val="100000"/>
              </a:lnSpc>
              <a:spcBef>
                <a:spcPts val="105"/>
              </a:spcBef>
            </a:pPr>
            <a:r>
              <a:rPr b="1" spc="-114" dirty="0">
                <a:solidFill>
                  <a:srgbClr val="2D75B6"/>
                </a:solidFill>
              </a:rPr>
              <a:t>WHAT</a:t>
            </a:r>
            <a:r>
              <a:rPr b="1" spc="-130" dirty="0">
                <a:solidFill>
                  <a:srgbClr val="2D75B6"/>
                </a:solidFill>
              </a:rPr>
              <a:t> </a:t>
            </a:r>
            <a:r>
              <a:rPr b="1" dirty="0">
                <a:solidFill>
                  <a:srgbClr val="2D75B6"/>
                </a:solidFill>
              </a:rPr>
              <a:t>IS</a:t>
            </a:r>
            <a:r>
              <a:rPr b="1" spc="-100" dirty="0">
                <a:solidFill>
                  <a:srgbClr val="2D75B6"/>
                </a:solidFill>
              </a:rPr>
              <a:t> </a:t>
            </a:r>
            <a:r>
              <a:rPr b="1" spc="-70" dirty="0">
                <a:solidFill>
                  <a:srgbClr val="2D75B6"/>
                </a:solidFill>
              </a:rPr>
              <a:t>PARAPHRASING</a:t>
            </a:r>
            <a:r>
              <a:rPr b="1" spc="-120" dirty="0">
                <a:solidFill>
                  <a:srgbClr val="2D75B6"/>
                </a:solidFill>
              </a:rPr>
              <a:t> </a:t>
            </a:r>
            <a:r>
              <a:rPr b="1" spc="-50" dirty="0">
                <a:solidFill>
                  <a:srgbClr val="2D75B6"/>
                </a:solidFill>
              </a:rPr>
              <a:t>?</a:t>
            </a:r>
          </a:p>
        </p:txBody>
      </p:sp>
      <p:grpSp>
        <p:nvGrpSpPr>
          <p:cNvPr id="6" name="object 6">
            <a:extLst>
              <a:ext uri="{FF2B5EF4-FFF2-40B4-BE49-F238E27FC236}">
                <a16:creationId xmlns:a16="http://schemas.microsoft.com/office/drawing/2014/main" id="{DA40AFCF-CDE9-0418-7A92-F04632476B77}"/>
              </a:ext>
            </a:extLst>
          </p:cNvPr>
          <p:cNvGrpSpPr/>
          <p:nvPr/>
        </p:nvGrpSpPr>
        <p:grpSpPr>
          <a:xfrm>
            <a:off x="951598" y="1296798"/>
            <a:ext cx="5956300" cy="58419"/>
            <a:chOff x="951598" y="1296798"/>
            <a:chExt cx="5956300" cy="58419"/>
          </a:xfrm>
        </p:grpSpPr>
        <p:sp>
          <p:nvSpPr>
            <p:cNvPr id="7" name="object 7">
              <a:extLst>
                <a:ext uri="{FF2B5EF4-FFF2-40B4-BE49-F238E27FC236}">
                  <a16:creationId xmlns:a16="http://schemas.microsoft.com/office/drawing/2014/main" id="{8DE49911-02EB-7189-C2C6-0506602E461E}"/>
                </a:ext>
              </a:extLst>
            </p:cNvPr>
            <p:cNvSpPr/>
            <p:nvPr/>
          </p:nvSpPr>
          <p:spPr>
            <a:xfrm>
              <a:off x="957948" y="1303148"/>
              <a:ext cx="5943600" cy="45720"/>
            </a:xfrm>
            <a:custGeom>
              <a:avLst/>
              <a:gdLst/>
              <a:ahLst/>
              <a:cxnLst/>
              <a:rect l="l" t="t" r="r" b="b"/>
              <a:pathLst>
                <a:path w="5943600" h="45719">
                  <a:moveTo>
                    <a:pt x="5943600" y="0"/>
                  </a:moveTo>
                  <a:lnTo>
                    <a:pt x="0" y="0"/>
                  </a:lnTo>
                  <a:lnTo>
                    <a:pt x="0" y="45718"/>
                  </a:lnTo>
                  <a:lnTo>
                    <a:pt x="5943600" y="45718"/>
                  </a:lnTo>
                  <a:lnTo>
                    <a:pt x="5943600" y="0"/>
                  </a:lnTo>
                  <a:close/>
                </a:path>
              </a:pathLst>
            </a:custGeom>
            <a:solidFill>
              <a:srgbClr val="4471C4"/>
            </a:solidFill>
          </p:spPr>
          <p:txBody>
            <a:bodyPr wrap="square" lIns="0" tIns="0" rIns="0" bIns="0" rtlCol="0"/>
            <a:lstStyle/>
            <a:p>
              <a:endParaRPr/>
            </a:p>
          </p:txBody>
        </p:sp>
        <p:sp>
          <p:nvSpPr>
            <p:cNvPr id="8" name="object 8">
              <a:extLst>
                <a:ext uri="{FF2B5EF4-FFF2-40B4-BE49-F238E27FC236}">
                  <a16:creationId xmlns:a16="http://schemas.microsoft.com/office/drawing/2014/main" id="{D8D162FC-B9D4-2A1E-2A7D-3B0D3076E86F}"/>
                </a:ext>
              </a:extLst>
            </p:cNvPr>
            <p:cNvSpPr/>
            <p:nvPr/>
          </p:nvSpPr>
          <p:spPr>
            <a:xfrm>
              <a:off x="957948" y="1303148"/>
              <a:ext cx="5943600" cy="45720"/>
            </a:xfrm>
            <a:custGeom>
              <a:avLst/>
              <a:gdLst/>
              <a:ahLst/>
              <a:cxnLst/>
              <a:rect l="l" t="t" r="r" b="b"/>
              <a:pathLst>
                <a:path w="5943600" h="45719">
                  <a:moveTo>
                    <a:pt x="0" y="45718"/>
                  </a:moveTo>
                  <a:lnTo>
                    <a:pt x="5943600" y="45718"/>
                  </a:lnTo>
                  <a:lnTo>
                    <a:pt x="5943600" y="0"/>
                  </a:lnTo>
                  <a:lnTo>
                    <a:pt x="0" y="0"/>
                  </a:lnTo>
                  <a:lnTo>
                    <a:pt x="0" y="45718"/>
                  </a:lnTo>
                  <a:close/>
                </a:path>
              </a:pathLst>
            </a:custGeom>
            <a:ln w="12700">
              <a:solidFill>
                <a:srgbClr val="172C51"/>
              </a:solidFill>
            </a:ln>
          </p:spPr>
          <p:txBody>
            <a:bodyPr wrap="square" lIns="0" tIns="0" rIns="0" bIns="0" rtlCol="0"/>
            <a:lstStyle/>
            <a:p>
              <a:endParaRPr/>
            </a:p>
          </p:txBody>
        </p:sp>
      </p:grpSp>
      <p:grpSp>
        <p:nvGrpSpPr>
          <p:cNvPr id="9" name="object 9">
            <a:extLst>
              <a:ext uri="{FF2B5EF4-FFF2-40B4-BE49-F238E27FC236}">
                <a16:creationId xmlns:a16="http://schemas.microsoft.com/office/drawing/2014/main" id="{9DB8BD81-0915-EEA7-0C15-49B55723A322}"/>
              </a:ext>
            </a:extLst>
          </p:cNvPr>
          <p:cNvGrpSpPr/>
          <p:nvPr/>
        </p:nvGrpSpPr>
        <p:grpSpPr>
          <a:xfrm>
            <a:off x="838200" y="1789188"/>
            <a:ext cx="4519421" cy="1059929"/>
            <a:chOff x="838200" y="1789188"/>
            <a:chExt cx="4519421" cy="1059929"/>
          </a:xfrm>
        </p:grpSpPr>
        <p:pic>
          <p:nvPicPr>
            <p:cNvPr id="10" name="object 10">
              <a:extLst>
                <a:ext uri="{FF2B5EF4-FFF2-40B4-BE49-F238E27FC236}">
                  <a16:creationId xmlns:a16="http://schemas.microsoft.com/office/drawing/2014/main" id="{5BBAF3C2-EF09-A3E7-830C-EFF5B931C1A0}"/>
                </a:ext>
              </a:extLst>
            </p:cNvPr>
            <p:cNvPicPr/>
            <p:nvPr/>
          </p:nvPicPr>
          <p:blipFill>
            <a:blip r:embed="rId2" cstate="print"/>
            <a:stretch>
              <a:fillRect/>
            </a:stretch>
          </p:blipFill>
          <p:spPr>
            <a:xfrm>
              <a:off x="838200" y="1825624"/>
              <a:ext cx="4495800" cy="914400"/>
            </a:xfrm>
            <a:prstGeom prst="rect">
              <a:avLst/>
            </a:prstGeom>
          </p:spPr>
        </p:pic>
        <p:sp>
          <p:nvSpPr>
            <p:cNvPr id="11" name="object 11">
              <a:extLst>
                <a:ext uri="{FF2B5EF4-FFF2-40B4-BE49-F238E27FC236}">
                  <a16:creationId xmlns:a16="http://schemas.microsoft.com/office/drawing/2014/main" id="{B9AFAE3A-B474-50FC-63B3-3C6C9EFAB9C2}"/>
                </a:ext>
              </a:extLst>
            </p:cNvPr>
            <p:cNvSpPr/>
            <p:nvPr/>
          </p:nvSpPr>
          <p:spPr>
            <a:xfrm>
              <a:off x="838200" y="1825624"/>
              <a:ext cx="4495800" cy="914400"/>
            </a:xfrm>
            <a:custGeom>
              <a:avLst/>
              <a:gdLst/>
              <a:ahLst/>
              <a:cxnLst/>
              <a:rect l="l" t="t" r="r" b="b"/>
              <a:pathLst>
                <a:path w="4495800" h="914400">
                  <a:moveTo>
                    <a:pt x="0" y="152400"/>
                  </a:moveTo>
                  <a:lnTo>
                    <a:pt x="7769" y="104217"/>
                  </a:lnTo>
                  <a:lnTo>
                    <a:pt x="29405" y="62380"/>
                  </a:lnTo>
                  <a:lnTo>
                    <a:pt x="62396" y="29394"/>
                  </a:lnTo>
                  <a:lnTo>
                    <a:pt x="104231" y="7766"/>
                  </a:lnTo>
                  <a:lnTo>
                    <a:pt x="152400" y="0"/>
                  </a:lnTo>
                  <a:lnTo>
                    <a:pt x="4343400" y="0"/>
                  </a:lnTo>
                  <a:lnTo>
                    <a:pt x="4391582" y="7766"/>
                  </a:lnTo>
                  <a:lnTo>
                    <a:pt x="4433419" y="29394"/>
                  </a:lnTo>
                  <a:lnTo>
                    <a:pt x="4466405" y="62380"/>
                  </a:lnTo>
                  <a:lnTo>
                    <a:pt x="4488033" y="104217"/>
                  </a:lnTo>
                  <a:lnTo>
                    <a:pt x="4495800" y="152400"/>
                  </a:lnTo>
                  <a:lnTo>
                    <a:pt x="4495800" y="762000"/>
                  </a:lnTo>
                  <a:lnTo>
                    <a:pt x="4488033" y="810182"/>
                  </a:lnTo>
                  <a:lnTo>
                    <a:pt x="4466405" y="852019"/>
                  </a:lnTo>
                  <a:lnTo>
                    <a:pt x="4433419" y="885005"/>
                  </a:lnTo>
                  <a:lnTo>
                    <a:pt x="4391582" y="906633"/>
                  </a:lnTo>
                  <a:lnTo>
                    <a:pt x="4343400" y="914400"/>
                  </a:lnTo>
                  <a:lnTo>
                    <a:pt x="152400" y="914400"/>
                  </a:lnTo>
                  <a:lnTo>
                    <a:pt x="104231" y="906633"/>
                  </a:lnTo>
                  <a:lnTo>
                    <a:pt x="62396" y="885005"/>
                  </a:lnTo>
                  <a:lnTo>
                    <a:pt x="29405" y="852019"/>
                  </a:lnTo>
                  <a:lnTo>
                    <a:pt x="7769" y="810182"/>
                  </a:lnTo>
                  <a:lnTo>
                    <a:pt x="0" y="762000"/>
                  </a:lnTo>
                  <a:lnTo>
                    <a:pt x="0" y="152400"/>
                  </a:lnTo>
                  <a:close/>
                </a:path>
              </a:pathLst>
            </a:custGeom>
            <a:ln w="6350">
              <a:solidFill>
                <a:srgbClr val="FFC000"/>
              </a:solidFill>
            </a:ln>
          </p:spPr>
          <p:txBody>
            <a:bodyPr wrap="square" lIns="0" tIns="0" rIns="0" bIns="0" rtlCol="0"/>
            <a:lstStyle/>
            <a:p>
              <a:endParaRPr/>
            </a:p>
          </p:txBody>
        </p:sp>
        <p:pic>
          <p:nvPicPr>
            <p:cNvPr id="12" name="object 12">
              <a:extLst>
                <a:ext uri="{FF2B5EF4-FFF2-40B4-BE49-F238E27FC236}">
                  <a16:creationId xmlns:a16="http://schemas.microsoft.com/office/drawing/2014/main" id="{2ED9D22F-57EB-6C2A-17C1-49CE872B75E9}"/>
                </a:ext>
              </a:extLst>
            </p:cNvPr>
            <p:cNvPicPr/>
            <p:nvPr/>
          </p:nvPicPr>
          <p:blipFill>
            <a:blip r:embed="rId3" cstate="print"/>
            <a:stretch>
              <a:fillRect/>
            </a:stretch>
          </p:blipFill>
          <p:spPr>
            <a:xfrm>
              <a:off x="1034694" y="1933066"/>
              <a:ext cx="1506575" cy="173862"/>
            </a:xfrm>
            <a:prstGeom prst="rect">
              <a:avLst/>
            </a:prstGeom>
          </p:spPr>
        </p:pic>
        <p:pic>
          <p:nvPicPr>
            <p:cNvPr id="13" name="object 13">
              <a:extLst>
                <a:ext uri="{FF2B5EF4-FFF2-40B4-BE49-F238E27FC236}">
                  <a16:creationId xmlns:a16="http://schemas.microsoft.com/office/drawing/2014/main" id="{09F5B3B5-4496-5A77-50CC-A78193BC809C}"/>
                </a:ext>
              </a:extLst>
            </p:cNvPr>
            <p:cNvPicPr/>
            <p:nvPr/>
          </p:nvPicPr>
          <p:blipFill>
            <a:blip r:embed="rId4" cstate="print"/>
            <a:stretch>
              <a:fillRect/>
            </a:stretch>
          </p:blipFill>
          <p:spPr>
            <a:xfrm>
              <a:off x="2436875" y="1789188"/>
              <a:ext cx="2920746" cy="511289"/>
            </a:xfrm>
            <a:prstGeom prst="rect">
              <a:avLst/>
            </a:prstGeom>
          </p:spPr>
        </p:pic>
        <p:pic>
          <p:nvPicPr>
            <p:cNvPr id="14" name="object 14">
              <a:extLst>
                <a:ext uri="{FF2B5EF4-FFF2-40B4-BE49-F238E27FC236}">
                  <a16:creationId xmlns:a16="http://schemas.microsoft.com/office/drawing/2014/main" id="{B842B432-C5A9-EF41-7714-8D7C21D4E257}"/>
                </a:ext>
              </a:extLst>
            </p:cNvPr>
            <p:cNvPicPr/>
            <p:nvPr/>
          </p:nvPicPr>
          <p:blipFill>
            <a:blip r:embed="rId5" cstate="print"/>
            <a:stretch>
              <a:fillRect/>
            </a:stretch>
          </p:blipFill>
          <p:spPr>
            <a:xfrm>
              <a:off x="902207" y="2063508"/>
              <a:ext cx="4427982" cy="511289"/>
            </a:xfrm>
            <a:prstGeom prst="rect">
              <a:avLst/>
            </a:prstGeom>
          </p:spPr>
        </p:pic>
        <p:pic>
          <p:nvPicPr>
            <p:cNvPr id="15" name="object 15">
              <a:extLst>
                <a:ext uri="{FF2B5EF4-FFF2-40B4-BE49-F238E27FC236}">
                  <a16:creationId xmlns:a16="http://schemas.microsoft.com/office/drawing/2014/main" id="{3532CE1A-E3E3-4EE5-EA5D-007E9A545433}"/>
                </a:ext>
              </a:extLst>
            </p:cNvPr>
            <p:cNvPicPr/>
            <p:nvPr/>
          </p:nvPicPr>
          <p:blipFill>
            <a:blip r:embed="rId6" cstate="print"/>
            <a:stretch>
              <a:fillRect/>
            </a:stretch>
          </p:blipFill>
          <p:spPr>
            <a:xfrm>
              <a:off x="1921763" y="2337828"/>
              <a:ext cx="2335530" cy="511289"/>
            </a:xfrm>
            <a:prstGeom prst="rect">
              <a:avLst/>
            </a:prstGeom>
          </p:spPr>
        </p:pic>
      </p:grpSp>
      <p:sp>
        <p:nvSpPr>
          <p:cNvPr id="16" name="object 16">
            <a:extLst>
              <a:ext uri="{FF2B5EF4-FFF2-40B4-BE49-F238E27FC236}">
                <a16:creationId xmlns:a16="http://schemas.microsoft.com/office/drawing/2014/main" id="{54A76211-A3FF-CCDC-5F82-C2C507074B8A}"/>
              </a:ext>
            </a:extLst>
          </p:cNvPr>
          <p:cNvSpPr txBox="1"/>
          <p:nvPr/>
        </p:nvSpPr>
        <p:spPr>
          <a:xfrm>
            <a:off x="1038249" y="1843785"/>
            <a:ext cx="4291939" cy="848360"/>
          </a:xfrm>
          <a:prstGeom prst="rect">
            <a:avLst/>
          </a:prstGeom>
        </p:spPr>
        <p:txBody>
          <a:bodyPr vert="horz" wrap="square" lIns="0" tIns="12700" rIns="0" bIns="0" rtlCol="0">
            <a:spAutoFit/>
          </a:bodyPr>
          <a:lstStyle/>
          <a:p>
            <a:pPr marL="12700" marR="5080" indent="1534795">
              <a:lnSpc>
                <a:spcPct val="100000"/>
              </a:lnSpc>
              <a:spcBef>
                <a:spcPts val="100"/>
              </a:spcBef>
            </a:pPr>
            <a:r>
              <a:rPr sz="1800" dirty="0">
                <a:latin typeface="Calibri"/>
                <a:cs typeface="Calibri"/>
              </a:rPr>
              <a:t>means</a:t>
            </a:r>
            <a:r>
              <a:rPr lang="en-US" sz="1800" spc="-20" dirty="0">
                <a:latin typeface="Calibri"/>
                <a:cs typeface="Calibri"/>
              </a:rPr>
              <a:t> </a:t>
            </a:r>
            <a:r>
              <a:rPr lang="en-US" sz="1800" spc="-10" dirty="0">
                <a:latin typeface="Calibri"/>
                <a:cs typeface="Calibri"/>
              </a:rPr>
              <a:t>expressing</a:t>
            </a:r>
            <a:r>
              <a:rPr lang="en-US" sz="1800" spc="-35" dirty="0">
                <a:latin typeface="Calibri"/>
                <a:cs typeface="Calibri"/>
              </a:rPr>
              <a:t> </a:t>
            </a:r>
            <a:r>
              <a:rPr lang="en-US" sz="1800" spc="-10" dirty="0">
                <a:latin typeface="Calibri"/>
                <a:cs typeface="Calibri"/>
              </a:rPr>
              <a:t>someone else’s</a:t>
            </a:r>
            <a:r>
              <a:rPr lang="en-US" sz="1800" spc="-45" dirty="0">
                <a:latin typeface="Calibri"/>
                <a:cs typeface="Calibri"/>
              </a:rPr>
              <a:t> </a:t>
            </a:r>
            <a:r>
              <a:rPr lang="en-US" sz="1800" dirty="0">
                <a:latin typeface="Calibri"/>
                <a:cs typeface="Calibri"/>
              </a:rPr>
              <a:t>ideas</a:t>
            </a:r>
            <a:r>
              <a:rPr lang="en-US" sz="1800" spc="-40" dirty="0">
                <a:latin typeface="Calibri"/>
                <a:cs typeface="Calibri"/>
              </a:rPr>
              <a:t> </a:t>
            </a:r>
            <a:r>
              <a:rPr lang="en-US" sz="1800" dirty="0">
                <a:latin typeface="Calibri"/>
                <a:cs typeface="Calibri"/>
              </a:rPr>
              <a:t>in</a:t>
            </a:r>
            <a:r>
              <a:rPr lang="en-US" sz="1800" spc="-35" dirty="0">
                <a:latin typeface="Calibri"/>
                <a:cs typeface="Calibri"/>
              </a:rPr>
              <a:t> </a:t>
            </a:r>
            <a:r>
              <a:rPr lang="en-US" sz="1800" dirty="0">
                <a:latin typeface="Calibri"/>
                <a:cs typeface="Calibri"/>
              </a:rPr>
              <a:t>you</a:t>
            </a:r>
            <a:r>
              <a:rPr lang="en-US" sz="1800" spc="-45" dirty="0">
                <a:latin typeface="Calibri"/>
                <a:cs typeface="Calibri"/>
              </a:rPr>
              <a:t> </a:t>
            </a:r>
            <a:r>
              <a:rPr lang="en-US" sz="1800" dirty="0">
                <a:latin typeface="Calibri"/>
                <a:cs typeface="Calibri"/>
              </a:rPr>
              <a:t>own</a:t>
            </a:r>
            <a:r>
              <a:rPr lang="en-US" sz="1800" spc="-25" dirty="0">
                <a:latin typeface="Calibri"/>
                <a:cs typeface="Calibri"/>
              </a:rPr>
              <a:t> </a:t>
            </a:r>
            <a:r>
              <a:rPr lang="en-US" sz="1800" dirty="0">
                <a:latin typeface="Calibri"/>
                <a:cs typeface="Calibri"/>
              </a:rPr>
              <a:t>words</a:t>
            </a:r>
            <a:r>
              <a:rPr lang="en-US" sz="1800" spc="-40" dirty="0">
                <a:latin typeface="Calibri"/>
                <a:cs typeface="Calibri"/>
              </a:rPr>
              <a:t> </a:t>
            </a:r>
            <a:r>
              <a:rPr lang="en-US" sz="1800" dirty="0">
                <a:latin typeface="Calibri"/>
                <a:cs typeface="Calibri"/>
              </a:rPr>
              <a:t>while</a:t>
            </a:r>
            <a:r>
              <a:rPr lang="en-US" sz="1800" spc="-30" dirty="0">
                <a:latin typeface="Calibri"/>
                <a:cs typeface="Calibri"/>
              </a:rPr>
              <a:t> </a:t>
            </a:r>
            <a:r>
              <a:rPr lang="en-US" sz="1800" spc="-10" dirty="0">
                <a:latin typeface="Calibri"/>
                <a:cs typeface="Calibri"/>
              </a:rPr>
              <a:t>keeping</a:t>
            </a:r>
            <a:endParaRPr lang="en-US" sz="1800" dirty="0">
              <a:latin typeface="Calibri"/>
              <a:cs typeface="Calibri"/>
            </a:endParaRPr>
          </a:p>
          <a:p>
            <a:pPr marL="1032510">
              <a:lnSpc>
                <a:spcPct val="100000"/>
              </a:lnSpc>
            </a:pPr>
            <a:r>
              <a:rPr lang="en-US" sz="1800" dirty="0">
                <a:latin typeface="Calibri"/>
                <a:cs typeface="Calibri"/>
              </a:rPr>
              <a:t>the</a:t>
            </a:r>
            <a:r>
              <a:rPr lang="en-US" sz="1800" spc="-30" dirty="0">
                <a:latin typeface="Calibri"/>
                <a:cs typeface="Calibri"/>
              </a:rPr>
              <a:t> </a:t>
            </a:r>
            <a:r>
              <a:rPr lang="en-US" sz="1800" dirty="0">
                <a:latin typeface="Calibri"/>
                <a:cs typeface="Calibri"/>
              </a:rPr>
              <a:t>original</a:t>
            </a:r>
            <a:r>
              <a:rPr lang="en-US" sz="1800" spc="-35" dirty="0">
                <a:latin typeface="Calibri"/>
                <a:cs typeface="Calibri"/>
              </a:rPr>
              <a:t> </a:t>
            </a:r>
            <a:r>
              <a:rPr lang="en-US" sz="1800" dirty="0">
                <a:latin typeface="Calibri"/>
                <a:cs typeface="Calibri"/>
              </a:rPr>
              <a:t>meaning</a:t>
            </a:r>
            <a:r>
              <a:rPr lang="en-US" sz="1800" spc="-30" dirty="0">
                <a:latin typeface="Calibri"/>
                <a:cs typeface="Calibri"/>
              </a:rPr>
              <a:t> </a:t>
            </a:r>
            <a:r>
              <a:rPr lang="en-US" sz="1800" spc="-50" dirty="0">
                <a:latin typeface="Calibri"/>
                <a:cs typeface="Calibri"/>
              </a:rPr>
              <a:t>.</a:t>
            </a:r>
            <a:endParaRPr lang="en-US" sz="1800" dirty="0">
              <a:latin typeface="Calibri"/>
              <a:cs typeface="Calibri"/>
            </a:endParaRPr>
          </a:p>
        </p:txBody>
      </p:sp>
      <p:grpSp>
        <p:nvGrpSpPr>
          <p:cNvPr id="18" name="object 3" descr=" (Continuous Block Process)">
            <a:extLst>
              <a:ext uri="{FF2B5EF4-FFF2-40B4-BE49-F238E27FC236}">
                <a16:creationId xmlns:a16="http://schemas.microsoft.com/office/drawing/2014/main" id="{947AEE89-263E-3963-7451-1E086A7A3F01}"/>
              </a:ext>
            </a:extLst>
          </p:cNvPr>
          <p:cNvGrpSpPr/>
          <p:nvPr/>
        </p:nvGrpSpPr>
        <p:grpSpPr>
          <a:xfrm>
            <a:off x="538848" y="3137406"/>
            <a:ext cx="6781800" cy="3532177"/>
            <a:chOff x="370116" y="3233051"/>
            <a:chExt cx="5541010" cy="2971800"/>
          </a:xfrm>
        </p:grpSpPr>
        <p:pic>
          <p:nvPicPr>
            <p:cNvPr id="19" name="object 4" descr=" (Continuous Block Process)">
              <a:extLst>
                <a:ext uri="{FF2B5EF4-FFF2-40B4-BE49-F238E27FC236}">
                  <a16:creationId xmlns:a16="http://schemas.microsoft.com/office/drawing/2014/main" id="{8799E01F-F6DF-E0C3-C9D3-CC69248423DC}"/>
                </a:ext>
              </a:extLst>
            </p:cNvPr>
            <p:cNvPicPr/>
            <p:nvPr/>
          </p:nvPicPr>
          <p:blipFill>
            <a:blip r:embed="rId7" cstate="print"/>
            <a:stretch>
              <a:fillRect/>
            </a:stretch>
          </p:blipFill>
          <p:spPr>
            <a:xfrm>
              <a:off x="370116" y="3233051"/>
              <a:ext cx="5540883" cy="2971799"/>
            </a:xfrm>
            <a:prstGeom prst="rect">
              <a:avLst/>
            </a:prstGeom>
          </p:spPr>
        </p:pic>
        <p:sp>
          <p:nvSpPr>
            <p:cNvPr id="20" name="object 5">
              <a:extLst>
                <a:ext uri="{FF2B5EF4-FFF2-40B4-BE49-F238E27FC236}">
                  <a16:creationId xmlns:a16="http://schemas.microsoft.com/office/drawing/2014/main" id="{42E70CA2-8629-0E10-A4AB-9D0018A55B15}"/>
                </a:ext>
              </a:extLst>
            </p:cNvPr>
            <p:cNvSpPr/>
            <p:nvPr/>
          </p:nvSpPr>
          <p:spPr>
            <a:xfrm>
              <a:off x="4419599" y="5702401"/>
              <a:ext cx="1491615" cy="159385"/>
            </a:xfrm>
            <a:custGeom>
              <a:avLst/>
              <a:gdLst/>
              <a:ahLst/>
              <a:cxnLst/>
              <a:rect l="l" t="t" r="r" b="b"/>
              <a:pathLst>
                <a:path w="1491614" h="159385">
                  <a:moveTo>
                    <a:pt x="1411604" y="0"/>
                  </a:moveTo>
                  <a:lnTo>
                    <a:pt x="1411604" y="39839"/>
                  </a:lnTo>
                  <a:lnTo>
                    <a:pt x="0" y="39839"/>
                  </a:lnTo>
                  <a:lnTo>
                    <a:pt x="0" y="119532"/>
                  </a:lnTo>
                  <a:lnTo>
                    <a:pt x="1411604" y="119532"/>
                  </a:lnTo>
                  <a:lnTo>
                    <a:pt x="1411604" y="159372"/>
                  </a:lnTo>
                  <a:lnTo>
                    <a:pt x="1491361" y="79692"/>
                  </a:lnTo>
                  <a:lnTo>
                    <a:pt x="1411604" y="0"/>
                  </a:lnTo>
                  <a:close/>
                </a:path>
              </a:pathLst>
            </a:custGeom>
            <a:solidFill>
              <a:srgbClr val="CFD4EA"/>
            </a:solidFill>
          </p:spPr>
          <p:txBody>
            <a:bodyPr wrap="square" lIns="0" tIns="0" rIns="0" bIns="0" rtlCol="0"/>
            <a:lstStyle/>
            <a:p>
              <a:endParaRPr/>
            </a:p>
          </p:txBody>
        </p:sp>
      </p:grpSp>
    </p:spTree>
    <p:extLst>
      <p:ext uri="{BB962C8B-B14F-4D97-AF65-F5344CB8AC3E}">
        <p14:creationId xmlns:p14="http://schemas.microsoft.com/office/powerpoint/2010/main" val="2231943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53872" y="188417"/>
            <a:ext cx="7939582" cy="1115947"/>
          </a:xfrm>
          <a:prstGeom prst="rect">
            <a:avLst/>
          </a:prstGeom>
        </p:spPr>
        <p:txBody>
          <a:bodyPr vert="horz" wrap="square" lIns="0" tIns="434594" rIns="0" bIns="0" rtlCol="0">
            <a:spAutoFit/>
          </a:bodyPr>
          <a:lstStyle/>
          <a:p>
            <a:pPr marL="175260">
              <a:lnSpc>
                <a:spcPct val="100000"/>
              </a:lnSpc>
              <a:spcBef>
                <a:spcPts val="105"/>
              </a:spcBef>
            </a:pPr>
            <a:r>
              <a:rPr b="1" spc="-70" dirty="0">
                <a:solidFill>
                  <a:srgbClr val="2D75B6"/>
                </a:solidFill>
              </a:rPr>
              <a:t>PARAPHRASING</a:t>
            </a:r>
            <a:r>
              <a:rPr lang="en-US" b="1" spc="-70" dirty="0">
                <a:solidFill>
                  <a:srgbClr val="2D75B6"/>
                </a:solidFill>
              </a:rPr>
              <a:t> PROCESS</a:t>
            </a:r>
            <a:r>
              <a:rPr b="1" spc="-120" dirty="0">
                <a:solidFill>
                  <a:srgbClr val="2D75B6"/>
                </a:solidFill>
              </a:rPr>
              <a:t> </a:t>
            </a:r>
            <a:endParaRPr b="1" spc="-50" dirty="0">
              <a:solidFill>
                <a:srgbClr val="2D75B6"/>
              </a:solidFill>
            </a:endParaRPr>
          </a:p>
        </p:txBody>
      </p:sp>
      <p:grpSp>
        <p:nvGrpSpPr>
          <p:cNvPr id="6" name="object 6"/>
          <p:cNvGrpSpPr/>
          <p:nvPr/>
        </p:nvGrpSpPr>
        <p:grpSpPr>
          <a:xfrm>
            <a:off x="951598" y="1296798"/>
            <a:ext cx="5956300" cy="58419"/>
            <a:chOff x="951598" y="1296798"/>
            <a:chExt cx="5956300" cy="58419"/>
          </a:xfrm>
        </p:grpSpPr>
        <p:sp>
          <p:nvSpPr>
            <p:cNvPr id="7" name="object 7"/>
            <p:cNvSpPr/>
            <p:nvPr/>
          </p:nvSpPr>
          <p:spPr>
            <a:xfrm>
              <a:off x="957948" y="1303148"/>
              <a:ext cx="5943600" cy="45720"/>
            </a:xfrm>
            <a:custGeom>
              <a:avLst/>
              <a:gdLst/>
              <a:ahLst/>
              <a:cxnLst/>
              <a:rect l="l" t="t" r="r" b="b"/>
              <a:pathLst>
                <a:path w="5943600" h="45719">
                  <a:moveTo>
                    <a:pt x="5943600" y="0"/>
                  </a:moveTo>
                  <a:lnTo>
                    <a:pt x="0" y="0"/>
                  </a:lnTo>
                  <a:lnTo>
                    <a:pt x="0" y="45718"/>
                  </a:lnTo>
                  <a:lnTo>
                    <a:pt x="5943600" y="45718"/>
                  </a:lnTo>
                  <a:lnTo>
                    <a:pt x="5943600" y="0"/>
                  </a:lnTo>
                  <a:close/>
                </a:path>
              </a:pathLst>
            </a:custGeom>
            <a:solidFill>
              <a:srgbClr val="4471C4"/>
            </a:solidFill>
          </p:spPr>
          <p:txBody>
            <a:bodyPr wrap="square" lIns="0" tIns="0" rIns="0" bIns="0" rtlCol="0"/>
            <a:lstStyle/>
            <a:p>
              <a:endParaRPr/>
            </a:p>
          </p:txBody>
        </p:sp>
        <p:sp>
          <p:nvSpPr>
            <p:cNvPr id="8" name="object 8"/>
            <p:cNvSpPr/>
            <p:nvPr/>
          </p:nvSpPr>
          <p:spPr>
            <a:xfrm>
              <a:off x="957948" y="1303148"/>
              <a:ext cx="5943600" cy="45720"/>
            </a:xfrm>
            <a:custGeom>
              <a:avLst/>
              <a:gdLst/>
              <a:ahLst/>
              <a:cxnLst/>
              <a:rect l="l" t="t" r="r" b="b"/>
              <a:pathLst>
                <a:path w="5943600" h="45719">
                  <a:moveTo>
                    <a:pt x="0" y="45718"/>
                  </a:moveTo>
                  <a:lnTo>
                    <a:pt x="5943600" y="45718"/>
                  </a:lnTo>
                  <a:lnTo>
                    <a:pt x="5943600" y="0"/>
                  </a:lnTo>
                  <a:lnTo>
                    <a:pt x="0" y="0"/>
                  </a:lnTo>
                  <a:lnTo>
                    <a:pt x="0" y="45718"/>
                  </a:lnTo>
                  <a:close/>
                </a:path>
              </a:pathLst>
            </a:custGeom>
            <a:ln w="12700">
              <a:solidFill>
                <a:srgbClr val="172C51"/>
              </a:solidFill>
            </a:ln>
          </p:spPr>
          <p:txBody>
            <a:bodyPr wrap="square" lIns="0" tIns="0" rIns="0" bIns="0" rtlCol="0"/>
            <a:lstStyle/>
            <a:p>
              <a:endParaRPr/>
            </a:p>
          </p:txBody>
        </p:sp>
      </p:grpSp>
      <p:pic>
        <p:nvPicPr>
          <p:cNvPr id="22" name="object 17">
            <a:extLst>
              <a:ext uri="{FF2B5EF4-FFF2-40B4-BE49-F238E27FC236}">
                <a16:creationId xmlns:a16="http://schemas.microsoft.com/office/drawing/2014/main" id="{1C99F28A-24F0-56E6-6DC6-092AD20846C9}"/>
              </a:ext>
            </a:extLst>
          </p:cNvPr>
          <p:cNvPicPr/>
          <p:nvPr/>
        </p:nvPicPr>
        <p:blipFill>
          <a:blip r:embed="rId2" cstate="print"/>
          <a:stretch>
            <a:fillRect/>
          </a:stretch>
        </p:blipFill>
        <p:spPr>
          <a:xfrm>
            <a:off x="906272" y="1669664"/>
            <a:ext cx="10218928" cy="49999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53872" y="188417"/>
            <a:ext cx="7939582" cy="1115947"/>
          </a:xfrm>
          <a:prstGeom prst="rect">
            <a:avLst/>
          </a:prstGeom>
        </p:spPr>
        <p:txBody>
          <a:bodyPr vert="horz" wrap="square" lIns="0" tIns="434594" rIns="0" bIns="0" rtlCol="0">
            <a:spAutoFit/>
          </a:bodyPr>
          <a:lstStyle/>
          <a:p>
            <a:pPr marL="175260">
              <a:lnSpc>
                <a:spcPct val="100000"/>
              </a:lnSpc>
              <a:spcBef>
                <a:spcPts val="105"/>
              </a:spcBef>
            </a:pPr>
            <a:r>
              <a:rPr b="1" spc="-45" dirty="0"/>
              <a:t>TECHNIQUES</a:t>
            </a:r>
            <a:r>
              <a:rPr b="1" spc="-145" dirty="0"/>
              <a:t> </a:t>
            </a:r>
            <a:r>
              <a:rPr b="1" dirty="0"/>
              <a:t>OF</a:t>
            </a:r>
            <a:r>
              <a:rPr b="1" spc="-135" dirty="0"/>
              <a:t> </a:t>
            </a:r>
            <a:r>
              <a:rPr b="1" spc="-55" dirty="0"/>
              <a:t>PARAPHRASING</a:t>
            </a:r>
          </a:p>
        </p:txBody>
      </p:sp>
      <p:pic>
        <p:nvPicPr>
          <p:cNvPr id="3" name="object 3"/>
          <p:cNvPicPr/>
          <p:nvPr/>
        </p:nvPicPr>
        <p:blipFill>
          <a:blip r:embed="rId2" cstate="print"/>
          <a:stretch>
            <a:fillRect/>
          </a:stretch>
        </p:blipFill>
        <p:spPr>
          <a:xfrm>
            <a:off x="838200" y="1372425"/>
            <a:ext cx="9609073" cy="4804537"/>
          </a:xfrm>
          <a:prstGeom prst="rect">
            <a:avLst/>
          </a:prstGeom>
        </p:spPr>
      </p:pic>
      <p:grpSp>
        <p:nvGrpSpPr>
          <p:cNvPr id="4" name="object 4"/>
          <p:cNvGrpSpPr/>
          <p:nvPr/>
        </p:nvGrpSpPr>
        <p:grpSpPr>
          <a:xfrm>
            <a:off x="985723" y="1234060"/>
            <a:ext cx="7544434" cy="58419"/>
            <a:chOff x="985723" y="1234060"/>
            <a:chExt cx="7544434" cy="58419"/>
          </a:xfrm>
        </p:grpSpPr>
        <p:sp>
          <p:nvSpPr>
            <p:cNvPr id="5" name="object 5"/>
            <p:cNvSpPr/>
            <p:nvPr/>
          </p:nvSpPr>
          <p:spPr>
            <a:xfrm>
              <a:off x="992073" y="1240410"/>
              <a:ext cx="7531734" cy="45720"/>
            </a:xfrm>
            <a:custGeom>
              <a:avLst/>
              <a:gdLst/>
              <a:ahLst/>
              <a:cxnLst/>
              <a:rect l="l" t="t" r="r" b="b"/>
              <a:pathLst>
                <a:path w="7531734" h="45719">
                  <a:moveTo>
                    <a:pt x="7531481" y="0"/>
                  </a:moveTo>
                  <a:lnTo>
                    <a:pt x="0" y="0"/>
                  </a:lnTo>
                  <a:lnTo>
                    <a:pt x="0" y="45718"/>
                  </a:lnTo>
                  <a:lnTo>
                    <a:pt x="7531481" y="45718"/>
                  </a:lnTo>
                  <a:lnTo>
                    <a:pt x="7531481" y="0"/>
                  </a:lnTo>
                  <a:close/>
                </a:path>
              </a:pathLst>
            </a:custGeom>
            <a:solidFill>
              <a:srgbClr val="4471C4"/>
            </a:solidFill>
          </p:spPr>
          <p:txBody>
            <a:bodyPr wrap="square" lIns="0" tIns="0" rIns="0" bIns="0" rtlCol="0"/>
            <a:lstStyle/>
            <a:p>
              <a:endParaRPr/>
            </a:p>
          </p:txBody>
        </p:sp>
        <p:sp>
          <p:nvSpPr>
            <p:cNvPr id="6" name="object 6"/>
            <p:cNvSpPr/>
            <p:nvPr/>
          </p:nvSpPr>
          <p:spPr>
            <a:xfrm>
              <a:off x="992073" y="1240410"/>
              <a:ext cx="7531734" cy="45720"/>
            </a:xfrm>
            <a:custGeom>
              <a:avLst/>
              <a:gdLst/>
              <a:ahLst/>
              <a:cxnLst/>
              <a:rect l="l" t="t" r="r" b="b"/>
              <a:pathLst>
                <a:path w="7531734" h="45719">
                  <a:moveTo>
                    <a:pt x="0" y="45718"/>
                  </a:moveTo>
                  <a:lnTo>
                    <a:pt x="7531481" y="45718"/>
                  </a:lnTo>
                  <a:lnTo>
                    <a:pt x="7531481" y="0"/>
                  </a:lnTo>
                  <a:lnTo>
                    <a:pt x="0" y="0"/>
                  </a:lnTo>
                  <a:lnTo>
                    <a:pt x="0" y="45718"/>
                  </a:lnTo>
                  <a:close/>
                </a:path>
              </a:pathLst>
            </a:custGeom>
            <a:ln w="12700">
              <a:solidFill>
                <a:srgbClr val="172C51"/>
              </a:solidFill>
            </a:ln>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3D529-734B-89FC-CB0A-1B4426F1387B}"/>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F5B757B1-80BB-1FAE-6BF8-4BC12D965C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80" y="0"/>
            <a:ext cx="12233962" cy="6858000"/>
          </a:xfrm>
          <a:prstGeom prst="rect">
            <a:avLst/>
          </a:prstGeom>
        </p:spPr>
      </p:pic>
    </p:spTree>
    <p:extLst>
      <p:ext uri="{BB962C8B-B14F-4D97-AF65-F5344CB8AC3E}">
        <p14:creationId xmlns:p14="http://schemas.microsoft.com/office/powerpoint/2010/main" val="1323247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715516" y="676478"/>
            <a:ext cx="5692140" cy="697230"/>
          </a:xfrm>
          <a:prstGeom prst="rect">
            <a:avLst/>
          </a:prstGeom>
        </p:spPr>
        <p:txBody>
          <a:bodyPr vert="horz" wrap="square" lIns="0" tIns="13335" rIns="0" bIns="0" rtlCol="0">
            <a:spAutoFit/>
          </a:bodyPr>
          <a:lstStyle/>
          <a:p>
            <a:pPr marL="12700">
              <a:lnSpc>
                <a:spcPct val="100000"/>
              </a:lnSpc>
              <a:spcBef>
                <a:spcPts val="105"/>
              </a:spcBef>
            </a:pPr>
            <a:r>
              <a:rPr b="1" spc="-70" dirty="0"/>
              <a:t>PARAPHRASING</a:t>
            </a:r>
            <a:r>
              <a:rPr b="1" spc="-150" dirty="0"/>
              <a:t> </a:t>
            </a:r>
            <a:r>
              <a:rPr b="1" spc="-10" dirty="0"/>
              <a:t>EXAMPLE</a:t>
            </a:r>
          </a:p>
        </p:txBody>
      </p:sp>
      <p:sp>
        <p:nvSpPr>
          <p:cNvPr id="3" name="object 3"/>
          <p:cNvSpPr/>
          <p:nvPr/>
        </p:nvSpPr>
        <p:spPr>
          <a:xfrm>
            <a:off x="881189" y="825271"/>
            <a:ext cx="494030" cy="632460"/>
          </a:xfrm>
          <a:custGeom>
            <a:avLst/>
            <a:gdLst/>
            <a:ahLst/>
            <a:cxnLst/>
            <a:rect l="l" t="t" r="r" b="b"/>
            <a:pathLst>
              <a:path w="494030" h="632460">
                <a:moveTo>
                  <a:pt x="198996" y="229108"/>
                </a:moveTo>
                <a:lnTo>
                  <a:pt x="95516" y="229108"/>
                </a:lnTo>
                <a:lnTo>
                  <a:pt x="95516" y="260705"/>
                </a:lnTo>
                <a:lnTo>
                  <a:pt x="198996" y="260705"/>
                </a:lnTo>
                <a:lnTo>
                  <a:pt x="198996" y="229108"/>
                </a:lnTo>
                <a:close/>
              </a:path>
              <a:path w="494030" h="632460">
                <a:moveTo>
                  <a:pt x="397992" y="481914"/>
                </a:moveTo>
                <a:lnTo>
                  <a:pt x="95516" y="481914"/>
                </a:lnTo>
                <a:lnTo>
                  <a:pt x="95516" y="513511"/>
                </a:lnTo>
                <a:lnTo>
                  <a:pt x="397992" y="513511"/>
                </a:lnTo>
                <a:lnTo>
                  <a:pt x="397992" y="481914"/>
                </a:lnTo>
                <a:close/>
              </a:path>
              <a:path w="494030" h="632460">
                <a:moveTo>
                  <a:pt x="397992" y="418706"/>
                </a:moveTo>
                <a:lnTo>
                  <a:pt x="95516" y="418706"/>
                </a:lnTo>
                <a:lnTo>
                  <a:pt x="95516" y="450303"/>
                </a:lnTo>
                <a:lnTo>
                  <a:pt x="397992" y="450303"/>
                </a:lnTo>
                <a:lnTo>
                  <a:pt x="397992" y="418706"/>
                </a:lnTo>
                <a:close/>
              </a:path>
              <a:path w="494030" h="632460">
                <a:moveTo>
                  <a:pt x="397992" y="355511"/>
                </a:moveTo>
                <a:lnTo>
                  <a:pt x="95516" y="355511"/>
                </a:lnTo>
                <a:lnTo>
                  <a:pt x="95516" y="387108"/>
                </a:lnTo>
                <a:lnTo>
                  <a:pt x="397992" y="387108"/>
                </a:lnTo>
                <a:lnTo>
                  <a:pt x="397992" y="355511"/>
                </a:lnTo>
                <a:close/>
              </a:path>
              <a:path w="494030" h="632460">
                <a:moveTo>
                  <a:pt x="397992" y="292303"/>
                </a:moveTo>
                <a:lnTo>
                  <a:pt x="95516" y="292303"/>
                </a:lnTo>
                <a:lnTo>
                  <a:pt x="95516" y="323913"/>
                </a:lnTo>
                <a:lnTo>
                  <a:pt x="397992" y="323913"/>
                </a:lnTo>
                <a:lnTo>
                  <a:pt x="397992" y="292303"/>
                </a:lnTo>
                <a:close/>
              </a:path>
              <a:path w="494030" h="632460">
                <a:moveTo>
                  <a:pt x="493509" y="173812"/>
                </a:moveTo>
                <a:lnTo>
                  <a:pt x="484466" y="165912"/>
                </a:lnTo>
                <a:lnTo>
                  <a:pt x="445757" y="132105"/>
                </a:lnTo>
                <a:lnTo>
                  <a:pt x="445757" y="213309"/>
                </a:lnTo>
                <a:lnTo>
                  <a:pt x="445757" y="584606"/>
                </a:lnTo>
                <a:lnTo>
                  <a:pt x="47752" y="584606"/>
                </a:lnTo>
                <a:lnTo>
                  <a:pt x="47752" y="47409"/>
                </a:lnTo>
                <a:lnTo>
                  <a:pt x="246748" y="47409"/>
                </a:lnTo>
                <a:lnTo>
                  <a:pt x="246748" y="213309"/>
                </a:lnTo>
                <a:lnTo>
                  <a:pt x="445757" y="213309"/>
                </a:lnTo>
                <a:lnTo>
                  <a:pt x="445757" y="132105"/>
                </a:lnTo>
                <a:lnTo>
                  <a:pt x="394017" y="86918"/>
                </a:lnTo>
                <a:lnTo>
                  <a:pt x="394017" y="165912"/>
                </a:lnTo>
                <a:lnTo>
                  <a:pt x="294513" y="165912"/>
                </a:lnTo>
                <a:lnTo>
                  <a:pt x="294513" y="67157"/>
                </a:lnTo>
                <a:lnTo>
                  <a:pt x="394017" y="165912"/>
                </a:lnTo>
                <a:lnTo>
                  <a:pt x="394017" y="86918"/>
                </a:lnTo>
                <a:lnTo>
                  <a:pt x="371398" y="67157"/>
                </a:lnTo>
                <a:lnTo>
                  <a:pt x="348780" y="47409"/>
                </a:lnTo>
                <a:lnTo>
                  <a:pt x="294513" y="0"/>
                </a:lnTo>
                <a:lnTo>
                  <a:pt x="0" y="0"/>
                </a:lnTo>
                <a:lnTo>
                  <a:pt x="0" y="632015"/>
                </a:lnTo>
                <a:lnTo>
                  <a:pt x="493509" y="632015"/>
                </a:lnTo>
                <a:lnTo>
                  <a:pt x="493509" y="584606"/>
                </a:lnTo>
                <a:lnTo>
                  <a:pt x="493509" y="173812"/>
                </a:lnTo>
                <a:close/>
              </a:path>
            </a:pathLst>
          </a:custGeom>
          <a:solidFill>
            <a:srgbClr val="000000"/>
          </a:solidFill>
        </p:spPr>
        <p:txBody>
          <a:bodyPr wrap="square" lIns="0" tIns="0" rIns="0" bIns="0" rtlCol="0"/>
          <a:lstStyle/>
          <a:p>
            <a:endParaRPr/>
          </a:p>
        </p:txBody>
      </p:sp>
      <p:sp>
        <p:nvSpPr>
          <p:cNvPr id="4" name="object 4"/>
          <p:cNvSpPr txBox="1"/>
          <p:nvPr/>
        </p:nvSpPr>
        <p:spPr>
          <a:xfrm>
            <a:off x="1000454" y="2179065"/>
            <a:ext cx="10200945" cy="382156"/>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a:cs typeface="Calibri"/>
              </a:rPr>
              <a:t>ORIGINAL</a:t>
            </a:r>
            <a:r>
              <a:rPr sz="2400" b="1" spc="-25" dirty="0">
                <a:latin typeface="Calibri"/>
                <a:cs typeface="Calibri"/>
              </a:rPr>
              <a:t> </a:t>
            </a:r>
            <a:r>
              <a:rPr sz="2400" b="1" dirty="0">
                <a:latin typeface="Calibri"/>
                <a:cs typeface="Calibri"/>
              </a:rPr>
              <a:t>:</a:t>
            </a:r>
            <a:r>
              <a:rPr sz="2400" b="1" spc="-25" dirty="0">
                <a:latin typeface="Calibri"/>
                <a:cs typeface="Calibri"/>
              </a:rPr>
              <a:t> </a:t>
            </a:r>
            <a:r>
              <a:rPr sz="2400" b="1" dirty="0">
                <a:latin typeface="Calibri"/>
                <a:cs typeface="Calibri"/>
              </a:rPr>
              <a:t>Social</a:t>
            </a:r>
            <a:r>
              <a:rPr sz="2400" b="1" spc="-45" dirty="0">
                <a:latin typeface="Calibri"/>
                <a:cs typeface="Calibri"/>
              </a:rPr>
              <a:t> </a:t>
            </a:r>
            <a:r>
              <a:rPr sz="2400" b="1" dirty="0">
                <a:latin typeface="Calibri"/>
                <a:cs typeface="Calibri"/>
              </a:rPr>
              <a:t>media</a:t>
            </a:r>
            <a:r>
              <a:rPr sz="2400" b="1" spc="-55" dirty="0">
                <a:latin typeface="Calibri"/>
                <a:cs typeface="Calibri"/>
              </a:rPr>
              <a:t> </a:t>
            </a:r>
            <a:r>
              <a:rPr sz="2400" b="1" dirty="0">
                <a:latin typeface="Calibri"/>
                <a:cs typeface="Calibri"/>
              </a:rPr>
              <a:t>has</a:t>
            </a:r>
            <a:r>
              <a:rPr sz="2400" b="1" spc="-40" dirty="0">
                <a:latin typeface="Calibri"/>
                <a:cs typeface="Calibri"/>
              </a:rPr>
              <a:t> </a:t>
            </a:r>
            <a:r>
              <a:rPr sz="2400" b="1" dirty="0">
                <a:latin typeface="Calibri"/>
                <a:cs typeface="Calibri"/>
              </a:rPr>
              <a:t>changed</a:t>
            </a:r>
            <a:r>
              <a:rPr sz="2400" b="1" spc="-55" dirty="0">
                <a:latin typeface="Calibri"/>
                <a:cs typeface="Calibri"/>
              </a:rPr>
              <a:t> </a:t>
            </a:r>
            <a:r>
              <a:rPr sz="2400" b="1" dirty="0">
                <a:latin typeface="Calibri"/>
                <a:cs typeface="Calibri"/>
              </a:rPr>
              <a:t>the</a:t>
            </a:r>
            <a:r>
              <a:rPr sz="2400" b="1" spc="-30" dirty="0">
                <a:latin typeface="Calibri"/>
                <a:cs typeface="Calibri"/>
              </a:rPr>
              <a:t> </a:t>
            </a:r>
            <a:r>
              <a:rPr sz="2400" b="1" dirty="0">
                <a:latin typeface="Calibri"/>
                <a:cs typeface="Calibri"/>
              </a:rPr>
              <a:t>way</a:t>
            </a:r>
            <a:r>
              <a:rPr sz="2400" b="1" spc="-20" dirty="0">
                <a:latin typeface="Calibri"/>
                <a:cs typeface="Calibri"/>
              </a:rPr>
              <a:t> </a:t>
            </a:r>
            <a:r>
              <a:rPr sz="2400" b="1" dirty="0">
                <a:latin typeface="Calibri"/>
                <a:cs typeface="Calibri"/>
              </a:rPr>
              <a:t>people</a:t>
            </a:r>
            <a:r>
              <a:rPr sz="2400" b="1" spc="-65" dirty="0">
                <a:latin typeface="Calibri"/>
                <a:cs typeface="Calibri"/>
              </a:rPr>
              <a:t> </a:t>
            </a:r>
            <a:r>
              <a:rPr sz="2400" b="1" dirty="0">
                <a:latin typeface="Calibri"/>
                <a:cs typeface="Calibri"/>
              </a:rPr>
              <a:t>communicate</a:t>
            </a:r>
            <a:r>
              <a:rPr sz="2400" b="1" spc="-35" dirty="0">
                <a:latin typeface="Calibri"/>
                <a:cs typeface="Calibri"/>
              </a:rPr>
              <a:t> </a:t>
            </a:r>
            <a:r>
              <a:rPr sz="2400" b="1" spc="-10" dirty="0">
                <a:latin typeface="Calibri"/>
                <a:cs typeface="Calibri"/>
              </a:rPr>
              <a:t>worldwide.</a:t>
            </a:r>
            <a:endParaRPr sz="2400" dirty="0">
              <a:latin typeface="Calibri"/>
              <a:cs typeface="Calibri"/>
            </a:endParaRPr>
          </a:p>
        </p:txBody>
      </p:sp>
      <p:sp>
        <p:nvSpPr>
          <p:cNvPr id="5" name="object 5"/>
          <p:cNvSpPr txBox="1"/>
          <p:nvPr/>
        </p:nvSpPr>
        <p:spPr>
          <a:xfrm>
            <a:off x="977063" y="3036617"/>
            <a:ext cx="10665461" cy="751488"/>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Calibri"/>
                <a:cs typeface="Calibri"/>
              </a:rPr>
              <a:t>PARAPHRASE</a:t>
            </a:r>
            <a:r>
              <a:rPr sz="2400" b="1" spc="-20" dirty="0">
                <a:latin typeface="Calibri"/>
                <a:cs typeface="Calibri"/>
              </a:rPr>
              <a:t> </a:t>
            </a:r>
            <a:r>
              <a:rPr sz="2400" b="1" dirty="0">
                <a:latin typeface="Calibri"/>
                <a:cs typeface="Calibri"/>
              </a:rPr>
              <a:t>:</a:t>
            </a:r>
            <a:r>
              <a:rPr sz="2400" b="1" spc="-5" dirty="0">
                <a:latin typeface="Calibri"/>
                <a:cs typeface="Calibri"/>
              </a:rPr>
              <a:t> </a:t>
            </a:r>
            <a:r>
              <a:rPr sz="2400" b="1" dirty="0">
                <a:latin typeface="Calibri"/>
                <a:cs typeface="Calibri"/>
              </a:rPr>
              <a:t>The</a:t>
            </a:r>
            <a:r>
              <a:rPr sz="2400" b="1" spc="-35" dirty="0">
                <a:latin typeface="Calibri"/>
                <a:cs typeface="Calibri"/>
              </a:rPr>
              <a:t> </a:t>
            </a:r>
            <a:r>
              <a:rPr sz="2400" b="1" dirty="0">
                <a:latin typeface="Calibri"/>
                <a:cs typeface="Calibri"/>
              </a:rPr>
              <a:t>way</a:t>
            </a:r>
            <a:r>
              <a:rPr sz="2400" b="1" spc="-10" dirty="0">
                <a:latin typeface="Calibri"/>
                <a:cs typeface="Calibri"/>
              </a:rPr>
              <a:t> </a:t>
            </a:r>
            <a:r>
              <a:rPr sz="2400" b="1" dirty="0">
                <a:latin typeface="Calibri"/>
                <a:cs typeface="Calibri"/>
              </a:rPr>
              <a:t>people</a:t>
            </a:r>
            <a:r>
              <a:rPr sz="2400" b="1" spc="-60" dirty="0">
                <a:latin typeface="Calibri"/>
                <a:cs typeface="Calibri"/>
              </a:rPr>
              <a:t> </a:t>
            </a:r>
            <a:r>
              <a:rPr sz="2400" b="1" dirty="0">
                <a:latin typeface="Calibri"/>
                <a:cs typeface="Calibri"/>
              </a:rPr>
              <a:t>communicate</a:t>
            </a:r>
            <a:r>
              <a:rPr sz="2400" b="1" spc="-20" dirty="0">
                <a:latin typeface="Calibri"/>
                <a:cs typeface="Calibri"/>
              </a:rPr>
              <a:t> </a:t>
            </a:r>
            <a:r>
              <a:rPr sz="2400" b="1" dirty="0">
                <a:latin typeface="Calibri"/>
                <a:cs typeface="Calibri"/>
              </a:rPr>
              <a:t>around</a:t>
            </a:r>
            <a:r>
              <a:rPr sz="2400" b="1" spc="-45" dirty="0">
                <a:latin typeface="Calibri"/>
                <a:cs typeface="Calibri"/>
              </a:rPr>
              <a:t> </a:t>
            </a:r>
            <a:r>
              <a:rPr sz="2400" b="1" dirty="0">
                <a:latin typeface="Calibri"/>
                <a:cs typeface="Calibri"/>
              </a:rPr>
              <a:t>the</a:t>
            </a:r>
            <a:r>
              <a:rPr sz="2400" b="1" spc="-20" dirty="0">
                <a:latin typeface="Calibri"/>
                <a:cs typeface="Calibri"/>
              </a:rPr>
              <a:t> </a:t>
            </a:r>
            <a:r>
              <a:rPr sz="2400" b="1" dirty="0">
                <a:latin typeface="Calibri"/>
                <a:cs typeface="Calibri"/>
              </a:rPr>
              <a:t>Globe</a:t>
            </a:r>
            <a:r>
              <a:rPr sz="2400" b="1" spc="-25" dirty="0">
                <a:latin typeface="Calibri"/>
                <a:cs typeface="Calibri"/>
              </a:rPr>
              <a:t> </a:t>
            </a:r>
            <a:r>
              <a:rPr sz="2400" b="1" dirty="0">
                <a:latin typeface="Calibri"/>
                <a:cs typeface="Calibri"/>
              </a:rPr>
              <a:t>has</a:t>
            </a:r>
            <a:r>
              <a:rPr sz="2400" b="1" spc="-25" dirty="0">
                <a:latin typeface="Calibri"/>
                <a:cs typeface="Calibri"/>
              </a:rPr>
              <a:t> </a:t>
            </a:r>
            <a:r>
              <a:rPr sz="2400" b="1" dirty="0">
                <a:latin typeface="Calibri"/>
                <a:cs typeface="Calibri"/>
              </a:rPr>
              <a:t>been</a:t>
            </a:r>
            <a:r>
              <a:rPr sz="2400" b="1" spc="-55" dirty="0">
                <a:latin typeface="Calibri"/>
                <a:cs typeface="Calibri"/>
              </a:rPr>
              <a:t> </a:t>
            </a:r>
            <a:r>
              <a:rPr sz="2400" b="1" spc="-10" dirty="0">
                <a:latin typeface="Calibri"/>
                <a:cs typeface="Calibri"/>
              </a:rPr>
              <a:t>transformed</a:t>
            </a:r>
            <a:r>
              <a:rPr sz="2400" b="1" spc="-45" dirty="0">
                <a:latin typeface="Calibri"/>
                <a:cs typeface="Calibri"/>
              </a:rPr>
              <a:t> </a:t>
            </a:r>
            <a:r>
              <a:rPr sz="2400" b="1" dirty="0">
                <a:latin typeface="Calibri"/>
                <a:cs typeface="Calibri"/>
              </a:rPr>
              <a:t>by</a:t>
            </a:r>
            <a:r>
              <a:rPr sz="2400" b="1" spc="-15" dirty="0">
                <a:latin typeface="Calibri"/>
                <a:cs typeface="Calibri"/>
              </a:rPr>
              <a:t> </a:t>
            </a:r>
            <a:r>
              <a:rPr sz="2400" b="1" dirty="0">
                <a:latin typeface="Calibri"/>
                <a:cs typeface="Calibri"/>
              </a:rPr>
              <a:t>social</a:t>
            </a:r>
            <a:r>
              <a:rPr sz="2400" b="1" spc="-50" dirty="0">
                <a:latin typeface="Calibri"/>
                <a:cs typeface="Calibri"/>
              </a:rPr>
              <a:t> </a:t>
            </a:r>
            <a:r>
              <a:rPr sz="2400" b="1" spc="-10" dirty="0">
                <a:latin typeface="Calibri"/>
                <a:cs typeface="Calibri"/>
              </a:rPr>
              <a:t>media.</a:t>
            </a:r>
            <a:endParaRPr sz="2400" dirty="0">
              <a:latin typeface="Calibri"/>
              <a:cs typeface="Calibri"/>
            </a:endParaRPr>
          </a:p>
        </p:txBody>
      </p:sp>
      <p:pic>
        <p:nvPicPr>
          <p:cNvPr id="6" name="object 6"/>
          <p:cNvPicPr/>
          <p:nvPr/>
        </p:nvPicPr>
        <p:blipFill>
          <a:blip r:embed="rId2" cstate="print"/>
          <a:stretch>
            <a:fillRect/>
          </a:stretch>
        </p:blipFill>
        <p:spPr>
          <a:xfrm>
            <a:off x="6035163" y="5173505"/>
            <a:ext cx="124686" cy="124755"/>
          </a:xfrm>
          <a:prstGeom prst="rect">
            <a:avLst/>
          </a:prstGeom>
        </p:spPr>
      </p:pic>
      <p:sp>
        <p:nvSpPr>
          <p:cNvPr id="7" name="object 7"/>
          <p:cNvSpPr/>
          <p:nvPr/>
        </p:nvSpPr>
        <p:spPr>
          <a:xfrm>
            <a:off x="5885614" y="4599874"/>
            <a:ext cx="424180" cy="528320"/>
          </a:xfrm>
          <a:custGeom>
            <a:avLst/>
            <a:gdLst/>
            <a:ahLst/>
            <a:cxnLst/>
            <a:rect l="l" t="t" r="r" b="b"/>
            <a:pathLst>
              <a:path w="424179" h="528320">
                <a:moveTo>
                  <a:pt x="211891" y="0"/>
                </a:moveTo>
                <a:lnTo>
                  <a:pt x="160123" y="5379"/>
                </a:lnTo>
                <a:lnTo>
                  <a:pt x="114285" y="20888"/>
                </a:lnTo>
                <a:lnTo>
                  <a:pt x="75119" y="45579"/>
                </a:lnTo>
                <a:lnTo>
                  <a:pt x="43366" y="78509"/>
                </a:lnTo>
                <a:lnTo>
                  <a:pt x="19768" y="118731"/>
                </a:lnTo>
                <a:lnTo>
                  <a:pt x="5065" y="165299"/>
                </a:lnTo>
                <a:lnTo>
                  <a:pt x="0" y="217269"/>
                </a:lnTo>
                <a:lnTo>
                  <a:pt x="74774" y="217269"/>
                </a:lnTo>
                <a:lnTo>
                  <a:pt x="80789" y="169453"/>
                </a:lnTo>
                <a:lnTo>
                  <a:pt x="98304" y="129996"/>
                </a:lnTo>
                <a:lnTo>
                  <a:pt x="126523" y="100199"/>
                </a:lnTo>
                <a:lnTo>
                  <a:pt x="164650" y="81366"/>
                </a:lnTo>
                <a:lnTo>
                  <a:pt x="211891" y="74799"/>
                </a:lnTo>
                <a:lnTo>
                  <a:pt x="260210" y="82603"/>
                </a:lnTo>
                <a:lnTo>
                  <a:pt x="296581" y="102484"/>
                </a:lnTo>
                <a:lnTo>
                  <a:pt x="324943" y="132182"/>
                </a:lnTo>
                <a:lnTo>
                  <a:pt x="343139" y="169437"/>
                </a:lnTo>
                <a:lnTo>
                  <a:pt x="349009" y="211992"/>
                </a:lnTo>
                <a:lnTo>
                  <a:pt x="342740" y="254057"/>
                </a:lnTo>
                <a:lnTo>
                  <a:pt x="324719" y="288633"/>
                </a:lnTo>
                <a:lnTo>
                  <a:pt x="296120" y="314651"/>
                </a:lnTo>
                <a:lnTo>
                  <a:pt x="258119" y="331045"/>
                </a:lnTo>
                <a:lnTo>
                  <a:pt x="211891" y="336747"/>
                </a:lnTo>
                <a:lnTo>
                  <a:pt x="174222" y="336747"/>
                </a:lnTo>
                <a:lnTo>
                  <a:pt x="174222" y="528214"/>
                </a:lnTo>
                <a:lnTo>
                  <a:pt x="249561" y="528214"/>
                </a:lnTo>
                <a:lnTo>
                  <a:pt x="249561" y="409018"/>
                </a:lnTo>
                <a:lnTo>
                  <a:pt x="298762" y="396642"/>
                </a:lnTo>
                <a:lnTo>
                  <a:pt x="341189" y="374835"/>
                </a:lnTo>
                <a:lnTo>
                  <a:pt x="375872" y="344532"/>
                </a:lnTo>
                <a:lnTo>
                  <a:pt x="401844" y="306668"/>
                </a:lnTo>
                <a:lnTo>
                  <a:pt x="418137" y="262176"/>
                </a:lnTo>
                <a:lnTo>
                  <a:pt x="423783" y="211992"/>
                </a:lnTo>
                <a:lnTo>
                  <a:pt x="417725" y="159416"/>
                </a:lnTo>
                <a:lnTo>
                  <a:pt x="401477" y="115443"/>
                </a:lnTo>
                <a:lnTo>
                  <a:pt x="376311" y="76772"/>
                </a:lnTo>
                <a:lnTo>
                  <a:pt x="343497" y="44647"/>
                </a:lnTo>
                <a:lnTo>
                  <a:pt x="304308" y="20314"/>
                </a:lnTo>
                <a:lnTo>
                  <a:pt x="260015" y="5016"/>
                </a:lnTo>
                <a:lnTo>
                  <a:pt x="211891" y="0"/>
                </a:lnTo>
                <a:close/>
              </a:path>
            </a:pathLst>
          </a:custGeom>
          <a:solidFill>
            <a:srgbClr val="000000"/>
          </a:solidFill>
        </p:spPr>
        <p:txBody>
          <a:bodyPr wrap="square" lIns="0" tIns="0" rIns="0" bIns="0" rtlCol="0"/>
          <a:lstStyle/>
          <a:p>
            <a:endParaRPr/>
          </a:p>
        </p:txBody>
      </p:sp>
      <p:sp>
        <p:nvSpPr>
          <p:cNvPr id="8" name="object 8"/>
          <p:cNvSpPr txBox="1"/>
          <p:nvPr/>
        </p:nvSpPr>
        <p:spPr>
          <a:xfrm>
            <a:off x="3105150" y="4781550"/>
            <a:ext cx="275336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IS</a:t>
            </a:r>
            <a:r>
              <a:rPr sz="1800" b="1" spc="-25" dirty="0">
                <a:latin typeface="Calibri"/>
                <a:cs typeface="Calibri"/>
              </a:rPr>
              <a:t> </a:t>
            </a:r>
            <a:r>
              <a:rPr sz="1800" b="1" dirty="0">
                <a:latin typeface="Calibri"/>
                <a:cs typeface="Calibri"/>
              </a:rPr>
              <a:t>THE</a:t>
            </a:r>
            <a:r>
              <a:rPr sz="1800" b="1" spc="-20" dirty="0">
                <a:latin typeface="Calibri"/>
                <a:cs typeface="Calibri"/>
              </a:rPr>
              <a:t> </a:t>
            </a:r>
            <a:r>
              <a:rPr sz="1800" b="1" dirty="0">
                <a:latin typeface="Calibri"/>
                <a:cs typeface="Calibri"/>
              </a:rPr>
              <a:t>MEANING</a:t>
            </a:r>
            <a:r>
              <a:rPr sz="1800" b="1" spc="-15" dirty="0">
                <a:latin typeface="Calibri"/>
                <a:cs typeface="Calibri"/>
              </a:rPr>
              <a:t> </a:t>
            </a:r>
            <a:r>
              <a:rPr sz="1800" b="1" dirty="0">
                <a:latin typeface="Calibri"/>
                <a:cs typeface="Calibri"/>
              </a:rPr>
              <a:t>STILL</a:t>
            </a:r>
            <a:r>
              <a:rPr sz="1800" b="1" spc="-30" dirty="0">
                <a:latin typeface="Calibri"/>
                <a:cs typeface="Calibri"/>
              </a:rPr>
              <a:t> </a:t>
            </a:r>
            <a:r>
              <a:rPr sz="1800" b="1" spc="-20" dirty="0">
                <a:latin typeface="Calibri"/>
                <a:cs typeface="Calibri"/>
              </a:rPr>
              <a:t>SAME</a:t>
            </a:r>
            <a:endParaRPr sz="1800">
              <a:latin typeface="Calibri"/>
              <a:cs typeface="Calibri"/>
            </a:endParaRPr>
          </a:p>
        </p:txBody>
      </p:sp>
      <p:sp>
        <p:nvSpPr>
          <p:cNvPr id="9" name="object 9"/>
          <p:cNvSpPr/>
          <p:nvPr/>
        </p:nvSpPr>
        <p:spPr>
          <a:xfrm>
            <a:off x="2043358" y="4696723"/>
            <a:ext cx="791210" cy="527685"/>
          </a:xfrm>
          <a:custGeom>
            <a:avLst/>
            <a:gdLst/>
            <a:ahLst/>
            <a:cxnLst/>
            <a:rect l="l" t="t" r="r" b="b"/>
            <a:pathLst>
              <a:path w="791210" h="527685">
                <a:moveTo>
                  <a:pt x="450078" y="0"/>
                </a:moveTo>
                <a:lnTo>
                  <a:pt x="177047" y="56903"/>
                </a:lnTo>
                <a:lnTo>
                  <a:pt x="70630" y="178454"/>
                </a:lnTo>
                <a:lnTo>
                  <a:pt x="0" y="178454"/>
                </a:lnTo>
                <a:lnTo>
                  <a:pt x="0" y="451709"/>
                </a:lnTo>
                <a:lnTo>
                  <a:pt x="47087" y="451709"/>
                </a:lnTo>
                <a:lnTo>
                  <a:pt x="81215" y="459549"/>
                </a:lnTo>
                <a:lnTo>
                  <a:pt x="139980" y="500556"/>
                </a:lnTo>
                <a:lnTo>
                  <a:pt x="182245" y="519251"/>
                </a:lnTo>
                <a:lnTo>
                  <a:pt x="244852" y="527090"/>
                </a:lnTo>
                <a:lnTo>
                  <a:pt x="414365" y="527090"/>
                </a:lnTo>
                <a:lnTo>
                  <a:pt x="436305" y="522629"/>
                </a:lnTo>
                <a:lnTo>
                  <a:pt x="454272" y="510483"/>
                </a:lnTo>
                <a:lnTo>
                  <a:pt x="466411" y="492506"/>
                </a:lnTo>
                <a:lnTo>
                  <a:pt x="470870" y="470555"/>
                </a:lnTo>
                <a:lnTo>
                  <a:pt x="469840" y="459630"/>
                </a:lnTo>
                <a:lnTo>
                  <a:pt x="466867" y="449589"/>
                </a:lnTo>
                <a:lnTo>
                  <a:pt x="462129" y="440608"/>
                </a:lnTo>
                <a:lnTo>
                  <a:pt x="455802" y="432864"/>
                </a:lnTo>
                <a:lnTo>
                  <a:pt x="461452" y="432864"/>
                </a:lnTo>
                <a:lnTo>
                  <a:pt x="483392" y="428403"/>
                </a:lnTo>
                <a:lnTo>
                  <a:pt x="501359" y="416257"/>
                </a:lnTo>
                <a:lnTo>
                  <a:pt x="513498" y="398280"/>
                </a:lnTo>
                <a:lnTo>
                  <a:pt x="517957" y="376329"/>
                </a:lnTo>
                <a:lnTo>
                  <a:pt x="516912" y="365243"/>
                </a:lnTo>
                <a:lnTo>
                  <a:pt x="513837" y="354775"/>
                </a:lnTo>
                <a:lnTo>
                  <a:pt x="508819" y="345190"/>
                </a:lnTo>
                <a:lnTo>
                  <a:pt x="501947" y="336754"/>
                </a:lnTo>
                <a:lnTo>
                  <a:pt x="519590" y="329540"/>
                </a:lnTo>
                <a:lnTo>
                  <a:pt x="533613" y="317202"/>
                </a:lnTo>
                <a:lnTo>
                  <a:pt x="542869" y="300978"/>
                </a:lnTo>
                <a:lnTo>
                  <a:pt x="546209" y="282103"/>
                </a:lnTo>
                <a:lnTo>
                  <a:pt x="541750" y="260151"/>
                </a:lnTo>
                <a:lnTo>
                  <a:pt x="529611" y="242175"/>
                </a:lnTo>
                <a:lnTo>
                  <a:pt x="511644" y="230028"/>
                </a:lnTo>
                <a:lnTo>
                  <a:pt x="489705" y="225567"/>
                </a:lnTo>
                <a:lnTo>
                  <a:pt x="743975" y="225567"/>
                </a:lnTo>
                <a:lnTo>
                  <a:pt x="762456" y="221916"/>
                </a:lnTo>
                <a:lnTo>
                  <a:pt x="777406" y="211905"/>
                </a:lnTo>
                <a:lnTo>
                  <a:pt x="787412" y="196946"/>
                </a:lnTo>
                <a:lnTo>
                  <a:pt x="791062" y="178454"/>
                </a:lnTo>
                <a:lnTo>
                  <a:pt x="787412" y="159963"/>
                </a:lnTo>
                <a:lnTo>
                  <a:pt x="777406" y="145004"/>
                </a:lnTo>
                <a:lnTo>
                  <a:pt x="762456" y="134993"/>
                </a:lnTo>
                <a:lnTo>
                  <a:pt x="743975" y="131342"/>
                </a:lnTo>
                <a:lnTo>
                  <a:pt x="277813" y="131342"/>
                </a:lnTo>
                <a:lnTo>
                  <a:pt x="452035" y="92709"/>
                </a:lnTo>
                <a:lnTo>
                  <a:pt x="469148" y="85068"/>
                </a:lnTo>
                <a:lnTo>
                  <a:pt x="481582" y="71861"/>
                </a:lnTo>
                <a:lnTo>
                  <a:pt x="488189" y="54945"/>
                </a:lnTo>
                <a:lnTo>
                  <a:pt x="487821" y="36173"/>
                </a:lnTo>
                <a:lnTo>
                  <a:pt x="480184" y="19051"/>
                </a:lnTo>
                <a:lnTo>
                  <a:pt x="466985" y="6610"/>
                </a:lnTo>
                <a:lnTo>
                  <a:pt x="450078" y="0"/>
                </a:lnTo>
                <a:close/>
              </a:path>
            </a:pathLst>
          </a:custGeom>
          <a:solidFill>
            <a:srgbClr val="000000"/>
          </a:solidFill>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7D89A-8768-84ED-09AE-2300FD5B232C}"/>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2BF6DC9A-56FA-A5C4-1EE5-AC0E638E1E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3945169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2F3893-5CE3-56A0-67A9-33B5E02B8527}"/>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F0B6611B-2281-EC0C-6EC4-B8502AE3A8C7}"/>
              </a:ext>
            </a:extLst>
          </p:cNvPr>
          <p:cNvSpPr txBox="1">
            <a:spLocks noGrp="1"/>
          </p:cNvSpPr>
          <p:nvPr>
            <p:ph type="title"/>
          </p:nvPr>
        </p:nvSpPr>
        <p:spPr>
          <a:xfrm>
            <a:off x="1715516" y="676478"/>
            <a:ext cx="5692140" cy="697230"/>
          </a:xfrm>
          <a:prstGeom prst="rect">
            <a:avLst/>
          </a:prstGeom>
        </p:spPr>
        <p:txBody>
          <a:bodyPr vert="horz" wrap="square" lIns="0" tIns="13335" rIns="0" bIns="0" rtlCol="0">
            <a:spAutoFit/>
          </a:bodyPr>
          <a:lstStyle/>
          <a:p>
            <a:pPr marL="12700">
              <a:lnSpc>
                <a:spcPct val="100000"/>
              </a:lnSpc>
              <a:spcBef>
                <a:spcPts val="105"/>
              </a:spcBef>
            </a:pPr>
            <a:r>
              <a:rPr b="1" spc="-70" dirty="0"/>
              <a:t>PARAPHRASING</a:t>
            </a:r>
            <a:r>
              <a:rPr b="1" spc="-150" dirty="0"/>
              <a:t> </a:t>
            </a:r>
            <a:r>
              <a:rPr lang="en-US" b="1" spc="-10" dirty="0"/>
              <a:t>PRACTICE</a:t>
            </a:r>
            <a:endParaRPr b="1" spc="-10" dirty="0"/>
          </a:p>
        </p:txBody>
      </p:sp>
      <p:sp>
        <p:nvSpPr>
          <p:cNvPr id="3" name="object 3">
            <a:extLst>
              <a:ext uri="{FF2B5EF4-FFF2-40B4-BE49-F238E27FC236}">
                <a16:creationId xmlns:a16="http://schemas.microsoft.com/office/drawing/2014/main" id="{C0CE4908-444B-FE2E-92C6-7ABB08928330}"/>
              </a:ext>
            </a:extLst>
          </p:cNvPr>
          <p:cNvSpPr/>
          <p:nvPr/>
        </p:nvSpPr>
        <p:spPr>
          <a:xfrm>
            <a:off x="881189" y="825271"/>
            <a:ext cx="494030" cy="632460"/>
          </a:xfrm>
          <a:custGeom>
            <a:avLst/>
            <a:gdLst/>
            <a:ahLst/>
            <a:cxnLst/>
            <a:rect l="l" t="t" r="r" b="b"/>
            <a:pathLst>
              <a:path w="494030" h="632460">
                <a:moveTo>
                  <a:pt x="198996" y="229108"/>
                </a:moveTo>
                <a:lnTo>
                  <a:pt x="95516" y="229108"/>
                </a:lnTo>
                <a:lnTo>
                  <a:pt x="95516" y="260705"/>
                </a:lnTo>
                <a:lnTo>
                  <a:pt x="198996" y="260705"/>
                </a:lnTo>
                <a:lnTo>
                  <a:pt x="198996" y="229108"/>
                </a:lnTo>
                <a:close/>
              </a:path>
              <a:path w="494030" h="632460">
                <a:moveTo>
                  <a:pt x="397992" y="481914"/>
                </a:moveTo>
                <a:lnTo>
                  <a:pt x="95516" y="481914"/>
                </a:lnTo>
                <a:lnTo>
                  <a:pt x="95516" y="513511"/>
                </a:lnTo>
                <a:lnTo>
                  <a:pt x="397992" y="513511"/>
                </a:lnTo>
                <a:lnTo>
                  <a:pt x="397992" y="481914"/>
                </a:lnTo>
                <a:close/>
              </a:path>
              <a:path w="494030" h="632460">
                <a:moveTo>
                  <a:pt x="397992" y="418706"/>
                </a:moveTo>
                <a:lnTo>
                  <a:pt x="95516" y="418706"/>
                </a:lnTo>
                <a:lnTo>
                  <a:pt x="95516" y="450303"/>
                </a:lnTo>
                <a:lnTo>
                  <a:pt x="397992" y="450303"/>
                </a:lnTo>
                <a:lnTo>
                  <a:pt x="397992" y="418706"/>
                </a:lnTo>
                <a:close/>
              </a:path>
              <a:path w="494030" h="632460">
                <a:moveTo>
                  <a:pt x="397992" y="355511"/>
                </a:moveTo>
                <a:lnTo>
                  <a:pt x="95516" y="355511"/>
                </a:lnTo>
                <a:lnTo>
                  <a:pt x="95516" y="387108"/>
                </a:lnTo>
                <a:lnTo>
                  <a:pt x="397992" y="387108"/>
                </a:lnTo>
                <a:lnTo>
                  <a:pt x="397992" y="355511"/>
                </a:lnTo>
                <a:close/>
              </a:path>
              <a:path w="494030" h="632460">
                <a:moveTo>
                  <a:pt x="397992" y="292303"/>
                </a:moveTo>
                <a:lnTo>
                  <a:pt x="95516" y="292303"/>
                </a:lnTo>
                <a:lnTo>
                  <a:pt x="95516" y="323913"/>
                </a:lnTo>
                <a:lnTo>
                  <a:pt x="397992" y="323913"/>
                </a:lnTo>
                <a:lnTo>
                  <a:pt x="397992" y="292303"/>
                </a:lnTo>
                <a:close/>
              </a:path>
              <a:path w="494030" h="632460">
                <a:moveTo>
                  <a:pt x="493509" y="173812"/>
                </a:moveTo>
                <a:lnTo>
                  <a:pt x="484466" y="165912"/>
                </a:lnTo>
                <a:lnTo>
                  <a:pt x="445757" y="132105"/>
                </a:lnTo>
                <a:lnTo>
                  <a:pt x="445757" y="213309"/>
                </a:lnTo>
                <a:lnTo>
                  <a:pt x="445757" y="584606"/>
                </a:lnTo>
                <a:lnTo>
                  <a:pt x="47752" y="584606"/>
                </a:lnTo>
                <a:lnTo>
                  <a:pt x="47752" y="47409"/>
                </a:lnTo>
                <a:lnTo>
                  <a:pt x="246748" y="47409"/>
                </a:lnTo>
                <a:lnTo>
                  <a:pt x="246748" y="213309"/>
                </a:lnTo>
                <a:lnTo>
                  <a:pt x="445757" y="213309"/>
                </a:lnTo>
                <a:lnTo>
                  <a:pt x="445757" y="132105"/>
                </a:lnTo>
                <a:lnTo>
                  <a:pt x="394017" y="86918"/>
                </a:lnTo>
                <a:lnTo>
                  <a:pt x="394017" y="165912"/>
                </a:lnTo>
                <a:lnTo>
                  <a:pt x="294513" y="165912"/>
                </a:lnTo>
                <a:lnTo>
                  <a:pt x="294513" y="67157"/>
                </a:lnTo>
                <a:lnTo>
                  <a:pt x="394017" y="165912"/>
                </a:lnTo>
                <a:lnTo>
                  <a:pt x="394017" y="86918"/>
                </a:lnTo>
                <a:lnTo>
                  <a:pt x="371398" y="67157"/>
                </a:lnTo>
                <a:lnTo>
                  <a:pt x="348780" y="47409"/>
                </a:lnTo>
                <a:lnTo>
                  <a:pt x="294513" y="0"/>
                </a:lnTo>
                <a:lnTo>
                  <a:pt x="0" y="0"/>
                </a:lnTo>
                <a:lnTo>
                  <a:pt x="0" y="632015"/>
                </a:lnTo>
                <a:lnTo>
                  <a:pt x="493509" y="632015"/>
                </a:lnTo>
                <a:lnTo>
                  <a:pt x="493509" y="584606"/>
                </a:lnTo>
                <a:lnTo>
                  <a:pt x="493509" y="173812"/>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24418B58-AD10-32A0-0162-70AB379FC238}"/>
              </a:ext>
            </a:extLst>
          </p:cNvPr>
          <p:cNvSpPr txBox="1"/>
          <p:nvPr/>
        </p:nvSpPr>
        <p:spPr>
          <a:xfrm>
            <a:off x="381001" y="1676400"/>
            <a:ext cx="11582399" cy="4689554"/>
          </a:xfrm>
          <a:prstGeom prst="rect">
            <a:avLst/>
          </a:prstGeom>
        </p:spPr>
        <p:txBody>
          <a:bodyPr vert="horz" wrap="square" lIns="0" tIns="12700" rIns="0" bIns="0" rtlCol="0">
            <a:spAutoFit/>
          </a:bodyPr>
          <a:lstStyle/>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Although he was exhausted, he stayed up late to finish his project.</a:t>
            </a:r>
          </a:p>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The heavy traffic delayed our arrival at the airport by an hour.</a:t>
            </a:r>
          </a:p>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She saves a portion of her salary every month to buy a new car.</a:t>
            </a:r>
          </a:p>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The power outage left the entire neighborhood in pitch darkness.</a:t>
            </a:r>
          </a:p>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He was offered the job because of his extensive experience in marketing.</a:t>
            </a:r>
          </a:p>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Drinking enough water daily is essential for maintaining good health.</a:t>
            </a:r>
          </a:p>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The chef prepared a special dish to celebrate the restaurant's anniversary.</a:t>
            </a:r>
          </a:p>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She turned down the job offer because the location was too far from home.</a:t>
            </a:r>
          </a:p>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Many people prefer working from home because it saves commuting time.</a:t>
            </a:r>
          </a:p>
          <a:p>
            <a:pPr marL="469900" indent="-457200">
              <a:lnSpc>
                <a:spcPct val="150000"/>
              </a:lnSpc>
              <a:spcBef>
                <a:spcPts val="100"/>
              </a:spcBef>
              <a:buAutoNum type="arabicPeriod"/>
            </a:pPr>
            <a:r>
              <a:rPr lang="en-US" sz="2000" spc="-10" dirty="0">
                <a:latin typeface="Times New Roman" panose="02020603050405020304" pitchFamily="18" charset="0"/>
                <a:cs typeface="Times New Roman" panose="02020603050405020304" pitchFamily="18" charset="0"/>
              </a:rPr>
              <a:t>The team won the championship after months of rigorous training.</a:t>
            </a:r>
            <a:endParaRPr sz="2000" dirty="0">
              <a:latin typeface="Times New Roman" panose="02020603050405020304" pitchFamily="18" charset="0"/>
              <a:cs typeface="Times New Roman" panose="02020603050405020304" pitchFamily="18" charset="0"/>
            </a:endParaRPr>
          </a:p>
        </p:txBody>
      </p:sp>
      <p:sp>
        <p:nvSpPr>
          <p:cNvPr id="9" name="object 9">
            <a:extLst>
              <a:ext uri="{FF2B5EF4-FFF2-40B4-BE49-F238E27FC236}">
                <a16:creationId xmlns:a16="http://schemas.microsoft.com/office/drawing/2014/main" id="{B36708AF-32AA-D5C1-5BF7-4EFBBFF632DB}"/>
              </a:ext>
            </a:extLst>
          </p:cNvPr>
          <p:cNvSpPr/>
          <p:nvPr/>
        </p:nvSpPr>
        <p:spPr>
          <a:xfrm>
            <a:off x="7754579" y="761250"/>
            <a:ext cx="791210" cy="527685"/>
          </a:xfrm>
          <a:custGeom>
            <a:avLst/>
            <a:gdLst/>
            <a:ahLst/>
            <a:cxnLst/>
            <a:rect l="l" t="t" r="r" b="b"/>
            <a:pathLst>
              <a:path w="791210" h="527685">
                <a:moveTo>
                  <a:pt x="450078" y="0"/>
                </a:moveTo>
                <a:lnTo>
                  <a:pt x="177047" y="56903"/>
                </a:lnTo>
                <a:lnTo>
                  <a:pt x="70630" y="178454"/>
                </a:lnTo>
                <a:lnTo>
                  <a:pt x="0" y="178454"/>
                </a:lnTo>
                <a:lnTo>
                  <a:pt x="0" y="451709"/>
                </a:lnTo>
                <a:lnTo>
                  <a:pt x="47087" y="451709"/>
                </a:lnTo>
                <a:lnTo>
                  <a:pt x="81215" y="459549"/>
                </a:lnTo>
                <a:lnTo>
                  <a:pt x="139980" y="500556"/>
                </a:lnTo>
                <a:lnTo>
                  <a:pt x="182245" y="519251"/>
                </a:lnTo>
                <a:lnTo>
                  <a:pt x="244852" y="527090"/>
                </a:lnTo>
                <a:lnTo>
                  <a:pt x="414365" y="527090"/>
                </a:lnTo>
                <a:lnTo>
                  <a:pt x="436305" y="522629"/>
                </a:lnTo>
                <a:lnTo>
                  <a:pt x="454272" y="510483"/>
                </a:lnTo>
                <a:lnTo>
                  <a:pt x="466411" y="492506"/>
                </a:lnTo>
                <a:lnTo>
                  <a:pt x="470870" y="470555"/>
                </a:lnTo>
                <a:lnTo>
                  <a:pt x="469840" y="459630"/>
                </a:lnTo>
                <a:lnTo>
                  <a:pt x="466867" y="449589"/>
                </a:lnTo>
                <a:lnTo>
                  <a:pt x="462129" y="440608"/>
                </a:lnTo>
                <a:lnTo>
                  <a:pt x="455802" y="432864"/>
                </a:lnTo>
                <a:lnTo>
                  <a:pt x="461452" y="432864"/>
                </a:lnTo>
                <a:lnTo>
                  <a:pt x="483392" y="428403"/>
                </a:lnTo>
                <a:lnTo>
                  <a:pt x="501359" y="416257"/>
                </a:lnTo>
                <a:lnTo>
                  <a:pt x="513498" y="398280"/>
                </a:lnTo>
                <a:lnTo>
                  <a:pt x="517957" y="376329"/>
                </a:lnTo>
                <a:lnTo>
                  <a:pt x="516912" y="365243"/>
                </a:lnTo>
                <a:lnTo>
                  <a:pt x="513837" y="354775"/>
                </a:lnTo>
                <a:lnTo>
                  <a:pt x="508819" y="345190"/>
                </a:lnTo>
                <a:lnTo>
                  <a:pt x="501947" y="336754"/>
                </a:lnTo>
                <a:lnTo>
                  <a:pt x="519590" y="329540"/>
                </a:lnTo>
                <a:lnTo>
                  <a:pt x="533613" y="317202"/>
                </a:lnTo>
                <a:lnTo>
                  <a:pt x="542869" y="300978"/>
                </a:lnTo>
                <a:lnTo>
                  <a:pt x="546209" y="282103"/>
                </a:lnTo>
                <a:lnTo>
                  <a:pt x="541750" y="260151"/>
                </a:lnTo>
                <a:lnTo>
                  <a:pt x="529611" y="242175"/>
                </a:lnTo>
                <a:lnTo>
                  <a:pt x="511644" y="230028"/>
                </a:lnTo>
                <a:lnTo>
                  <a:pt x="489705" y="225567"/>
                </a:lnTo>
                <a:lnTo>
                  <a:pt x="743975" y="225567"/>
                </a:lnTo>
                <a:lnTo>
                  <a:pt x="762456" y="221916"/>
                </a:lnTo>
                <a:lnTo>
                  <a:pt x="777406" y="211905"/>
                </a:lnTo>
                <a:lnTo>
                  <a:pt x="787412" y="196946"/>
                </a:lnTo>
                <a:lnTo>
                  <a:pt x="791062" y="178454"/>
                </a:lnTo>
                <a:lnTo>
                  <a:pt x="787412" y="159963"/>
                </a:lnTo>
                <a:lnTo>
                  <a:pt x="777406" y="145004"/>
                </a:lnTo>
                <a:lnTo>
                  <a:pt x="762456" y="134993"/>
                </a:lnTo>
                <a:lnTo>
                  <a:pt x="743975" y="131342"/>
                </a:lnTo>
                <a:lnTo>
                  <a:pt x="277813" y="131342"/>
                </a:lnTo>
                <a:lnTo>
                  <a:pt x="452035" y="92709"/>
                </a:lnTo>
                <a:lnTo>
                  <a:pt x="469148" y="85068"/>
                </a:lnTo>
                <a:lnTo>
                  <a:pt x="481582" y="71861"/>
                </a:lnTo>
                <a:lnTo>
                  <a:pt x="488189" y="54945"/>
                </a:lnTo>
                <a:lnTo>
                  <a:pt x="487821" y="36173"/>
                </a:lnTo>
                <a:lnTo>
                  <a:pt x="480184" y="19051"/>
                </a:lnTo>
                <a:lnTo>
                  <a:pt x="466985" y="6610"/>
                </a:lnTo>
                <a:lnTo>
                  <a:pt x="450078" y="0"/>
                </a:lnTo>
                <a:close/>
              </a:path>
            </a:pathLst>
          </a:custGeom>
          <a:solidFill>
            <a:srgbClr val="000000"/>
          </a:solidFill>
        </p:spPr>
        <p:txBody>
          <a:bodyPr wrap="square" lIns="0" tIns="0" rIns="0" bIns="0" rtlCol="0"/>
          <a:lstStyle/>
          <a:p>
            <a:endParaRPr dirty="0"/>
          </a:p>
        </p:txBody>
      </p:sp>
    </p:spTree>
    <p:extLst>
      <p:ext uri="{BB962C8B-B14F-4D97-AF65-F5344CB8AC3E}">
        <p14:creationId xmlns:p14="http://schemas.microsoft.com/office/powerpoint/2010/main" val="3178157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53872" y="188417"/>
            <a:ext cx="7939582" cy="1160240"/>
          </a:xfrm>
          <a:prstGeom prst="rect">
            <a:avLst/>
          </a:prstGeom>
        </p:spPr>
        <p:txBody>
          <a:bodyPr vert="horz" wrap="square" lIns="0" tIns="478459" rIns="0" bIns="0" rtlCol="0">
            <a:spAutoFit/>
          </a:bodyPr>
          <a:lstStyle/>
          <a:p>
            <a:pPr marL="1231900">
              <a:lnSpc>
                <a:spcPct val="100000"/>
              </a:lnSpc>
              <a:spcBef>
                <a:spcPts val="105"/>
              </a:spcBef>
            </a:pPr>
            <a:r>
              <a:rPr lang="en-US" spc="-10" dirty="0"/>
              <a:t>PASSAGE </a:t>
            </a:r>
            <a:r>
              <a:rPr spc="-10" dirty="0"/>
              <a:t>EXAMPLE</a:t>
            </a:r>
          </a:p>
        </p:txBody>
      </p:sp>
      <p:sp>
        <p:nvSpPr>
          <p:cNvPr id="3" name="object 3"/>
          <p:cNvSpPr/>
          <p:nvPr/>
        </p:nvSpPr>
        <p:spPr>
          <a:xfrm>
            <a:off x="994079" y="696378"/>
            <a:ext cx="584200" cy="754380"/>
          </a:xfrm>
          <a:custGeom>
            <a:avLst/>
            <a:gdLst/>
            <a:ahLst/>
            <a:cxnLst/>
            <a:rect l="l" t="t" r="r" b="b"/>
            <a:pathLst>
              <a:path w="584200" h="754380">
                <a:moveTo>
                  <a:pt x="235432" y="273253"/>
                </a:moveTo>
                <a:lnTo>
                  <a:pt x="113004" y="273253"/>
                </a:lnTo>
                <a:lnTo>
                  <a:pt x="113004" y="310946"/>
                </a:lnTo>
                <a:lnTo>
                  <a:pt x="235432" y="310946"/>
                </a:lnTo>
                <a:lnTo>
                  <a:pt x="235432" y="273253"/>
                </a:lnTo>
                <a:close/>
              </a:path>
              <a:path w="584200" h="754380">
                <a:moveTo>
                  <a:pt x="470865" y="574776"/>
                </a:moveTo>
                <a:lnTo>
                  <a:pt x="113004" y="574776"/>
                </a:lnTo>
                <a:lnTo>
                  <a:pt x="113004" y="612470"/>
                </a:lnTo>
                <a:lnTo>
                  <a:pt x="470865" y="612470"/>
                </a:lnTo>
                <a:lnTo>
                  <a:pt x="470865" y="574776"/>
                </a:lnTo>
                <a:close/>
              </a:path>
              <a:path w="584200" h="754380">
                <a:moveTo>
                  <a:pt x="470865" y="499389"/>
                </a:moveTo>
                <a:lnTo>
                  <a:pt x="113004" y="499389"/>
                </a:lnTo>
                <a:lnTo>
                  <a:pt x="113004" y="537083"/>
                </a:lnTo>
                <a:lnTo>
                  <a:pt x="470865" y="537083"/>
                </a:lnTo>
                <a:lnTo>
                  <a:pt x="470865" y="499389"/>
                </a:lnTo>
                <a:close/>
              </a:path>
              <a:path w="584200" h="754380">
                <a:moveTo>
                  <a:pt x="470865" y="424014"/>
                </a:moveTo>
                <a:lnTo>
                  <a:pt x="113004" y="424014"/>
                </a:lnTo>
                <a:lnTo>
                  <a:pt x="113004" y="461708"/>
                </a:lnTo>
                <a:lnTo>
                  <a:pt x="470865" y="461708"/>
                </a:lnTo>
                <a:lnTo>
                  <a:pt x="470865" y="424014"/>
                </a:lnTo>
                <a:close/>
              </a:path>
              <a:path w="584200" h="754380">
                <a:moveTo>
                  <a:pt x="470865" y="348627"/>
                </a:moveTo>
                <a:lnTo>
                  <a:pt x="113004" y="348627"/>
                </a:lnTo>
                <a:lnTo>
                  <a:pt x="113004" y="386321"/>
                </a:lnTo>
                <a:lnTo>
                  <a:pt x="470865" y="386321"/>
                </a:lnTo>
                <a:lnTo>
                  <a:pt x="470865" y="348627"/>
                </a:lnTo>
                <a:close/>
              </a:path>
              <a:path w="584200" h="754380">
                <a:moveTo>
                  <a:pt x="583869" y="207289"/>
                </a:moveTo>
                <a:lnTo>
                  <a:pt x="573176" y="197866"/>
                </a:lnTo>
                <a:lnTo>
                  <a:pt x="527367" y="157543"/>
                </a:lnTo>
                <a:lnTo>
                  <a:pt x="527367" y="254406"/>
                </a:lnTo>
                <a:lnTo>
                  <a:pt x="527367" y="697268"/>
                </a:lnTo>
                <a:lnTo>
                  <a:pt x="56502" y="697268"/>
                </a:lnTo>
                <a:lnTo>
                  <a:pt x="56502" y="56527"/>
                </a:lnTo>
                <a:lnTo>
                  <a:pt x="291934" y="56527"/>
                </a:lnTo>
                <a:lnTo>
                  <a:pt x="291934" y="254406"/>
                </a:lnTo>
                <a:lnTo>
                  <a:pt x="527367" y="254406"/>
                </a:lnTo>
                <a:lnTo>
                  <a:pt x="527367" y="157543"/>
                </a:lnTo>
                <a:lnTo>
                  <a:pt x="466153" y="103644"/>
                </a:lnTo>
                <a:lnTo>
                  <a:pt x="466153" y="197866"/>
                </a:lnTo>
                <a:lnTo>
                  <a:pt x="348437" y="197866"/>
                </a:lnTo>
                <a:lnTo>
                  <a:pt x="348437" y="80086"/>
                </a:lnTo>
                <a:lnTo>
                  <a:pt x="466153" y="197866"/>
                </a:lnTo>
                <a:lnTo>
                  <a:pt x="466153" y="103644"/>
                </a:lnTo>
                <a:lnTo>
                  <a:pt x="439407" y="80086"/>
                </a:lnTo>
                <a:lnTo>
                  <a:pt x="412648" y="56527"/>
                </a:lnTo>
                <a:lnTo>
                  <a:pt x="348437" y="0"/>
                </a:lnTo>
                <a:lnTo>
                  <a:pt x="0" y="0"/>
                </a:lnTo>
                <a:lnTo>
                  <a:pt x="0" y="753808"/>
                </a:lnTo>
                <a:lnTo>
                  <a:pt x="583869" y="753808"/>
                </a:lnTo>
                <a:lnTo>
                  <a:pt x="583869" y="697268"/>
                </a:lnTo>
                <a:lnTo>
                  <a:pt x="583869" y="207289"/>
                </a:lnTo>
                <a:close/>
              </a:path>
            </a:pathLst>
          </a:custGeom>
          <a:solidFill>
            <a:srgbClr val="000000"/>
          </a:solidFill>
        </p:spPr>
        <p:txBody>
          <a:bodyPr wrap="square" lIns="0" tIns="0" rIns="0" bIns="0" rtlCol="0"/>
          <a:lstStyle/>
          <a:p>
            <a:endParaRPr/>
          </a:p>
        </p:txBody>
      </p:sp>
      <p:sp>
        <p:nvSpPr>
          <p:cNvPr id="4" name="object 4"/>
          <p:cNvSpPr/>
          <p:nvPr/>
        </p:nvSpPr>
        <p:spPr>
          <a:xfrm>
            <a:off x="6781800" y="2502612"/>
            <a:ext cx="5334000" cy="3812809"/>
          </a:xfrm>
          <a:custGeom>
            <a:avLst/>
            <a:gdLst/>
            <a:ahLst/>
            <a:cxnLst/>
            <a:rect l="l" t="t" r="r" b="b"/>
            <a:pathLst>
              <a:path w="3625215" h="3908425">
                <a:moveTo>
                  <a:pt x="0" y="604138"/>
                </a:moveTo>
                <a:lnTo>
                  <a:pt x="1817" y="556929"/>
                </a:lnTo>
                <a:lnTo>
                  <a:pt x="7181" y="510713"/>
                </a:lnTo>
                <a:lnTo>
                  <a:pt x="15957" y="465624"/>
                </a:lnTo>
                <a:lnTo>
                  <a:pt x="28010" y="421797"/>
                </a:lnTo>
                <a:lnTo>
                  <a:pt x="43205" y="379366"/>
                </a:lnTo>
                <a:lnTo>
                  <a:pt x="61410" y="338466"/>
                </a:lnTo>
                <a:lnTo>
                  <a:pt x="82488" y="299230"/>
                </a:lnTo>
                <a:lnTo>
                  <a:pt x="106307" y="261794"/>
                </a:lnTo>
                <a:lnTo>
                  <a:pt x="132731" y="226292"/>
                </a:lnTo>
                <a:lnTo>
                  <a:pt x="161626" y="192858"/>
                </a:lnTo>
                <a:lnTo>
                  <a:pt x="192858" y="161626"/>
                </a:lnTo>
                <a:lnTo>
                  <a:pt x="226292" y="132731"/>
                </a:lnTo>
                <a:lnTo>
                  <a:pt x="261794" y="106307"/>
                </a:lnTo>
                <a:lnTo>
                  <a:pt x="299230" y="82488"/>
                </a:lnTo>
                <a:lnTo>
                  <a:pt x="338466" y="61410"/>
                </a:lnTo>
                <a:lnTo>
                  <a:pt x="379366" y="43205"/>
                </a:lnTo>
                <a:lnTo>
                  <a:pt x="421797" y="28010"/>
                </a:lnTo>
                <a:lnTo>
                  <a:pt x="465624" y="15957"/>
                </a:lnTo>
                <a:lnTo>
                  <a:pt x="510713" y="7181"/>
                </a:lnTo>
                <a:lnTo>
                  <a:pt x="556929" y="1817"/>
                </a:lnTo>
                <a:lnTo>
                  <a:pt x="604139" y="0"/>
                </a:lnTo>
                <a:lnTo>
                  <a:pt x="3020822" y="0"/>
                </a:lnTo>
                <a:lnTo>
                  <a:pt x="3068031" y="1817"/>
                </a:lnTo>
                <a:lnTo>
                  <a:pt x="3114247" y="7181"/>
                </a:lnTo>
                <a:lnTo>
                  <a:pt x="3159336" y="15957"/>
                </a:lnTo>
                <a:lnTo>
                  <a:pt x="3203163" y="28010"/>
                </a:lnTo>
                <a:lnTo>
                  <a:pt x="3245594" y="43205"/>
                </a:lnTo>
                <a:lnTo>
                  <a:pt x="3286494" y="61410"/>
                </a:lnTo>
                <a:lnTo>
                  <a:pt x="3325730" y="82488"/>
                </a:lnTo>
                <a:lnTo>
                  <a:pt x="3363166" y="106307"/>
                </a:lnTo>
                <a:lnTo>
                  <a:pt x="3398668" y="132731"/>
                </a:lnTo>
                <a:lnTo>
                  <a:pt x="3432102" y="161626"/>
                </a:lnTo>
                <a:lnTo>
                  <a:pt x="3463334" y="192858"/>
                </a:lnTo>
                <a:lnTo>
                  <a:pt x="3492229" y="226292"/>
                </a:lnTo>
                <a:lnTo>
                  <a:pt x="3518653" y="261794"/>
                </a:lnTo>
                <a:lnTo>
                  <a:pt x="3542472" y="299230"/>
                </a:lnTo>
                <a:lnTo>
                  <a:pt x="3563550" y="338466"/>
                </a:lnTo>
                <a:lnTo>
                  <a:pt x="3581755" y="379366"/>
                </a:lnTo>
                <a:lnTo>
                  <a:pt x="3596950" y="421797"/>
                </a:lnTo>
                <a:lnTo>
                  <a:pt x="3609003" y="465624"/>
                </a:lnTo>
                <a:lnTo>
                  <a:pt x="3617779" y="510713"/>
                </a:lnTo>
                <a:lnTo>
                  <a:pt x="3623143" y="556929"/>
                </a:lnTo>
                <a:lnTo>
                  <a:pt x="3624961" y="604138"/>
                </a:lnTo>
                <a:lnTo>
                  <a:pt x="3624961" y="3303778"/>
                </a:lnTo>
                <a:lnTo>
                  <a:pt x="3623143" y="3350994"/>
                </a:lnTo>
                <a:lnTo>
                  <a:pt x="3617779" y="3397216"/>
                </a:lnTo>
                <a:lnTo>
                  <a:pt x="3609003" y="3442310"/>
                </a:lnTo>
                <a:lnTo>
                  <a:pt x="3596950" y="3486142"/>
                </a:lnTo>
                <a:lnTo>
                  <a:pt x="3581755" y="3528577"/>
                </a:lnTo>
                <a:lnTo>
                  <a:pt x="3563550" y="3569480"/>
                </a:lnTo>
                <a:lnTo>
                  <a:pt x="3542472" y="3608718"/>
                </a:lnTo>
                <a:lnTo>
                  <a:pt x="3518653" y="3646156"/>
                </a:lnTo>
                <a:lnTo>
                  <a:pt x="3492229" y="3681660"/>
                </a:lnTo>
                <a:lnTo>
                  <a:pt x="3463334" y="3715096"/>
                </a:lnTo>
                <a:lnTo>
                  <a:pt x="3432102" y="3746329"/>
                </a:lnTo>
                <a:lnTo>
                  <a:pt x="3398668" y="3775224"/>
                </a:lnTo>
                <a:lnTo>
                  <a:pt x="3363166" y="3801649"/>
                </a:lnTo>
                <a:lnTo>
                  <a:pt x="3325730" y="3825467"/>
                </a:lnTo>
                <a:lnTo>
                  <a:pt x="3286494" y="3846546"/>
                </a:lnTo>
                <a:lnTo>
                  <a:pt x="3245594" y="3864750"/>
                </a:lnTo>
                <a:lnTo>
                  <a:pt x="3203163" y="3879945"/>
                </a:lnTo>
                <a:lnTo>
                  <a:pt x="3159336" y="3891998"/>
                </a:lnTo>
                <a:lnTo>
                  <a:pt x="3114247" y="3900773"/>
                </a:lnTo>
                <a:lnTo>
                  <a:pt x="3068031" y="3906137"/>
                </a:lnTo>
                <a:lnTo>
                  <a:pt x="3020822" y="3907955"/>
                </a:lnTo>
                <a:lnTo>
                  <a:pt x="604139" y="3907955"/>
                </a:lnTo>
                <a:lnTo>
                  <a:pt x="556929" y="3906137"/>
                </a:lnTo>
                <a:lnTo>
                  <a:pt x="510713" y="3900773"/>
                </a:lnTo>
                <a:lnTo>
                  <a:pt x="465624" y="3891998"/>
                </a:lnTo>
                <a:lnTo>
                  <a:pt x="421797" y="3879945"/>
                </a:lnTo>
                <a:lnTo>
                  <a:pt x="379366" y="3864750"/>
                </a:lnTo>
                <a:lnTo>
                  <a:pt x="338466" y="3846546"/>
                </a:lnTo>
                <a:lnTo>
                  <a:pt x="299230" y="3825467"/>
                </a:lnTo>
                <a:lnTo>
                  <a:pt x="261794" y="3801649"/>
                </a:lnTo>
                <a:lnTo>
                  <a:pt x="226292" y="3775224"/>
                </a:lnTo>
                <a:lnTo>
                  <a:pt x="192858" y="3746329"/>
                </a:lnTo>
                <a:lnTo>
                  <a:pt x="161626" y="3715096"/>
                </a:lnTo>
                <a:lnTo>
                  <a:pt x="132731" y="3681660"/>
                </a:lnTo>
                <a:lnTo>
                  <a:pt x="106307" y="3646156"/>
                </a:lnTo>
                <a:lnTo>
                  <a:pt x="82488" y="3608718"/>
                </a:lnTo>
                <a:lnTo>
                  <a:pt x="61410" y="3569480"/>
                </a:lnTo>
                <a:lnTo>
                  <a:pt x="43205" y="3528577"/>
                </a:lnTo>
                <a:lnTo>
                  <a:pt x="28010" y="3486142"/>
                </a:lnTo>
                <a:lnTo>
                  <a:pt x="15957" y="3442310"/>
                </a:lnTo>
                <a:lnTo>
                  <a:pt x="7181" y="3397216"/>
                </a:lnTo>
                <a:lnTo>
                  <a:pt x="1817" y="3350994"/>
                </a:lnTo>
                <a:lnTo>
                  <a:pt x="0" y="3303778"/>
                </a:lnTo>
                <a:lnTo>
                  <a:pt x="0" y="604138"/>
                </a:lnTo>
                <a:close/>
              </a:path>
            </a:pathLst>
          </a:custGeom>
          <a:ln w="12700">
            <a:solidFill>
              <a:srgbClr val="6FAC46"/>
            </a:solidFill>
          </a:ln>
        </p:spPr>
        <p:txBody>
          <a:bodyPr wrap="square" lIns="0" tIns="0" rIns="0" bIns="0" rtlCol="0"/>
          <a:lstStyle/>
          <a:p>
            <a:endParaRPr/>
          </a:p>
        </p:txBody>
      </p:sp>
      <p:sp>
        <p:nvSpPr>
          <p:cNvPr id="5" name="object 5"/>
          <p:cNvSpPr txBox="1"/>
          <p:nvPr/>
        </p:nvSpPr>
        <p:spPr>
          <a:xfrm>
            <a:off x="7114945" y="2710270"/>
            <a:ext cx="4848454" cy="3718967"/>
          </a:xfrm>
          <a:prstGeom prst="rect">
            <a:avLst/>
          </a:prstGeom>
        </p:spPr>
        <p:txBody>
          <a:bodyPr vert="horz" wrap="square" lIns="0" tIns="12700" rIns="0" bIns="0" rtlCol="0">
            <a:spAutoFit/>
          </a:bodyPr>
          <a:lstStyle/>
          <a:p>
            <a:pPr marL="12700" marR="5080" algn="just">
              <a:lnSpc>
                <a:spcPct val="100000"/>
              </a:lnSpc>
              <a:spcBef>
                <a:spcPts val="100"/>
              </a:spcBef>
            </a:pPr>
            <a:r>
              <a:rPr lang="en-US" sz="2000" b="1" dirty="0">
                <a:latin typeface="Times New Roman" panose="02020603050405020304" pitchFamily="18" charset="0"/>
                <a:cs typeface="Times New Roman" panose="02020603050405020304" pitchFamily="18" charset="0"/>
              </a:rPr>
              <a:t>A large number of students devote multiple hours daily to social platforms.</a:t>
            </a:r>
            <a:r>
              <a:rPr lang="en-US" sz="2000" dirty="0">
                <a:latin typeface="Times New Roman" panose="02020603050405020304" pitchFamily="18" charset="0"/>
                <a:cs typeface="Times New Roman" panose="02020603050405020304" pitchFamily="18" charset="0"/>
              </a:rPr>
              <a:t> Although these networks allow them to maintain friendships and source helpful data, spending too much time online can decrease their study hours, disrupt their focus, and negatively impact their grades. Consequently, it is vital for students to manage their social media habits responsibly so they can successfully balance their digital lives with their schoolwork.</a:t>
            </a:r>
            <a:endParaRPr lang="en-US" sz="2000" b="1" spc="-10" dirty="0">
              <a:latin typeface="Times New Roman" panose="02020603050405020304" pitchFamily="18" charset="0"/>
              <a:cs typeface="Times New Roman" panose="02020603050405020304" pitchFamily="18" charset="0"/>
            </a:endParaRPr>
          </a:p>
          <a:p>
            <a:pPr marL="12700" marR="5080" algn="just">
              <a:lnSpc>
                <a:spcPct val="100000"/>
              </a:lnSpc>
              <a:spcBef>
                <a:spcPts val="100"/>
              </a:spcBef>
            </a:pPr>
            <a:endParaRPr sz="2000" dirty="0">
              <a:latin typeface="Times New Roman" panose="02020603050405020304" pitchFamily="18" charset="0"/>
              <a:cs typeface="Times New Roman" panose="02020603050405020304" pitchFamily="18" charset="0"/>
            </a:endParaRPr>
          </a:p>
        </p:txBody>
      </p:sp>
      <p:grpSp>
        <p:nvGrpSpPr>
          <p:cNvPr id="6" name="object 6"/>
          <p:cNvGrpSpPr/>
          <p:nvPr/>
        </p:nvGrpSpPr>
        <p:grpSpPr>
          <a:xfrm>
            <a:off x="7589646" y="2044573"/>
            <a:ext cx="3206750" cy="561975"/>
            <a:chOff x="7589646" y="2044573"/>
            <a:chExt cx="3206750" cy="561975"/>
          </a:xfrm>
        </p:grpSpPr>
        <p:pic>
          <p:nvPicPr>
            <p:cNvPr id="7" name="object 7"/>
            <p:cNvPicPr/>
            <p:nvPr/>
          </p:nvPicPr>
          <p:blipFill>
            <a:blip r:embed="rId2" cstate="print"/>
            <a:stretch>
              <a:fillRect/>
            </a:stretch>
          </p:blipFill>
          <p:spPr>
            <a:xfrm>
              <a:off x="7592821" y="2047748"/>
              <a:ext cx="3200400" cy="555243"/>
            </a:xfrm>
            <a:prstGeom prst="rect">
              <a:avLst/>
            </a:prstGeom>
          </p:spPr>
        </p:pic>
        <p:sp>
          <p:nvSpPr>
            <p:cNvPr id="8" name="object 8"/>
            <p:cNvSpPr/>
            <p:nvPr/>
          </p:nvSpPr>
          <p:spPr>
            <a:xfrm>
              <a:off x="7592821" y="2047748"/>
              <a:ext cx="3200400" cy="555625"/>
            </a:xfrm>
            <a:custGeom>
              <a:avLst/>
              <a:gdLst/>
              <a:ahLst/>
              <a:cxnLst/>
              <a:rect l="l" t="t" r="r" b="b"/>
              <a:pathLst>
                <a:path w="3200400" h="555625">
                  <a:moveTo>
                    <a:pt x="0" y="92582"/>
                  </a:moveTo>
                  <a:lnTo>
                    <a:pt x="7266" y="56524"/>
                  </a:lnTo>
                  <a:lnTo>
                    <a:pt x="27082" y="27098"/>
                  </a:lnTo>
                  <a:lnTo>
                    <a:pt x="56471" y="7268"/>
                  </a:lnTo>
                  <a:lnTo>
                    <a:pt x="92455" y="0"/>
                  </a:lnTo>
                  <a:lnTo>
                    <a:pt x="3107817" y="0"/>
                  </a:lnTo>
                  <a:lnTo>
                    <a:pt x="3143875" y="7268"/>
                  </a:lnTo>
                  <a:lnTo>
                    <a:pt x="3173301" y="27098"/>
                  </a:lnTo>
                  <a:lnTo>
                    <a:pt x="3193131" y="56524"/>
                  </a:lnTo>
                  <a:lnTo>
                    <a:pt x="3200400" y="92582"/>
                  </a:lnTo>
                  <a:lnTo>
                    <a:pt x="3200400" y="462661"/>
                  </a:lnTo>
                  <a:lnTo>
                    <a:pt x="3193131" y="498665"/>
                  </a:lnTo>
                  <a:lnTo>
                    <a:pt x="3173301" y="528097"/>
                  </a:lnTo>
                  <a:lnTo>
                    <a:pt x="3143875" y="547957"/>
                  </a:lnTo>
                  <a:lnTo>
                    <a:pt x="3107817" y="555243"/>
                  </a:lnTo>
                  <a:lnTo>
                    <a:pt x="92455" y="555243"/>
                  </a:lnTo>
                  <a:lnTo>
                    <a:pt x="56471" y="547957"/>
                  </a:lnTo>
                  <a:lnTo>
                    <a:pt x="27082" y="528097"/>
                  </a:lnTo>
                  <a:lnTo>
                    <a:pt x="7266" y="498665"/>
                  </a:lnTo>
                  <a:lnTo>
                    <a:pt x="0" y="462661"/>
                  </a:lnTo>
                  <a:lnTo>
                    <a:pt x="0" y="92582"/>
                  </a:lnTo>
                  <a:close/>
                </a:path>
              </a:pathLst>
            </a:custGeom>
            <a:ln w="6350">
              <a:solidFill>
                <a:srgbClr val="6FAC46"/>
              </a:solidFill>
            </a:ln>
          </p:spPr>
          <p:txBody>
            <a:bodyPr wrap="square" lIns="0" tIns="0" rIns="0" bIns="0" rtlCol="0"/>
            <a:lstStyle/>
            <a:p>
              <a:endParaRPr/>
            </a:p>
          </p:txBody>
        </p:sp>
      </p:grpSp>
      <p:sp>
        <p:nvSpPr>
          <p:cNvPr id="9" name="object 9"/>
          <p:cNvSpPr txBox="1"/>
          <p:nvPr/>
        </p:nvSpPr>
        <p:spPr>
          <a:xfrm>
            <a:off x="8661907" y="2160778"/>
            <a:ext cx="1622984" cy="289823"/>
          </a:xfrm>
          <a:prstGeom prst="rect">
            <a:avLst/>
          </a:prstGeom>
        </p:spPr>
        <p:txBody>
          <a:bodyPr vert="horz" wrap="square" lIns="0" tIns="12700" rIns="0" bIns="0" rtlCol="0">
            <a:spAutoFit/>
          </a:bodyPr>
          <a:lstStyle/>
          <a:p>
            <a:pPr marL="12700">
              <a:lnSpc>
                <a:spcPct val="100000"/>
              </a:lnSpc>
              <a:spcBef>
                <a:spcPts val="100"/>
              </a:spcBef>
            </a:pPr>
            <a:r>
              <a:rPr lang="en-US" sz="1800" b="1" spc="-10" dirty="0">
                <a:latin typeface="Calibri"/>
                <a:cs typeface="Calibri"/>
              </a:rPr>
              <a:t>PARAPHRASE</a:t>
            </a:r>
            <a:endParaRPr sz="1800" dirty="0">
              <a:latin typeface="Calibri"/>
              <a:cs typeface="Calibri"/>
            </a:endParaRPr>
          </a:p>
        </p:txBody>
      </p:sp>
      <p:grpSp>
        <p:nvGrpSpPr>
          <p:cNvPr id="10" name="object 10"/>
          <p:cNvGrpSpPr/>
          <p:nvPr/>
        </p:nvGrpSpPr>
        <p:grpSpPr>
          <a:xfrm>
            <a:off x="8150752" y="1993076"/>
            <a:ext cx="426720" cy="496570"/>
            <a:chOff x="8150752" y="1993076"/>
            <a:chExt cx="426720" cy="496570"/>
          </a:xfrm>
        </p:grpSpPr>
        <p:sp>
          <p:nvSpPr>
            <p:cNvPr id="11" name="object 11"/>
            <p:cNvSpPr/>
            <p:nvPr/>
          </p:nvSpPr>
          <p:spPr>
            <a:xfrm>
              <a:off x="8150752" y="2061185"/>
              <a:ext cx="368300" cy="427990"/>
            </a:xfrm>
            <a:custGeom>
              <a:avLst/>
              <a:gdLst/>
              <a:ahLst/>
              <a:cxnLst/>
              <a:rect l="l" t="t" r="r" b="b"/>
              <a:pathLst>
                <a:path w="368300" h="427989">
                  <a:moveTo>
                    <a:pt x="299811" y="0"/>
                  </a:moveTo>
                  <a:lnTo>
                    <a:pt x="33549" y="310207"/>
                  </a:lnTo>
                  <a:lnTo>
                    <a:pt x="0" y="427851"/>
                  </a:lnTo>
                  <a:lnTo>
                    <a:pt x="101712" y="388843"/>
                  </a:lnTo>
                  <a:lnTo>
                    <a:pt x="105440" y="384508"/>
                  </a:lnTo>
                  <a:lnTo>
                    <a:pt x="45264" y="384508"/>
                  </a:lnTo>
                  <a:lnTo>
                    <a:pt x="37276" y="375221"/>
                  </a:lnTo>
                  <a:lnTo>
                    <a:pt x="52187" y="322591"/>
                  </a:lnTo>
                  <a:lnTo>
                    <a:pt x="61398" y="315983"/>
                  </a:lnTo>
                  <a:lnTo>
                    <a:pt x="71558" y="313845"/>
                  </a:lnTo>
                  <a:lnTo>
                    <a:pt x="166214" y="313845"/>
                  </a:lnTo>
                  <a:lnTo>
                    <a:pt x="367975" y="79254"/>
                  </a:lnTo>
                  <a:lnTo>
                    <a:pt x="299811" y="0"/>
                  </a:lnTo>
                  <a:close/>
                </a:path>
                <a:path w="368300" h="427989">
                  <a:moveTo>
                    <a:pt x="166214" y="313845"/>
                  </a:moveTo>
                  <a:lnTo>
                    <a:pt x="71558" y="313845"/>
                  </a:lnTo>
                  <a:lnTo>
                    <a:pt x="81617" y="316234"/>
                  </a:lnTo>
                  <a:lnTo>
                    <a:pt x="90529" y="323210"/>
                  </a:lnTo>
                  <a:lnTo>
                    <a:pt x="96520" y="333562"/>
                  </a:lnTo>
                  <a:lnTo>
                    <a:pt x="98517" y="345191"/>
                  </a:lnTo>
                  <a:lnTo>
                    <a:pt x="96520" y="356819"/>
                  </a:lnTo>
                  <a:lnTo>
                    <a:pt x="90529" y="367171"/>
                  </a:lnTo>
                  <a:lnTo>
                    <a:pt x="45264" y="384508"/>
                  </a:lnTo>
                  <a:lnTo>
                    <a:pt x="105440" y="384508"/>
                  </a:lnTo>
                  <a:lnTo>
                    <a:pt x="166214" y="313845"/>
                  </a:lnTo>
                  <a:close/>
                </a:path>
              </a:pathLst>
            </a:custGeom>
            <a:solidFill>
              <a:srgbClr val="000000"/>
            </a:solidFill>
          </p:spPr>
          <p:txBody>
            <a:bodyPr wrap="square" lIns="0" tIns="0" rIns="0" bIns="0" rtlCol="0"/>
            <a:lstStyle/>
            <a:p>
              <a:endParaRPr/>
            </a:p>
          </p:txBody>
        </p:sp>
        <p:pic>
          <p:nvPicPr>
            <p:cNvPr id="12" name="object 12"/>
            <p:cNvPicPr/>
            <p:nvPr/>
          </p:nvPicPr>
          <p:blipFill>
            <a:blip r:embed="rId3" cstate="print"/>
            <a:stretch>
              <a:fillRect/>
            </a:stretch>
          </p:blipFill>
          <p:spPr>
            <a:xfrm>
              <a:off x="8465474" y="1993076"/>
              <a:ext cx="111763" cy="129408"/>
            </a:xfrm>
            <a:prstGeom prst="rect">
              <a:avLst/>
            </a:prstGeom>
          </p:spPr>
        </p:pic>
      </p:grpSp>
      <p:grpSp>
        <p:nvGrpSpPr>
          <p:cNvPr id="13" name="object 13"/>
          <p:cNvGrpSpPr/>
          <p:nvPr/>
        </p:nvGrpSpPr>
        <p:grpSpPr>
          <a:xfrm>
            <a:off x="458366" y="2073372"/>
            <a:ext cx="5334000" cy="4113657"/>
            <a:chOff x="1284477" y="2047748"/>
            <a:chExt cx="4387215" cy="4113657"/>
          </a:xfrm>
        </p:grpSpPr>
        <p:sp>
          <p:nvSpPr>
            <p:cNvPr id="14" name="object 14"/>
            <p:cNvSpPr/>
            <p:nvPr/>
          </p:nvSpPr>
          <p:spPr>
            <a:xfrm>
              <a:off x="1284477" y="2325370"/>
              <a:ext cx="4387215" cy="3836035"/>
            </a:xfrm>
            <a:custGeom>
              <a:avLst/>
              <a:gdLst/>
              <a:ahLst/>
              <a:cxnLst/>
              <a:rect l="l" t="t" r="r" b="b"/>
              <a:pathLst>
                <a:path w="4387215" h="3836035">
                  <a:moveTo>
                    <a:pt x="0" y="639317"/>
                  </a:moveTo>
                  <a:lnTo>
                    <a:pt x="1753" y="591608"/>
                  </a:lnTo>
                  <a:lnTo>
                    <a:pt x="6932" y="544850"/>
                  </a:lnTo>
                  <a:lnTo>
                    <a:pt x="15412" y="499167"/>
                  </a:lnTo>
                  <a:lnTo>
                    <a:pt x="27070" y="454683"/>
                  </a:lnTo>
                  <a:lnTo>
                    <a:pt x="41781" y="411523"/>
                  </a:lnTo>
                  <a:lnTo>
                    <a:pt x="59423" y="369808"/>
                  </a:lnTo>
                  <a:lnTo>
                    <a:pt x="79872" y="329664"/>
                  </a:lnTo>
                  <a:lnTo>
                    <a:pt x="103004" y="291213"/>
                  </a:lnTo>
                  <a:lnTo>
                    <a:pt x="128695" y="254580"/>
                  </a:lnTo>
                  <a:lnTo>
                    <a:pt x="156822" y="219888"/>
                  </a:lnTo>
                  <a:lnTo>
                    <a:pt x="187261" y="187261"/>
                  </a:lnTo>
                  <a:lnTo>
                    <a:pt x="219888" y="156822"/>
                  </a:lnTo>
                  <a:lnTo>
                    <a:pt x="254580" y="128695"/>
                  </a:lnTo>
                  <a:lnTo>
                    <a:pt x="291213" y="103004"/>
                  </a:lnTo>
                  <a:lnTo>
                    <a:pt x="329664" y="79872"/>
                  </a:lnTo>
                  <a:lnTo>
                    <a:pt x="369808" y="59423"/>
                  </a:lnTo>
                  <a:lnTo>
                    <a:pt x="411523" y="41781"/>
                  </a:lnTo>
                  <a:lnTo>
                    <a:pt x="454683" y="27070"/>
                  </a:lnTo>
                  <a:lnTo>
                    <a:pt x="499167" y="15412"/>
                  </a:lnTo>
                  <a:lnTo>
                    <a:pt x="544850" y="6932"/>
                  </a:lnTo>
                  <a:lnTo>
                    <a:pt x="591608" y="1753"/>
                  </a:lnTo>
                  <a:lnTo>
                    <a:pt x="639317" y="0"/>
                  </a:lnTo>
                  <a:lnTo>
                    <a:pt x="3747643" y="0"/>
                  </a:lnTo>
                  <a:lnTo>
                    <a:pt x="3795352" y="1753"/>
                  </a:lnTo>
                  <a:lnTo>
                    <a:pt x="3842110" y="6932"/>
                  </a:lnTo>
                  <a:lnTo>
                    <a:pt x="3887793" y="15412"/>
                  </a:lnTo>
                  <a:lnTo>
                    <a:pt x="3932277" y="27070"/>
                  </a:lnTo>
                  <a:lnTo>
                    <a:pt x="3975437" y="41781"/>
                  </a:lnTo>
                  <a:lnTo>
                    <a:pt x="4017152" y="59423"/>
                  </a:lnTo>
                  <a:lnTo>
                    <a:pt x="4057296" y="79872"/>
                  </a:lnTo>
                  <a:lnTo>
                    <a:pt x="4095747" y="103004"/>
                  </a:lnTo>
                  <a:lnTo>
                    <a:pt x="4132380" y="128695"/>
                  </a:lnTo>
                  <a:lnTo>
                    <a:pt x="4167072" y="156822"/>
                  </a:lnTo>
                  <a:lnTo>
                    <a:pt x="4199699" y="187261"/>
                  </a:lnTo>
                  <a:lnTo>
                    <a:pt x="4230138" y="219888"/>
                  </a:lnTo>
                  <a:lnTo>
                    <a:pt x="4258265" y="254580"/>
                  </a:lnTo>
                  <a:lnTo>
                    <a:pt x="4283956" y="291213"/>
                  </a:lnTo>
                  <a:lnTo>
                    <a:pt x="4307088" y="329664"/>
                  </a:lnTo>
                  <a:lnTo>
                    <a:pt x="4327537" y="369808"/>
                  </a:lnTo>
                  <a:lnTo>
                    <a:pt x="4345179" y="411523"/>
                  </a:lnTo>
                  <a:lnTo>
                    <a:pt x="4359890" y="454683"/>
                  </a:lnTo>
                  <a:lnTo>
                    <a:pt x="4371548" y="499167"/>
                  </a:lnTo>
                  <a:lnTo>
                    <a:pt x="4380028" y="544850"/>
                  </a:lnTo>
                  <a:lnTo>
                    <a:pt x="4385207" y="591608"/>
                  </a:lnTo>
                  <a:lnTo>
                    <a:pt x="4386961" y="639317"/>
                  </a:lnTo>
                  <a:lnTo>
                    <a:pt x="4386961" y="3196590"/>
                  </a:lnTo>
                  <a:lnTo>
                    <a:pt x="4385207" y="3244306"/>
                  </a:lnTo>
                  <a:lnTo>
                    <a:pt x="4380028" y="3291070"/>
                  </a:lnTo>
                  <a:lnTo>
                    <a:pt x="4371548" y="3336758"/>
                  </a:lnTo>
                  <a:lnTo>
                    <a:pt x="4359890" y="3381246"/>
                  </a:lnTo>
                  <a:lnTo>
                    <a:pt x="4345179" y="3424410"/>
                  </a:lnTo>
                  <a:lnTo>
                    <a:pt x="4327537" y="3466128"/>
                  </a:lnTo>
                  <a:lnTo>
                    <a:pt x="4307088" y="3506275"/>
                  </a:lnTo>
                  <a:lnTo>
                    <a:pt x="4283956" y="3544727"/>
                  </a:lnTo>
                  <a:lnTo>
                    <a:pt x="4258265" y="3581362"/>
                  </a:lnTo>
                  <a:lnTo>
                    <a:pt x="4230138" y="3616056"/>
                  </a:lnTo>
                  <a:lnTo>
                    <a:pt x="4199699" y="3648684"/>
                  </a:lnTo>
                  <a:lnTo>
                    <a:pt x="4167072" y="3679124"/>
                  </a:lnTo>
                  <a:lnTo>
                    <a:pt x="4132380" y="3707251"/>
                  </a:lnTo>
                  <a:lnTo>
                    <a:pt x="4095747" y="3732942"/>
                  </a:lnTo>
                  <a:lnTo>
                    <a:pt x="4057296" y="3756074"/>
                  </a:lnTo>
                  <a:lnTo>
                    <a:pt x="4017152" y="3776523"/>
                  </a:lnTo>
                  <a:lnTo>
                    <a:pt x="3975437" y="3794165"/>
                  </a:lnTo>
                  <a:lnTo>
                    <a:pt x="3932277" y="3808876"/>
                  </a:lnTo>
                  <a:lnTo>
                    <a:pt x="3887793" y="3820534"/>
                  </a:lnTo>
                  <a:lnTo>
                    <a:pt x="3842110" y="3829013"/>
                  </a:lnTo>
                  <a:lnTo>
                    <a:pt x="3795352" y="3834192"/>
                  </a:lnTo>
                  <a:lnTo>
                    <a:pt x="3747643" y="3835946"/>
                  </a:lnTo>
                  <a:lnTo>
                    <a:pt x="639317" y="3835946"/>
                  </a:lnTo>
                  <a:lnTo>
                    <a:pt x="591608" y="3834192"/>
                  </a:lnTo>
                  <a:lnTo>
                    <a:pt x="544850" y="3829013"/>
                  </a:lnTo>
                  <a:lnTo>
                    <a:pt x="499167" y="3820534"/>
                  </a:lnTo>
                  <a:lnTo>
                    <a:pt x="454683" y="3808876"/>
                  </a:lnTo>
                  <a:lnTo>
                    <a:pt x="411523" y="3794165"/>
                  </a:lnTo>
                  <a:lnTo>
                    <a:pt x="369808" y="3776523"/>
                  </a:lnTo>
                  <a:lnTo>
                    <a:pt x="329664" y="3756074"/>
                  </a:lnTo>
                  <a:lnTo>
                    <a:pt x="291213" y="3732942"/>
                  </a:lnTo>
                  <a:lnTo>
                    <a:pt x="254580" y="3707251"/>
                  </a:lnTo>
                  <a:lnTo>
                    <a:pt x="219888" y="3679124"/>
                  </a:lnTo>
                  <a:lnTo>
                    <a:pt x="187261" y="3648684"/>
                  </a:lnTo>
                  <a:lnTo>
                    <a:pt x="156822" y="3616056"/>
                  </a:lnTo>
                  <a:lnTo>
                    <a:pt x="128695" y="3581362"/>
                  </a:lnTo>
                  <a:lnTo>
                    <a:pt x="103004" y="3544727"/>
                  </a:lnTo>
                  <a:lnTo>
                    <a:pt x="79872" y="3506275"/>
                  </a:lnTo>
                  <a:lnTo>
                    <a:pt x="59423" y="3466128"/>
                  </a:lnTo>
                  <a:lnTo>
                    <a:pt x="41781" y="3424410"/>
                  </a:lnTo>
                  <a:lnTo>
                    <a:pt x="27070" y="3381246"/>
                  </a:lnTo>
                  <a:lnTo>
                    <a:pt x="15412" y="3336758"/>
                  </a:lnTo>
                  <a:lnTo>
                    <a:pt x="6932" y="3291070"/>
                  </a:lnTo>
                  <a:lnTo>
                    <a:pt x="1753" y="3244306"/>
                  </a:lnTo>
                  <a:lnTo>
                    <a:pt x="0" y="3196590"/>
                  </a:lnTo>
                  <a:lnTo>
                    <a:pt x="0" y="639317"/>
                  </a:lnTo>
                  <a:close/>
                </a:path>
              </a:pathLst>
            </a:custGeom>
            <a:ln w="12700">
              <a:solidFill>
                <a:srgbClr val="EC7C30"/>
              </a:solidFill>
            </a:ln>
          </p:spPr>
          <p:txBody>
            <a:bodyPr wrap="square" lIns="0" tIns="0" rIns="0" bIns="0" rtlCol="0"/>
            <a:lstStyle/>
            <a:p>
              <a:endParaRPr/>
            </a:p>
          </p:txBody>
        </p:sp>
        <p:pic>
          <p:nvPicPr>
            <p:cNvPr id="26" name="object 26"/>
            <p:cNvPicPr/>
            <p:nvPr/>
          </p:nvPicPr>
          <p:blipFill>
            <a:blip r:embed="rId4" cstate="print"/>
            <a:stretch>
              <a:fillRect/>
            </a:stretch>
          </p:blipFill>
          <p:spPr>
            <a:xfrm>
              <a:off x="1445132" y="2047748"/>
              <a:ext cx="3975989" cy="555243"/>
            </a:xfrm>
            <a:prstGeom prst="rect">
              <a:avLst/>
            </a:prstGeom>
          </p:spPr>
        </p:pic>
        <p:sp>
          <p:nvSpPr>
            <p:cNvPr id="27" name="object 27"/>
            <p:cNvSpPr/>
            <p:nvPr/>
          </p:nvSpPr>
          <p:spPr>
            <a:xfrm>
              <a:off x="1445132" y="2047748"/>
              <a:ext cx="3976370" cy="555625"/>
            </a:xfrm>
            <a:custGeom>
              <a:avLst/>
              <a:gdLst/>
              <a:ahLst/>
              <a:cxnLst/>
              <a:rect l="l" t="t" r="r" b="b"/>
              <a:pathLst>
                <a:path w="3976370" h="555625">
                  <a:moveTo>
                    <a:pt x="0" y="92582"/>
                  </a:moveTo>
                  <a:lnTo>
                    <a:pt x="7266" y="56524"/>
                  </a:lnTo>
                  <a:lnTo>
                    <a:pt x="27082" y="27098"/>
                  </a:lnTo>
                  <a:lnTo>
                    <a:pt x="56471" y="7268"/>
                  </a:lnTo>
                  <a:lnTo>
                    <a:pt x="92455" y="0"/>
                  </a:lnTo>
                  <a:lnTo>
                    <a:pt x="3883405" y="0"/>
                  </a:lnTo>
                  <a:lnTo>
                    <a:pt x="3919464" y="7268"/>
                  </a:lnTo>
                  <a:lnTo>
                    <a:pt x="3948890" y="27098"/>
                  </a:lnTo>
                  <a:lnTo>
                    <a:pt x="3968720" y="56524"/>
                  </a:lnTo>
                  <a:lnTo>
                    <a:pt x="3975989" y="92582"/>
                  </a:lnTo>
                  <a:lnTo>
                    <a:pt x="3975989" y="462661"/>
                  </a:lnTo>
                  <a:lnTo>
                    <a:pt x="3968720" y="498665"/>
                  </a:lnTo>
                  <a:lnTo>
                    <a:pt x="3948890" y="528097"/>
                  </a:lnTo>
                  <a:lnTo>
                    <a:pt x="3919464" y="547957"/>
                  </a:lnTo>
                  <a:lnTo>
                    <a:pt x="3883405" y="555243"/>
                  </a:lnTo>
                  <a:lnTo>
                    <a:pt x="92455" y="555243"/>
                  </a:lnTo>
                  <a:lnTo>
                    <a:pt x="56471" y="547957"/>
                  </a:lnTo>
                  <a:lnTo>
                    <a:pt x="27082" y="528097"/>
                  </a:lnTo>
                  <a:lnTo>
                    <a:pt x="7266" y="498665"/>
                  </a:lnTo>
                  <a:lnTo>
                    <a:pt x="0" y="462661"/>
                  </a:lnTo>
                  <a:lnTo>
                    <a:pt x="0" y="92582"/>
                  </a:lnTo>
                  <a:close/>
                </a:path>
              </a:pathLst>
            </a:custGeom>
            <a:ln w="6350">
              <a:solidFill>
                <a:srgbClr val="EC7C30"/>
              </a:solidFill>
            </a:ln>
          </p:spPr>
          <p:txBody>
            <a:bodyPr wrap="square" lIns="0" tIns="0" rIns="0" bIns="0" rtlCol="0"/>
            <a:lstStyle/>
            <a:p>
              <a:endParaRPr/>
            </a:p>
          </p:txBody>
        </p:sp>
      </p:grpSp>
      <p:sp>
        <p:nvSpPr>
          <p:cNvPr id="28" name="object 28"/>
          <p:cNvSpPr txBox="1">
            <a:spLocks noGrp="1"/>
          </p:cNvSpPr>
          <p:nvPr>
            <p:ph sz="half" idx="2"/>
          </p:nvPr>
        </p:nvSpPr>
        <p:spPr>
          <a:xfrm>
            <a:off x="1617980" y="2160778"/>
            <a:ext cx="3718560" cy="289823"/>
          </a:xfrm>
          <a:prstGeom prst="rect">
            <a:avLst/>
          </a:prstGeom>
        </p:spPr>
        <p:txBody>
          <a:bodyPr vert="horz" wrap="square" lIns="0" tIns="12700" rIns="0" bIns="0" rtlCol="0">
            <a:spAutoFit/>
          </a:bodyPr>
          <a:lstStyle/>
          <a:p>
            <a:pPr marL="895350">
              <a:lnSpc>
                <a:spcPct val="100000"/>
              </a:lnSpc>
              <a:spcBef>
                <a:spcPts val="100"/>
              </a:spcBef>
            </a:pPr>
            <a:r>
              <a:rPr dirty="0"/>
              <a:t>ORIGINAL</a:t>
            </a:r>
            <a:r>
              <a:rPr spc="-15" dirty="0"/>
              <a:t> </a:t>
            </a:r>
            <a:r>
              <a:rPr spc="-10" dirty="0"/>
              <a:t>PASSAGE</a:t>
            </a:r>
          </a:p>
        </p:txBody>
      </p:sp>
      <p:sp>
        <p:nvSpPr>
          <p:cNvPr id="29" name="object 29"/>
          <p:cNvSpPr/>
          <p:nvPr/>
        </p:nvSpPr>
        <p:spPr>
          <a:xfrm>
            <a:off x="1632403" y="2073372"/>
            <a:ext cx="525780" cy="543560"/>
          </a:xfrm>
          <a:custGeom>
            <a:avLst/>
            <a:gdLst/>
            <a:ahLst/>
            <a:cxnLst/>
            <a:rect l="l" t="t" r="r" b="b"/>
            <a:pathLst>
              <a:path w="525780" h="543560">
                <a:moveTo>
                  <a:pt x="308306" y="0"/>
                </a:moveTo>
                <a:lnTo>
                  <a:pt x="44396" y="102446"/>
                </a:lnTo>
                <a:lnTo>
                  <a:pt x="21966" y="137022"/>
                </a:lnTo>
                <a:lnTo>
                  <a:pt x="18625" y="178256"/>
                </a:lnTo>
                <a:lnTo>
                  <a:pt x="18498" y="184403"/>
                </a:lnTo>
                <a:lnTo>
                  <a:pt x="21581" y="214454"/>
                </a:lnTo>
                <a:lnTo>
                  <a:pt x="9364" y="229042"/>
                </a:lnTo>
                <a:lnTo>
                  <a:pt x="2928" y="248688"/>
                </a:lnTo>
                <a:lnTo>
                  <a:pt x="423" y="271024"/>
                </a:lnTo>
                <a:lnTo>
                  <a:pt x="0" y="293680"/>
                </a:lnTo>
                <a:lnTo>
                  <a:pt x="982" y="311128"/>
                </a:lnTo>
                <a:lnTo>
                  <a:pt x="4162" y="327231"/>
                </a:lnTo>
                <a:lnTo>
                  <a:pt x="9885" y="341413"/>
                </a:lnTo>
                <a:lnTo>
                  <a:pt x="18498" y="353099"/>
                </a:lnTo>
                <a:lnTo>
                  <a:pt x="17005" y="362319"/>
                </a:lnTo>
                <a:lnTo>
                  <a:pt x="16790" y="370173"/>
                </a:lnTo>
                <a:lnTo>
                  <a:pt x="16725" y="372563"/>
                </a:lnTo>
                <a:lnTo>
                  <a:pt x="17024" y="383833"/>
                </a:lnTo>
                <a:lnTo>
                  <a:pt x="17064" y="385882"/>
                </a:lnTo>
                <a:lnTo>
                  <a:pt x="24047" y="438215"/>
                </a:lnTo>
                <a:lnTo>
                  <a:pt x="220747" y="542966"/>
                </a:lnTo>
                <a:lnTo>
                  <a:pt x="317411" y="498573"/>
                </a:lnTo>
                <a:lnTo>
                  <a:pt x="221981" y="498573"/>
                </a:lnTo>
                <a:lnTo>
                  <a:pt x="49945" y="423445"/>
                </a:lnTo>
                <a:lnTo>
                  <a:pt x="49945" y="370173"/>
                </a:lnTo>
                <a:lnTo>
                  <a:pt x="145498" y="370173"/>
                </a:lnTo>
                <a:lnTo>
                  <a:pt x="33297" y="320999"/>
                </a:lnTo>
                <a:lnTo>
                  <a:pt x="33297" y="259531"/>
                </a:lnTo>
                <a:lnTo>
                  <a:pt x="160880" y="259531"/>
                </a:lnTo>
                <a:lnTo>
                  <a:pt x="51795" y="211722"/>
                </a:lnTo>
                <a:lnTo>
                  <a:pt x="51795" y="150254"/>
                </a:lnTo>
                <a:lnTo>
                  <a:pt x="389780" y="150255"/>
                </a:lnTo>
                <a:lnTo>
                  <a:pt x="469243" y="114740"/>
                </a:lnTo>
                <a:lnTo>
                  <a:pt x="493291" y="114740"/>
                </a:lnTo>
                <a:lnTo>
                  <a:pt x="493291" y="103812"/>
                </a:lnTo>
                <a:lnTo>
                  <a:pt x="525355" y="88787"/>
                </a:lnTo>
                <a:lnTo>
                  <a:pt x="308306" y="0"/>
                </a:lnTo>
                <a:close/>
              </a:path>
              <a:path w="525780" h="543560">
                <a:moveTo>
                  <a:pt x="492058" y="323731"/>
                </a:moveTo>
                <a:lnTo>
                  <a:pt x="468626" y="323731"/>
                </a:lnTo>
                <a:lnTo>
                  <a:pt x="468591" y="327231"/>
                </a:lnTo>
                <a:lnTo>
                  <a:pt x="468491" y="337390"/>
                </a:lnTo>
                <a:lnTo>
                  <a:pt x="468451" y="341414"/>
                </a:lnTo>
                <a:lnTo>
                  <a:pt x="468335" y="353099"/>
                </a:lnTo>
                <a:lnTo>
                  <a:pt x="468243" y="362319"/>
                </a:lnTo>
                <a:lnTo>
                  <a:pt x="468142" y="372564"/>
                </a:lnTo>
                <a:lnTo>
                  <a:pt x="468030" y="383833"/>
                </a:lnTo>
                <a:lnTo>
                  <a:pt x="468010" y="385882"/>
                </a:lnTo>
                <a:lnTo>
                  <a:pt x="221981" y="498573"/>
                </a:lnTo>
                <a:lnTo>
                  <a:pt x="317411" y="498573"/>
                </a:lnTo>
                <a:lnTo>
                  <a:pt x="524121" y="403639"/>
                </a:lnTo>
                <a:lnTo>
                  <a:pt x="492058" y="390663"/>
                </a:lnTo>
                <a:lnTo>
                  <a:pt x="492058" y="323731"/>
                </a:lnTo>
                <a:close/>
              </a:path>
              <a:path w="525780" h="543560">
                <a:moveTo>
                  <a:pt x="145498" y="370173"/>
                </a:moveTo>
                <a:lnTo>
                  <a:pt x="49945" y="370173"/>
                </a:lnTo>
                <a:lnTo>
                  <a:pt x="203482" y="439837"/>
                </a:lnTo>
                <a:lnTo>
                  <a:pt x="303301" y="396126"/>
                </a:lnTo>
                <a:lnTo>
                  <a:pt x="204715" y="396126"/>
                </a:lnTo>
                <a:lnTo>
                  <a:pt x="145498" y="370173"/>
                </a:lnTo>
                <a:close/>
              </a:path>
              <a:path w="525780" h="543560">
                <a:moveTo>
                  <a:pt x="474792" y="225382"/>
                </a:moveTo>
                <a:lnTo>
                  <a:pt x="451361" y="225382"/>
                </a:lnTo>
                <a:lnTo>
                  <a:pt x="451361" y="283435"/>
                </a:lnTo>
                <a:lnTo>
                  <a:pt x="450744" y="283435"/>
                </a:lnTo>
                <a:lnTo>
                  <a:pt x="204715" y="396126"/>
                </a:lnTo>
                <a:lnTo>
                  <a:pt x="303301" y="396126"/>
                </a:lnTo>
                <a:lnTo>
                  <a:pt x="468626" y="323731"/>
                </a:lnTo>
                <a:lnTo>
                  <a:pt x="492058" y="323731"/>
                </a:lnTo>
                <a:lnTo>
                  <a:pt x="492058" y="315535"/>
                </a:lnTo>
                <a:lnTo>
                  <a:pt x="524121" y="300510"/>
                </a:lnTo>
                <a:lnTo>
                  <a:pt x="474792" y="280020"/>
                </a:lnTo>
                <a:lnTo>
                  <a:pt x="474792" y="225382"/>
                </a:lnTo>
                <a:close/>
              </a:path>
              <a:path w="525780" h="543560">
                <a:moveTo>
                  <a:pt x="160880" y="259531"/>
                </a:moveTo>
                <a:lnTo>
                  <a:pt x="33297" y="259531"/>
                </a:lnTo>
                <a:lnTo>
                  <a:pt x="209648" y="337390"/>
                </a:lnTo>
                <a:lnTo>
                  <a:pt x="318714" y="286850"/>
                </a:lnTo>
                <a:lnTo>
                  <a:pt x="223214" y="286850"/>
                </a:lnTo>
                <a:lnTo>
                  <a:pt x="160880" y="259531"/>
                </a:lnTo>
                <a:close/>
              </a:path>
              <a:path w="525780" h="543560">
                <a:moveTo>
                  <a:pt x="493291" y="114740"/>
                </a:moveTo>
                <a:lnTo>
                  <a:pt x="469243" y="114740"/>
                </a:lnTo>
                <a:lnTo>
                  <a:pt x="469243" y="173476"/>
                </a:lnTo>
                <a:lnTo>
                  <a:pt x="223214" y="286850"/>
                </a:lnTo>
                <a:lnTo>
                  <a:pt x="318714" y="286850"/>
                </a:lnTo>
                <a:lnTo>
                  <a:pt x="451361" y="225382"/>
                </a:lnTo>
                <a:lnTo>
                  <a:pt x="474792" y="225382"/>
                </a:lnTo>
                <a:lnTo>
                  <a:pt x="474792" y="214454"/>
                </a:lnTo>
                <a:lnTo>
                  <a:pt x="525355" y="191233"/>
                </a:lnTo>
                <a:lnTo>
                  <a:pt x="493291" y="178257"/>
                </a:lnTo>
                <a:lnTo>
                  <a:pt x="493291" y="114740"/>
                </a:lnTo>
                <a:close/>
              </a:path>
              <a:path w="525780" h="543560">
                <a:moveTo>
                  <a:pt x="389780" y="150255"/>
                </a:moveTo>
                <a:lnTo>
                  <a:pt x="51795" y="150254"/>
                </a:lnTo>
                <a:lnTo>
                  <a:pt x="223214" y="224699"/>
                </a:lnTo>
                <a:lnTo>
                  <a:pt x="389780" y="150255"/>
                </a:lnTo>
                <a:close/>
              </a:path>
            </a:pathLst>
          </a:custGeom>
          <a:solidFill>
            <a:srgbClr val="000000"/>
          </a:solidFill>
        </p:spPr>
        <p:txBody>
          <a:bodyPr wrap="square" lIns="0" tIns="0" rIns="0" bIns="0" rtlCol="0"/>
          <a:lstStyle/>
          <a:p>
            <a:endParaRPr/>
          </a:p>
        </p:txBody>
      </p:sp>
      <p:sp>
        <p:nvSpPr>
          <p:cNvPr id="30" name="object 30"/>
          <p:cNvSpPr/>
          <p:nvPr/>
        </p:nvSpPr>
        <p:spPr>
          <a:xfrm>
            <a:off x="5819377" y="3712751"/>
            <a:ext cx="886224" cy="556260"/>
          </a:xfrm>
          <a:custGeom>
            <a:avLst/>
            <a:gdLst/>
            <a:ahLst/>
            <a:cxnLst/>
            <a:rect l="l" t="t" r="r" b="b"/>
            <a:pathLst>
              <a:path w="1085850" h="556260">
                <a:moveTo>
                  <a:pt x="697280" y="0"/>
                </a:moveTo>
                <a:lnTo>
                  <a:pt x="697280" y="131916"/>
                </a:lnTo>
                <a:lnTo>
                  <a:pt x="337087" y="199758"/>
                </a:lnTo>
                <a:lnTo>
                  <a:pt x="125313" y="345337"/>
                </a:lnTo>
                <a:lnTo>
                  <a:pt x="25202" y="490209"/>
                </a:lnTo>
                <a:lnTo>
                  <a:pt x="0" y="555932"/>
                </a:lnTo>
                <a:lnTo>
                  <a:pt x="41990" y="520995"/>
                </a:lnTo>
                <a:lnTo>
                  <a:pt x="170080" y="443921"/>
                </a:lnTo>
                <a:lnTo>
                  <a:pt x="387451" y="366317"/>
                </a:lnTo>
                <a:lnTo>
                  <a:pt x="697280" y="329790"/>
                </a:lnTo>
                <a:lnTo>
                  <a:pt x="697280" y="452284"/>
                </a:lnTo>
                <a:lnTo>
                  <a:pt x="1085261" y="226142"/>
                </a:lnTo>
                <a:lnTo>
                  <a:pt x="697280" y="0"/>
                </a:lnTo>
                <a:close/>
              </a:path>
            </a:pathLst>
          </a:custGeom>
          <a:solidFill>
            <a:srgbClr val="000000"/>
          </a:solidFill>
        </p:spPr>
        <p:txBody>
          <a:bodyPr wrap="square" lIns="0" tIns="0" rIns="0" bIns="0" rtlCol="0"/>
          <a:lstStyle/>
          <a:p>
            <a:endParaRPr dirty="0"/>
          </a:p>
        </p:txBody>
      </p:sp>
      <p:sp>
        <p:nvSpPr>
          <p:cNvPr id="32" name="object 5">
            <a:extLst>
              <a:ext uri="{FF2B5EF4-FFF2-40B4-BE49-F238E27FC236}">
                <a16:creationId xmlns:a16="http://schemas.microsoft.com/office/drawing/2014/main" id="{9FF01448-C594-7A55-A11A-42784C209CEC}"/>
              </a:ext>
            </a:extLst>
          </p:cNvPr>
          <p:cNvSpPr txBox="1"/>
          <p:nvPr/>
        </p:nvSpPr>
        <p:spPr>
          <a:xfrm>
            <a:off x="653691" y="2602991"/>
            <a:ext cx="4970361" cy="3680495"/>
          </a:xfrm>
          <a:prstGeom prst="rect">
            <a:avLst/>
          </a:prstGeom>
        </p:spPr>
        <p:txBody>
          <a:bodyPr vert="horz" wrap="square" lIns="0" tIns="12700" rIns="0" bIns="0" rtlCol="0">
            <a:spAutoFit/>
          </a:bodyPr>
          <a:lstStyle/>
          <a:p>
            <a:pPr marL="12700" marR="5080" algn="just">
              <a:lnSpc>
                <a:spcPct val="100000"/>
              </a:lnSpc>
              <a:spcBef>
                <a:spcPts val="100"/>
              </a:spcBef>
            </a:pPr>
            <a:endParaRPr lang="en-US" sz="2000" spc="-10" dirty="0">
              <a:latin typeface="Times New Roman" panose="02020603050405020304" pitchFamily="18" charset="0"/>
              <a:cs typeface="Times New Roman" panose="02020603050405020304" pitchFamily="18" charset="0"/>
            </a:endParaRPr>
          </a:p>
          <a:p>
            <a:pPr marL="12700" marR="5080" indent="2540" algn="just">
              <a:lnSpc>
                <a:spcPct val="100000"/>
              </a:lnSpc>
              <a:spcBef>
                <a:spcPts val="2140"/>
              </a:spcBef>
            </a:pPr>
            <a:r>
              <a:rPr lang="en-US" sz="2000" b="1" dirty="0">
                <a:latin typeface="Times New Roman" panose="02020603050405020304" pitchFamily="18" charset="0"/>
                <a:cs typeface="Times New Roman" panose="02020603050405020304" pitchFamily="18" charset="0"/>
              </a:rPr>
              <a:t>Many</a:t>
            </a:r>
            <a:r>
              <a:rPr lang="en-US" sz="2000" b="1" spc="-7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students</a:t>
            </a:r>
            <a:r>
              <a:rPr lang="en-US" sz="2000" b="1" spc="-7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spend</a:t>
            </a:r>
            <a:r>
              <a:rPr lang="en-US" sz="2000" b="1" spc="-7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several</a:t>
            </a:r>
            <a:r>
              <a:rPr lang="en-US" sz="2000" b="1" spc="-65"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hours </a:t>
            </a:r>
            <a:r>
              <a:rPr lang="en-US" sz="2000" b="1" dirty="0">
                <a:latin typeface="Times New Roman" panose="02020603050405020304" pitchFamily="18" charset="0"/>
                <a:cs typeface="Times New Roman" panose="02020603050405020304" pitchFamily="18" charset="0"/>
              </a:rPr>
              <a:t>every</a:t>
            </a:r>
            <a:r>
              <a:rPr lang="en-US" sz="2000" b="1" spc="-6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day</a:t>
            </a:r>
            <a:r>
              <a:rPr lang="en-US" sz="2000" b="1" spc="-3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using</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social</a:t>
            </a:r>
            <a:r>
              <a:rPr lang="en-US" sz="2000" b="1" spc="-3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media</a:t>
            </a:r>
            <a:r>
              <a:rPr lang="en-US" sz="2000" b="0" dirty="0">
                <a:latin typeface="Times New Roman" panose="02020603050405020304" pitchFamily="18" charset="0"/>
                <a:cs typeface="Times New Roman" panose="02020603050405020304" pitchFamily="18" charset="0"/>
              </a:rPr>
              <a:t>.</a:t>
            </a:r>
            <a:r>
              <a:rPr lang="en-US" sz="2000" b="0" spc="-50" dirty="0">
                <a:latin typeface="Times New Roman" panose="02020603050405020304" pitchFamily="18" charset="0"/>
                <a:cs typeface="Times New Roman" panose="02020603050405020304" pitchFamily="18" charset="0"/>
              </a:rPr>
              <a:t> </a:t>
            </a:r>
            <a:r>
              <a:rPr lang="en-US" sz="2000" b="0" spc="-20" dirty="0">
                <a:latin typeface="Times New Roman" panose="02020603050405020304" pitchFamily="18" charset="0"/>
                <a:cs typeface="Times New Roman" panose="02020603050405020304" pitchFamily="18" charset="0"/>
              </a:rPr>
              <a:t>While </a:t>
            </a:r>
            <a:r>
              <a:rPr lang="en-US" sz="2000" b="0" dirty="0">
                <a:latin typeface="Times New Roman" panose="02020603050405020304" pitchFamily="18" charset="0"/>
                <a:cs typeface="Times New Roman" panose="02020603050405020304" pitchFamily="18" charset="0"/>
              </a:rPr>
              <a:t>social</a:t>
            </a:r>
            <a:r>
              <a:rPr lang="en-US" sz="2000" b="0" spc="-4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media</a:t>
            </a:r>
            <a:r>
              <a:rPr lang="en-US" sz="2000" b="0" spc="-3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helps</a:t>
            </a:r>
            <a:r>
              <a:rPr lang="en-US" sz="2000" b="0" spc="-4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them</a:t>
            </a:r>
            <a:r>
              <a:rPr lang="en-US" sz="2000" b="0" spc="-4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stay</a:t>
            </a:r>
            <a:r>
              <a:rPr lang="en-US" sz="2000" b="0" spc="-45" dirty="0">
                <a:latin typeface="Times New Roman" panose="02020603050405020304" pitchFamily="18" charset="0"/>
                <a:cs typeface="Times New Roman" panose="02020603050405020304" pitchFamily="18" charset="0"/>
              </a:rPr>
              <a:t> </a:t>
            </a:r>
            <a:r>
              <a:rPr lang="en-US" sz="2000" b="0" spc="-10" dirty="0">
                <a:latin typeface="Times New Roman" panose="02020603050405020304" pitchFamily="18" charset="0"/>
                <a:cs typeface="Times New Roman" panose="02020603050405020304" pitchFamily="18" charset="0"/>
              </a:rPr>
              <a:t>connected </a:t>
            </a:r>
            <a:r>
              <a:rPr lang="en-US" sz="2000" b="0" dirty="0">
                <a:latin typeface="Times New Roman" panose="02020603050405020304" pitchFamily="18" charset="0"/>
                <a:cs typeface="Times New Roman" panose="02020603050405020304" pitchFamily="18" charset="0"/>
              </a:rPr>
              <a:t>with</a:t>
            </a:r>
            <a:r>
              <a:rPr lang="en-US" sz="2000" b="0" spc="-4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friends</a:t>
            </a:r>
            <a:r>
              <a:rPr lang="en-US" sz="2000" b="0" spc="-3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and</a:t>
            </a:r>
            <a:r>
              <a:rPr lang="en-US" sz="2000" b="0" spc="-4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access</a:t>
            </a:r>
            <a:r>
              <a:rPr lang="en-US" sz="2000" b="0" spc="-45" dirty="0">
                <a:latin typeface="Times New Roman" panose="02020603050405020304" pitchFamily="18" charset="0"/>
                <a:cs typeface="Times New Roman" panose="02020603050405020304" pitchFamily="18" charset="0"/>
              </a:rPr>
              <a:t> </a:t>
            </a:r>
            <a:r>
              <a:rPr lang="en-US" sz="2000" b="0" spc="-10" dirty="0">
                <a:latin typeface="Times New Roman" panose="02020603050405020304" pitchFamily="18" charset="0"/>
                <a:cs typeface="Times New Roman" panose="02020603050405020304" pitchFamily="18" charset="0"/>
              </a:rPr>
              <a:t>useful information</a:t>
            </a:r>
            <a:r>
              <a:rPr lang="en-US" sz="2000" b="0" spc="-1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t>
            </a:r>
            <a:r>
              <a:rPr lang="en-US" sz="2000" b="0" spc="-20" dirty="0">
                <a:latin typeface="Times New Roman" panose="02020603050405020304" pitchFamily="18" charset="0"/>
                <a:cs typeface="Times New Roman" panose="02020603050405020304" pitchFamily="18" charset="0"/>
              </a:rPr>
              <a:t> </a:t>
            </a:r>
            <a:r>
              <a:rPr lang="en-US" sz="2000" b="0" spc="-10" dirty="0">
                <a:latin typeface="Times New Roman" panose="02020603050405020304" pitchFamily="18" charset="0"/>
                <a:cs typeface="Times New Roman" panose="02020603050405020304" pitchFamily="18" charset="0"/>
              </a:rPr>
              <a:t>excessive</a:t>
            </a:r>
            <a:r>
              <a:rPr lang="en-US" sz="2000" b="0" spc="-4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use</a:t>
            </a:r>
            <a:r>
              <a:rPr lang="en-US" sz="2000" b="0" spc="-2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can</a:t>
            </a:r>
            <a:r>
              <a:rPr lang="en-US" sz="2000" b="0" spc="-10" dirty="0">
                <a:latin typeface="Times New Roman" panose="02020603050405020304" pitchFamily="18" charset="0"/>
                <a:cs typeface="Times New Roman" panose="02020603050405020304" pitchFamily="18" charset="0"/>
              </a:rPr>
              <a:t> reduce </a:t>
            </a:r>
            <a:r>
              <a:rPr lang="en-US" sz="2000" b="0" dirty="0">
                <a:latin typeface="Times New Roman" panose="02020603050405020304" pitchFamily="18" charset="0"/>
                <a:cs typeface="Times New Roman" panose="02020603050405020304" pitchFamily="18" charset="0"/>
              </a:rPr>
              <a:t>study</a:t>
            </a:r>
            <a:r>
              <a:rPr lang="en-US" sz="2000" b="0" spc="-5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time</a:t>
            </a:r>
            <a:r>
              <a:rPr lang="en-US" sz="2000" b="0" spc="-4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affect</a:t>
            </a:r>
            <a:r>
              <a:rPr lang="en-US" sz="2000" b="0" spc="-55" dirty="0">
                <a:latin typeface="Times New Roman" panose="02020603050405020304" pitchFamily="18" charset="0"/>
                <a:cs typeface="Times New Roman" panose="02020603050405020304" pitchFamily="18" charset="0"/>
              </a:rPr>
              <a:t> </a:t>
            </a:r>
            <a:r>
              <a:rPr lang="en-US" sz="2000" b="0" spc="-10" dirty="0">
                <a:latin typeface="Times New Roman" panose="02020603050405020304" pitchFamily="18" charset="0"/>
                <a:cs typeface="Times New Roman" panose="02020603050405020304" pitchFamily="18" charset="0"/>
              </a:rPr>
              <a:t>concentration</a:t>
            </a:r>
            <a:r>
              <a:rPr lang="en-US" sz="2000" b="0" spc="-40" dirty="0">
                <a:latin typeface="Times New Roman" panose="02020603050405020304" pitchFamily="18" charset="0"/>
                <a:cs typeface="Times New Roman" panose="02020603050405020304" pitchFamily="18" charset="0"/>
              </a:rPr>
              <a:t> </a:t>
            </a:r>
            <a:r>
              <a:rPr lang="en-US" sz="2000" b="0" spc="-25" dirty="0">
                <a:latin typeface="Times New Roman" panose="02020603050405020304" pitchFamily="18" charset="0"/>
                <a:cs typeface="Times New Roman" panose="02020603050405020304" pitchFamily="18" charset="0"/>
              </a:rPr>
              <a:t>and </a:t>
            </a:r>
            <a:r>
              <a:rPr lang="en-US" sz="2000" b="0" dirty="0">
                <a:latin typeface="Times New Roman" panose="02020603050405020304" pitchFamily="18" charset="0"/>
                <a:cs typeface="Times New Roman" panose="02020603050405020304" pitchFamily="18" charset="0"/>
              </a:rPr>
              <a:t>lower</a:t>
            </a:r>
            <a:r>
              <a:rPr lang="en-US" sz="2000" b="0" spc="-5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academic</a:t>
            </a:r>
            <a:r>
              <a:rPr lang="en-US" sz="2000" b="0" spc="-45" dirty="0">
                <a:latin typeface="Times New Roman" panose="02020603050405020304" pitchFamily="18" charset="0"/>
                <a:cs typeface="Times New Roman" panose="02020603050405020304" pitchFamily="18" charset="0"/>
              </a:rPr>
              <a:t> </a:t>
            </a:r>
            <a:r>
              <a:rPr lang="en-US" sz="2000" b="0" spc="-10" dirty="0">
                <a:latin typeface="Times New Roman" panose="02020603050405020304" pitchFamily="18" charset="0"/>
                <a:cs typeface="Times New Roman" panose="02020603050405020304" pitchFamily="18" charset="0"/>
              </a:rPr>
              <a:t>performance</a:t>
            </a:r>
            <a:r>
              <a:rPr lang="en-US" sz="2000" b="0" spc="-50" dirty="0">
                <a:latin typeface="Times New Roman" panose="02020603050405020304" pitchFamily="18" charset="0"/>
                <a:cs typeface="Times New Roman" panose="02020603050405020304" pitchFamily="18" charset="0"/>
              </a:rPr>
              <a:t> .</a:t>
            </a:r>
            <a:r>
              <a:rPr lang="en-US" sz="2000" b="0" spc="-10" dirty="0">
                <a:latin typeface="Times New Roman" panose="02020603050405020304" pitchFamily="18" charset="0"/>
                <a:cs typeface="Times New Roman" panose="02020603050405020304" pitchFamily="18" charset="0"/>
              </a:rPr>
              <a:t>Therefore,</a:t>
            </a:r>
            <a:r>
              <a:rPr lang="en-US" sz="2000" b="0" spc="-5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students</a:t>
            </a:r>
            <a:r>
              <a:rPr lang="en-US" sz="2000" b="0" spc="-6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should</a:t>
            </a:r>
            <a:r>
              <a:rPr lang="en-US" sz="2000" b="0" spc="-5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use</a:t>
            </a:r>
            <a:r>
              <a:rPr lang="en-US" sz="2000" b="0" spc="-55" dirty="0">
                <a:latin typeface="Times New Roman" panose="02020603050405020304" pitchFamily="18" charset="0"/>
                <a:cs typeface="Times New Roman" panose="02020603050405020304" pitchFamily="18" charset="0"/>
              </a:rPr>
              <a:t> </a:t>
            </a:r>
            <a:r>
              <a:rPr lang="en-US" sz="2000" b="0" spc="-10" dirty="0">
                <a:latin typeface="Times New Roman" panose="02020603050405020304" pitchFamily="18" charset="0"/>
                <a:cs typeface="Times New Roman" panose="02020603050405020304" pitchFamily="18" charset="0"/>
              </a:rPr>
              <a:t>social </a:t>
            </a:r>
            <a:r>
              <a:rPr lang="en-US" sz="2000" b="0" dirty="0">
                <a:latin typeface="Times New Roman" panose="02020603050405020304" pitchFamily="18" charset="0"/>
                <a:cs typeface="Times New Roman" panose="02020603050405020304" pitchFamily="18" charset="0"/>
              </a:rPr>
              <a:t>media</a:t>
            </a:r>
            <a:r>
              <a:rPr lang="en-US" sz="2000" b="0" spc="-3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wisely</a:t>
            </a:r>
            <a:r>
              <a:rPr lang="en-US" sz="2000" b="0" spc="-3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and</a:t>
            </a:r>
            <a:r>
              <a:rPr lang="en-US" sz="2000" b="0" spc="-30" dirty="0">
                <a:latin typeface="Times New Roman" panose="02020603050405020304" pitchFamily="18" charset="0"/>
                <a:cs typeface="Times New Roman" panose="02020603050405020304" pitchFamily="18" charset="0"/>
              </a:rPr>
              <a:t> </a:t>
            </a:r>
            <a:r>
              <a:rPr lang="en-US" sz="2000" b="0" spc="-10" dirty="0">
                <a:latin typeface="Times New Roman" panose="02020603050405020304" pitchFamily="18" charset="0"/>
                <a:cs typeface="Times New Roman" panose="02020603050405020304" pitchFamily="18" charset="0"/>
              </a:rPr>
              <a:t>maintain</a:t>
            </a:r>
            <a:r>
              <a:rPr lang="en-US" sz="2000" b="0" spc="-4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a:t>
            </a:r>
            <a:r>
              <a:rPr lang="en-US" sz="2000" b="0" spc="-25" dirty="0">
                <a:latin typeface="Times New Roman" panose="02020603050405020304" pitchFamily="18" charset="0"/>
                <a:cs typeface="Times New Roman" panose="02020603050405020304" pitchFamily="18" charset="0"/>
              </a:rPr>
              <a:t> </a:t>
            </a:r>
            <a:r>
              <a:rPr lang="en-US" sz="2000" b="0" spc="-10" dirty="0">
                <a:latin typeface="Times New Roman" panose="02020603050405020304" pitchFamily="18" charset="0"/>
                <a:cs typeface="Times New Roman" panose="02020603050405020304" pitchFamily="18" charset="0"/>
              </a:rPr>
              <a:t>balance </a:t>
            </a:r>
            <a:r>
              <a:rPr lang="en-US" sz="2000" b="0" dirty="0">
                <a:latin typeface="Times New Roman" panose="02020603050405020304" pitchFamily="18" charset="0"/>
                <a:cs typeface="Times New Roman" panose="02020603050405020304" pitchFamily="18" charset="0"/>
              </a:rPr>
              <a:t>between</a:t>
            </a:r>
            <a:r>
              <a:rPr lang="en-US" sz="2000" b="0" spc="-4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online</a:t>
            </a:r>
            <a:r>
              <a:rPr lang="en-US" sz="2000" b="0" spc="-35"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activities</a:t>
            </a:r>
            <a:r>
              <a:rPr lang="en-US" sz="2000" b="0" spc="-4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and</a:t>
            </a:r>
            <a:r>
              <a:rPr lang="en-US" sz="2000" b="0" spc="-40" dirty="0">
                <a:latin typeface="Times New Roman" panose="02020603050405020304" pitchFamily="18" charset="0"/>
                <a:cs typeface="Times New Roman" panose="02020603050405020304" pitchFamily="18" charset="0"/>
              </a:rPr>
              <a:t> </a:t>
            </a:r>
            <a:r>
              <a:rPr lang="en-US" sz="2000" b="0" spc="-20" dirty="0">
                <a:latin typeface="Times New Roman" panose="02020603050405020304" pitchFamily="18" charset="0"/>
                <a:cs typeface="Times New Roman" panose="02020603050405020304" pitchFamily="18" charset="0"/>
              </a:rPr>
              <a:t>their </a:t>
            </a:r>
            <a:r>
              <a:rPr lang="en-US" sz="2000" b="0" spc="-10" dirty="0">
                <a:latin typeface="Times New Roman" panose="02020603050405020304" pitchFamily="18" charset="0"/>
                <a:cs typeface="Times New Roman" panose="02020603050405020304" pitchFamily="18" charset="0"/>
              </a:rPr>
              <a:t>studies</a:t>
            </a:r>
          </a:p>
          <a:p>
            <a:pPr marL="12700" marR="5080" algn="just">
              <a:lnSpc>
                <a:spcPct val="100000"/>
              </a:lnSpc>
              <a:spcBef>
                <a:spcPts val="100"/>
              </a:spcBef>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5536EA-E275-C625-6211-16DB86F20EE8}"/>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D68C901C-54A7-858F-D434-018842518109}"/>
              </a:ext>
            </a:extLst>
          </p:cNvPr>
          <p:cNvSpPr txBox="1">
            <a:spLocks noGrp="1"/>
          </p:cNvSpPr>
          <p:nvPr>
            <p:ph type="title"/>
          </p:nvPr>
        </p:nvSpPr>
        <p:spPr>
          <a:xfrm>
            <a:off x="753872" y="188417"/>
            <a:ext cx="8466328" cy="1160240"/>
          </a:xfrm>
          <a:prstGeom prst="rect">
            <a:avLst/>
          </a:prstGeom>
        </p:spPr>
        <p:txBody>
          <a:bodyPr vert="horz" wrap="square" lIns="0" tIns="478459" rIns="0" bIns="0" rtlCol="0">
            <a:spAutoFit/>
          </a:bodyPr>
          <a:lstStyle/>
          <a:p>
            <a:pPr marL="1231900">
              <a:lnSpc>
                <a:spcPct val="100000"/>
              </a:lnSpc>
              <a:spcBef>
                <a:spcPts val="105"/>
              </a:spcBef>
            </a:pPr>
            <a:r>
              <a:rPr lang="en-US" b="1" dirty="0"/>
              <a:t>Classroom Activity &amp; Wrap-up</a:t>
            </a:r>
            <a:endParaRPr b="1" spc="-10" dirty="0"/>
          </a:p>
        </p:txBody>
      </p:sp>
      <p:sp>
        <p:nvSpPr>
          <p:cNvPr id="3" name="object 3">
            <a:extLst>
              <a:ext uri="{FF2B5EF4-FFF2-40B4-BE49-F238E27FC236}">
                <a16:creationId xmlns:a16="http://schemas.microsoft.com/office/drawing/2014/main" id="{C019143C-404A-D801-7751-7D44D02FEC1A}"/>
              </a:ext>
            </a:extLst>
          </p:cNvPr>
          <p:cNvSpPr/>
          <p:nvPr/>
        </p:nvSpPr>
        <p:spPr>
          <a:xfrm>
            <a:off x="994079" y="696378"/>
            <a:ext cx="584200" cy="754380"/>
          </a:xfrm>
          <a:custGeom>
            <a:avLst/>
            <a:gdLst/>
            <a:ahLst/>
            <a:cxnLst/>
            <a:rect l="l" t="t" r="r" b="b"/>
            <a:pathLst>
              <a:path w="584200" h="754380">
                <a:moveTo>
                  <a:pt x="235432" y="273253"/>
                </a:moveTo>
                <a:lnTo>
                  <a:pt x="113004" y="273253"/>
                </a:lnTo>
                <a:lnTo>
                  <a:pt x="113004" y="310946"/>
                </a:lnTo>
                <a:lnTo>
                  <a:pt x="235432" y="310946"/>
                </a:lnTo>
                <a:lnTo>
                  <a:pt x="235432" y="273253"/>
                </a:lnTo>
                <a:close/>
              </a:path>
              <a:path w="584200" h="754380">
                <a:moveTo>
                  <a:pt x="470865" y="574776"/>
                </a:moveTo>
                <a:lnTo>
                  <a:pt x="113004" y="574776"/>
                </a:lnTo>
                <a:lnTo>
                  <a:pt x="113004" y="612470"/>
                </a:lnTo>
                <a:lnTo>
                  <a:pt x="470865" y="612470"/>
                </a:lnTo>
                <a:lnTo>
                  <a:pt x="470865" y="574776"/>
                </a:lnTo>
                <a:close/>
              </a:path>
              <a:path w="584200" h="754380">
                <a:moveTo>
                  <a:pt x="470865" y="499389"/>
                </a:moveTo>
                <a:lnTo>
                  <a:pt x="113004" y="499389"/>
                </a:lnTo>
                <a:lnTo>
                  <a:pt x="113004" y="537083"/>
                </a:lnTo>
                <a:lnTo>
                  <a:pt x="470865" y="537083"/>
                </a:lnTo>
                <a:lnTo>
                  <a:pt x="470865" y="499389"/>
                </a:lnTo>
                <a:close/>
              </a:path>
              <a:path w="584200" h="754380">
                <a:moveTo>
                  <a:pt x="470865" y="424014"/>
                </a:moveTo>
                <a:lnTo>
                  <a:pt x="113004" y="424014"/>
                </a:lnTo>
                <a:lnTo>
                  <a:pt x="113004" y="461708"/>
                </a:lnTo>
                <a:lnTo>
                  <a:pt x="470865" y="461708"/>
                </a:lnTo>
                <a:lnTo>
                  <a:pt x="470865" y="424014"/>
                </a:lnTo>
                <a:close/>
              </a:path>
              <a:path w="584200" h="754380">
                <a:moveTo>
                  <a:pt x="470865" y="348627"/>
                </a:moveTo>
                <a:lnTo>
                  <a:pt x="113004" y="348627"/>
                </a:lnTo>
                <a:lnTo>
                  <a:pt x="113004" y="386321"/>
                </a:lnTo>
                <a:lnTo>
                  <a:pt x="470865" y="386321"/>
                </a:lnTo>
                <a:lnTo>
                  <a:pt x="470865" y="348627"/>
                </a:lnTo>
                <a:close/>
              </a:path>
              <a:path w="584200" h="754380">
                <a:moveTo>
                  <a:pt x="583869" y="207289"/>
                </a:moveTo>
                <a:lnTo>
                  <a:pt x="573176" y="197866"/>
                </a:lnTo>
                <a:lnTo>
                  <a:pt x="527367" y="157543"/>
                </a:lnTo>
                <a:lnTo>
                  <a:pt x="527367" y="254406"/>
                </a:lnTo>
                <a:lnTo>
                  <a:pt x="527367" y="697268"/>
                </a:lnTo>
                <a:lnTo>
                  <a:pt x="56502" y="697268"/>
                </a:lnTo>
                <a:lnTo>
                  <a:pt x="56502" y="56527"/>
                </a:lnTo>
                <a:lnTo>
                  <a:pt x="291934" y="56527"/>
                </a:lnTo>
                <a:lnTo>
                  <a:pt x="291934" y="254406"/>
                </a:lnTo>
                <a:lnTo>
                  <a:pt x="527367" y="254406"/>
                </a:lnTo>
                <a:lnTo>
                  <a:pt x="527367" y="157543"/>
                </a:lnTo>
                <a:lnTo>
                  <a:pt x="466153" y="103644"/>
                </a:lnTo>
                <a:lnTo>
                  <a:pt x="466153" y="197866"/>
                </a:lnTo>
                <a:lnTo>
                  <a:pt x="348437" y="197866"/>
                </a:lnTo>
                <a:lnTo>
                  <a:pt x="348437" y="80086"/>
                </a:lnTo>
                <a:lnTo>
                  <a:pt x="466153" y="197866"/>
                </a:lnTo>
                <a:lnTo>
                  <a:pt x="466153" y="103644"/>
                </a:lnTo>
                <a:lnTo>
                  <a:pt x="439407" y="80086"/>
                </a:lnTo>
                <a:lnTo>
                  <a:pt x="412648" y="56527"/>
                </a:lnTo>
                <a:lnTo>
                  <a:pt x="348437" y="0"/>
                </a:lnTo>
                <a:lnTo>
                  <a:pt x="0" y="0"/>
                </a:lnTo>
                <a:lnTo>
                  <a:pt x="0" y="753808"/>
                </a:lnTo>
                <a:lnTo>
                  <a:pt x="583869" y="753808"/>
                </a:lnTo>
                <a:lnTo>
                  <a:pt x="583869" y="697268"/>
                </a:lnTo>
                <a:lnTo>
                  <a:pt x="583869" y="207289"/>
                </a:lnTo>
                <a:close/>
              </a:path>
            </a:pathLst>
          </a:custGeom>
          <a:solidFill>
            <a:srgbClr val="000000"/>
          </a:solidFill>
        </p:spPr>
        <p:txBody>
          <a:bodyPr wrap="square" lIns="0" tIns="0" rIns="0" bIns="0" rtlCol="0"/>
          <a:lstStyle/>
          <a:p>
            <a:endParaRPr/>
          </a:p>
        </p:txBody>
      </p:sp>
      <p:sp>
        <p:nvSpPr>
          <p:cNvPr id="4" name="object 4">
            <a:extLst>
              <a:ext uri="{FF2B5EF4-FFF2-40B4-BE49-F238E27FC236}">
                <a16:creationId xmlns:a16="http://schemas.microsoft.com/office/drawing/2014/main" id="{D8429F53-94D5-137E-5172-9CDA16CA1AF0}"/>
              </a:ext>
            </a:extLst>
          </p:cNvPr>
          <p:cNvSpPr/>
          <p:nvPr/>
        </p:nvSpPr>
        <p:spPr>
          <a:xfrm>
            <a:off x="7380478" y="2253360"/>
            <a:ext cx="3625215" cy="3908425"/>
          </a:xfrm>
          <a:custGeom>
            <a:avLst/>
            <a:gdLst/>
            <a:ahLst/>
            <a:cxnLst/>
            <a:rect l="l" t="t" r="r" b="b"/>
            <a:pathLst>
              <a:path w="3625215" h="3908425">
                <a:moveTo>
                  <a:pt x="0" y="604138"/>
                </a:moveTo>
                <a:lnTo>
                  <a:pt x="1817" y="556929"/>
                </a:lnTo>
                <a:lnTo>
                  <a:pt x="7181" y="510713"/>
                </a:lnTo>
                <a:lnTo>
                  <a:pt x="15957" y="465624"/>
                </a:lnTo>
                <a:lnTo>
                  <a:pt x="28010" y="421797"/>
                </a:lnTo>
                <a:lnTo>
                  <a:pt x="43205" y="379366"/>
                </a:lnTo>
                <a:lnTo>
                  <a:pt x="61410" y="338466"/>
                </a:lnTo>
                <a:lnTo>
                  <a:pt x="82488" y="299230"/>
                </a:lnTo>
                <a:lnTo>
                  <a:pt x="106307" y="261794"/>
                </a:lnTo>
                <a:lnTo>
                  <a:pt x="132731" y="226292"/>
                </a:lnTo>
                <a:lnTo>
                  <a:pt x="161626" y="192858"/>
                </a:lnTo>
                <a:lnTo>
                  <a:pt x="192858" y="161626"/>
                </a:lnTo>
                <a:lnTo>
                  <a:pt x="226292" y="132731"/>
                </a:lnTo>
                <a:lnTo>
                  <a:pt x="261794" y="106307"/>
                </a:lnTo>
                <a:lnTo>
                  <a:pt x="299230" y="82488"/>
                </a:lnTo>
                <a:lnTo>
                  <a:pt x="338466" y="61410"/>
                </a:lnTo>
                <a:lnTo>
                  <a:pt x="379366" y="43205"/>
                </a:lnTo>
                <a:lnTo>
                  <a:pt x="421797" y="28010"/>
                </a:lnTo>
                <a:lnTo>
                  <a:pt x="465624" y="15957"/>
                </a:lnTo>
                <a:lnTo>
                  <a:pt x="510713" y="7181"/>
                </a:lnTo>
                <a:lnTo>
                  <a:pt x="556929" y="1817"/>
                </a:lnTo>
                <a:lnTo>
                  <a:pt x="604139" y="0"/>
                </a:lnTo>
                <a:lnTo>
                  <a:pt x="3020822" y="0"/>
                </a:lnTo>
                <a:lnTo>
                  <a:pt x="3068031" y="1817"/>
                </a:lnTo>
                <a:lnTo>
                  <a:pt x="3114247" y="7181"/>
                </a:lnTo>
                <a:lnTo>
                  <a:pt x="3159336" y="15957"/>
                </a:lnTo>
                <a:lnTo>
                  <a:pt x="3203163" y="28010"/>
                </a:lnTo>
                <a:lnTo>
                  <a:pt x="3245594" y="43205"/>
                </a:lnTo>
                <a:lnTo>
                  <a:pt x="3286494" y="61410"/>
                </a:lnTo>
                <a:lnTo>
                  <a:pt x="3325730" y="82488"/>
                </a:lnTo>
                <a:lnTo>
                  <a:pt x="3363166" y="106307"/>
                </a:lnTo>
                <a:lnTo>
                  <a:pt x="3398668" y="132731"/>
                </a:lnTo>
                <a:lnTo>
                  <a:pt x="3432102" y="161626"/>
                </a:lnTo>
                <a:lnTo>
                  <a:pt x="3463334" y="192858"/>
                </a:lnTo>
                <a:lnTo>
                  <a:pt x="3492229" y="226292"/>
                </a:lnTo>
                <a:lnTo>
                  <a:pt x="3518653" y="261794"/>
                </a:lnTo>
                <a:lnTo>
                  <a:pt x="3542472" y="299230"/>
                </a:lnTo>
                <a:lnTo>
                  <a:pt x="3563550" y="338466"/>
                </a:lnTo>
                <a:lnTo>
                  <a:pt x="3581755" y="379366"/>
                </a:lnTo>
                <a:lnTo>
                  <a:pt x="3596950" y="421797"/>
                </a:lnTo>
                <a:lnTo>
                  <a:pt x="3609003" y="465624"/>
                </a:lnTo>
                <a:lnTo>
                  <a:pt x="3617779" y="510713"/>
                </a:lnTo>
                <a:lnTo>
                  <a:pt x="3623143" y="556929"/>
                </a:lnTo>
                <a:lnTo>
                  <a:pt x="3624961" y="604138"/>
                </a:lnTo>
                <a:lnTo>
                  <a:pt x="3624961" y="3303778"/>
                </a:lnTo>
                <a:lnTo>
                  <a:pt x="3623143" y="3350994"/>
                </a:lnTo>
                <a:lnTo>
                  <a:pt x="3617779" y="3397216"/>
                </a:lnTo>
                <a:lnTo>
                  <a:pt x="3609003" y="3442310"/>
                </a:lnTo>
                <a:lnTo>
                  <a:pt x="3596950" y="3486142"/>
                </a:lnTo>
                <a:lnTo>
                  <a:pt x="3581755" y="3528577"/>
                </a:lnTo>
                <a:lnTo>
                  <a:pt x="3563550" y="3569480"/>
                </a:lnTo>
                <a:lnTo>
                  <a:pt x="3542472" y="3608718"/>
                </a:lnTo>
                <a:lnTo>
                  <a:pt x="3518653" y="3646156"/>
                </a:lnTo>
                <a:lnTo>
                  <a:pt x="3492229" y="3681660"/>
                </a:lnTo>
                <a:lnTo>
                  <a:pt x="3463334" y="3715096"/>
                </a:lnTo>
                <a:lnTo>
                  <a:pt x="3432102" y="3746329"/>
                </a:lnTo>
                <a:lnTo>
                  <a:pt x="3398668" y="3775224"/>
                </a:lnTo>
                <a:lnTo>
                  <a:pt x="3363166" y="3801649"/>
                </a:lnTo>
                <a:lnTo>
                  <a:pt x="3325730" y="3825467"/>
                </a:lnTo>
                <a:lnTo>
                  <a:pt x="3286494" y="3846546"/>
                </a:lnTo>
                <a:lnTo>
                  <a:pt x="3245594" y="3864750"/>
                </a:lnTo>
                <a:lnTo>
                  <a:pt x="3203163" y="3879945"/>
                </a:lnTo>
                <a:lnTo>
                  <a:pt x="3159336" y="3891998"/>
                </a:lnTo>
                <a:lnTo>
                  <a:pt x="3114247" y="3900773"/>
                </a:lnTo>
                <a:lnTo>
                  <a:pt x="3068031" y="3906137"/>
                </a:lnTo>
                <a:lnTo>
                  <a:pt x="3020822" y="3907955"/>
                </a:lnTo>
                <a:lnTo>
                  <a:pt x="604139" y="3907955"/>
                </a:lnTo>
                <a:lnTo>
                  <a:pt x="556929" y="3906137"/>
                </a:lnTo>
                <a:lnTo>
                  <a:pt x="510713" y="3900773"/>
                </a:lnTo>
                <a:lnTo>
                  <a:pt x="465624" y="3891998"/>
                </a:lnTo>
                <a:lnTo>
                  <a:pt x="421797" y="3879945"/>
                </a:lnTo>
                <a:lnTo>
                  <a:pt x="379366" y="3864750"/>
                </a:lnTo>
                <a:lnTo>
                  <a:pt x="338466" y="3846546"/>
                </a:lnTo>
                <a:lnTo>
                  <a:pt x="299230" y="3825467"/>
                </a:lnTo>
                <a:lnTo>
                  <a:pt x="261794" y="3801649"/>
                </a:lnTo>
                <a:lnTo>
                  <a:pt x="226292" y="3775224"/>
                </a:lnTo>
                <a:lnTo>
                  <a:pt x="192858" y="3746329"/>
                </a:lnTo>
                <a:lnTo>
                  <a:pt x="161626" y="3715096"/>
                </a:lnTo>
                <a:lnTo>
                  <a:pt x="132731" y="3681660"/>
                </a:lnTo>
                <a:lnTo>
                  <a:pt x="106307" y="3646156"/>
                </a:lnTo>
                <a:lnTo>
                  <a:pt x="82488" y="3608718"/>
                </a:lnTo>
                <a:lnTo>
                  <a:pt x="61410" y="3569480"/>
                </a:lnTo>
                <a:lnTo>
                  <a:pt x="43205" y="3528577"/>
                </a:lnTo>
                <a:lnTo>
                  <a:pt x="28010" y="3486142"/>
                </a:lnTo>
                <a:lnTo>
                  <a:pt x="15957" y="3442310"/>
                </a:lnTo>
                <a:lnTo>
                  <a:pt x="7181" y="3397216"/>
                </a:lnTo>
                <a:lnTo>
                  <a:pt x="1817" y="3350994"/>
                </a:lnTo>
                <a:lnTo>
                  <a:pt x="0" y="3303778"/>
                </a:lnTo>
                <a:lnTo>
                  <a:pt x="0" y="604138"/>
                </a:lnTo>
                <a:close/>
              </a:path>
            </a:pathLst>
          </a:custGeom>
          <a:ln w="12700">
            <a:solidFill>
              <a:srgbClr val="6FAC46"/>
            </a:solidFill>
          </a:ln>
        </p:spPr>
        <p:txBody>
          <a:bodyPr wrap="square" lIns="0" tIns="0" rIns="0" bIns="0" rtlCol="0"/>
          <a:lstStyle/>
          <a:p>
            <a:endParaRPr/>
          </a:p>
        </p:txBody>
      </p:sp>
      <p:sp>
        <p:nvSpPr>
          <p:cNvPr id="5" name="object 5">
            <a:extLst>
              <a:ext uri="{FF2B5EF4-FFF2-40B4-BE49-F238E27FC236}">
                <a16:creationId xmlns:a16="http://schemas.microsoft.com/office/drawing/2014/main" id="{D638069E-F686-77CE-4DC3-F02859709482}"/>
              </a:ext>
            </a:extLst>
          </p:cNvPr>
          <p:cNvSpPr txBox="1"/>
          <p:nvPr/>
        </p:nvSpPr>
        <p:spPr>
          <a:xfrm>
            <a:off x="7659577" y="3651828"/>
            <a:ext cx="3271869" cy="1436291"/>
          </a:xfrm>
          <a:prstGeom prst="rect">
            <a:avLst/>
          </a:prstGeom>
        </p:spPr>
        <p:txBody>
          <a:bodyPr vert="horz" wrap="square" lIns="0" tIns="12700" rIns="0" bIns="0" rtlCol="0">
            <a:spAutoFit/>
          </a:bodyPr>
          <a:lstStyle/>
          <a:p>
            <a:pPr marL="12700" marR="5080">
              <a:lnSpc>
                <a:spcPct val="100000"/>
              </a:lnSpc>
              <a:spcBef>
                <a:spcPts val="100"/>
              </a:spcBef>
            </a:pPr>
            <a:r>
              <a:rPr lang="en-US" sz="1800" b="1" dirty="0">
                <a:latin typeface="Calibri"/>
                <a:cs typeface="Calibri"/>
              </a:rPr>
              <a:t>Paraphrase = Change words and structure; keep length similar.  </a:t>
            </a:r>
            <a:endParaRPr lang="en-US" b="1" dirty="0">
              <a:latin typeface="Calibri"/>
              <a:cs typeface="Calibri"/>
            </a:endParaRPr>
          </a:p>
          <a:p>
            <a:pPr marL="12700" marR="5080">
              <a:lnSpc>
                <a:spcPct val="100000"/>
              </a:lnSpc>
              <a:spcBef>
                <a:spcPts val="100"/>
              </a:spcBef>
            </a:pPr>
            <a:endParaRPr lang="en-US" sz="1800" b="1" dirty="0">
              <a:latin typeface="Calibri"/>
              <a:cs typeface="Calibri"/>
            </a:endParaRPr>
          </a:p>
          <a:p>
            <a:pPr marL="12700" marR="5080">
              <a:lnSpc>
                <a:spcPct val="100000"/>
              </a:lnSpc>
              <a:spcBef>
                <a:spcPts val="100"/>
              </a:spcBef>
            </a:pPr>
            <a:endParaRPr lang="en-US" sz="1800" b="1" dirty="0">
              <a:latin typeface="Calibri"/>
              <a:cs typeface="Calibri"/>
            </a:endParaRPr>
          </a:p>
          <a:p>
            <a:pPr marL="12700" marR="5080">
              <a:lnSpc>
                <a:spcPct val="100000"/>
              </a:lnSpc>
              <a:spcBef>
                <a:spcPts val="100"/>
              </a:spcBef>
            </a:pPr>
            <a:endParaRPr sz="1800" dirty="0">
              <a:latin typeface="Calibri"/>
              <a:cs typeface="Calibri"/>
            </a:endParaRPr>
          </a:p>
        </p:txBody>
      </p:sp>
      <p:grpSp>
        <p:nvGrpSpPr>
          <p:cNvPr id="6" name="object 6">
            <a:extLst>
              <a:ext uri="{FF2B5EF4-FFF2-40B4-BE49-F238E27FC236}">
                <a16:creationId xmlns:a16="http://schemas.microsoft.com/office/drawing/2014/main" id="{35DEDBAE-E7D1-05A9-97A6-D74E3A72B2D7}"/>
              </a:ext>
            </a:extLst>
          </p:cNvPr>
          <p:cNvGrpSpPr/>
          <p:nvPr/>
        </p:nvGrpSpPr>
        <p:grpSpPr>
          <a:xfrm>
            <a:off x="7467600" y="1980371"/>
            <a:ext cx="3206750" cy="561975"/>
            <a:chOff x="7589646" y="2044573"/>
            <a:chExt cx="3206750" cy="561975"/>
          </a:xfrm>
        </p:grpSpPr>
        <p:pic>
          <p:nvPicPr>
            <p:cNvPr id="7" name="object 7">
              <a:extLst>
                <a:ext uri="{FF2B5EF4-FFF2-40B4-BE49-F238E27FC236}">
                  <a16:creationId xmlns:a16="http://schemas.microsoft.com/office/drawing/2014/main" id="{E8E03072-4F97-11A1-993C-5CCF13FA678B}"/>
                </a:ext>
              </a:extLst>
            </p:cNvPr>
            <p:cNvPicPr/>
            <p:nvPr/>
          </p:nvPicPr>
          <p:blipFill>
            <a:blip r:embed="rId2" cstate="print"/>
            <a:stretch>
              <a:fillRect/>
            </a:stretch>
          </p:blipFill>
          <p:spPr>
            <a:xfrm>
              <a:off x="7592821" y="2047748"/>
              <a:ext cx="3200400" cy="555243"/>
            </a:xfrm>
            <a:prstGeom prst="rect">
              <a:avLst/>
            </a:prstGeom>
          </p:spPr>
        </p:pic>
        <p:sp>
          <p:nvSpPr>
            <p:cNvPr id="8" name="object 8">
              <a:extLst>
                <a:ext uri="{FF2B5EF4-FFF2-40B4-BE49-F238E27FC236}">
                  <a16:creationId xmlns:a16="http://schemas.microsoft.com/office/drawing/2014/main" id="{34BD2537-EC06-214F-BFCF-0D07BD40C811}"/>
                </a:ext>
              </a:extLst>
            </p:cNvPr>
            <p:cNvSpPr/>
            <p:nvPr/>
          </p:nvSpPr>
          <p:spPr>
            <a:xfrm>
              <a:off x="7592821" y="2047748"/>
              <a:ext cx="3200400" cy="555625"/>
            </a:xfrm>
            <a:custGeom>
              <a:avLst/>
              <a:gdLst/>
              <a:ahLst/>
              <a:cxnLst/>
              <a:rect l="l" t="t" r="r" b="b"/>
              <a:pathLst>
                <a:path w="3200400" h="555625">
                  <a:moveTo>
                    <a:pt x="0" y="92582"/>
                  </a:moveTo>
                  <a:lnTo>
                    <a:pt x="7266" y="56524"/>
                  </a:lnTo>
                  <a:lnTo>
                    <a:pt x="27082" y="27098"/>
                  </a:lnTo>
                  <a:lnTo>
                    <a:pt x="56471" y="7268"/>
                  </a:lnTo>
                  <a:lnTo>
                    <a:pt x="92455" y="0"/>
                  </a:lnTo>
                  <a:lnTo>
                    <a:pt x="3107817" y="0"/>
                  </a:lnTo>
                  <a:lnTo>
                    <a:pt x="3143875" y="7268"/>
                  </a:lnTo>
                  <a:lnTo>
                    <a:pt x="3173301" y="27098"/>
                  </a:lnTo>
                  <a:lnTo>
                    <a:pt x="3193131" y="56524"/>
                  </a:lnTo>
                  <a:lnTo>
                    <a:pt x="3200400" y="92582"/>
                  </a:lnTo>
                  <a:lnTo>
                    <a:pt x="3200400" y="462661"/>
                  </a:lnTo>
                  <a:lnTo>
                    <a:pt x="3193131" y="498665"/>
                  </a:lnTo>
                  <a:lnTo>
                    <a:pt x="3173301" y="528097"/>
                  </a:lnTo>
                  <a:lnTo>
                    <a:pt x="3143875" y="547957"/>
                  </a:lnTo>
                  <a:lnTo>
                    <a:pt x="3107817" y="555243"/>
                  </a:lnTo>
                  <a:lnTo>
                    <a:pt x="92455" y="555243"/>
                  </a:lnTo>
                  <a:lnTo>
                    <a:pt x="56471" y="547957"/>
                  </a:lnTo>
                  <a:lnTo>
                    <a:pt x="27082" y="528097"/>
                  </a:lnTo>
                  <a:lnTo>
                    <a:pt x="7266" y="498665"/>
                  </a:lnTo>
                  <a:lnTo>
                    <a:pt x="0" y="462661"/>
                  </a:lnTo>
                  <a:lnTo>
                    <a:pt x="0" y="92582"/>
                  </a:lnTo>
                  <a:close/>
                </a:path>
              </a:pathLst>
            </a:custGeom>
            <a:ln w="6350">
              <a:solidFill>
                <a:srgbClr val="6FAC46"/>
              </a:solidFill>
            </a:ln>
          </p:spPr>
          <p:txBody>
            <a:bodyPr wrap="square" lIns="0" tIns="0" rIns="0" bIns="0" rtlCol="0"/>
            <a:lstStyle/>
            <a:p>
              <a:endParaRPr/>
            </a:p>
          </p:txBody>
        </p:sp>
      </p:grpSp>
      <p:sp>
        <p:nvSpPr>
          <p:cNvPr id="9" name="object 9">
            <a:extLst>
              <a:ext uri="{FF2B5EF4-FFF2-40B4-BE49-F238E27FC236}">
                <a16:creationId xmlns:a16="http://schemas.microsoft.com/office/drawing/2014/main" id="{E9C2BDF9-6DA1-EDD8-303C-D907E4B849AE}"/>
              </a:ext>
            </a:extLst>
          </p:cNvPr>
          <p:cNvSpPr txBox="1"/>
          <p:nvPr/>
        </p:nvSpPr>
        <p:spPr>
          <a:xfrm>
            <a:off x="8661907" y="2160778"/>
            <a:ext cx="1622984" cy="320601"/>
          </a:xfrm>
          <a:prstGeom prst="rect">
            <a:avLst/>
          </a:prstGeom>
        </p:spPr>
        <p:txBody>
          <a:bodyPr vert="horz" wrap="square" lIns="0" tIns="12700" rIns="0" bIns="0" rtlCol="0">
            <a:spAutoFit/>
          </a:bodyPr>
          <a:lstStyle/>
          <a:p>
            <a:pPr marL="12700">
              <a:lnSpc>
                <a:spcPct val="100000"/>
              </a:lnSpc>
              <a:spcBef>
                <a:spcPts val="100"/>
              </a:spcBef>
            </a:pPr>
            <a:r>
              <a:rPr lang="en-US" sz="2000" b="1" spc="-10" dirty="0">
                <a:latin typeface="Calibri"/>
                <a:cs typeface="Calibri"/>
              </a:rPr>
              <a:t>Key Takeaway</a:t>
            </a:r>
            <a:endParaRPr sz="2000" dirty="0">
              <a:latin typeface="Calibri"/>
              <a:cs typeface="Calibri"/>
            </a:endParaRPr>
          </a:p>
        </p:txBody>
      </p:sp>
      <p:grpSp>
        <p:nvGrpSpPr>
          <p:cNvPr id="10" name="object 10">
            <a:extLst>
              <a:ext uri="{FF2B5EF4-FFF2-40B4-BE49-F238E27FC236}">
                <a16:creationId xmlns:a16="http://schemas.microsoft.com/office/drawing/2014/main" id="{1A0AEC80-74FF-7473-8A79-BCB56A4A84DD}"/>
              </a:ext>
            </a:extLst>
          </p:cNvPr>
          <p:cNvGrpSpPr/>
          <p:nvPr/>
        </p:nvGrpSpPr>
        <p:grpSpPr>
          <a:xfrm>
            <a:off x="8150752" y="1993076"/>
            <a:ext cx="426720" cy="496570"/>
            <a:chOff x="8150752" y="1993076"/>
            <a:chExt cx="426720" cy="496570"/>
          </a:xfrm>
        </p:grpSpPr>
        <p:sp>
          <p:nvSpPr>
            <p:cNvPr id="11" name="object 11">
              <a:extLst>
                <a:ext uri="{FF2B5EF4-FFF2-40B4-BE49-F238E27FC236}">
                  <a16:creationId xmlns:a16="http://schemas.microsoft.com/office/drawing/2014/main" id="{F0F3A29F-9FDA-15AF-3CF1-07DAAADA85F0}"/>
                </a:ext>
              </a:extLst>
            </p:cNvPr>
            <p:cNvSpPr/>
            <p:nvPr/>
          </p:nvSpPr>
          <p:spPr>
            <a:xfrm>
              <a:off x="8150752" y="2061185"/>
              <a:ext cx="368300" cy="427990"/>
            </a:xfrm>
            <a:custGeom>
              <a:avLst/>
              <a:gdLst/>
              <a:ahLst/>
              <a:cxnLst/>
              <a:rect l="l" t="t" r="r" b="b"/>
              <a:pathLst>
                <a:path w="368300" h="427989">
                  <a:moveTo>
                    <a:pt x="299811" y="0"/>
                  </a:moveTo>
                  <a:lnTo>
                    <a:pt x="33549" y="310207"/>
                  </a:lnTo>
                  <a:lnTo>
                    <a:pt x="0" y="427851"/>
                  </a:lnTo>
                  <a:lnTo>
                    <a:pt x="101712" y="388843"/>
                  </a:lnTo>
                  <a:lnTo>
                    <a:pt x="105440" y="384508"/>
                  </a:lnTo>
                  <a:lnTo>
                    <a:pt x="45264" y="384508"/>
                  </a:lnTo>
                  <a:lnTo>
                    <a:pt x="37276" y="375221"/>
                  </a:lnTo>
                  <a:lnTo>
                    <a:pt x="52187" y="322591"/>
                  </a:lnTo>
                  <a:lnTo>
                    <a:pt x="61398" y="315983"/>
                  </a:lnTo>
                  <a:lnTo>
                    <a:pt x="71558" y="313845"/>
                  </a:lnTo>
                  <a:lnTo>
                    <a:pt x="166214" y="313845"/>
                  </a:lnTo>
                  <a:lnTo>
                    <a:pt x="367975" y="79254"/>
                  </a:lnTo>
                  <a:lnTo>
                    <a:pt x="299811" y="0"/>
                  </a:lnTo>
                  <a:close/>
                </a:path>
                <a:path w="368300" h="427989">
                  <a:moveTo>
                    <a:pt x="166214" y="313845"/>
                  </a:moveTo>
                  <a:lnTo>
                    <a:pt x="71558" y="313845"/>
                  </a:lnTo>
                  <a:lnTo>
                    <a:pt x="81617" y="316234"/>
                  </a:lnTo>
                  <a:lnTo>
                    <a:pt x="90529" y="323210"/>
                  </a:lnTo>
                  <a:lnTo>
                    <a:pt x="96520" y="333562"/>
                  </a:lnTo>
                  <a:lnTo>
                    <a:pt x="98517" y="345191"/>
                  </a:lnTo>
                  <a:lnTo>
                    <a:pt x="96520" y="356819"/>
                  </a:lnTo>
                  <a:lnTo>
                    <a:pt x="90529" y="367171"/>
                  </a:lnTo>
                  <a:lnTo>
                    <a:pt x="45264" y="384508"/>
                  </a:lnTo>
                  <a:lnTo>
                    <a:pt x="105440" y="384508"/>
                  </a:lnTo>
                  <a:lnTo>
                    <a:pt x="166214" y="313845"/>
                  </a:lnTo>
                  <a:close/>
                </a:path>
              </a:pathLst>
            </a:custGeom>
            <a:solidFill>
              <a:srgbClr val="000000"/>
            </a:solidFill>
          </p:spPr>
          <p:txBody>
            <a:bodyPr wrap="square" lIns="0" tIns="0" rIns="0" bIns="0" rtlCol="0"/>
            <a:lstStyle/>
            <a:p>
              <a:endParaRPr/>
            </a:p>
          </p:txBody>
        </p:sp>
        <p:pic>
          <p:nvPicPr>
            <p:cNvPr id="12" name="object 12">
              <a:extLst>
                <a:ext uri="{FF2B5EF4-FFF2-40B4-BE49-F238E27FC236}">
                  <a16:creationId xmlns:a16="http://schemas.microsoft.com/office/drawing/2014/main" id="{3A3A8231-7C0B-0F08-61ED-79EAAC0B7AE6}"/>
                </a:ext>
              </a:extLst>
            </p:cNvPr>
            <p:cNvPicPr/>
            <p:nvPr/>
          </p:nvPicPr>
          <p:blipFill>
            <a:blip r:embed="rId3" cstate="print"/>
            <a:stretch>
              <a:fillRect/>
            </a:stretch>
          </p:blipFill>
          <p:spPr>
            <a:xfrm>
              <a:off x="8465474" y="1993076"/>
              <a:ext cx="111763" cy="129408"/>
            </a:xfrm>
            <a:prstGeom prst="rect">
              <a:avLst/>
            </a:prstGeom>
          </p:spPr>
        </p:pic>
      </p:grpSp>
      <p:grpSp>
        <p:nvGrpSpPr>
          <p:cNvPr id="13" name="object 13">
            <a:extLst>
              <a:ext uri="{FF2B5EF4-FFF2-40B4-BE49-F238E27FC236}">
                <a16:creationId xmlns:a16="http://schemas.microsoft.com/office/drawing/2014/main" id="{8AB40045-EBBF-038B-B243-4ADF30B4CFEE}"/>
              </a:ext>
            </a:extLst>
          </p:cNvPr>
          <p:cNvGrpSpPr/>
          <p:nvPr/>
        </p:nvGrpSpPr>
        <p:grpSpPr>
          <a:xfrm>
            <a:off x="1227424" y="2073372"/>
            <a:ext cx="4387215" cy="4113657"/>
            <a:chOff x="1284477" y="2047748"/>
            <a:chExt cx="4387215" cy="4113657"/>
          </a:xfrm>
        </p:grpSpPr>
        <p:sp>
          <p:nvSpPr>
            <p:cNvPr id="14" name="object 14">
              <a:extLst>
                <a:ext uri="{FF2B5EF4-FFF2-40B4-BE49-F238E27FC236}">
                  <a16:creationId xmlns:a16="http://schemas.microsoft.com/office/drawing/2014/main" id="{47AD48F7-A5AE-8648-C69C-56081F828D84}"/>
                </a:ext>
              </a:extLst>
            </p:cNvPr>
            <p:cNvSpPr/>
            <p:nvPr/>
          </p:nvSpPr>
          <p:spPr>
            <a:xfrm>
              <a:off x="1284477" y="2325370"/>
              <a:ext cx="4387215" cy="3836035"/>
            </a:xfrm>
            <a:custGeom>
              <a:avLst/>
              <a:gdLst/>
              <a:ahLst/>
              <a:cxnLst/>
              <a:rect l="l" t="t" r="r" b="b"/>
              <a:pathLst>
                <a:path w="4387215" h="3836035">
                  <a:moveTo>
                    <a:pt x="0" y="639317"/>
                  </a:moveTo>
                  <a:lnTo>
                    <a:pt x="1753" y="591608"/>
                  </a:lnTo>
                  <a:lnTo>
                    <a:pt x="6932" y="544850"/>
                  </a:lnTo>
                  <a:lnTo>
                    <a:pt x="15412" y="499167"/>
                  </a:lnTo>
                  <a:lnTo>
                    <a:pt x="27070" y="454683"/>
                  </a:lnTo>
                  <a:lnTo>
                    <a:pt x="41781" y="411523"/>
                  </a:lnTo>
                  <a:lnTo>
                    <a:pt x="59423" y="369808"/>
                  </a:lnTo>
                  <a:lnTo>
                    <a:pt x="79872" y="329664"/>
                  </a:lnTo>
                  <a:lnTo>
                    <a:pt x="103004" y="291213"/>
                  </a:lnTo>
                  <a:lnTo>
                    <a:pt x="128695" y="254580"/>
                  </a:lnTo>
                  <a:lnTo>
                    <a:pt x="156822" y="219888"/>
                  </a:lnTo>
                  <a:lnTo>
                    <a:pt x="187261" y="187261"/>
                  </a:lnTo>
                  <a:lnTo>
                    <a:pt x="219888" y="156822"/>
                  </a:lnTo>
                  <a:lnTo>
                    <a:pt x="254580" y="128695"/>
                  </a:lnTo>
                  <a:lnTo>
                    <a:pt x="291213" y="103004"/>
                  </a:lnTo>
                  <a:lnTo>
                    <a:pt x="329664" y="79872"/>
                  </a:lnTo>
                  <a:lnTo>
                    <a:pt x="369808" y="59423"/>
                  </a:lnTo>
                  <a:lnTo>
                    <a:pt x="411523" y="41781"/>
                  </a:lnTo>
                  <a:lnTo>
                    <a:pt x="454683" y="27070"/>
                  </a:lnTo>
                  <a:lnTo>
                    <a:pt x="499167" y="15412"/>
                  </a:lnTo>
                  <a:lnTo>
                    <a:pt x="544850" y="6932"/>
                  </a:lnTo>
                  <a:lnTo>
                    <a:pt x="591608" y="1753"/>
                  </a:lnTo>
                  <a:lnTo>
                    <a:pt x="639317" y="0"/>
                  </a:lnTo>
                  <a:lnTo>
                    <a:pt x="3747643" y="0"/>
                  </a:lnTo>
                  <a:lnTo>
                    <a:pt x="3795352" y="1753"/>
                  </a:lnTo>
                  <a:lnTo>
                    <a:pt x="3842110" y="6932"/>
                  </a:lnTo>
                  <a:lnTo>
                    <a:pt x="3887793" y="15412"/>
                  </a:lnTo>
                  <a:lnTo>
                    <a:pt x="3932277" y="27070"/>
                  </a:lnTo>
                  <a:lnTo>
                    <a:pt x="3975437" y="41781"/>
                  </a:lnTo>
                  <a:lnTo>
                    <a:pt x="4017152" y="59423"/>
                  </a:lnTo>
                  <a:lnTo>
                    <a:pt x="4057296" y="79872"/>
                  </a:lnTo>
                  <a:lnTo>
                    <a:pt x="4095747" y="103004"/>
                  </a:lnTo>
                  <a:lnTo>
                    <a:pt x="4132380" y="128695"/>
                  </a:lnTo>
                  <a:lnTo>
                    <a:pt x="4167072" y="156822"/>
                  </a:lnTo>
                  <a:lnTo>
                    <a:pt x="4199699" y="187261"/>
                  </a:lnTo>
                  <a:lnTo>
                    <a:pt x="4230138" y="219888"/>
                  </a:lnTo>
                  <a:lnTo>
                    <a:pt x="4258265" y="254580"/>
                  </a:lnTo>
                  <a:lnTo>
                    <a:pt x="4283956" y="291213"/>
                  </a:lnTo>
                  <a:lnTo>
                    <a:pt x="4307088" y="329664"/>
                  </a:lnTo>
                  <a:lnTo>
                    <a:pt x="4327537" y="369808"/>
                  </a:lnTo>
                  <a:lnTo>
                    <a:pt x="4345179" y="411523"/>
                  </a:lnTo>
                  <a:lnTo>
                    <a:pt x="4359890" y="454683"/>
                  </a:lnTo>
                  <a:lnTo>
                    <a:pt x="4371548" y="499167"/>
                  </a:lnTo>
                  <a:lnTo>
                    <a:pt x="4380028" y="544850"/>
                  </a:lnTo>
                  <a:lnTo>
                    <a:pt x="4385207" y="591608"/>
                  </a:lnTo>
                  <a:lnTo>
                    <a:pt x="4386961" y="639317"/>
                  </a:lnTo>
                  <a:lnTo>
                    <a:pt x="4386961" y="3196590"/>
                  </a:lnTo>
                  <a:lnTo>
                    <a:pt x="4385207" y="3244306"/>
                  </a:lnTo>
                  <a:lnTo>
                    <a:pt x="4380028" y="3291070"/>
                  </a:lnTo>
                  <a:lnTo>
                    <a:pt x="4371548" y="3336758"/>
                  </a:lnTo>
                  <a:lnTo>
                    <a:pt x="4359890" y="3381246"/>
                  </a:lnTo>
                  <a:lnTo>
                    <a:pt x="4345179" y="3424410"/>
                  </a:lnTo>
                  <a:lnTo>
                    <a:pt x="4327537" y="3466128"/>
                  </a:lnTo>
                  <a:lnTo>
                    <a:pt x="4307088" y="3506275"/>
                  </a:lnTo>
                  <a:lnTo>
                    <a:pt x="4283956" y="3544727"/>
                  </a:lnTo>
                  <a:lnTo>
                    <a:pt x="4258265" y="3581362"/>
                  </a:lnTo>
                  <a:lnTo>
                    <a:pt x="4230138" y="3616056"/>
                  </a:lnTo>
                  <a:lnTo>
                    <a:pt x="4199699" y="3648684"/>
                  </a:lnTo>
                  <a:lnTo>
                    <a:pt x="4167072" y="3679124"/>
                  </a:lnTo>
                  <a:lnTo>
                    <a:pt x="4132380" y="3707251"/>
                  </a:lnTo>
                  <a:lnTo>
                    <a:pt x="4095747" y="3732942"/>
                  </a:lnTo>
                  <a:lnTo>
                    <a:pt x="4057296" y="3756074"/>
                  </a:lnTo>
                  <a:lnTo>
                    <a:pt x="4017152" y="3776523"/>
                  </a:lnTo>
                  <a:lnTo>
                    <a:pt x="3975437" y="3794165"/>
                  </a:lnTo>
                  <a:lnTo>
                    <a:pt x="3932277" y="3808876"/>
                  </a:lnTo>
                  <a:lnTo>
                    <a:pt x="3887793" y="3820534"/>
                  </a:lnTo>
                  <a:lnTo>
                    <a:pt x="3842110" y="3829013"/>
                  </a:lnTo>
                  <a:lnTo>
                    <a:pt x="3795352" y="3834192"/>
                  </a:lnTo>
                  <a:lnTo>
                    <a:pt x="3747643" y="3835946"/>
                  </a:lnTo>
                  <a:lnTo>
                    <a:pt x="639317" y="3835946"/>
                  </a:lnTo>
                  <a:lnTo>
                    <a:pt x="591608" y="3834192"/>
                  </a:lnTo>
                  <a:lnTo>
                    <a:pt x="544850" y="3829013"/>
                  </a:lnTo>
                  <a:lnTo>
                    <a:pt x="499167" y="3820534"/>
                  </a:lnTo>
                  <a:lnTo>
                    <a:pt x="454683" y="3808876"/>
                  </a:lnTo>
                  <a:lnTo>
                    <a:pt x="411523" y="3794165"/>
                  </a:lnTo>
                  <a:lnTo>
                    <a:pt x="369808" y="3776523"/>
                  </a:lnTo>
                  <a:lnTo>
                    <a:pt x="329664" y="3756074"/>
                  </a:lnTo>
                  <a:lnTo>
                    <a:pt x="291213" y="3732942"/>
                  </a:lnTo>
                  <a:lnTo>
                    <a:pt x="254580" y="3707251"/>
                  </a:lnTo>
                  <a:lnTo>
                    <a:pt x="219888" y="3679124"/>
                  </a:lnTo>
                  <a:lnTo>
                    <a:pt x="187261" y="3648684"/>
                  </a:lnTo>
                  <a:lnTo>
                    <a:pt x="156822" y="3616056"/>
                  </a:lnTo>
                  <a:lnTo>
                    <a:pt x="128695" y="3581362"/>
                  </a:lnTo>
                  <a:lnTo>
                    <a:pt x="103004" y="3544727"/>
                  </a:lnTo>
                  <a:lnTo>
                    <a:pt x="79872" y="3506275"/>
                  </a:lnTo>
                  <a:lnTo>
                    <a:pt x="59423" y="3466128"/>
                  </a:lnTo>
                  <a:lnTo>
                    <a:pt x="41781" y="3424410"/>
                  </a:lnTo>
                  <a:lnTo>
                    <a:pt x="27070" y="3381246"/>
                  </a:lnTo>
                  <a:lnTo>
                    <a:pt x="15412" y="3336758"/>
                  </a:lnTo>
                  <a:lnTo>
                    <a:pt x="6932" y="3291070"/>
                  </a:lnTo>
                  <a:lnTo>
                    <a:pt x="1753" y="3244306"/>
                  </a:lnTo>
                  <a:lnTo>
                    <a:pt x="0" y="3196590"/>
                  </a:lnTo>
                  <a:lnTo>
                    <a:pt x="0" y="639317"/>
                  </a:lnTo>
                  <a:close/>
                </a:path>
              </a:pathLst>
            </a:custGeom>
            <a:ln w="12700">
              <a:solidFill>
                <a:srgbClr val="EC7C30"/>
              </a:solidFill>
            </a:ln>
          </p:spPr>
          <p:txBody>
            <a:bodyPr wrap="square" lIns="0" tIns="0" rIns="0" bIns="0" rtlCol="0"/>
            <a:lstStyle/>
            <a:p>
              <a:endParaRPr/>
            </a:p>
          </p:txBody>
        </p:sp>
        <p:pic>
          <p:nvPicPr>
            <p:cNvPr id="26" name="object 26">
              <a:extLst>
                <a:ext uri="{FF2B5EF4-FFF2-40B4-BE49-F238E27FC236}">
                  <a16:creationId xmlns:a16="http://schemas.microsoft.com/office/drawing/2014/main" id="{7814421F-87E5-F7AF-9DFC-66A5C109F323}"/>
                </a:ext>
              </a:extLst>
            </p:cNvPr>
            <p:cNvPicPr/>
            <p:nvPr/>
          </p:nvPicPr>
          <p:blipFill>
            <a:blip r:embed="rId4" cstate="print"/>
            <a:stretch>
              <a:fillRect/>
            </a:stretch>
          </p:blipFill>
          <p:spPr>
            <a:xfrm>
              <a:off x="1445132" y="2047748"/>
              <a:ext cx="3976370" cy="555243"/>
            </a:xfrm>
            <a:prstGeom prst="rect">
              <a:avLst/>
            </a:prstGeom>
          </p:spPr>
        </p:pic>
        <p:sp>
          <p:nvSpPr>
            <p:cNvPr id="27" name="object 27">
              <a:extLst>
                <a:ext uri="{FF2B5EF4-FFF2-40B4-BE49-F238E27FC236}">
                  <a16:creationId xmlns:a16="http://schemas.microsoft.com/office/drawing/2014/main" id="{13AE5D91-0B80-F36D-95E4-C09E041B284E}"/>
                </a:ext>
              </a:extLst>
            </p:cNvPr>
            <p:cNvSpPr/>
            <p:nvPr/>
          </p:nvSpPr>
          <p:spPr>
            <a:xfrm>
              <a:off x="1445132" y="2047748"/>
              <a:ext cx="3976370" cy="555625"/>
            </a:xfrm>
            <a:custGeom>
              <a:avLst/>
              <a:gdLst/>
              <a:ahLst/>
              <a:cxnLst/>
              <a:rect l="l" t="t" r="r" b="b"/>
              <a:pathLst>
                <a:path w="3976370" h="555625">
                  <a:moveTo>
                    <a:pt x="0" y="92582"/>
                  </a:moveTo>
                  <a:lnTo>
                    <a:pt x="7266" y="56524"/>
                  </a:lnTo>
                  <a:lnTo>
                    <a:pt x="27082" y="27098"/>
                  </a:lnTo>
                  <a:lnTo>
                    <a:pt x="56471" y="7268"/>
                  </a:lnTo>
                  <a:lnTo>
                    <a:pt x="92455" y="0"/>
                  </a:lnTo>
                  <a:lnTo>
                    <a:pt x="3883405" y="0"/>
                  </a:lnTo>
                  <a:lnTo>
                    <a:pt x="3919464" y="7268"/>
                  </a:lnTo>
                  <a:lnTo>
                    <a:pt x="3948890" y="27098"/>
                  </a:lnTo>
                  <a:lnTo>
                    <a:pt x="3968720" y="56524"/>
                  </a:lnTo>
                  <a:lnTo>
                    <a:pt x="3975989" y="92582"/>
                  </a:lnTo>
                  <a:lnTo>
                    <a:pt x="3975989" y="462661"/>
                  </a:lnTo>
                  <a:lnTo>
                    <a:pt x="3968720" y="498665"/>
                  </a:lnTo>
                  <a:lnTo>
                    <a:pt x="3948890" y="528097"/>
                  </a:lnTo>
                  <a:lnTo>
                    <a:pt x="3919464" y="547957"/>
                  </a:lnTo>
                  <a:lnTo>
                    <a:pt x="3883405" y="555243"/>
                  </a:lnTo>
                  <a:lnTo>
                    <a:pt x="92455" y="555243"/>
                  </a:lnTo>
                  <a:lnTo>
                    <a:pt x="56471" y="547957"/>
                  </a:lnTo>
                  <a:lnTo>
                    <a:pt x="27082" y="528097"/>
                  </a:lnTo>
                  <a:lnTo>
                    <a:pt x="7266" y="498665"/>
                  </a:lnTo>
                  <a:lnTo>
                    <a:pt x="0" y="462661"/>
                  </a:lnTo>
                  <a:lnTo>
                    <a:pt x="0" y="92582"/>
                  </a:lnTo>
                  <a:close/>
                </a:path>
              </a:pathLst>
            </a:custGeom>
            <a:ln w="6350">
              <a:solidFill>
                <a:srgbClr val="EC7C30"/>
              </a:solidFill>
            </a:ln>
          </p:spPr>
          <p:txBody>
            <a:bodyPr wrap="square" lIns="0" tIns="0" rIns="0" bIns="0" rtlCol="0"/>
            <a:lstStyle/>
            <a:p>
              <a:endParaRPr/>
            </a:p>
          </p:txBody>
        </p:sp>
      </p:grpSp>
      <p:sp>
        <p:nvSpPr>
          <p:cNvPr id="28" name="object 28">
            <a:extLst>
              <a:ext uri="{FF2B5EF4-FFF2-40B4-BE49-F238E27FC236}">
                <a16:creationId xmlns:a16="http://schemas.microsoft.com/office/drawing/2014/main" id="{5400D196-5773-2DAB-17D9-423312292D1F}"/>
              </a:ext>
            </a:extLst>
          </p:cNvPr>
          <p:cNvSpPr txBox="1">
            <a:spLocks noGrp="1"/>
          </p:cNvSpPr>
          <p:nvPr>
            <p:ph sz="half" idx="2"/>
          </p:nvPr>
        </p:nvSpPr>
        <p:spPr>
          <a:xfrm>
            <a:off x="1617980" y="2160778"/>
            <a:ext cx="3030220" cy="382156"/>
          </a:xfrm>
          <a:prstGeom prst="rect">
            <a:avLst/>
          </a:prstGeom>
        </p:spPr>
        <p:txBody>
          <a:bodyPr vert="horz" wrap="square" lIns="0" tIns="12700" rIns="0" bIns="0" rtlCol="0">
            <a:spAutoFit/>
          </a:bodyPr>
          <a:lstStyle/>
          <a:p>
            <a:pPr marL="895350">
              <a:lnSpc>
                <a:spcPct val="100000"/>
              </a:lnSpc>
              <a:spcBef>
                <a:spcPts val="100"/>
              </a:spcBef>
            </a:pPr>
            <a:r>
              <a:rPr lang="en-US" sz="2400" dirty="0"/>
              <a:t>Activity</a:t>
            </a:r>
            <a:endParaRPr sz="2400" spc="-10" dirty="0"/>
          </a:p>
        </p:txBody>
      </p:sp>
      <p:sp>
        <p:nvSpPr>
          <p:cNvPr id="29" name="object 29">
            <a:extLst>
              <a:ext uri="{FF2B5EF4-FFF2-40B4-BE49-F238E27FC236}">
                <a16:creationId xmlns:a16="http://schemas.microsoft.com/office/drawing/2014/main" id="{2F472FBC-267C-C63A-2FD0-9092965ABD54}"/>
              </a:ext>
            </a:extLst>
          </p:cNvPr>
          <p:cNvSpPr/>
          <p:nvPr/>
        </p:nvSpPr>
        <p:spPr>
          <a:xfrm>
            <a:off x="1632403" y="2073372"/>
            <a:ext cx="525780" cy="543560"/>
          </a:xfrm>
          <a:custGeom>
            <a:avLst/>
            <a:gdLst/>
            <a:ahLst/>
            <a:cxnLst/>
            <a:rect l="l" t="t" r="r" b="b"/>
            <a:pathLst>
              <a:path w="525780" h="543560">
                <a:moveTo>
                  <a:pt x="308306" y="0"/>
                </a:moveTo>
                <a:lnTo>
                  <a:pt x="44396" y="102446"/>
                </a:lnTo>
                <a:lnTo>
                  <a:pt x="21966" y="137022"/>
                </a:lnTo>
                <a:lnTo>
                  <a:pt x="18625" y="178256"/>
                </a:lnTo>
                <a:lnTo>
                  <a:pt x="18498" y="184403"/>
                </a:lnTo>
                <a:lnTo>
                  <a:pt x="21581" y="214454"/>
                </a:lnTo>
                <a:lnTo>
                  <a:pt x="9364" y="229042"/>
                </a:lnTo>
                <a:lnTo>
                  <a:pt x="2928" y="248688"/>
                </a:lnTo>
                <a:lnTo>
                  <a:pt x="423" y="271024"/>
                </a:lnTo>
                <a:lnTo>
                  <a:pt x="0" y="293680"/>
                </a:lnTo>
                <a:lnTo>
                  <a:pt x="982" y="311128"/>
                </a:lnTo>
                <a:lnTo>
                  <a:pt x="4162" y="327231"/>
                </a:lnTo>
                <a:lnTo>
                  <a:pt x="9885" y="341413"/>
                </a:lnTo>
                <a:lnTo>
                  <a:pt x="18498" y="353099"/>
                </a:lnTo>
                <a:lnTo>
                  <a:pt x="17005" y="362319"/>
                </a:lnTo>
                <a:lnTo>
                  <a:pt x="16790" y="370173"/>
                </a:lnTo>
                <a:lnTo>
                  <a:pt x="16725" y="372563"/>
                </a:lnTo>
                <a:lnTo>
                  <a:pt x="17024" y="383833"/>
                </a:lnTo>
                <a:lnTo>
                  <a:pt x="17064" y="385882"/>
                </a:lnTo>
                <a:lnTo>
                  <a:pt x="24047" y="438215"/>
                </a:lnTo>
                <a:lnTo>
                  <a:pt x="220747" y="542966"/>
                </a:lnTo>
                <a:lnTo>
                  <a:pt x="317411" y="498573"/>
                </a:lnTo>
                <a:lnTo>
                  <a:pt x="221981" y="498573"/>
                </a:lnTo>
                <a:lnTo>
                  <a:pt x="49945" y="423445"/>
                </a:lnTo>
                <a:lnTo>
                  <a:pt x="49945" y="370173"/>
                </a:lnTo>
                <a:lnTo>
                  <a:pt x="145498" y="370173"/>
                </a:lnTo>
                <a:lnTo>
                  <a:pt x="33297" y="320999"/>
                </a:lnTo>
                <a:lnTo>
                  <a:pt x="33297" y="259531"/>
                </a:lnTo>
                <a:lnTo>
                  <a:pt x="160880" y="259531"/>
                </a:lnTo>
                <a:lnTo>
                  <a:pt x="51795" y="211722"/>
                </a:lnTo>
                <a:lnTo>
                  <a:pt x="51795" y="150254"/>
                </a:lnTo>
                <a:lnTo>
                  <a:pt x="389780" y="150255"/>
                </a:lnTo>
                <a:lnTo>
                  <a:pt x="469243" y="114740"/>
                </a:lnTo>
                <a:lnTo>
                  <a:pt x="493291" y="114740"/>
                </a:lnTo>
                <a:lnTo>
                  <a:pt x="493291" y="103812"/>
                </a:lnTo>
                <a:lnTo>
                  <a:pt x="525355" y="88787"/>
                </a:lnTo>
                <a:lnTo>
                  <a:pt x="308306" y="0"/>
                </a:lnTo>
                <a:close/>
              </a:path>
              <a:path w="525780" h="543560">
                <a:moveTo>
                  <a:pt x="492058" y="323731"/>
                </a:moveTo>
                <a:lnTo>
                  <a:pt x="468626" y="323731"/>
                </a:lnTo>
                <a:lnTo>
                  <a:pt x="468591" y="327231"/>
                </a:lnTo>
                <a:lnTo>
                  <a:pt x="468491" y="337390"/>
                </a:lnTo>
                <a:lnTo>
                  <a:pt x="468451" y="341414"/>
                </a:lnTo>
                <a:lnTo>
                  <a:pt x="468335" y="353099"/>
                </a:lnTo>
                <a:lnTo>
                  <a:pt x="468243" y="362319"/>
                </a:lnTo>
                <a:lnTo>
                  <a:pt x="468142" y="372564"/>
                </a:lnTo>
                <a:lnTo>
                  <a:pt x="468030" y="383833"/>
                </a:lnTo>
                <a:lnTo>
                  <a:pt x="468010" y="385882"/>
                </a:lnTo>
                <a:lnTo>
                  <a:pt x="221981" y="498573"/>
                </a:lnTo>
                <a:lnTo>
                  <a:pt x="317411" y="498573"/>
                </a:lnTo>
                <a:lnTo>
                  <a:pt x="524121" y="403639"/>
                </a:lnTo>
                <a:lnTo>
                  <a:pt x="492058" y="390663"/>
                </a:lnTo>
                <a:lnTo>
                  <a:pt x="492058" y="323731"/>
                </a:lnTo>
                <a:close/>
              </a:path>
              <a:path w="525780" h="543560">
                <a:moveTo>
                  <a:pt x="145498" y="370173"/>
                </a:moveTo>
                <a:lnTo>
                  <a:pt x="49945" y="370173"/>
                </a:lnTo>
                <a:lnTo>
                  <a:pt x="203482" y="439837"/>
                </a:lnTo>
                <a:lnTo>
                  <a:pt x="303301" y="396126"/>
                </a:lnTo>
                <a:lnTo>
                  <a:pt x="204715" y="396126"/>
                </a:lnTo>
                <a:lnTo>
                  <a:pt x="145498" y="370173"/>
                </a:lnTo>
                <a:close/>
              </a:path>
              <a:path w="525780" h="543560">
                <a:moveTo>
                  <a:pt x="474792" y="225382"/>
                </a:moveTo>
                <a:lnTo>
                  <a:pt x="451361" y="225382"/>
                </a:lnTo>
                <a:lnTo>
                  <a:pt x="451361" y="283435"/>
                </a:lnTo>
                <a:lnTo>
                  <a:pt x="450744" y="283435"/>
                </a:lnTo>
                <a:lnTo>
                  <a:pt x="204715" y="396126"/>
                </a:lnTo>
                <a:lnTo>
                  <a:pt x="303301" y="396126"/>
                </a:lnTo>
                <a:lnTo>
                  <a:pt x="468626" y="323731"/>
                </a:lnTo>
                <a:lnTo>
                  <a:pt x="492058" y="323731"/>
                </a:lnTo>
                <a:lnTo>
                  <a:pt x="492058" y="315535"/>
                </a:lnTo>
                <a:lnTo>
                  <a:pt x="524121" y="300510"/>
                </a:lnTo>
                <a:lnTo>
                  <a:pt x="474792" y="280020"/>
                </a:lnTo>
                <a:lnTo>
                  <a:pt x="474792" y="225382"/>
                </a:lnTo>
                <a:close/>
              </a:path>
              <a:path w="525780" h="543560">
                <a:moveTo>
                  <a:pt x="160880" y="259531"/>
                </a:moveTo>
                <a:lnTo>
                  <a:pt x="33297" y="259531"/>
                </a:lnTo>
                <a:lnTo>
                  <a:pt x="209648" y="337390"/>
                </a:lnTo>
                <a:lnTo>
                  <a:pt x="318714" y="286850"/>
                </a:lnTo>
                <a:lnTo>
                  <a:pt x="223214" y="286850"/>
                </a:lnTo>
                <a:lnTo>
                  <a:pt x="160880" y="259531"/>
                </a:lnTo>
                <a:close/>
              </a:path>
              <a:path w="525780" h="543560">
                <a:moveTo>
                  <a:pt x="493291" y="114740"/>
                </a:moveTo>
                <a:lnTo>
                  <a:pt x="469243" y="114740"/>
                </a:lnTo>
                <a:lnTo>
                  <a:pt x="469243" y="173476"/>
                </a:lnTo>
                <a:lnTo>
                  <a:pt x="223214" y="286850"/>
                </a:lnTo>
                <a:lnTo>
                  <a:pt x="318714" y="286850"/>
                </a:lnTo>
                <a:lnTo>
                  <a:pt x="451361" y="225382"/>
                </a:lnTo>
                <a:lnTo>
                  <a:pt x="474792" y="225382"/>
                </a:lnTo>
                <a:lnTo>
                  <a:pt x="474792" y="214454"/>
                </a:lnTo>
                <a:lnTo>
                  <a:pt x="525355" y="191233"/>
                </a:lnTo>
                <a:lnTo>
                  <a:pt x="493291" y="178257"/>
                </a:lnTo>
                <a:lnTo>
                  <a:pt x="493291" y="114740"/>
                </a:lnTo>
                <a:close/>
              </a:path>
              <a:path w="525780" h="543560">
                <a:moveTo>
                  <a:pt x="389780" y="150255"/>
                </a:moveTo>
                <a:lnTo>
                  <a:pt x="51795" y="150254"/>
                </a:lnTo>
                <a:lnTo>
                  <a:pt x="223214" y="224699"/>
                </a:lnTo>
                <a:lnTo>
                  <a:pt x="389780" y="150255"/>
                </a:lnTo>
                <a:close/>
              </a:path>
            </a:pathLst>
          </a:custGeom>
          <a:solidFill>
            <a:srgbClr val="000000"/>
          </a:solidFill>
        </p:spPr>
        <p:txBody>
          <a:bodyPr wrap="square" lIns="0" tIns="0" rIns="0" bIns="0" rtlCol="0"/>
          <a:lstStyle/>
          <a:p>
            <a:endParaRPr/>
          </a:p>
        </p:txBody>
      </p:sp>
      <p:sp>
        <p:nvSpPr>
          <p:cNvPr id="30" name="object 30">
            <a:extLst>
              <a:ext uri="{FF2B5EF4-FFF2-40B4-BE49-F238E27FC236}">
                <a16:creationId xmlns:a16="http://schemas.microsoft.com/office/drawing/2014/main" id="{FA293B1E-00D9-2057-0D8A-E858AC3B0896}"/>
              </a:ext>
            </a:extLst>
          </p:cNvPr>
          <p:cNvSpPr/>
          <p:nvPr/>
        </p:nvSpPr>
        <p:spPr>
          <a:xfrm>
            <a:off x="5952895" y="3614720"/>
            <a:ext cx="1085850" cy="556260"/>
          </a:xfrm>
          <a:custGeom>
            <a:avLst/>
            <a:gdLst/>
            <a:ahLst/>
            <a:cxnLst/>
            <a:rect l="l" t="t" r="r" b="b"/>
            <a:pathLst>
              <a:path w="1085850" h="556260">
                <a:moveTo>
                  <a:pt x="697280" y="0"/>
                </a:moveTo>
                <a:lnTo>
                  <a:pt x="697280" y="131916"/>
                </a:lnTo>
                <a:lnTo>
                  <a:pt x="337087" y="199758"/>
                </a:lnTo>
                <a:lnTo>
                  <a:pt x="125313" y="345337"/>
                </a:lnTo>
                <a:lnTo>
                  <a:pt x="25202" y="490209"/>
                </a:lnTo>
                <a:lnTo>
                  <a:pt x="0" y="555932"/>
                </a:lnTo>
                <a:lnTo>
                  <a:pt x="41990" y="520995"/>
                </a:lnTo>
                <a:lnTo>
                  <a:pt x="170080" y="443921"/>
                </a:lnTo>
                <a:lnTo>
                  <a:pt x="387451" y="366317"/>
                </a:lnTo>
                <a:lnTo>
                  <a:pt x="697280" y="329790"/>
                </a:lnTo>
                <a:lnTo>
                  <a:pt x="697280" y="452284"/>
                </a:lnTo>
                <a:lnTo>
                  <a:pt x="1085261" y="226142"/>
                </a:lnTo>
                <a:lnTo>
                  <a:pt x="697280" y="0"/>
                </a:lnTo>
                <a:close/>
              </a:path>
            </a:pathLst>
          </a:custGeom>
          <a:solidFill>
            <a:srgbClr val="000000"/>
          </a:solidFill>
        </p:spPr>
        <p:txBody>
          <a:bodyPr wrap="square" lIns="0" tIns="0" rIns="0" bIns="0" rtlCol="0"/>
          <a:lstStyle/>
          <a:p>
            <a:endParaRPr/>
          </a:p>
        </p:txBody>
      </p:sp>
      <p:sp>
        <p:nvSpPr>
          <p:cNvPr id="32" name="object 5">
            <a:extLst>
              <a:ext uri="{FF2B5EF4-FFF2-40B4-BE49-F238E27FC236}">
                <a16:creationId xmlns:a16="http://schemas.microsoft.com/office/drawing/2014/main" id="{2060BDD3-03E0-0E28-AB4F-D5AD52C8FA50}"/>
              </a:ext>
            </a:extLst>
          </p:cNvPr>
          <p:cNvSpPr txBox="1"/>
          <p:nvPr/>
        </p:nvSpPr>
        <p:spPr>
          <a:xfrm>
            <a:off x="1327310" y="2602991"/>
            <a:ext cx="4283852" cy="3036729"/>
          </a:xfrm>
          <a:prstGeom prst="rect">
            <a:avLst/>
          </a:prstGeom>
        </p:spPr>
        <p:txBody>
          <a:bodyPr vert="horz" wrap="square" lIns="0" tIns="12700" rIns="0" bIns="0" rtlCol="0">
            <a:spAutoFit/>
          </a:bodyPr>
          <a:lstStyle/>
          <a:p>
            <a:pPr marL="12700" marR="5080">
              <a:lnSpc>
                <a:spcPct val="100000"/>
              </a:lnSpc>
              <a:spcBef>
                <a:spcPts val="100"/>
              </a:spcBef>
            </a:pPr>
            <a:endParaRPr lang="en-US" spc="-10" dirty="0">
              <a:latin typeface="Calibri"/>
              <a:cs typeface="Calibri"/>
            </a:endParaRPr>
          </a:p>
          <a:p>
            <a:pPr marL="12700" marR="5080" indent="2540" algn="l">
              <a:lnSpc>
                <a:spcPct val="100000"/>
              </a:lnSpc>
              <a:spcBef>
                <a:spcPts val="2140"/>
              </a:spcBef>
            </a:pPr>
            <a:r>
              <a:rPr lang="en-US" b="0" dirty="0">
                <a:latin typeface="Calibri"/>
                <a:cs typeface="Calibri"/>
              </a:rPr>
              <a:t>Task: Take the sentence below and produce  a Paraphrased sentence:</a:t>
            </a:r>
          </a:p>
          <a:p>
            <a:pPr marL="12700" marR="5080" indent="2540" algn="l">
              <a:lnSpc>
                <a:spcPct val="100000"/>
              </a:lnSpc>
              <a:spcBef>
                <a:spcPts val="2140"/>
              </a:spcBef>
            </a:pPr>
            <a:endParaRPr lang="en-US" dirty="0">
              <a:latin typeface="Calibri"/>
              <a:cs typeface="Calibri"/>
            </a:endParaRPr>
          </a:p>
          <a:p>
            <a:pPr marL="12700" marR="5080" indent="2540" algn="l">
              <a:lnSpc>
                <a:spcPct val="100000"/>
              </a:lnSpc>
              <a:spcBef>
                <a:spcPts val="2140"/>
              </a:spcBef>
            </a:pPr>
            <a:r>
              <a:rPr lang="en-US" b="0" dirty="0">
                <a:latin typeface="Calibri"/>
                <a:cs typeface="Calibri"/>
              </a:rPr>
              <a:t>"Social media has changed the way people communicate worldwide, offering instant connectivity while introducing challenges in daily productivity."</a:t>
            </a:r>
            <a:endParaRPr sz="1800" dirty="0">
              <a:latin typeface="Calibri"/>
              <a:cs typeface="Calibri"/>
            </a:endParaRPr>
          </a:p>
        </p:txBody>
      </p:sp>
    </p:spTree>
    <p:extLst>
      <p:ext uri="{BB962C8B-B14F-4D97-AF65-F5344CB8AC3E}">
        <p14:creationId xmlns:p14="http://schemas.microsoft.com/office/powerpoint/2010/main" val="3088529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B9BCB-9443-73C3-3F8D-CFC151C7401B}"/>
              </a:ext>
            </a:extLst>
          </p:cNvPr>
          <p:cNvSpPr>
            <a:spLocks noGrp="1"/>
          </p:cNvSpPr>
          <p:nvPr>
            <p:ph type="title"/>
          </p:nvPr>
        </p:nvSpPr>
        <p:spPr>
          <a:xfrm>
            <a:off x="753872" y="188417"/>
            <a:ext cx="7939582" cy="677108"/>
          </a:xfrm>
        </p:spPr>
        <p:txBody>
          <a:bodyPr/>
          <a:lstStyle/>
          <a:p>
            <a:r>
              <a:rPr lang="en-US" b="1" dirty="0"/>
              <a:t>ANSWER KEYS</a:t>
            </a:r>
          </a:p>
        </p:txBody>
      </p:sp>
      <p:sp>
        <p:nvSpPr>
          <p:cNvPr id="4" name="Content Placeholder 3">
            <a:extLst>
              <a:ext uri="{FF2B5EF4-FFF2-40B4-BE49-F238E27FC236}">
                <a16:creationId xmlns:a16="http://schemas.microsoft.com/office/drawing/2014/main" id="{18527130-B770-B71B-32A6-FD255392BD63}"/>
              </a:ext>
            </a:extLst>
          </p:cNvPr>
          <p:cNvSpPr>
            <a:spLocks noGrp="1"/>
          </p:cNvSpPr>
          <p:nvPr>
            <p:ph sz="half" idx="3"/>
          </p:nvPr>
        </p:nvSpPr>
        <p:spPr>
          <a:xfrm>
            <a:off x="304800" y="1066800"/>
            <a:ext cx="11277600" cy="5539978"/>
          </a:xfrm>
        </p:spPr>
        <p:txBody>
          <a:bodyPr/>
          <a:lstStyle/>
          <a:p>
            <a:r>
              <a:rPr lang="en-US" dirty="0"/>
              <a:t>Original: Although he was exhausted, he stayed up late to finish his project.</a:t>
            </a:r>
          </a:p>
          <a:p>
            <a:r>
              <a:rPr lang="en-US" dirty="0"/>
              <a:t>Paraphrase: Despite feeling extremely tired, he remained awake late into the night to complete his work.</a:t>
            </a:r>
          </a:p>
          <a:p>
            <a:endParaRPr lang="en-US" dirty="0"/>
          </a:p>
          <a:p>
            <a:r>
              <a:rPr lang="en-US" dirty="0"/>
              <a:t>Original: The heavy traffic delayed our arrival at the airport by an hour.</a:t>
            </a:r>
          </a:p>
          <a:p>
            <a:r>
              <a:rPr lang="en-US" dirty="0"/>
              <a:t>Paraphrase: Severe congestion on the roads pushed our airport arrival time back by 60 minutes.</a:t>
            </a:r>
          </a:p>
          <a:p>
            <a:endParaRPr lang="en-US" dirty="0"/>
          </a:p>
          <a:p>
            <a:r>
              <a:rPr lang="en-US" dirty="0"/>
              <a:t>Original: She saves a portion of her salary every month to buy a new car.</a:t>
            </a:r>
          </a:p>
          <a:p>
            <a:r>
              <a:rPr lang="en-US" dirty="0"/>
              <a:t>Paraphrase: Each month, she sets aside part of her earnings to purchase a vehicle.</a:t>
            </a:r>
          </a:p>
          <a:p>
            <a:endParaRPr lang="en-US" dirty="0"/>
          </a:p>
          <a:p>
            <a:r>
              <a:rPr lang="en-US" dirty="0"/>
              <a:t>Original: The power outage left the entire neighborhood in pitch darkness.</a:t>
            </a:r>
          </a:p>
          <a:p>
            <a:r>
              <a:rPr lang="en-US" dirty="0"/>
              <a:t>Paraphrase: A blackout plunged the whole community into complete shadow.</a:t>
            </a:r>
          </a:p>
          <a:p>
            <a:endParaRPr lang="en-US" dirty="0"/>
          </a:p>
          <a:p>
            <a:r>
              <a:rPr lang="en-US" dirty="0"/>
              <a:t>Original: He was offered the job because of his extensive experience in marketing.</a:t>
            </a:r>
          </a:p>
          <a:p>
            <a:r>
              <a:rPr lang="en-US" dirty="0"/>
              <a:t>Paraphrase: His rich background in marketing earned him the position.</a:t>
            </a:r>
          </a:p>
          <a:p>
            <a:endParaRPr lang="en-US" dirty="0"/>
          </a:p>
          <a:p>
            <a:r>
              <a:rPr lang="en-US" dirty="0"/>
              <a:t>Original: Drinking enough water daily is essential for maintaining good health.</a:t>
            </a:r>
          </a:p>
          <a:p>
            <a:r>
              <a:rPr lang="en-US" dirty="0"/>
              <a:t>Paraphrase: Staying properly hydrated every day is vital for overall well-being.</a:t>
            </a:r>
          </a:p>
          <a:p>
            <a:endParaRPr lang="en-US" dirty="0"/>
          </a:p>
          <a:p>
            <a:r>
              <a:rPr lang="en-US" dirty="0"/>
              <a:t>Original: The chef prepared a special dish to celebrate the restaurant's anniversary.</a:t>
            </a:r>
          </a:p>
          <a:p>
            <a:r>
              <a:rPr lang="en-US" dirty="0"/>
              <a:t>Paraphrase: To mark the restaurant's milestone, the cook created a unique meal.</a:t>
            </a:r>
          </a:p>
        </p:txBody>
      </p:sp>
    </p:spTree>
    <p:extLst>
      <p:ext uri="{BB962C8B-B14F-4D97-AF65-F5344CB8AC3E}">
        <p14:creationId xmlns:p14="http://schemas.microsoft.com/office/powerpoint/2010/main" val="2203106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43EE0-E6FF-E403-3410-CE0A7299C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CD56A-D179-F9BD-2A00-B70F935F3D8F}"/>
              </a:ext>
            </a:extLst>
          </p:cNvPr>
          <p:cNvSpPr>
            <a:spLocks noGrp="1"/>
          </p:cNvSpPr>
          <p:nvPr>
            <p:ph type="title"/>
          </p:nvPr>
        </p:nvSpPr>
        <p:spPr>
          <a:xfrm>
            <a:off x="753872" y="188417"/>
            <a:ext cx="7939582" cy="677108"/>
          </a:xfrm>
        </p:spPr>
        <p:txBody>
          <a:bodyPr/>
          <a:lstStyle/>
          <a:p>
            <a:r>
              <a:rPr lang="en-US" b="1" dirty="0"/>
              <a:t>ANSWER KEYS</a:t>
            </a:r>
          </a:p>
        </p:txBody>
      </p:sp>
      <p:sp>
        <p:nvSpPr>
          <p:cNvPr id="4" name="Content Placeholder 3">
            <a:extLst>
              <a:ext uri="{FF2B5EF4-FFF2-40B4-BE49-F238E27FC236}">
                <a16:creationId xmlns:a16="http://schemas.microsoft.com/office/drawing/2014/main" id="{DD2C57B5-C5EF-01B1-4202-42E227658BA4}"/>
              </a:ext>
            </a:extLst>
          </p:cNvPr>
          <p:cNvSpPr>
            <a:spLocks noGrp="1"/>
          </p:cNvSpPr>
          <p:nvPr>
            <p:ph sz="half" idx="3"/>
          </p:nvPr>
        </p:nvSpPr>
        <p:spPr>
          <a:xfrm>
            <a:off x="304800" y="1066800"/>
            <a:ext cx="11277600" cy="3581400"/>
          </a:xfrm>
        </p:spPr>
        <p:txBody>
          <a:bodyPr/>
          <a:lstStyle/>
          <a:p>
            <a:r>
              <a:rPr lang="en-US" dirty="0"/>
              <a:t>Original: She turned down the job offer because the location was too far from home.</a:t>
            </a:r>
          </a:p>
          <a:p>
            <a:r>
              <a:rPr lang="en-US" dirty="0"/>
              <a:t>Paraphrase: The excessive distance from her house led her to decline the employment offer.</a:t>
            </a:r>
          </a:p>
          <a:p>
            <a:endParaRPr lang="en-US" dirty="0"/>
          </a:p>
          <a:p>
            <a:r>
              <a:rPr lang="en-US" dirty="0"/>
              <a:t>Original: Many people prefer working from home because it saves commuting time.</a:t>
            </a:r>
          </a:p>
          <a:p>
            <a:r>
              <a:rPr lang="en-US" dirty="0"/>
              <a:t>Paraphrase: Remote work is favored by many as it eliminates travel time.</a:t>
            </a:r>
          </a:p>
          <a:p>
            <a:endParaRPr lang="en-US" dirty="0"/>
          </a:p>
          <a:p>
            <a:r>
              <a:rPr lang="en-US" dirty="0"/>
              <a:t>Original: The team won the championship after months of rigorous training.</a:t>
            </a:r>
          </a:p>
          <a:p>
            <a:r>
              <a:rPr lang="en-US" dirty="0"/>
              <a:t>Paraphrase: Months of intense practice paved the way for the team's tournament victory.</a:t>
            </a:r>
          </a:p>
        </p:txBody>
      </p:sp>
    </p:spTree>
    <p:extLst>
      <p:ext uri="{BB962C8B-B14F-4D97-AF65-F5344CB8AC3E}">
        <p14:creationId xmlns:p14="http://schemas.microsoft.com/office/powerpoint/2010/main" val="1891069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9726" y="3123133"/>
            <a:ext cx="3818254" cy="940435"/>
          </a:xfrm>
          <a:prstGeom prst="rect">
            <a:avLst/>
          </a:prstGeom>
        </p:spPr>
        <p:txBody>
          <a:bodyPr vert="horz" wrap="square" lIns="0" tIns="12700" rIns="0" bIns="0" rtlCol="0">
            <a:spAutoFit/>
          </a:bodyPr>
          <a:lstStyle/>
          <a:p>
            <a:pPr marL="12700">
              <a:lnSpc>
                <a:spcPct val="100000"/>
              </a:lnSpc>
              <a:spcBef>
                <a:spcPts val="100"/>
              </a:spcBef>
            </a:pPr>
            <a:r>
              <a:rPr sz="6000" b="1" i="1" dirty="0">
                <a:solidFill>
                  <a:srgbClr val="C55A11"/>
                </a:solidFill>
                <a:latin typeface="Calibri"/>
                <a:cs typeface="Calibri"/>
              </a:rPr>
              <a:t>THANK</a:t>
            </a:r>
            <a:r>
              <a:rPr sz="6000" b="1" i="1" spc="-180" dirty="0">
                <a:solidFill>
                  <a:srgbClr val="C55A11"/>
                </a:solidFill>
                <a:latin typeface="Calibri"/>
                <a:cs typeface="Calibri"/>
              </a:rPr>
              <a:t> </a:t>
            </a:r>
            <a:r>
              <a:rPr sz="6000" b="1" i="1" spc="-25" dirty="0">
                <a:solidFill>
                  <a:srgbClr val="C55A11"/>
                </a:solidFill>
                <a:latin typeface="Calibri"/>
                <a:cs typeface="Calibri"/>
              </a:rPr>
              <a:t>YOU</a:t>
            </a:r>
            <a:endParaRPr sz="6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TotalTime>
  <Words>731</Words>
  <Application>Microsoft Office PowerPoint</Application>
  <PresentationFormat>Widescreen</PresentationFormat>
  <Paragraphs>80</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Calibri</vt:lpstr>
      <vt:lpstr>Calibri Light</vt:lpstr>
      <vt:lpstr>Times New Roman</vt:lpstr>
      <vt:lpstr>Office Theme</vt:lpstr>
      <vt:lpstr>PARAPHRASING</vt:lpstr>
      <vt:lpstr>LEARNING OUTCOMES</vt:lpstr>
      <vt:lpstr>WHAT IS PARAPHRASING ?</vt:lpstr>
      <vt:lpstr>PARAPHRASING PROCESS </vt:lpstr>
      <vt:lpstr>TECHNIQUES OF PARAPHRASING</vt:lpstr>
      <vt:lpstr>PowerPoint Presentation</vt:lpstr>
      <vt:lpstr>PARAPHRASING EXAMPLE</vt:lpstr>
      <vt:lpstr>PowerPoint Presentation</vt:lpstr>
      <vt:lpstr>PARAPHRASING PRACTICE</vt:lpstr>
      <vt:lpstr>PASSAGE EXAMPLE</vt:lpstr>
      <vt:lpstr>Classroom Activity &amp; Wrap-up</vt:lpstr>
      <vt:lpstr>ANSWER KEYS</vt:lpstr>
      <vt:lpstr>ANSWER KEYS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PARAPHRASING AND SUMMARIZING</dc:title>
  <dc:creator>USERAS</dc:creator>
  <cp:lastModifiedBy>Sajjad Hossain</cp:lastModifiedBy>
  <cp:revision>4</cp:revision>
  <dcterms:created xsi:type="dcterms:W3CDTF">2026-07-27T18:36:08Z</dcterms:created>
  <dcterms:modified xsi:type="dcterms:W3CDTF">2026-09-12T19:30:22Z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2026-07-03T00:00:00Z</vt:filetime>
  </property>
  <property fmtid="{D5CDD505-2E9C-101B-9397-08002B2CF9AE}" pid="4" name="Creator">
    <vt:lpwstr>Microsoft® PowerPoint® LTSC</vt:lpwstr>
  </property>
  <property fmtid="{D5CDD505-2E9C-101B-9397-08002B2CF9AE}" pid="5" name="LastSaved">
    <vt:filetime>2026-07-27T00:00:00Z</vt:filetime>
  </property>
  <property fmtid="{D5CDD505-2E9C-101B-9397-08002B2CF9AE}" pid="6" name="Producer">
    <vt:lpwstr>Microsoft® PowerPoint® LTSC</vt:lpwstr>
  </property>
</Properties>
</file>