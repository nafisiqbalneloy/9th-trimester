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media/image9.jpg" ContentType="image/jpeg"/>
  <Override PartName="/ppt/media/image15.jpg" ContentType="image/jpeg"/>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65" r:id="rId2"/>
    <p:sldId id="278" r:id="rId3"/>
    <p:sldId id="266" r:id="rId4"/>
    <p:sldId id="260" r:id="rId5"/>
    <p:sldId id="267" r:id="rId6"/>
    <p:sldId id="261" r:id="rId7"/>
    <p:sldId id="268" r:id="rId8"/>
    <p:sldId id="259" r:id="rId9"/>
    <p:sldId id="279" r:id="rId10"/>
    <p:sldId id="281" r:id="rId11"/>
    <p:sldId id="282" r:id="rId12"/>
    <p:sldId id="280" r:id="rId13"/>
    <p:sldId id="283" r:id="rId14"/>
    <p:sldId id="284" r:id="rId15"/>
    <p:sldId id="264" r:id="rId16"/>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8" d="100"/>
          <a:sy n="78" d="100"/>
        </p:scale>
        <p:origin x="850" y="6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5" Type="http://schemas.openxmlformats.org/officeDocument/2006/relationships/image" Target="../media/image5.png"/><Relationship Id="rId4"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obj" preserve="1">
  <p:cSld name="Title Slide">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923925" y="1343025"/>
            <a:ext cx="10220325" cy="85725"/>
          </a:xfrm>
          <a:prstGeom prst="rect">
            <a:avLst/>
          </a:prstGeom>
        </p:spPr>
      </p:pic>
      <p:pic>
        <p:nvPicPr>
          <p:cNvPr id="17" name="bg object 17"/>
          <p:cNvPicPr/>
          <p:nvPr/>
        </p:nvPicPr>
        <p:blipFill>
          <a:blip r:embed="rId3" cstate="print"/>
          <a:stretch>
            <a:fillRect/>
          </a:stretch>
        </p:blipFill>
        <p:spPr>
          <a:xfrm>
            <a:off x="923925" y="4295775"/>
            <a:ext cx="10220325" cy="85725"/>
          </a:xfrm>
          <a:prstGeom prst="rect">
            <a:avLst/>
          </a:prstGeom>
        </p:spPr>
      </p:pic>
      <p:pic>
        <p:nvPicPr>
          <p:cNvPr id="18" name="bg object 18"/>
          <p:cNvPicPr/>
          <p:nvPr/>
        </p:nvPicPr>
        <p:blipFill>
          <a:blip r:embed="rId4" cstate="print"/>
          <a:stretch>
            <a:fillRect/>
          </a:stretch>
        </p:blipFill>
        <p:spPr>
          <a:xfrm>
            <a:off x="923925" y="1485900"/>
            <a:ext cx="10220325" cy="3667125"/>
          </a:xfrm>
          <a:prstGeom prst="rect">
            <a:avLst/>
          </a:prstGeom>
        </p:spPr>
      </p:pic>
      <p:sp>
        <p:nvSpPr>
          <p:cNvPr id="19" name="bg object 19"/>
          <p:cNvSpPr/>
          <p:nvPr/>
        </p:nvSpPr>
        <p:spPr>
          <a:xfrm>
            <a:off x="9758426" y="4186301"/>
            <a:ext cx="866775" cy="857250"/>
          </a:xfrm>
          <a:custGeom>
            <a:avLst/>
            <a:gdLst/>
            <a:ahLst/>
            <a:cxnLst/>
            <a:rect l="l" t="t" r="r" b="b"/>
            <a:pathLst>
              <a:path w="866775" h="857250">
                <a:moveTo>
                  <a:pt x="0" y="428625"/>
                </a:moveTo>
                <a:lnTo>
                  <a:pt x="2541" y="381920"/>
                </a:lnTo>
                <a:lnTo>
                  <a:pt x="9990" y="336673"/>
                </a:lnTo>
                <a:lnTo>
                  <a:pt x="22083" y="293144"/>
                </a:lnTo>
                <a:lnTo>
                  <a:pt x="38556" y="251595"/>
                </a:lnTo>
                <a:lnTo>
                  <a:pt x="59144" y="212287"/>
                </a:lnTo>
                <a:lnTo>
                  <a:pt x="83584" y="175482"/>
                </a:lnTo>
                <a:lnTo>
                  <a:pt x="111612" y="141441"/>
                </a:lnTo>
                <a:lnTo>
                  <a:pt x="142963" y="110426"/>
                </a:lnTo>
                <a:lnTo>
                  <a:pt x="177375" y="82698"/>
                </a:lnTo>
                <a:lnTo>
                  <a:pt x="214582" y="58518"/>
                </a:lnTo>
                <a:lnTo>
                  <a:pt x="254322" y="38149"/>
                </a:lnTo>
                <a:lnTo>
                  <a:pt x="296330" y="21851"/>
                </a:lnTo>
                <a:lnTo>
                  <a:pt x="340342" y="9885"/>
                </a:lnTo>
                <a:lnTo>
                  <a:pt x="386095" y="2515"/>
                </a:lnTo>
                <a:lnTo>
                  <a:pt x="433324" y="0"/>
                </a:lnTo>
                <a:lnTo>
                  <a:pt x="480554" y="2515"/>
                </a:lnTo>
                <a:lnTo>
                  <a:pt x="526311" y="9885"/>
                </a:lnTo>
                <a:lnTo>
                  <a:pt x="570330" y="21851"/>
                </a:lnTo>
                <a:lnTo>
                  <a:pt x="612347" y="38149"/>
                </a:lnTo>
                <a:lnTo>
                  <a:pt x="652097" y="58518"/>
                </a:lnTo>
                <a:lnTo>
                  <a:pt x="689317" y="82698"/>
                </a:lnTo>
                <a:lnTo>
                  <a:pt x="723741" y="110426"/>
                </a:lnTo>
                <a:lnTo>
                  <a:pt x="755105" y="141441"/>
                </a:lnTo>
                <a:lnTo>
                  <a:pt x="783146" y="175482"/>
                </a:lnTo>
                <a:lnTo>
                  <a:pt x="807597" y="212287"/>
                </a:lnTo>
                <a:lnTo>
                  <a:pt x="828196" y="251595"/>
                </a:lnTo>
                <a:lnTo>
                  <a:pt x="844678" y="293144"/>
                </a:lnTo>
                <a:lnTo>
                  <a:pt x="856777" y="336673"/>
                </a:lnTo>
                <a:lnTo>
                  <a:pt x="864231" y="381920"/>
                </a:lnTo>
                <a:lnTo>
                  <a:pt x="866775" y="428625"/>
                </a:lnTo>
                <a:lnTo>
                  <a:pt x="864231" y="475307"/>
                </a:lnTo>
                <a:lnTo>
                  <a:pt x="856777" y="520538"/>
                </a:lnTo>
                <a:lnTo>
                  <a:pt x="844678" y="564056"/>
                </a:lnTo>
                <a:lnTo>
                  <a:pt x="828196" y="605600"/>
                </a:lnTo>
                <a:lnTo>
                  <a:pt x="807597" y="644905"/>
                </a:lnTo>
                <a:lnTo>
                  <a:pt x="783146" y="681712"/>
                </a:lnTo>
                <a:lnTo>
                  <a:pt x="755105" y="715757"/>
                </a:lnTo>
                <a:lnTo>
                  <a:pt x="723741" y="746779"/>
                </a:lnTo>
                <a:lnTo>
                  <a:pt x="689317" y="774515"/>
                </a:lnTo>
                <a:lnTo>
                  <a:pt x="652097" y="798702"/>
                </a:lnTo>
                <a:lnTo>
                  <a:pt x="612347" y="819080"/>
                </a:lnTo>
                <a:lnTo>
                  <a:pt x="570330" y="835386"/>
                </a:lnTo>
                <a:lnTo>
                  <a:pt x="526311" y="847358"/>
                </a:lnTo>
                <a:lnTo>
                  <a:pt x="480554" y="854733"/>
                </a:lnTo>
                <a:lnTo>
                  <a:pt x="433324" y="857250"/>
                </a:lnTo>
                <a:lnTo>
                  <a:pt x="386095" y="854733"/>
                </a:lnTo>
                <a:lnTo>
                  <a:pt x="340342" y="847358"/>
                </a:lnTo>
                <a:lnTo>
                  <a:pt x="296330" y="835386"/>
                </a:lnTo>
                <a:lnTo>
                  <a:pt x="254322" y="819080"/>
                </a:lnTo>
                <a:lnTo>
                  <a:pt x="214582" y="798702"/>
                </a:lnTo>
                <a:lnTo>
                  <a:pt x="177375" y="774515"/>
                </a:lnTo>
                <a:lnTo>
                  <a:pt x="142963" y="746779"/>
                </a:lnTo>
                <a:lnTo>
                  <a:pt x="111612" y="715757"/>
                </a:lnTo>
                <a:lnTo>
                  <a:pt x="83584" y="681712"/>
                </a:lnTo>
                <a:lnTo>
                  <a:pt x="59144" y="644905"/>
                </a:lnTo>
                <a:lnTo>
                  <a:pt x="38556" y="605600"/>
                </a:lnTo>
                <a:lnTo>
                  <a:pt x="22083" y="564056"/>
                </a:lnTo>
                <a:lnTo>
                  <a:pt x="9990" y="520538"/>
                </a:lnTo>
                <a:lnTo>
                  <a:pt x="2541" y="475307"/>
                </a:lnTo>
                <a:lnTo>
                  <a:pt x="0" y="428625"/>
                </a:lnTo>
                <a:close/>
              </a:path>
            </a:pathLst>
          </a:custGeom>
          <a:ln w="25400">
            <a:solidFill>
              <a:srgbClr val="FFFFFF"/>
            </a:solidFill>
          </a:ln>
        </p:spPr>
        <p:txBody>
          <a:bodyPr wrap="square" lIns="0" tIns="0" rIns="0" bIns="0" rtlCol="0"/>
          <a:lstStyle/>
          <a:p>
            <a:endParaRPr/>
          </a:p>
        </p:txBody>
      </p:sp>
      <p:pic>
        <p:nvPicPr>
          <p:cNvPr id="20" name="bg object 20"/>
          <p:cNvPicPr/>
          <p:nvPr/>
        </p:nvPicPr>
        <p:blipFill>
          <a:blip r:embed="rId5" cstate="print"/>
          <a:stretch>
            <a:fillRect/>
          </a:stretch>
        </p:blipFill>
        <p:spPr>
          <a:xfrm>
            <a:off x="1156500" y="1935098"/>
            <a:ext cx="7329893" cy="637286"/>
          </a:xfrm>
          <a:prstGeom prst="rect">
            <a:avLst/>
          </a:prstGeom>
        </p:spPr>
      </p:pic>
      <p:sp>
        <p:nvSpPr>
          <p:cNvPr id="2" name="Holder 2"/>
          <p:cNvSpPr>
            <a:spLocks noGrp="1"/>
          </p:cNvSpPr>
          <p:nvPr>
            <p:ph type="ctrTitle"/>
          </p:nvPr>
        </p:nvSpPr>
        <p:spPr>
          <a:xfrm>
            <a:off x="1131252" y="3099752"/>
            <a:ext cx="6250305" cy="448945"/>
          </a:xfrm>
          <a:prstGeom prst="rect">
            <a:avLst/>
          </a:prstGeom>
        </p:spPr>
        <p:txBody>
          <a:bodyPr wrap="square" lIns="0" tIns="0" rIns="0" bIns="0">
            <a:spAutoFit/>
          </a:bodyPr>
          <a:lstStyle>
            <a:lvl1pPr>
              <a:defRPr sz="2750" b="1" i="0">
                <a:solidFill>
                  <a:schemeClr val="tx1"/>
                </a:solidFill>
                <a:latin typeface="Cambria"/>
                <a:cs typeface="Cambria"/>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9/23/2026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750" b="1" i="0">
                <a:solidFill>
                  <a:schemeClr val="tx1"/>
                </a:solidFill>
                <a:latin typeface="Cambria"/>
                <a:cs typeface="Cambria"/>
              </a:defRPr>
            </a:lvl1pPr>
          </a:lstStyle>
          <a:p>
            <a:endParaRPr/>
          </a:p>
        </p:txBody>
      </p:sp>
      <p:sp>
        <p:nvSpPr>
          <p:cNvPr id="3" name="Holder 3"/>
          <p:cNvSpPr>
            <a:spLocks noGrp="1"/>
          </p:cNvSpPr>
          <p:nvPr>
            <p:ph type="body" idx="1"/>
          </p:nvPr>
        </p:nvSpPr>
        <p:spPr/>
        <p:txBody>
          <a:bodyPr lIns="0" tIns="0" rIns="0" bIns="0"/>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9/23/2026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750" b="1" i="0">
                <a:solidFill>
                  <a:schemeClr val="tx1"/>
                </a:solidFill>
                <a:latin typeface="Cambria"/>
                <a:cs typeface="Cambria"/>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9/23/2026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750" b="1" i="0">
                <a:solidFill>
                  <a:schemeClr val="tx1"/>
                </a:solidFill>
                <a:latin typeface="Cambria"/>
                <a:cs typeface="Cambria"/>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9/23/2026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9/23/2026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7" cstate="print"/>
          <a:stretch>
            <a:fillRect/>
          </a:stretch>
        </p:blipFill>
        <p:spPr>
          <a:xfrm>
            <a:off x="11401425" y="6229350"/>
            <a:ext cx="457200" cy="457200"/>
          </a:xfrm>
          <a:prstGeom prst="rect">
            <a:avLst/>
          </a:prstGeom>
        </p:spPr>
      </p:pic>
      <p:sp>
        <p:nvSpPr>
          <p:cNvPr id="17" name="bg object 17"/>
          <p:cNvSpPr/>
          <p:nvPr/>
        </p:nvSpPr>
        <p:spPr>
          <a:xfrm>
            <a:off x="11434826" y="6262687"/>
            <a:ext cx="400050" cy="400050"/>
          </a:xfrm>
          <a:custGeom>
            <a:avLst/>
            <a:gdLst/>
            <a:ahLst/>
            <a:cxnLst/>
            <a:rect l="l" t="t" r="r" b="b"/>
            <a:pathLst>
              <a:path w="400050" h="400050">
                <a:moveTo>
                  <a:pt x="0" y="200025"/>
                </a:moveTo>
                <a:lnTo>
                  <a:pt x="5281" y="154163"/>
                </a:lnTo>
                <a:lnTo>
                  <a:pt x="20327" y="112061"/>
                </a:lnTo>
                <a:lnTo>
                  <a:pt x="43937" y="74922"/>
                </a:lnTo>
                <a:lnTo>
                  <a:pt x="74911" y="43945"/>
                </a:lnTo>
                <a:lnTo>
                  <a:pt x="112050" y="20331"/>
                </a:lnTo>
                <a:lnTo>
                  <a:pt x="154155" y="5283"/>
                </a:lnTo>
                <a:lnTo>
                  <a:pt x="200025" y="0"/>
                </a:lnTo>
                <a:lnTo>
                  <a:pt x="245854" y="5283"/>
                </a:lnTo>
                <a:lnTo>
                  <a:pt x="287943" y="20331"/>
                </a:lnTo>
                <a:lnTo>
                  <a:pt x="325085" y="43945"/>
                </a:lnTo>
                <a:lnTo>
                  <a:pt x="356072" y="74922"/>
                </a:lnTo>
                <a:lnTo>
                  <a:pt x="379700" y="112061"/>
                </a:lnTo>
                <a:lnTo>
                  <a:pt x="394761" y="154163"/>
                </a:lnTo>
                <a:lnTo>
                  <a:pt x="400050" y="200025"/>
                </a:lnTo>
                <a:lnTo>
                  <a:pt x="394761" y="245886"/>
                </a:lnTo>
                <a:lnTo>
                  <a:pt x="379700" y="287988"/>
                </a:lnTo>
                <a:lnTo>
                  <a:pt x="356072" y="325127"/>
                </a:lnTo>
                <a:lnTo>
                  <a:pt x="325085" y="356104"/>
                </a:lnTo>
                <a:lnTo>
                  <a:pt x="287943" y="379718"/>
                </a:lnTo>
                <a:lnTo>
                  <a:pt x="245854" y="394766"/>
                </a:lnTo>
                <a:lnTo>
                  <a:pt x="200025" y="400050"/>
                </a:lnTo>
                <a:lnTo>
                  <a:pt x="154155" y="394766"/>
                </a:lnTo>
                <a:lnTo>
                  <a:pt x="112050" y="379718"/>
                </a:lnTo>
                <a:lnTo>
                  <a:pt x="74911" y="356104"/>
                </a:lnTo>
                <a:lnTo>
                  <a:pt x="43937" y="325127"/>
                </a:lnTo>
                <a:lnTo>
                  <a:pt x="20327" y="287988"/>
                </a:lnTo>
                <a:lnTo>
                  <a:pt x="5281" y="245886"/>
                </a:lnTo>
                <a:lnTo>
                  <a:pt x="0" y="200025"/>
                </a:lnTo>
                <a:close/>
              </a:path>
            </a:pathLst>
          </a:custGeom>
          <a:ln w="12700">
            <a:solidFill>
              <a:srgbClr val="FFFFFF"/>
            </a:solidFill>
          </a:ln>
        </p:spPr>
        <p:txBody>
          <a:bodyPr wrap="square" lIns="0" tIns="0" rIns="0" bIns="0" rtlCol="0"/>
          <a:lstStyle/>
          <a:p>
            <a:endParaRPr/>
          </a:p>
        </p:txBody>
      </p:sp>
      <p:sp>
        <p:nvSpPr>
          <p:cNvPr id="2" name="Holder 2"/>
          <p:cNvSpPr>
            <a:spLocks noGrp="1"/>
          </p:cNvSpPr>
          <p:nvPr>
            <p:ph type="title"/>
          </p:nvPr>
        </p:nvSpPr>
        <p:spPr>
          <a:xfrm>
            <a:off x="1149350" y="2109469"/>
            <a:ext cx="9634220" cy="831214"/>
          </a:xfrm>
          <a:prstGeom prst="rect">
            <a:avLst/>
          </a:prstGeom>
        </p:spPr>
        <p:txBody>
          <a:bodyPr wrap="square" lIns="0" tIns="0" rIns="0" bIns="0">
            <a:spAutoFit/>
          </a:bodyPr>
          <a:lstStyle>
            <a:lvl1pPr>
              <a:defRPr sz="2750" b="1" i="0">
                <a:solidFill>
                  <a:schemeClr val="tx1"/>
                </a:solidFill>
                <a:latin typeface="Cambria"/>
                <a:cs typeface="Cambria"/>
              </a:defRPr>
            </a:lvl1pPr>
          </a:lstStyle>
          <a:p>
            <a:endParaRPr/>
          </a:p>
        </p:txBody>
      </p:sp>
      <p:sp>
        <p:nvSpPr>
          <p:cNvPr id="3" name="Holder 3"/>
          <p:cNvSpPr>
            <a:spLocks noGrp="1"/>
          </p:cNvSpPr>
          <p:nvPr>
            <p:ph type="body" idx="1"/>
          </p:nvPr>
        </p:nvSpPr>
        <p:spPr>
          <a:xfrm>
            <a:off x="609600" y="1577340"/>
            <a:ext cx="1097280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9/23/2026</a:t>
            </a:fld>
            <a:endParaRPr lang="en-US"/>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3.xml"/><Relationship Id="rId5" Type="http://schemas.openxmlformats.org/officeDocument/2006/relationships/hyperlink" Target="https://www.hippopx.com/en/ground-a-bird-s-eye-view-rick-69577" TargetMode="External"/><Relationship Id="rId4" Type="http://schemas.openxmlformats.org/officeDocument/2006/relationships/image" Target="../media/image9.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5.xml"/><Relationship Id="rId5" Type="http://schemas.openxmlformats.org/officeDocument/2006/relationships/image" Target="../media/image13.jpg"/><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image" Target="../media/image14.png"/><Relationship Id="rId1" Type="http://schemas.openxmlformats.org/officeDocument/2006/relationships/slideLayout" Target="../slideLayouts/slideLayout5.xml"/><Relationship Id="rId4" Type="http://schemas.openxmlformats.org/officeDocument/2006/relationships/hyperlink" Target="https://www.cristinacabal.com/?p=6141"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jpg"/><Relationship Id="rId1" Type="http://schemas.openxmlformats.org/officeDocument/2006/relationships/slideLayout" Target="../slideLayouts/slideLayout3.xml"/><Relationship Id="rId4" Type="http://schemas.openxmlformats.org/officeDocument/2006/relationships/image" Target="../media/image18.svg"/></Relationships>
</file>

<file path=ppt/slides/_rels/slide9.xml.rels><?xml version="1.0" encoding="UTF-8" standalone="yes"?>
<Relationships xmlns="http://schemas.openxmlformats.org/package/2006/relationships"><Relationship Id="rId2" Type="http://schemas.openxmlformats.org/officeDocument/2006/relationships/image" Target="../media/image17.sv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17.sv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7B0AF3-B390-DFE0-407E-3A8EBDF8A709}"/>
              </a:ext>
            </a:extLst>
          </p:cNvPr>
          <p:cNvSpPr>
            <a:spLocks noGrp="1"/>
          </p:cNvSpPr>
          <p:nvPr>
            <p:ph type="title"/>
          </p:nvPr>
        </p:nvSpPr>
        <p:spPr>
          <a:xfrm>
            <a:off x="304800" y="622472"/>
            <a:ext cx="9660890" cy="553998"/>
          </a:xfrm>
        </p:spPr>
        <p:txBody>
          <a:bodyPr/>
          <a:lstStyle/>
          <a:p>
            <a:r>
              <a:rPr lang="en-US" sz="3600" dirty="0">
                <a:latin typeface="Times New Roman" panose="02020603050405020304" pitchFamily="18" charset="0"/>
                <a:cs typeface="Times New Roman" panose="02020603050405020304" pitchFamily="18" charset="0"/>
              </a:rPr>
              <a:t>Reading Strategies &amp; Reading Comprehension</a:t>
            </a:r>
          </a:p>
        </p:txBody>
      </p:sp>
      <p:sp>
        <p:nvSpPr>
          <p:cNvPr id="4" name="Title 1">
            <a:extLst>
              <a:ext uri="{FF2B5EF4-FFF2-40B4-BE49-F238E27FC236}">
                <a16:creationId xmlns:a16="http://schemas.microsoft.com/office/drawing/2014/main" id="{C6D86394-ABBE-967C-E0B2-34C9AE2E4A78}"/>
              </a:ext>
            </a:extLst>
          </p:cNvPr>
          <p:cNvSpPr txBox="1">
            <a:spLocks/>
          </p:cNvSpPr>
          <p:nvPr/>
        </p:nvSpPr>
        <p:spPr>
          <a:xfrm>
            <a:off x="152400" y="5486400"/>
            <a:ext cx="4191000" cy="861774"/>
          </a:xfrm>
          <a:prstGeom prst="rect">
            <a:avLst/>
          </a:prstGeom>
        </p:spPr>
        <p:txBody>
          <a:bodyPr wrap="square" lIns="0" tIns="0" rIns="0" bIns="0">
            <a:spAutoFit/>
          </a:bodyPr>
          <a:lstStyle>
            <a:lvl1pPr>
              <a:defRPr sz="2750" b="1" i="0">
                <a:solidFill>
                  <a:schemeClr val="tx1"/>
                </a:solidFill>
                <a:latin typeface="Cambria"/>
                <a:ea typeface="+mj-ea"/>
                <a:cs typeface="Cambria"/>
              </a:defRPr>
            </a:lvl1pPr>
          </a:lstStyle>
          <a:p>
            <a:r>
              <a:rPr lang="en-US" sz="2000" dirty="0"/>
              <a:t>Presented by:</a:t>
            </a:r>
          </a:p>
          <a:p>
            <a:r>
              <a:rPr lang="en-US" sz="3600" dirty="0"/>
              <a:t>SAJJAD HOSSAIN</a:t>
            </a:r>
          </a:p>
        </p:txBody>
      </p:sp>
      <p:pic>
        <p:nvPicPr>
          <p:cNvPr id="6" name="object 3">
            <a:extLst>
              <a:ext uri="{FF2B5EF4-FFF2-40B4-BE49-F238E27FC236}">
                <a16:creationId xmlns:a16="http://schemas.microsoft.com/office/drawing/2014/main" id="{3F92873E-1F78-00A2-B4DE-B6792CE78246}"/>
              </a:ext>
            </a:extLst>
          </p:cNvPr>
          <p:cNvPicPr/>
          <p:nvPr/>
        </p:nvPicPr>
        <p:blipFill>
          <a:blip r:embed="rId2" cstate="print"/>
          <a:stretch>
            <a:fillRect/>
          </a:stretch>
        </p:blipFill>
        <p:spPr>
          <a:xfrm>
            <a:off x="7696202" y="2514600"/>
            <a:ext cx="3648075" cy="3638550"/>
          </a:xfrm>
          <a:prstGeom prst="rect">
            <a:avLst/>
          </a:prstGeom>
        </p:spPr>
      </p:pic>
      <p:sp>
        <p:nvSpPr>
          <p:cNvPr id="7" name="object 2" descr="$PPTXTitle">
            <a:extLst>
              <a:ext uri="{FF2B5EF4-FFF2-40B4-BE49-F238E27FC236}">
                <a16:creationId xmlns:a16="http://schemas.microsoft.com/office/drawing/2014/main" id="{1CDB7197-CFD1-9EE6-48D6-1548F3EF3981}"/>
              </a:ext>
            </a:extLst>
          </p:cNvPr>
          <p:cNvSpPr txBox="1">
            <a:spLocks/>
          </p:cNvSpPr>
          <p:nvPr/>
        </p:nvSpPr>
        <p:spPr>
          <a:xfrm>
            <a:off x="322006" y="1981200"/>
            <a:ext cx="6250305" cy="2619307"/>
          </a:xfrm>
          <a:prstGeom prst="rect">
            <a:avLst/>
          </a:prstGeom>
        </p:spPr>
        <p:txBody>
          <a:bodyPr vert="horz" wrap="square" lIns="0" tIns="15875" rIns="0" bIns="0" rtlCol="0">
            <a:spAutoFit/>
          </a:bodyPr>
          <a:lstStyle>
            <a:lvl1pPr>
              <a:defRPr sz="2750" b="1" i="0">
                <a:solidFill>
                  <a:schemeClr val="tx1"/>
                </a:solidFill>
                <a:latin typeface="Cambria"/>
                <a:ea typeface="+mj-ea"/>
                <a:cs typeface="Cambria"/>
              </a:defRPr>
            </a:lvl1pPr>
          </a:lstStyle>
          <a:p>
            <a:pPr marL="469900" indent="-457200">
              <a:spcBef>
                <a:spcPts val="125"/>
              </a:spcBef>
              <a:buFont typeface="Wingdings" panose="05000000000000000000" pitchFamily="2" charset="2"/>
              <a:buChar char="Ø"/>
            </a:pPr>
            <a:r>
              <a:rPr lang="en-US" spc="130" dirty="0">
                <a:latin typeface="Times New Roman" panose="02020603050405020304" pitchFamily="18" charset="0"/>
                <a:cs typeface="Times New Roman" panose="02020603050405020304" pitchFamily="18" charset="0"/>
              </a:rPr>
              <a:t>Skimming</a:t>
            </a:r>
            <a:r>
              <a:rPr lang="en-US" spc="135" dirty="0">
                <a:latin typeface="Times New Roman" panose="02020603050405020304" pitchFamily="18" charset="0"/>
                <a:cs typeface="Times New Roman" panose="02020603050405020304" pitchFamily="18" charset="0"/>
              </a:rPr>
              <a:t> </a:t>
            </a:r>
          </a:p>
          <a:p>
            <a:pPr marL="469900" indent="-457200">
              <a:spcBef>
                <a:spcPts val="125"/>
              </a:spcBef>
              <a:buFont typeface="Wingdings" panose="05000000000000000000" pitchFamily="2" charset="2"/>
              <a:buChar char="Ø"/>
            </a:pPr>
            <a:r>
              <a:rPr lang="en-US" spc="130" dirty="0">
                <a:latin typeface="Times New Roman" panose="02020603050405020304" pitchFamily="18" charset="0"/>
                <a:cs typeface="Times New Roman" panose="02020603050405020304" pitchFamily="18" charset="0"/>
              </a:rPr>
              <a:t>Scanning</a:t>
            </a:r>
            <a:r>
              <a:rPr lang="en-US" spc="135" dirty="0">
                <a:latin typeface="Times New Roman" panose="02020603050405020304" pitchFamily="18" charset="0"/>
                <a:cs typeface="Times New Roman" panose="02020603050405020304" pitchFamily="18" charset="0"/>
              </a:rPr>
              <a:t> </a:t>
            </a:r>
            <a:r>
              <a:rPr lang="en-US" spc="140" dirty="0">
                <a:latin typeface="Times New Roman" panose="02020603050405020304" pitchFamily="18" charset="0"/>
                <a:cs typeface="Times New Roman" panose="02020603050405020304" pitchFamily="18" charset="0"/>
              </a:rPr>
              <a:t> </a:t>
            </a:r>
          </a:p>
          <a:p>
            <a:pPr marL="469900" indent="-457200">
              <a:spcBef>
                <a:spcPts val="125"/>
              </a:spcBef>
              <a:buFont typeface="Wingdings" panose="05000000000000000000" pitchFamily="2" charset="2"/>
              <a:buChar char="Ø"/>
            </a:pPr>
            <a:endParaRPr lang="en-US" spc="95" dirty="0">
              <a:latin typeface="Times New Roman" panose="02020603050405020304" pitchFamily="18" charset="0"/>
              <a:cs typeface="Times New Roman" panose="02020603050405020304" pitchFamily="18" charset="0"/>
            </a:endParaRPr>
          </a:p>
          <a:p>
            <a:pPr marL="469900" indent="-457200">
              <a:spcBef>
                <a:spcPts val="125"/>
              </a:spcBef>
              <a:buFont typeface="Wingdings" panose="05000000000000000000" pitchFamily="2" charset="2"/>
              <a:buChar char="Ø"/>
            </a:pPr>
            <a:r>
              <a:rPr lang="en-US" spc="95" dirty="0">
                <a:latin typeface="Times New Roman" panose="02020603050405020304" pitchFamily="18" charset="0"/>
                <a:cs typeface="Times New Roman" panose="02020603050405020304" pitchFamily="18" charset="0"/>
              </a:rPr>
              <a:t>Inferencing</a:t>
            </a:r>
          </a:p>
          <a:p>
            <a:pPr marL="469900" indent="-457200">
              <a:spcBef>
                <a:spcPts val="125"/>
              </a:spcBef>
              <a:buFont typeface="Wingdings" panose="05000000000000000000" pitchFamily="2" charset="2"/>
              <a:buChar char="Ø"/>
            </a:pPr>
            <a:r>
              <a:rPr lang="en-US" spc="95" dirty="0">
                <a:latin typeface="Times New Roman" panose="02020603050405020304" pitchFamily="18" charset="0"/>
                <a:cs typeface="Times New Roman" panose="02020603050405020304" pitchFamily="18" charset="0"/>
              </a:rPr>
              <a:t>Intensive Reading</a:t>
            </a:r>
          </a:p>
          <a:p>
            <a:pPr marL="469900" indent="-457200">
              <a:spcBef>
                <a:spcPts val="125"/>
              </a:spcBef>
              <a:buFont typeface="Wingdings" panose="05000000000000000000" pitchFamily="2" charset="2"/>
              <a:buChar char="Ø"/>
            </a:pPr>
            <a:r>
              <a:rPr lang="en-US" spc="95" dirty="0">
                <a:latin typeface="Times New Roman" panose="02020603050405020304" pitchFamily="18" charset="0"/>
                <a:cs typeface="Times New Roman" panose="02020603050405020304" pitchFamily="18" charset="0"/>
              </a:rPr>
              <a:t>Extensive Reading</a:t>
            </a:r>
          </a:p>
        </p:txBody>
      </p:sp>
      <p:sp>
        <p:nvSpPr>
          <p:cNvPr id="5" name="Right Brace 4">
            <a:extLst>
              <a:ext uri="{FF2B5EF4-FFF2-40B4-BE49-F238E27FC236}">
                <a16:creationId xmlns:a16="http://schemas.microsoft.com/office/drawing/2014/main" id="{FBE0CF75-95B3-DDA0-D159-C90D2D897320}"/>
              </a:ext>
            </a:extLst>
          </p:cNvPr>
          <p:cNvSpPr/>
          <p:nvPr/>
        </p:nvSpPr>
        <p:spPr>
          <a:xfrm>
            <a:off x="2533709" y="2139273"/>
            <a:ext cx="304800" cy="685800"/>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solidFill>
                <a:srgbClr val="C00000"/>
              </a:solidFill>
            </a:endParaRPr>
          </a:p>
        </p:txBody>
      </p:sp>
      <p:sp>
        <p:nvSpPr>
          <p:cNvPr id="8" name="Right Brace 7">
            <a:extLst>
              <a:ext uri="{FF2B5EF4-FFF2-40B4-BE49-F238E27FC236}">
                <a16:creationId xmlns:a16="http://schemas.microsoft.com/office/drawing/2014/main" id="{09445F96-8B7D-3415-074C-D427F8695638}"/>
              </a:ext>
            </a:extLst>
          </p:cNvPr>
          <p:cNvSpPr/>
          <p:nvPr/>
        </p:nvSpPr>
        <p:spPr>
          <a:xfrm>
            <a:off x="3810000" y="3554601"/>
            <a:ext cx="304800" cy="990600"/>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0" name="Title 1">
            <a:extLst>
              <a:ext uri="{FF2B5EF4-FFF2-40B4-BE49-F238E27FC236}">
                <a16:creationId xmlns:a16="http://schemas.microsoft.com/office/drawing/2014/main" id="{A6115455-AD7F-921A-3804-52D37AB70704}"/>
              </a:ext>
            </a:extLst>
          </p:cNvPr>
          <p:cNvSpPr txBox="1">
            <a:spLocks/>
          </p:cNvSpPr>
          <p:nvPr/>
        </p:nvSpPr>
        <p:spPr>
          <a:xfrm>
            <a:off x="2943257" y="2237821"/>
            <a:ext cx="1400143" cy="615553"/>
          </a:xfrm>
          <a:prstGeom prst="rect">
            <a:avLst/>
          </a:prstGeom>
        </p:spPr>
        <p:txBody>
          <a:bodyPr wrap="square" lIns="0" tIns="0" rIns="0" bIns="0">
            <a:spAutoFit/>
          </a:bodyPr>
          <a:lstStyle>
            <a:lvl1pPr>
              <a:defRPr sz="2750" b="1" i="0">
                <a:solidFill>
                  <a:schemeClr val="tx1"/>
                </a:solidFill>
                <a:latin typeface="Cambria"/>
                <a:ea typeface="+mj-ea"/>
                <a:cs typeface="Cambria"/>
              </a:defRPr>
            </a:lvl1pPr>
          </a:lstStyle>
          <a:p>
            <a:r>
              <a:rPr lang="en-US" sz="2000" dirty="0"/>
              <a:t>Macro skills</a:t>
            </a:r>
          </a:p>
        </p:txBody>
      </p:sp>
      <p:sp>
        <p:nvSpPr>
          <p:cNvPr id="12" name="Title 1">
            <a:extLst>
              <a:ext uri="{FF2B5EF4-FFF2-40B4-BE49-F238E27FC236}">
                <a16:creationId xmlns:a16="http://schemas.microsoft.com/office/drawing/2014/main" id="{4DCC9CE3-4700-A7BD-30F0-DADF874CB6D2}"/>
              </a:ext>
            </a:extLst>
          </p:cNvPr>
          <p:cNvSpPr txBox="1">
            <a:spLocks/>
          </p:cNvSpPr>
          <p:nvPr/>
        </p:nvSpPr>
        <p:spPr>
          <a:xfrm>
            <a:off x="4267200" y="3658104"/>
            <a:ext cx="1400143" cy="307777"/>
          </a:xfrm>
          <a:prstGeom prst="rect">
            <a:avLst/>
          </a:prstGeom>
        </p:spPr>
        <p:txBody>
          <a:bodyPr wrap="square" lIns="0" tIns="0" rIns="0" bIns="0">
            <a:spAutoFit/>
          </a:bodyPr>
          <a:lstStyle>
            <a:lvl1pPr>
              <a:defRPr sz="2750" b="1" i="0">
                <a:solidFill>
                  <a:schemeClr val="tx1"/>
                </a:solidFill>
                <a:latin typeface="Cambria"/>
                <a:ea typeface="+mj-ea"/>
                <a:cs typeface="Cambria"/>
              </a:defRPr>
            </a:lvl1pPr>
          </a:lstStyle>
          <a:p>
            <a:r>
              <a:rPr lang="en-US" sz="2000" dirty="0"/>
              <a:t>Micro skills</a:t>
            </a:r>
          </a:p>
        </p:txBody>
      </p:sp>
    </p:spTree>
    <p:extLst>
      <p:ext uri="{BB962C8B-B14F-4D97-AF65-F5344CB8AC3E}">
        <p14:creationId xmlns:p14="http://schemas.microsoft.com/office/powerpoint/2010/main" val="724380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56036D-3821-F99C-A2C9-A5FFB78118DD}"/>
            </a:ext>
          </a:extLst>
        </p:cNvPr>
        <p:cNvGrpSpPr/>
        <p:nvPr/>
      </p:nvGrpSpPr>
      <p:grpSpPr>
        <a:xfrm>
          <a:off x="0" y="0"/>
          <a:ext cx="0" cy="0"/>
          <a:chOff x="0" y="0"/>
          <a:chExt cx="0" cy="0"/>
        </a:xfrm>
      </p:grpSpPr>
      <p:pic>
        <p:nvPicPr>
          <p:cNvPr id="2" name="object 2">
            <a:extLst>
              <a:ext uri="{FF2B5EF4-FFF2-40B4-BE49-F238E27FC236}">
                <a16:creationId xmlns:a16="http://schemas.microsoft.com/office/drawing/2014/main" id="{CE747E40-B877-96A8-94CF-E51F54232CE6}"/>
              </a:ext>
            </a:extLst>
          </p:cNvPr>
          <p:cNvPicPr/>
          <p:nvPr/>
        </p:nvPicPr>
        <p:blipFill>
          <a:blip r:embed="rId2" cstate="print"/>
          <a:stretch>
            <a:fillRect/>
          </a:stretch>
        </p:blipFill>
        <p:spPr>
          <a:xfrm>
            <a:off x="1188745" y="987044"/>
            <a:ext cx="2302865" cy="521334"/>
          </a:xfrm>
          <a:prstGeom prst="rect">
            <a:avLst/>
          </a:prstGeom>
        </p:spPr>
      </p:pic>
      <p:pic>
        <p:nvPicPr>
          <p:cNvPr id="3" name="object 3">
            <a:extLst>
              <a:ext uri="{FF2B5EF4-FFF2-40B4-BE49-F238E27FC236}">
                <a16:creationId xmlns:a16="http://schemas.microsoft.com/office/drawing/2014/main" id="{CD666824-9A45-E362-C2BD-DC3F2D960763}"/>
              </a:ext>
            </a:extLst>
          </p:cNvPr>
          <p:cNvPicPr/>
          <p:nvPr/>
        </p:nvPicPr>
        <p:blipFill>
          <a:blip r:embed="rId3" cstate="print"/>
          <a:stretch>
            <a:fillRect/>
          </a:stretch>
        </p:blipFill>
        <p:spPr>
          <a:xfrm>
            <a:off x="3733419" y="995299"/>
            <a:ext cx="2861055" cy="504698"/>
          </a:xfrm>
          <a:prstGeom prst="rect">
            <a:avLst/>
          </a:prstGeom>
        </p:spPr>
      </p:pic>
      <p:sp>
        <p:nvSpPr>
          <p:cNvPr id="4" name="object 4">
            <a:extLst>
              <a:ext uri="{FF2B5EF4-FFF2-40B4-BE49-F238E27FC236}">
                <a16:creationId xmlns:a16="http://schemas.microsoft.com/office/drawing/2014/main" id="{E7F59D96-AFB1-EDB4-9E84-9062527E5186}"/>
              </a:ext>
            </a:extLst>
          </p:cNvPr>
          <p:cNvSpPr txBox="1"/>
          <p:nvPr/>
        </p:nvSpPr>
        <p:spPr>
          <a:xfrm>
            <a:off x="609600" y="2347912"/>
            <a:ext cx="5156835" cy="2686633"/>
          </a:xfrm>
          <a:prstGeom prst="rect">
            <a:avLst/>
          </a:prstGeom>
        </p:spPr>
        <p:txBody>
          <a:bodyPr vert="horz" wrap="square" lIns="0" tIns="153670" rIns="0" bIns="0" rtlCol="0">
            <a:spAutoFit/>
          </a:bodyPr>
          <a:lstStyle/>
          <a:p>
            <a:pPr marL="195580" indent="-182880">
              <a:lnSpc>
                <a:spcPct val="100000"/>
              </a:lnSpc>
              <a:spcBef>
                <a:spcPts val="1210"/>
              </a:spcBef>
              <a:buClr>
                <a:srgbClr val="9E3611"/>
              </a:buClr>
              <a:buSzPct val="84375"/>
              <a:buFont typeface="Wingdings"/>
              <a:buChar char=""/>
              <a:tabLst>
                <a:tab pos="195580" algn="l"/>
              </a:tabLst>
            </a:pPr>
            <a:r>
              <a:rPr sz="3200" b="1" spc="45" dirty="0">
                <a:latin typeface="Times New Roman" panose="02020603050405020304" pitchFamily="18" charset="0"/>
                <a:cs typeface="Times New Roman" panose="02020603050405020304" pitchFamily="18" charset="0"/>
              </a:rPr>
              <a:t>Focus</a:t>
            </a:r>
            <a:r>
              <a:rPr sz="2750" b="1" spc="45" dirty="0">
                <a:latin typeface="Times New Roman" panose="02020603050405020304" pitchFamily="18" charset="0"/>
                <a:cs typeface="Times New Roman" panose="02020603050405020304" pitchFamily="18" charset="0"/>
              </a:rPr>
              <a:t>:</a:t>
            </a:r>
            <a:endParaRPr sz="2750" b="1" dirty="0">
              <a:latin typeface="Times New Roman" panose="02020603050405020304" pitchFamily="18" charset="0"/>
              <a:cs typeface="Times New Roman" panose="02020603050405020304" pitchFamily="18" charset="0"/>
            </a:endParaRPr>
          </a:p>
          <a:p>
            <a:pPr marL="195580" indent="-182880">
              <a:lnSpc>
                <a:spcPct val="100000"/>
              </a:lnSpc>
              <a:spcBef>
                <a:spcPts val="965"/>
              </a:spcBef>
              <a:buClr>
                <a:srgbClr val="9E3611"/>
              </a:buClr>
              <a:buSzPct val="87272"/>
              <a:buFont typeface="Wingdings"/>
              <a:buChar char=""/>
              <a:tabLst>
                <a:tab pos="195580" algn="l"/>
              </a:tabLst>
            </a:pPr>
            <a:r>
              <a:rPr sz="2750" dirty="0">
                <a:latin typeface="Times New Roman" panose="02020603050405020304" pitchFamily="18" charset="0"/>
                <a:cs typeface="Times New Roman" panose="02020603050405020304" pitchFamily="18" charset="0"/>
              </a:rPr>
              <a:t>To</a:t>
            </a:r>
            <a:r>
              <a:rPr sz="2750" spc="105" dirty="0">
                <a:latin typeface="Times New Roman" panose="02020603050405020304" pitchFamily="18" charset="0"/>
                <a:cs typeface="Times New Roman" panose="02020603050405020304" pitchFamily="18" charset="0"/>
              </a:rPr>
              <a:t> </a:t>
            </a:r>
            <a:r>
              <a:rPr sz="2750" spc="160" dirty="0">
                <a:latin typeface="Times New Roman" panose="02020603050405020304" pitchFamily="18" charset="0"/>
                <a:cs typeface="Times New Roman" panose="02020603050405020304" pitchFamily="18" charset="0"/>
              </a:rPr>
              <a:t>get</a:t>
            </a:r>
            <a:r>
              <a:rPr sz="2750" spc="40" dirty="0">
                <a:latin typeface="Times New Roman" panose="02020603050405020304" pitchFamily="18" charset="0"/>
                <a:cs typeface="Times New Roman" panose="02020603050405020304" pitchFamily="18" charset="0"/>
              </a:rPr>
              <a:t> </a:t>
            </a:r>
            <a:r>
              <a:rPr sz="2750" spc="130" dirty="0">
                <a:latin typeface="Times New Roman" panose="02020603050405020304" pitchFamily="18" charset="0"/>
                <a:cs typeface="Times New Roman" panose="02020603050405020304" pitchFamily="18" charset="0"/>
              </a:rPr>
              <a:t>a</a:t>
            </a:r>
            <a:r>
              <a:rPr sz="2750" spc="155" dirty="0">
                <a:latin typeface="Times New Roman" panose="02020603050405020304" pitchFamily="18" charset="0"/>
                <a:cs typeface="Times New Roman" panose="02020603050405020304" pitchFamily="18" charset="0"/>
              </a:rPr>
              <a:t> </a:t>
            </a:r>
            <a:r>
              <a:rPr sz="2750" spc="70" dirty="0">
                <a:solidFill>
                  <a:srgbClr val="C00000"/>
                </a:solidFill>
                <a:latin typeface="Times New Roman" panose="02020603050405020304" pitchFamily="18" charset="0"/>
                <a:cs typeface="Times New Roman" panose="02020603050405020304" pitchFamily="18" charset="0"/>
              </a:rPr>
              <a:t>bird’s</a:t>
            </a:r>
            <a:r>
              <a:rPr sz="2750" spc="50" dirty="0">
                <a:solidFill>
                  <a:srgbClr val="C00000"/>
                </a:solidFill>
                <a:latin typeface="Times New Roman" panose="02020603050405020304" pitchFamily="18" charset="0"/>
                <a:cs typeface="Times New Roman" panose="02020603050405020304" pitchFamily="18" charset="0"/>
              </a:rPr>
              <a:t> </a:t>
            </a:r>
            <a:r>
              <a:rPr sz="2750" spc="145" dirty="0">
                <a:solidFill>
                  <a:srgbClr val="C00000"/>
                </a:solidFill>
                <a:latin typeface="Times New Roman" panose="02020603050405020304" pitchFamily="18" charset="0"/>
                <a:cs typeface="Times New Roman" panose="02020603050405020304" pitchFamily="18" charset="0"/>
              </a:rPr>
              <a:t>eye</a:t>
            </a:r>
            <a:r>
              <a:rPr sz="2750" spc="110" dirty="0">
                <a:solidFill>
                  <a:srgbClr val="C00000"/>
                </a:solidFill>
                <a:latin typeface="Times New Roman" panose="02020603050405020304" pitchFamily="18" charset="0"/>
                <a:cs typeface="Times New Roman" panose="02020603050405020304" pitchFamily="18" charset="0"/>
              </a:rPr>
              <a:t> </a:t>
            </a:r>
            <a:r>
              <a:rPr sz="2750" spc="55" dirty="0">
                <a:solidFill>
                  <a:srgbClr val="C00000"/>
                </a:solidFill>
                <a:latin typeface="Times New Roman" panose="02020603050405020304" pitchFamily="18" charset="0"/>
                <a:cs typeface="Times New Roman" panose="02020603050405020304" pitchFamily="18" charset="0"/>
              </a:rPr>
              <a:t>view</a:t>
            </a:r>
            <a:endParaRPr sz="2750" dirty="0">
              <a:solidFill>
                <a:srgbClr val="C00000"/>
              </a:solidFill>
              <a:latin typeface="Times New Roman" panose="02020603050405020304" pitchFamily="18" charset="0"/>
              <a:cs typeface="Times New Roman" panose="02020603050405020304" pitchFamily="18" charset="0"/>
            </a:endParaRPr>
          </a:p>
          <a:p>
            <a:pPr marL="194310" marR="5080" indent="-182245">
              <a:lnSpc>
                <a:spcPts val="3000"/>
              </a:lnSpc>
              <a:spcBef>
                <a:spcPts val="1255"/>
              </a:spcBef>
              <a:buClr>
                <a:srgbClr val="9E3611"/>
              </a:buClr>
              <a:buSzPct val="87272"/>
              <a:buFont typeface="Wingdings"/>
              <a:buChar char=""/>
              <a:tabLst>
                <a:tab pos="195580" algn="l"/>
              </a:tabLst>
            </a:pPr>
            <a:r>
              <a:rPr sz="2750" dirty="0">
                <a:latin typeface="Times New Roman" panose="02020603050405020304" pitchFamily="18" charset="0"/>
                <a:cs typeface="Times New Roman" panose="02020603050405020304" pitchFamily="18" charset="0"/>
              </a:rPr>
              <a:t>Fast</a:t>
            </a:r>
            <a:r>
              <a:rPr sz="2750" spc="70" dirty="0">
                <a:latin typeface="Times New Roman" panose="02020603050405020304" pitchFamily="18" charset="0"/>
                <a:cs typeface="Times New Roman" panose="02020603050405020304" pitchFamily="18" charset="0"/>
              </a:rPr>
              <a:t> </a:t>
            </a:r>
            <a:r>
              <a:rPr sz="2750" spc="140" dirty="0">
                <a:latin typeface="Times New Roman" panose="02020603050405020304" pitchFamily="18" charset="0"/>
                <a:cs typeface="Times New Roman" panose="02020603050405020304" pitchFamily="18" charset="0"/>
              </a:rPr>
              <a:t>reading</a:t>
            </a:r>
            <a:r>
              <a:rPr sz="2750" spc="75" dirty="0">
                <a:latin typeface="Times New Roman" panose="02020603050405020304" pitchFamily="18" charset="0"/>
                <a:cs typeface="Times New Roman" panose="02020603050405020304" pitchFamily="18" charset="0"/>
              </a:rPr>
              <a:t> </a:t>
            </a:r>
            <a:r>
              <a:rPr sz="2750" dirty="0">
                <a:latin typeface="Times New Roman" panose="02020603050405020304" pitchFamily="18" charset="0"/>
                <a:cs typeface="Times New Roman" panose="02020603050405020304" pitchFamily="18" charset="0"/>
              </a:rPr>
              <a:t>to</a:t>
            </a:r>
            <a:r>
              <a:rPr sz="2750" spc="70" dirty="0">
                <a:latin typeface="Times New Roman" panose="02020603050405020304" pitchFamily="18" charset="0"/>
                <a:cs typeface="Times New Roman" panose="02020603050405020304" pitchFamily="18" charset="0"/>
              </a:rPr>
              <a:t> </a:t>
            </a:r>
            <a:r>
              <a:rPr sz="2750" spc="160" dirty="0">
                <a:latin typeface="Times New Roman" panose="02020603050405020304" pitchFamily="18" charset="0"/>
                <a:cs typeface="Times New Roman" panose="02020603050405020304" pitchFamily="18" charset="0"/>
              </a:rPr>
              <a:t>get</a:t>
            </a:r>
            <a:r>
              <a:rPr sz="2750" spc="150" dirty="0">
                <a:latin typeface="Times New Roman" panose="02020603050405020304" pitchFamily="18" charset="0"/>
                <a:cs typeface="Times New Roman" panose="02020603050405020304" pitchFamily="18" charset="0"/>
              </a:rPr>
              <a:t> </a:t>
            </a:r>
            <a:r>
              <a:rPr sz="2750" spc="90" dirty="0">
                <a:latin typeface="Times New Roman" panose="02020603050405020304" pitchFamily="18" charset="0"/>
                <a:cs typeface="Times New Roman" panose="02020603050405020304" pitchFamily="18" charset="0"/>
              </a:rPr>
              <a:t>the</a:t>
            </a:r>
            <a:r>
              <a:rPr sz="2750" spc="70" dirty="0">
                <a:latin typeface="Times New Roman" panose="02020603050405020304" pitchFamily="18" charset="0"/>
                <a:cs typeface="Times New Roman" panose="02020603050405020304" pitchFamily="18" charset="0"/>
              </a:rPr>
              <a:t> </a:t>
            </a:r>
            <a:r>
              <a:rPr sz="2750" spc="135" dirty="0">
                <a:latin typeface="Times New Roman" panose="02020603050405020304" pitchFamily="18" charset="0"/>
                <a:cs typeface="Times New Roman" panose="02020603050405020304" pitchFamily="18" charset="0"/>
              </a:rPr>
              <a:t>general 	</a:t>
            </a:r>
            <a:r>
              <a:rPr sz="2750" spc="145" dirty="0">
                <a:latin typeface="Times New Roman" panose="02020603050405020304" pitchFamily="18" charset="0"/>
                <a:cs typeface="Times New Roman" panose="02020603050405020304" pitchFamily="18" charset="0"/>
              </a:rPr>
              <a:t>idea</a:t>
            </a:r>
            <a:r>
              <a:rPr lang="en-US" sz="2750" spc="145" dirty="0">
                <a:latin typeface="Times New Roman" panose="02020603050405020304" pitchFamily="18" charset="0"/>
                <a:cs typeface="Times New Roman" panose="02020603050405020304" pitchFamily="18" charset="0"/>
              </a:rPr>
              <a:t>/Overview</a:t>
            </a:r>
          </a:p>
          <a:p>
            <a:pPr marL="194310" marR="5080" indent="-182245">
              <a:lnSpc>
                <a:spcPts val="3000"/>
              </a:lnSpc>
              <a:spcBef>
                <a:spcPts val="1255"/>
              </a:spcBef>
              <a:buClr>
                <a:srgbClr val="9E3611"/>
              </a:buClr>
              <a:buSzPct val="87272"/>
              <a:buFont typeface="Wingdings"/>
              <a:buChar char=""/>
              <a:tabLst>
                <a:tab pos="195580" algn="l"/>
              </a:tabLst>
            </a:pPr>
            <a:r>
              <a:rPr lang="en-US" sz="2750" dirty="0">
                <a:latin typeface="Times New Roman" panose="02020603050405020304" pitchFamily="18" charset="0"/>
                <a:cs typeface="Times New Roman" panose="02020603050405020304" pitchFamily="18" charset="0"/>
              </a:rPr>
              <a:t>Running eyes along the page.</a:t>
            </a:r>
            <a:endParaRPr sz="2750" dirty="0">
              <a:latin typeface="Times New Roman" panose="02020603050405020304" pitchFamily="18" charset="0"/>
              <a:cs typeface="Times New Roman" panose="02020603050405020304" pitchFamily="18" charset="0"/>
            </a:endParaRPr>
          </a:p>
        </p:txBody>
      </p:sp>
      <p:sp>
        <p:nvSpPr>
          <p:cNvPr id="5" name="object 5" descr="$PPTXTitle">
            <a:extLst>
              <a:ext uri="{FF2B5EF4-FFF2-40B4-BE49-F238E27FC236}">
                <a16:creationId xmlns:a16="http://schemas.microsoft.com/office/drawing/2014/main" id="{FA64D06B-BF8C-5338-3496-280B4BA52944}"/>
              </a:ext>
            </a:extLst>
          </p:cNvPr>
          <p:cNvSpPr txBox="1">
            <a:spLocks noGrp="1"/>
          </p:cNvSpPr>
          <p:nvPr>
            <p:ph type="title"/>
          </p:nvPr>
        </p:nvSpPr>
        <p:spPr>
          <a:xfrm>
            <a:off x="7467600" y="2089149"/>
            <a:ext cx="4187190" cy="517525"/>
          </a:xfrm>
          <a:prstGeom prst="rect">
            <a:avLst/>
          </a:prstGeom>
        </p:spPr>
        <p:txBody>
          <a:bodyPr vert="horz" wrap="square" lIns="0" tIns="15875" rIns="0" bIns="0" rtlCol="0">
            <a:spAutoFit/>
          </a:bodyPr>
          <a:lstStyle/>
          <a:p>
            <a:pPr marL="12700">
              <a:lnSpc>
                <a:spcPct val="100000"/>
              </a:lnSpc>
              <a:spcBef>
                <a:spcPts val="125"/>
              </a:spcBef>
            </a:pPr>
            <a:r>
              <a:rPr sz="3200" spc="95" dirty="0">
                <a:latin typeface="Times New Roman" panose="02020603050405020304" pitchFamily="18" charset="0"/>
                <a:cs typeface="Times New Roman" panose="02020603050405020304" pitchFamily="18" charset="0"/>
              </a:rPr>
              <a:t>Techniques</a:t>
            </a:r>
            <a:r>
              <a:rPr sz="2400" b="0" spc="95" dirty="0">
                <a:latin typeface="Times New Roman" panose="02020603050405020304" pitchFamily="18" charset="0"/>
                <a:cs typeface="Times New Roman" panose="02020603050405020304" pitchFamily="18" charset="0"/>
              </a:rPr>
              <a:t>:</a:t>
            </a:r>
            <a:r>
              <a:rPr sz="2400" b="0" spc="-114" dirty="0">
                <a:latin typeface="Times New Roman" panose="02020603050405020304" pitchFamily="18" charset="0"/>
                <a:cs typeface="Times New Roman" panose="02020603050405020304" pitchFamily="18" charset="0"/>
              </a:rPr>
              <a:t> </a:t>
            </a:r>
            <a:r>
              <a:rPr b="0" spc="130" dirty="0">
                <a:latin typeface="Times New Roman" panose="02020603050405020304" pitchFamily="18" charset="0"/>
                <a:cs typeface="Times New Roman" panose="02020603050405020304" pitchFamily="18" charset="0"/>
              </a:rPr>
              <a:t>reading</a:t>
            </a:r>
            <a:r>
              <a:rPr b="0" spc="170" dirty="0">
                <a:latin typeface="Times New Roman" panose="02020603050405020304" pitchFamily="18" charset="0"/>
                <a:cs typeface="Times New Roman" panose="02020603050405020304" pitchFamily="18" charset="0"/>
              </a:rPr>
              <a:t> </a:t>
            </a:r>
            <a:r>
              <a:rPr b="0" spc="65" dirty="0">
                <a:latin typeface="Times New Roman" panose="02020603050405020304" pitchFamily="18" charset="0"/>
                <a:cs typeface="Times New Roman" panose="02020603050405020304" pitchFamily="18" charset="0"/>
              </a:rPr>
              <a:t>the</a:t>
            </a:r>
            <a:endParaRPr sz="2400" dirty="0">
              <a:latin typeface="Times New Roman" panose="02020603050405020304" pitchFamily="18" charset="0"/>
              <a:cs typeface="Times New Roman" panose="02020603050405020304" pitchFamily="18" charset="0"/>
            </a:endParaRPr>
          </a:p>
        </p:txBody>
      </p:sp>
      <p:sp>
        <p:nvSpPr>
          <p:cNvPr id="6" name="object 6">
            <a:extLst>
              <a:ext uri="{FF2B5EF4-FFF2-40B4-BE49-F238E27FC236}">
                <a16:creationId xmlns:a16="http://schemas.microsoft.com/office/drawing/2014/main" id="{726C31A0-143A-F4EB-14A3-1CDF21559729}"/>
              </a:ext>
            </a:extLst>
          </p:cNvPr>
          <p:cNvSpPr txBox="1"/>
          <p:nvPr/>
        </p:nvSpPr>
        <p:spPr>
          <a:xfrm>
            <a:off x="7467600" y="2667000"/>
            <a:ext cx="4474210" cy="2585720"/>
          </a:xfrm>
          <a:prstGeom prst="rect">
            <a:avLst/>
          </a:prstGeom>
        </p:spPr>
        <p:txBody>
          <a:bodyPr vert="horz" wrap="square" lIns="0" tIns="16510" rIns="0" bIns="0" rtlCol="0">
            <a:spAutoFit/>
          </a:bodyPr>
          <a:lstStyle/>
          <a:p>
            <a:pPr marL="471170" indent="-458470">
              <a:lnSpc>
                <a:spcPct val="100000"/>
              </a:lnSpc>
              <a:spcBef>
                <a:spcPts val="130"/>
              </a:spcBef>
              <a:buSzPct val="96363"/>
              <a:buAutoNum type="arabicParenBoth"/>
              <a:tabLst>
                <a:tab pos="471170" algn="l"/>
              </a:tabLst>
            </a:pPr>
            <a:r>
              <a:rPr sz="2750" spc="-10" dirty="0">
                <a:solidFill>
                  <a:srgbClr val="001F5F"/>
                </a:solidFill>
                <a:latin typeface="Times New Roman" panose="02020603050405020304" pitchFamily="18" charset="0"/>
                <a:cs typeface="Times New Roman" panose="02020603050405020304" pitchFamily="18" charset="0"/>
              </a:rPr>
              <a:t>Title</a:t>
            </a:r>
            <a:endParaRPr sz="2750" dirty="0">
              <a:latin typeface="Times New Roman" panose="02020603050405020304" pitchFamily="18" charset="0"/>
              <a:cs typeface="Times New Roman" panose="02020603050405020304" pitchFamily="18" charset="0"/>
            </a:endParaRPr>
          </a:p>
          <a:p>
            <a:pPr marL="471170" indent="-458470">
              <a:lnSpc>
                <a:spcPct val="100000"/>
              </a:lnSpc>
              <a:buSzPct val="96363"/>
              <a:buAutoNum type="arabicParenBoth"/>
              <a:tabLst>
                <a:tab pos="471170" algn="l"/>
              </a:tabLst>
            </a:pPr>
            <a:r>
              <a:rPr sz="2750" spc="55" dirty="0">
                <a:solidFill>
                  <a:srgbClr val="001F5F"/>
                </a:solidFill>
                <a:latin typeface="Times New Roman" panose="02020603050405020304" pitchFamily="18" charset="0"/>
                <a:cs typeface="Times New Roman" panose="02020603050405020304" pitchFamily="18" charset="0"/>
              </a:rPr>
              <a:t>Introduct</a:t>
            </a:r>
            <a:r>
              <a:rPr lang="en-US" sz="2750" spc="55" dirty="0">
                <a:solidFill>
                  <a:srgbClr val="001F5F"/>
                </a:solidFill>
                <a:latin typeface="Times New Roman" panose="02020603050405020304" pitchFamily="18" charset="0"/>
                <a:cs typeface="Times New Roman" panose="02020603050405020304" pitchFamily="18" charset="0"/>
              </a:rPr>
              <a:t>i</a:t>
            </a:r>
            <a:r>
              <a:rPr sz="2750" spc="55" dirty="0">
                <a:solidFill>
                  <a:srgbClr val="001F5F"/>
                </a:solidFill>
                <a:latin typeface="Times New Roman" panose="02020603050405020304" pitchFamily="18" charset="0"/>
                <a:cs typeface="Times New Roman" panose="02020603050405020304" pitchFamily="18" charset="0"/>
              </a:rPr>
              <a:t>on</a:t>
            </a:r>
            <a:endParaRPr sz="2750" dirty="0">
              <a:latin typeface="Times New Roman" panose="02020603050405020304" pitchFamily="18" charset="0"/>
              <a:cs typeface="Times New Roman" panose="02020603050405020304" pitchFamily="18" charset="0"/>
            </a:endParaRPr>
          </a:p>
          <a:p>
            <a:pPr marL="471170" indent="-458470">
              <a:lnSpc>
                <a:spcPct val="100000"/>
              </a:lnSpc>
              <a:spcBef>
                <a:spcPts val="85"/>
              </a:spcBef>
              <a:buSzPct val="96363"/>
              <a:buAutoNum type="arabicParenBoth"/>
              <a:tabLst>
                <a:tab pos="471170" algn="l"/>
              </a:tabLst>
            </a:pPr>
            <a:r>
              <a:rPr lang="en-US" sz="2750" spc="105" dirty="0">
                <a:solidFill>
                  <a:srgbClr val="001F5F"/>
                </a:solidFill>
                <a:latin typeface="Times New Roman" panose="02020603050405020304" pitchFamily="18" charset="0"/>
                <a:cs typeface="Times New Roman" panose="02020603050405020304" pitchFamily="18" charset="0"/>
              </a:rPr>
              <a:t>C</a:t>
            </a:r>
            <a:r>
              <a:rPr sz="2750" spc="105" dirty="0">
                <a:solidFill>
                  <a:srgbClr val="001F5F"/>
                </a:solidFill>
                <a:latin typeface="Times New Roman" panose="02020603050405020304" pitchFamily="18" charset="0"/>
                <a:cs typeface="Times New Roman" panose="02020603050405020304" pitchFamily="18" charset="0"/>
              </a:rPr>
              <a:t>onclusion</a:t>
            </a:r>
            <a:endParaRPr sz="2750" dirty="0">
              <a:latin typeface="Times New Roman" panose="02020603050405020304" pitchFamily="18" charset="0"/>
              <a:cs typeface="Times New Roman" panose="02020603050405020304" pitchFamily="18" charset="0"/>
            </a:endParaRPr>
          </a:p>
          <a:p>
            <a:pPr marL="471170" indent="-458470">
              <a:lnSpc>
                <a:spcPct val="100000"/>
              </a:lnSpc>
              <a:spcBef>
                <a:spcPts val="75"/>
              </a:spcBef>
              <a:buSzPct val="96363"/>
              <a:buAutoNum type="arabicParenBoth"/>
              <a:tabLst>
                <a:tab pos="471170" algn="l"/>
              </a:tabLst>
            </a:pPr>
            <a:r>
              <a:rPr sz="2750" spc="160" dirty="0">
                <a:solidFill>
                  <a:srgbClr val="001F5F"/>
                </a:solidFill>
                <a:latin typeface="Times New Roman" panose="02020603050405020304" pitchFamily="18" charset="0"/>
                <a:cs typeface="Times New Roman" panose="02020603050405020304" pitchFamily="18" charset="0"/>
              </a:rPr>
              <a:t>Headings</a:t>
            </a:r>
            <a:r>
              <a:rPr sz="2750" spc="80" dirty="0">
                <a:solidFill>
                  <a:srgbClr val="001F5F"/>
                </a:solidFill>
                <a:latin typeface="Times New Roman" panose="02020603050405020304" pitchFamily="18" charset="0"/>
                <a:cs typeface="Times New Roman" panose="02020603050405020304" pitchFamily="18" charset="0"/>
              </a:rPr>
              <a:t> </a:t>
            </a:r>
            <a:r>
              <a:rPr sz="2750" spc="100" dirty="0">
                <a:solidFill>
                  <a:srgbClr val="001F5F"/>
                </a:solidFill>
                <a:latin typeface="Times New Roman" panose="02020603050405020304" pitchFamily="18" charset="0"/>
                <a:cs typeface="Times New Roman" panose="02020603050405020304" pitchFamily="18" charset="0"/>
              </a:rPr>
              <a:t>and</a:t>
            </a:r>
            <a:endParaRPr sz="2750" dirty="0">
              <a:latin typeface="Times New Roman" panose="02020603050405020304" pitchFamily="18" charset="0"/>
              <a:cs typeface="Times New Roman" panose="02020603050405020304" pitchFamily="18" charset="0"/>
            </a:endParaRPr>
          </a:p>
          <a:p>
            <a:pPr marL="355600" marR="5080" indent="-342900">
              <a:lnSpc>
                <a:spcPts val="3379"/>
              </a:lnSpc>
              <a:spcBef>
                <a:spcPts val="105"/>
              </a:spcBef>
              <a:buSzPct val="96363"/>
              <a:buAutoNum type="arabicParenBoth"/>
              <a:tabLst>
                <a:tab pos="355600" algn="l"/>
                <a:tab pos="471170" algn="l"/>
              </a:tabLst>
            </a:pPr>
            <a:r>
              <a:rPr lang="en-US" sz="2750" spc="90" dirty="0">
                <a:solidFill>
                  <a:srgbClr val="001F5F"/>
                </a:solidFill>
                <a:latin typeface="Times New Roman" panose="02020603050405020304" pitchFamily="18" charset="0"/>
                <a:cs typeface="Times New Roman" panose="02020603050405020304" pitchFamily="18" charset="0"/>
              </a:rPr>
              <a:t>T</a:t>
            </a:r>
            <a:r>
              <a:rPr sz="2750" spc="90" dirty="0">
                <a:solidFill>
                  <a:srgbClr val="001F5F"/>
                </a:solidFill>
                <a:latin typeface="Times New Roman" panose="02020603050405020304" pitchFamily="18" charset="0"/>
                <a:cs typeface="Times New Roman" panose="02020603050405020304" pitchFamily="18" charset="0"/>
              </a:rPr>
              <a:t>he</a:t>
            </a:r>
            <a:r>
              <a:rPr sz="2750" spc="55" dirty="0">
                <a:solidFill>
                  <a:srgbClr val="001F5F"/>
                </a:solidFill>
                <a:latin typeface="Times New Roman" panose="02020603050405020304" pitchFamily="18" charset="0"/>
                <a:cs typeface="Times New Roman" panose="02020603050405020304" pitchFamily="18" charset="0"/>
              </a:rPr>
              <a:t> </a:t>
            </a:r>
            <a:r>
              <a:rPr sz="2750" dirty="0">
                <a:solidFill>
                  <a:srgbClr val="001F5F"/>
                </a:solidFill>
                <a:latin typeface="Times New Roman" panose="02020603050405020304" pitchFamily="18" charset="0"/>
                <a:cs typeface="Times New Roman" panose="02020603050405020304" pitchFamily="18" charset="0"/>
              </a:rPr>
              <a:t>first</a:t>
            </a:r>
            <a:r>
              <a:rPr sz="2750" spc="150" dirty="0">
                <a:solidFill>
                  <a:srgbClr val="001F5F"/>
                </a:solidFill>
                <a:latin typeface="Times New Roman" panose="02020603050405020304" pitchFamily="18" charset="0"/>
                <a:cs typeface="Times New Roman" panose="02020603050405020304" pitchFamily="18" charset="0"/>
              </a:rPr>
              <a:t> </a:t>
            </a:r>
            <a:r>
              <a:rPr sz="2750" spc="125" dirty="0">
                <a:solidFill>
                  <a:srgbClr val="001F5F"/>
                </a:solidFill>
                <a:latin typeface="Times New Roman" panose="02020603050405020304" pitchFamily="18" charset="0"/>
                <a:cs typeface="Times New Roman" panose="02020603050405020304" pitchFamily="18" charset="0"/>
              </a:rPr>
              <a:t>and</a:t>
            </a:r>
            <a:r>
              <a:rPr sz="2750" spc="155" dirty="0">
                <a:solidFill>
                  <a:srgbClr val="001F5F"/>
                </a:solidFill>
                <a:latin typeface="Times New Roman" panose="02020603050405020304" pitchFamily="18" charset="0"/>
                <a:cs typeface="Times New Roman" panose="02020603050405020304" pitchFamily="18" charset="0"/>
              </a:rPr>
              <a:t> </a:t>
            </a:r>
            <a:r>
              <a:rPr sz="2750" spc="-20" dirty="0">
                <a:solidFill>
                  <a:srgbClr val="001F5F"/>
                </a:solidFill>
                <a:latin typeface="Times New Roman" panose="02020603050405020304" pitchFamily="18" charset="0"/>
                <a:cs typeface="Times New Roman" panose="02020603050405020304" pitchFamily="18" charset="0"/>
              </a:rPr>
              <a:t>last </a:t>
            </a:r>
            <a:r>
              <a:rPr sz="2750" spc="135" dirty="0">
                <a:solidFill>
                  <a:srgbClr val="001F5F"/>
                </a:solidFill>
                <a:latin typeface="Times New Roman" panose="02020603050405020304" pitchFamily="18" charset="0"/>
                <a:cs typeface="Times New Roman" panose="02020603050405020304" pitchFamily="18" charset="0"/>
              </a:rPr>
              <a:t>sentences</a:t>
            </a:r>
            <a:r>
              <a:rPr sz="2750" spc="80" dirty="0">
                <a:solidFill>
                  <a:srgbClr val="001F5F"/>
                </a:solidFill>
                <a:latin typeface="Times New Roman" panose="02020603050405020304" pitchFamily="18" charset="0"/>
                <a:cs typeface="Times New Roman" panose="02020603050405020304" pitchFamily="18" charset="0"/>
              </a:rPr>
              <a:t> </a:t>
            </a:r>
            <a:r>
              <a:rPr sz="2750" spc="65" dirty="0">
                <a:solidFill>
                  <a:srgbClr val="001F5F"/>
                </a:solidFill>
                <a:latin typeface="Times New Roman" panose="02020603050405020304" pitchFamily="18" charset="0"/>
                <a:cs typeface="Times New Roman" panose="02020603050405020304" pitchFamily="18" charset="0"/>
              </a:rPr>
              <a:t>of</a:t>
            </a:r>
            <a:r>
              <a:rPr sz="2750" spc="90" dirty="0">
                <a:solidFill>
                  <a:srgbClr val="001F5F"/>
                </a:solidFill>
                <a:latin typeface="Times New Roman" panose="02020603050405020304" pitchFamily="18" charset="0"/>
                <a:cs typeface="Times New Roman" panose="02020603050405020304" pitchFamily="18" charset="0"/>
              </a:rPr>
              <a:t> </a:t>
            </a:r>
            <a:r>
              <a:rPr sz="2750" spc="125" dirty="0">
                <a:solidFill>
                  <a:srgbClr val="001F5F"/>
                </a:solidFill>
                <a:latin typeface="Times New Roman" panose="02020603050405020304" pitchFamily="18" charset="0"/>
                <a:cs typeface="Times New Roman" panose="02020603050405020304" pitchFamily="18" charset="0"/>
              </a:rPr>
              <a:t>paragraphs.</a:t>
            </a:r>
            <a:endParaRPr sz="2750" dirty="0">
              <a:latin typeface="Times New Roman" panose="02020603050405020304" pitchFamily="18" charset="0"/>
              <a:cs typeface="Times New Roman" panose="02020603050405020304" pitchFamily="18" charset="0"/>
            </a:endParaRPr>
          </a:p>
        </p:txBody>
      </p:sp>
      <p:pic>
        <p:nvPicPr>
          <p:cNvPr id="9" name="Picture 8">
            <a:extLst>
              <a:ext uri="{FF2B5EF4-FFF2-40B4-BE49-F238E27FC236}">
                <a16:creationId xmlns:a16="http://schemas.microsoft.com/office/drawing/2014/main" id="{4E4E6734-5EB9-320E-7C7D-37B553FFD788}"/>
              </a:ext>
            </a:extLst>
          </p:cNvPr>
          <p:cNvPicPr>
            <a:picLocks noChangeAspect="1"/>
          </p:cNvPicPr>
          <p:nvPr/>
        </p:nvPicPr>
        <p:blipFill>
          <a:blip r:embed="rId4">
            <a:extLst>
              <a:ext uri="{28A0092B-C50C-407E-A947-70E740481C1C}">
                <a14:useLocalDpi xmlns:a14="http://schemas.microsoft.com/office/drawing/2010/main" val="0"/>
              </a:ext>
              <a:ext uri="{837473B0-CC2E-450A-ABE3-18F120FF3D39}">
                <a1611:picAttrSrcUrl xmlns:a1611="http://schemas.microsoft.com/office/drawing/2016/11/main" r:id="rId5"/>
              </a:ext>
            </a:extLst>
          </a:blip>
          <a:stretch>
            <a:fillRect/>
          </a:stretch>
        </p:blipFill>
        <p:spPr>
          <a:xfrm>
            <a:off x="4191001" y="5170985"/>
            <a:ext cx="3276600" cy="1687015"/>
          </a:xfrm>
          <a:prstGeom prst="rect">
            <a:avLst/>
          </a:prstGeom>
        </p:spPr>
      </p:pic>
    </p:spTree>
    <p:extLst>
      <p:ext uri="{BB962C8B-B14F-4D97-AF65-F5344CB8AC3E}">
        <p14:creationId xmlns:p14="http://schemas.microsoft.com/office/powerpoint/2010/main" val="13025877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63BE2D8-6383-A776-BD15-C17E183FC738}"/>
              </a:ext>
            </a:extLst>
          </p:cNvPr>
          <p:cNvSpPr txBox="1"/>
          <p:nvPr/>
        </p:nvSpPr>
        <p:spPr>
          <a:xfrm>
            <a:off x="457200" y="1447800"/>
            <a:ext cx="10668000" cy="3108543"/>
          </a:xfrm>
          <a:prstGeom prst="rect">
            <a:avLst/>
          </a:prstGeom>
          <a:noFill/>
        </p:spPr>
        <p:txBody>
          <a:bodyPr wrap="square">
            <a:spAutoFit/>
          </a:bodyPr>
          <a:lstStyle/>
          <a:p>
            <a:r>
              <a:rPr lang="en-US" sz="2800" b="1" dirty="0">
                <a:latin typeface="Times New Roman" panose="02020603050405020304" pitchFamily="18" charset="0"/>
                <a:cs typeface="Times New Roman" panose="02020603050405020304" pitchFamily="18" charset="0"/>
              </a:rPr>
              <a:t>Online learning</a:t>
            </a:r>
            <a:r>
              <a:rPr lang="en-US" sz="2800" dirty="0">
                <a:latin typeface="Times New Roman" panose="02020603050405020304" pitchFamily="18" charset="0"/>
                <a:cs typeface="Times New Roman" panose="02020603050405020304" pitchFamily="18" charset="0"/>
              </a:rPr>
              <a:t> has rapidly transformed modern university education by offering students the flexibility to attend classes from anywhere in the world. This digital shift allows individuals to balance their coursework with personal jobs and family responsibilities much more easily than traditional formats. However, virtual classrooms also require high levels of self-discipline and can reduce the face-to-face social interactions that help students build networks on campus.</a:t>
            </a:r>
          </a:p>
        </p:txBody>
      </p:sp>
      <p:sp>
        <p:nvSpPr>
          <p:cNvPr id="7" name="Title 1">
            <a:extLst>
              <a:ext uri="{FF2B5EF4-FFF2-40B4-BE49-F238E27FC236}">
                <a16:creationId xmlns:a16="http://schemas.microsoft.com/office/drawing/2014/main" id="{9BA28A01-2EE0-BC56-183B-E7F304E47628}"/>
              </a:ext>
            </a:extLst>
          </p:cNvPr>
          <p:cNvSpPr txBox="1">
            <a:spLocks/>
          </p:cNvSpPr>
          <p:nvPr/>
        </p:nvSpPr>
        <p:spPr>
          <a:xfrm>
            <a:off x="152400" y="228600"/>
            <a:ext cx="8746490" cy="553998"/>
          </a:xfrm>
          <a:prstGeom prst="rect">
            <a:avLst/>
          </a:prstGeom>
        </p:spPr>
        <p:txBody>
          <a:bodyPr/>
          <a:lstStyle>
            <a:lvl1pPr>
              <a:defRPr>
                <a:latin typeface="+mj-lt"/>
                <a:ea typeface="+mj-ea"/>
                <a:cs typeface="+mj-cs"/>
              </a:defRPr>
            </a:lvl1pPr>
          </a:lstStyle>
          <a:p>
            <a:r>
              <a:rPr lang="en-US" sz="3600" b="1" dirty="0">
                <a:latin typeface="Times New Roman" panose="02020603050405020304" pitchFamily="18" charset="0"/>
                <a:cs typeface="Times New Roman" panose="02020603050405020304" pitchFamily="18" charset="0"/>
              </a:rPr>
              <a:t> </a:t>
            </a:r>
            <a:r>
              <a:rPr lang="en-US" sz="4000" b="1" dirty="0">
                <a:latin typeface="Times New Roman" panose="02020603050405020304" pitchFamily="18" charset="0"/>
                <a:cs typeface="Times New Roman" panose="02020603050405020304" pitchFamily="18" charset="0"/>
              </a:rPr>
              <a:t>Practice 1 – Skimming:</a:t>
            </a:r>
          </a:p>
        </p:txBody>
      </p:sp>
      <p:sp>
        <p:nvSpPr>
          <p:cNvPr id="9" name="TextBox 8">
            <a:extLst>
              <a:ext uri="{FF2B5EF4-FFF2-40B4-BE49-F238E27FC236}">
                <a16:creationId xmlns:a16="http://schemas.microsoft.com/office/drawing/2014/main" id="{9FA30F64-49D0-E366-2CC3-5A7E6F94DFDD}"/>
              </a:ext>
            </a:extLst>
          </p:cNvPr>
          <p:cNvSpPr txBox="1"/>
          <p:nvPr/>
        </p:nvSpPr>
        <p:spPr>
          <a:xfrm>
            <a:off x="457200" y="4953000"/>
            <a:ext cx="9982200" cy="523220"/>
          </a:xfrm>
          <a:prstGeom prst="rect">
            <a:avLst/>
          </a:prstGeom>
          <a:noFill/>
        </p:spPr>
        <p:txBody>
          <a:bodyPr wrap="square">
            <a:spAutoFit/>
          </a:bodyPr>
          <a:lstStyle/>
          <a:p>
            <a:r>
              <a:rPr lang="en-US" sz="2800" dirty="0">
                <a:latin typeface="Times New Roman" panose="02020603050405020304" pitchFamily="18" charset="0"/>
                <a:cs typeface="Times New Roman" panose="02020603050405020304" pitchFamily="18" charset="0"/>
              </a:rPr>
              <a:t>- Task: Skim in 10 seconds. Write the main idea in ONE sentence.</a:t>
            </a:r>
          </a:p>
        </p:txBody>
      </p:sp>
    </p:spTree>
    <p:extLst>
      <p:ext uri="{BB962C8B-B14F-4D97-AF65-F5344CB8AC3E}">
        <p14:creationId xmlns:p14="http://schemas.microsoft.com/office/powerpoint/2010/main" val="25565934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398730" y="1043824"/>
            <a:ext cx="2236190" cy="521334"/>
          </a:xfrm>
          <a:prstGeom prst="rect">
            <a:avLst/>
          </a:prstGeom>
        </p:spPr>
      </p:pic>
      <p:grpSp>
        <p:nvGrpSpPr>
          <p:cNvPr id="3" name="object 3"/>
          <p:cNvGrpSpPr/>
          <p:nvPr/>
        </p:nvGrpSpPr>
        <p:grpSpPr>
          <a:xfrm>
            <a:off x="3667252" y="987044"/>
            <a:ext cx="5689600" cy="521334"/>
            <a:chOff x="3667252" y="987044"/>
            <a:chExt cx="5689600" cy="521334"/>
          </a:xfrm>
        </p:grpSpPr>
        <p:pic>
          <p:nvPicPr>
            <p:cNvPr id="4" name="object 4"/>
            <p:cNvPicPr/>
            <p:nvPr/>
          </p:nvPicPr>
          <p:blipFill>
            <a:blip r:embed="rId3" cstate="print"/>
            <a:stretch>
              <a:fillRect/>
            </a:stretch>
          </p:blipFill>
          <p:spPr>
            <a:xfrm>
              <a:off x="3667252" y="1304491"/>
              <a:ext cx="354952" cy="43867"/>
            </a:xfrm>
            <a:prstGeom prst="rect">
              <a:avLst/>
            </a:prstGeom>
          </p:spPr>
        </p:pic>
        <p:pic>
          <p:nvPicPr>
            <p:cNvPr id="5" name="object 5"/>
            <p:cNvPicPr/>
            <p:nvPr/>
          </p:nvPicPr>
          <p:blipFill>
            <a:blip r:embed="rId4" cstate="print"/>
            <a:stretch>
              <a:fillRect/>
            </a:stretch>
          </p:blipFill>
          <p:spPr>
            <a:xfrm>
              <a:off x="4043680" y="987044"/>
              <a:ext cx="5313172" cy="521334"/>
            </a:xfrm>
            <a:prstGeom prst="rect">
              <a:avLst/>
            </a:prstGeom>
          </p:spPr>
        </p:pic>
      </p:grpSp>
      <p:sp>
        <p:nvSpPr>
          <p:cNvPr id="6" name="object 6"/>
          <p:cNvSpPr txBox="1"/>
          <p:nvPr/>
        </p:nvSpPr>
        <p:spPr>
          <a:xfrm>
            <a:off x="990600" y="1969198"/>
            <a:ext cx="4737100" cy="1959610"/>
          </a:xfrm>
          <a:prstGeom prst="rect">
            <a:avLst/>
          </a:prstGeom>
        </p:spPr>
        <p:txBody>
          <a:bodyPr vert="horz" wrap="square" lIns="0" tIns="153035" rIns="0" bIns="0" rtlCol="0">
            <a:spAutoFit/>
          </a:bodyPr>
          <a:lstStyle/>
          <a:p>
            <a:pPr marL="195580" indent="-182880">
              <a:lnSpc>
                <a:spcPct val="100000"/>
              </a:lnSpc>
              <a:spcBef>
                <a:spcPts val="1205"/>
              </a:spcBef>
              <a:buClr>
                <a:srgbClr val="9E3611"/>
              </a:buClr>
              <a:buSzPct val="84375"/>
              <a:buFont typeface="Wingdings"/>
              <a:buChar char=""/>
              <a:tabLst>
                <a:tab pos="195580" algn="l"/>
              </a:tabLst>
            </a:pPr>
            <a:r>
              <a:rPr sz="3200" spc="40" dirty="0">
                <a:latin typeface="Times New Roman" panose="02020603050405020304" pitchFamily="18" charset="0"/>
                <a:cs typeface="Times New Roman" panose="02020603050405020304" pitchFamily="18" charset="0"/>
              </a:rPr>
              <a:t>Focus:</a:t>
            </a:r>
            <a:endParaRPr sz="3200" dirty="0">
              <a:latin typeface="Times New Roman" panose="02020603050405020304" pitchFamily="18" charset="0"/>
              <a:cs typeface="Times New Roman" panose="02020603050405020304" pitchFamily="18" charset="0"/>
            </a:endParaRPr>
          </a:p>
          <a:p>
            <a:pPr marL="194310" marR="5080" indent="-182245">
              <a:lnSpc>
                <a:spcPts val="3000"/>
              </a:lnSpc>
              <a:spcBef>
                <a:spcPts val="1315"/>
              </a:spcBef>
              <a:buClr>
                <a:srgbClr val="9E3611"/>
              </a:buClr>
              <a:buSzPct val="87272"/>
              <a:buFont typeface="Wingdings"/>
              <a:buChar char=""/>
              <a:tabLst>
                <a:tab pos="195580" algn="l"/>
              </a:tabLst>
            </a:pPr>
            <a:r>
              <a:rPr sz="2750" spc="145" dirty="0">
                <a:latin typeface="Times New Roman" panose="02020603050405020304" pitchFamily="18" charset="0"/>
                <a:cs typeface="Times New Roman" panose="02020603050405020304" pitchFamily="18" charset="0"/>
              </a:rPr>
              <a:t>Reading</a:t>
            </a:r>
            <a:r>
              <a:rPr sz="2750" spc="125" dirty="0">
                <a:latin typeface="Times New Roman" panose="02020603050405020304" pitchFamily="18" charset="0"/>
                <a:cs typeface="Times New Roman" panose="02020603050405020304" pitchFamily="18" charset="0"/>
              </a:rPr>
              <a:t> </a:t>
            </a:r>
            <a:r>
              <a:rPr sz="2750" spc="100" dirty="0">
                <a:latin typeface="Times New Roman" panose="02020603050405020304" pitchFamily="18" charset="0"/>
                <a:cs typeface="Times New Roman" panose="02020603050405020304" pitchFamily="18" charset="0"/>
              </a:rPr>
              <a:t>rapidly</a:t>
            </a:r>
            <a:r>
              <a:rPr sz="2750" spc="80" dirty="0">
                <a:latin typeface="Times New Roman" panose="02020603050405020304" pitchFamily="18" charset="0"/>
                <a:cs typeface="Times New Roman" panose="02020603050405020304" pitchFamily="18" charset="0"/>
              </a:rPr>
              <a:t> </a:t>
            </a:r>
            <a:r>
              <a:rPr sz="2750" spc="50" dirty="0">
                <a:latin typeface="Times New Roman" panose="02020603050405020304" pitchFamily="18" charset="0"/>
                <a:cs typeface="Times New Roman" panose="02020603050405020304" pitchFamily="18" charset="0"/>
              </a:rPr>
              <a:t>in</a:t>
            </a:r>
            <a:r>
              <a:rPr sz="2750" spc="135" dirty="0">
                <a:latin typeface="Times New Roman" panose="02020603050405020304" pitchFamily="18" charset="0"/>
                <a:cs typeface="Times New Roman" panose="02020603050405020304" pitchFamily="18" charset="0"/>
              </a:rPr>
              <a:t> </a:t>
            </a:r>
            <a:r>
              <a:rPr sz="2750" spc="95" dirty="0">
                <a:latin typeface="Times New Roman" panose="02020603050405020304" pitchFamily="18" charset="0"/>
                <a:cs typeface="Times New Roman" panose="02020603050405020304" pitchFamily="18" charset="0"/>
              </a:rPr>
              <a:t>order</a:t>
            </a:r>
            <a:r>
              <a:rPr sz="2750" spc="114" dirty="0">
                <a:latin typeface="Times New Roman" panose="02020603050405020304" pitchFamily="18" charset="0"/>
                <a:cs typeface="Times New Roman" panose="02020603050405020304" pitchFamily="18" charset="0"/>
              </a:rPr>
              <a:t> </a:t>
            </a:r>
            <a:r>
              <a:rPr sz="2750" spc="-25" dirty="0">
                <a:latin typeface="Times New Roman" panose="02020603050405020304" pitchFamily="18" charset="0"/>
                <a:cs typeface="Times New Roman" panose="02020603050405020304" pitchFamily="18" charset="0"/>
              </a:rPr>
              <a:t>to 	</a:t>
            </a:r>
            <a:r>
              <a:rPr sz="2750" spc="60" dirty="0">
                <a:latin typeface="Times New Roman" panose="02020603050405020304" pitchFamily="18" charset="0"/>
                <a:cs typeface="Times New Roman" panose="02020603050405020304" pitchFamily="18" charset="0"/>
              </a:rPr>
              <a:t>find</a:t>
            </a:r>
            <a:r>
              <a:rPr sz="2750" spc="145" dirty="0">
                <a:latin typeface="Times New Roman" panose="02020603050405020304" pitchFamily="18" charset="0"/>
                <a:cs typeface="Times New Roman" panose="02020603050405020304" pitchFamily="18" charset="0"/>
              </a:rPr>
              <a:t> </a:t>
            </a:r>
            <a:r>
              <a:rPr sz="2750" spc="135" dirty="0">
                <a:latin typeface="Times New Roman" panose="02020603050405020304" pitchFamily="18" charset="0"/>
                <a:cs typeface="Times New Roman" panose="02020603050405020304" pitchFamily="18" charset="0"/>
              </a:rPr>
              <a:t>specific</a:t>
            </a:r>
            <a:r>
              <a:rPr sz="2750" spc="130" dirty="0">
                <a:latin typeface="Times New Roman" panose="02020603050405020304" pitchFamily="18" charset="0"/>
                <a:cs typeface="Times New Roman" panose="02020603050405020304" pitchFamily="18" charset="0"/>
              </a:rPr>
              <a:t> </a:t>
            </a:r>
            <a:r>
              <a:rPr sz="2750" spc="120" dirty="0">
                <a:latin typeface="Times New Roman" panose="02020603050405020304" pitchFamily="18" charset="0"/>
                <a:cs typeface="Times New Roman" panose="02020603050405020304" pitchFamily="18" charset="0"/>
              </a:rPr>
              <a:t>details,</a:t>
            </a:r>
            <a:r>
              <a:rPr sz="2750" spc="-130" dirty="0">
                <a:latin typeface="Times New Roman" panose="02020603050405020304" pitchFamily="18" charset="0"/>
                <a:cs typeface="Times New Roman" panose="02020603050405020304" pitchFamily="18" charset="0"/>
              </a:rPr>
              <a:t> </a:t>
            </a:r>
            <a:r>
              <a:rPr sz="2750" spc="125" dirty="0">
                <a:latin typeface="Times New Roman" panose="02020603050405020304" pitchFamily="18" charset="0"/>
                <a:cs typeface="Times New Roman" panose="02020603050405020304" pitchFamily="18" charset="0"/>
              </a:rPr>
              <a:t>such</a:t>
            </a:r>
            <a:r>
              <a:rPr sz="2750" spc="65" dirty="0">
                <a:latin typeface="Times New Roman" panose="02020603050405020304" pitchFamily="18" charset="0"/>
                <a:cs typeface="Times New Roman" panose="02020603050405020304" pitchFamily="18" charset="0"/>
              </a:rPr>
              <a:t> </a:t>
            </a:r>
            <a:r>
              <a:rPr sz="2750" spc="90" dirty="0">
                <a:latin typeface="Times New Roman" panose="02020603050405020304" pitchFamily="18" charset="0"/>
                <a:cs typeface="Times New Roman" panose="02020603050405020304" pitchFamily="18" charset="0"/>
              </a:rPr>
              <a:t>as 	</a:t>
            </a:r>
            <a:r>
              <a:rPr sz="2750" spc="135" dirty="0">
                <a:latin typeface="Times New Roman" panose="02020603050405020304" pitchFamily="18" charset="0"/>
                <a:cs typeface="Times New Roman" panose="02020603050405020304" pitchFamily="18" charset="0"/>
              </a:rPr>
              <a:t>names,numbers,dates</a:t>
            </a:r>
            <a:r>
              <a:rPr sz="2750" spc="215" dirty="0">
                <a:latin typeface="Times New Roman" panose="02020603050405020304" pitchFamily="18" charset="0"/>
                <a:cs typeface="Times New Roman" panose="02020603050405020304" pitchFamily="18" charset="0"/>
              </a:rPr>
              <a:t> </a:t>
            </a:r>
            <a:r>
              <a:rPr sz="2750" spc="140" dirty="0">
                <a:latin typeface="Times New Roman" panose="02020603050405020304" pitchFamily="18" charset="0"/>
                <a:cs typeface="Times New Roman" panose="02020603050405020304" pitchFamily="18" charset="0"/>
              </a:rPr>
              <a:t>etc.</a:t>
            </a:r>
            <a:endParaRPr sz="2750" dirty="0">
              <a:latin typeface="Times New Roman" panose="02020603050405020304" pitchFamily="18" charset="0"/>
              <a:cs typeface="Times New Roman" panose="02020603050405020304" pitchFamily="18" charset="0"/>
            </a:endParaRPr>
          </a:p>
        </p:txBody>
      </p:sp>
      <p:sp>
        <p:nvSpPr>
          <p:cNvPr id="7" name="object 7"/>
          <p:cNvSpPr txBox="1"/>
          <p:nvPr/>
        </p:nvSpPr>
        <p:spPr>
          <a:xfrm>
            <a:off x="6818883" y="1851977"/>
            <a:ext cx="3709670" cy="733599"/>
          </a:xfrm>
          <a:prstGeom prst="rect">
            <a:avLst/>
          </a:prstGeom>
        </p:spPr>
        <p:txBody>
          <a:bodyPr vert="horz" wrap="square" lIns="0" tIns="12700" rIns="0" bIns="0" rtlCol="0">
            <a:spAutoFit/>
          </a:bodyPr>
          <a:lstStyle/>
          <a:p>
            <a:pPr marL="355600" indent="-342900">
              <a:lnSpc>
                <a:spcPts val="2865"/>
              </a:lnSpc>
              <a:spcBef>
                <a:spcPts val="100"/>
              </a:spcBef>
              <a:buFont typeface="Wingdings" panose="05000000000000000000" pitchFamily="2" charset="2"/>
              <a:buChar char="q"/>
            </a:pPr>
            <a:r>
              <a:rPr sz="2400" spc="90" dirty="0">
                <a:latin typeface="Times New Roman" panose="02020603050405020304" pitchFamily="18" charset="0"/>
                <a:cs typeface="Times New Roman" panose="02020603050405020304" pitchFamily="18" charset="0"/>
              </a:rPr>
              <a:t>Techniques</a:t>
            </a:r>
            <a:r>
              <a:rPr lang="en-US" sz="2400" spc="110" dirty="0">
                <a:latin typeface="Times New Roman" panose="02020603050405020304" pitchFamily="18" charset="0"/>
                <a:cs typeface="Times New Roman" panose="02020603050405020304" pitchFamily="18" charset="0"/>
              </a:rPr>
              <a:t> for S</a:t>
            </a:r>
            <a:r>
              <a:rPr sz="2400" spc="80" dirty="0">
                <a:latin typeface="Times New Roman" panose="02020603050405020304" pitchFamily="18" charset="0"/>
                <a:cs typeface="Times New Roman" panose="02020603050405020304" pitchFamily="18" charset="0"/>
              </a:rPr>
              <a:t>canning</a:t>
            </a:r>
            <a:r>
              <a:rPr lang="en-US" sz="2400" dirty="0">
                <a:latin typeface="Times New Roman" panose="02020603050405020304" pitchFamily="18" charset="0"/>
                <a:cs typeface="Times New Roman" panose="02020603050405020304" pitchFamily="18" charset="0"/>
              </a:rPr>
              <a:t> </a:t>
            </a:r>
            <a:r>
              <a:rPr sz="2400" spc="75" dirty="0">
                <a:latin typeface="Times New Roman" panose="02020603050405020304" pitchFamily="18" charset="0"/>
                <a:cs typeface="Times New Roman" panose="02020603050405020304" pitchFamily="18" charset="0"/>
              </a:rPr>
              <a:t>include</a:t>
            </a:r>
            <a:r>
              <a:rPr sz="2400" spc="75" dirty="0">
                <a:latin typeface="Cambria"/>
                <a:cs typeface="Cambria"/>
              </a:rPr>
              <a:t>:</a:t>
            </a:r>
            <a:endParaRPr sz="2400" dirty="0">
              <a:latin typeface="Cambria"/>
              <a:cs typeface="Cambria"/>
            </a:endParaRPr>
          </a:p>
        </p:txBody>
      </p:sp>
      <p:sp>
        <p:nvSpPr>
          <p:cNvPr id="8" name="object 8"/>
          <p:cNvSpPr txBox="1"/>
          <p:nvPr/>
        </p:nvSpPr>
        <p:spPr>
          <a:xfrm>
            <a:off x="6818883" y="2949003"/>
            <a:ext cx="4680585" cy="1125855"/>
          </a:xfrm>
          <a:prstGeom prst="rect">
            <a:avLst/>
          </a:prstGeom>
        </p:spPr>
        <p:txBody>
          <a:bodyPr vert="horz" wrap="square" lIns="0" tIns="11430" rIns="0" bIns="0" rtlCol="0">
            <a:spAutoFit/>
          </a:bodyPr>
          <a:lstStyle/>
          <a:p>
            <a:pPr marL="12700" marR="5080">
              <a:lnSpc>
                <a:spcPct val="100400"/>
              </a:lnSpc>
              <a:spcBef>
                <a:spcPts val="90"/>
              </a:spcBef>
            </a:pPr>
            <a:r>
              <a:rPr sz="2400" dirty="0">
                <a:latin typeface="Cambria"/>
                <a:cs typeface="Cambria"/>
              </a:rPr>
              <a:t>(</a:t>
            </a:r>
            <a:r>
              <a:rPr sz="2400" dirty="0">
                <a:latin typeface="Times New Roman" panose="02020603050405020304" pitchFamily="18" charset="0"/>
                <a:cs typeface="Times New Roman" panose="02020603050405020304" pitchFamily="18" charset="0"/>
              </a:rPr>
              <a:t>1)</a:t>
            </a:r>
            <a:r>
              <a:rPr lang="en-US" sz="240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Read</a:t>
            </a:r>
            <a:r>
              <a:rPr sz="2400" spc="19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the</a:t>
            </a:r>
            <a:r>
              <a:rPr sz="2400" spc="165" dirty="0">
                <a:latin typeface="Times New Roman" panose="02020603050405020304" pitchFamily="18" charset="0"/>
                <a:cs typeface="Times New Roman" panose="02020603050405020304" pitchFamily="18" charset="0"/>
              </a:rPr>
              <a:t> </a:t>
            </a:r>
            <a:r>
              <a:rPr sz="2400" spc="55" dirty="0">
                <a:latin typeface="Times New Roman" panose="02020603050405020304" pitchFamily="18" charset="0"/>
                <a:cs typeface="Times New Roman" panose="02020603050405020304" pitchFamily="18" charset="0"/>
              </a:rPr>
              <a:t>question</a:t>
            </a:r>
            <a:r>
              <a:rPr sz="2400" spc="254" dirty="0">
                <a:latin typeface="Times New Roman" panose="02020603050405020304" pitchFamily="18" charset="0"/>
                <a:cs typeface="Times New Roman" panose="02020603050405020304" pitchFamily="18" charset="0"/>
              </a:rPr>
              <a:t> </a:t>
            </a:r>
            <a:r>
              <a:rPr sz="2400" spc="80" dirty="0">
                <a:latin typeface="Times New Roman" panose="02020603050405020304" pitchFamily="18" charset="0"/>
                <a:cs typeface="Times New Roman" panose="02020603050405020304" pitchFamily="18" charset="0"/>
              </a:rPr>
              <a:t>and</a:t>
            </a:r>
            <a:r>
              <a:rPr sz="2400" spc="195" dirty="0">
                <a:latin typeface="Times New Roman" panose="02020603050405020304" pitchFamily="18" charset="0"/>
                <a:cs typeface="Times New Roman" panose="02020603050405020304" pitchFamily="18" charset="0"/>
              </a:rPr>
              <a:t> </a:t>
            </a:r>
            <a:r>
              <a:rPr sz="2400" spc="70" dirty="0">
                <a:latin typeface="Times New Roman" panose="02020603050405020304" pitchFamily="18" charset="0"/>
                <a:cs typeface="Times New Roman" panose="02020603050405020304" pitchFamily="18" charset="0"/>
              </a:rPr>
              <a:t>search </a:t>
            </a:r>
            <a:r>
              <a:rPr sz="2400" dirty="0">
                <a:latin typeface="Times New Roman" panose="02020603050405020304" pitchFamily="18" charset="0"/>
                <a:cs typeface="Times New Roman" panose="02020603050405020304" pitchFamily="18" charset="0"/>
              </a:rPr>
              <a:t>for</a:t>
            </a:r>
            <a:r>
              <a:rPr sz="2400" spc="180" dirty="0">
                <a:latin typeface="Times New Roman" panose="02020603050405020304" pitchFamily="18" charset="0"/>
                <a:cs typeface="Times New Roman" panose="02020603050405020304" pitchFamily="18" charset="0"/>
              </a:rPr>
              <a:t> </a:t>
            </a:r>
            <a:r>
              <a:rPr sz="2400" b="1" spc="75" dirty="0">
                <a:latin typeface="Times New Roman" panose="02020603050405020304" pitchFamily="18" charset="0"/>
                <a:cs typeface="Times New Roman" panose="02020603050405020304" pitchFamily="18" charset="0"/>
              </a:rPr>
              <a:t>key</a:t>
            </a:r>
            <a:r>
              <a:rPr sz="2400" b="1" spc="135" dirty="0">
                <a:latin typeface="Times New Roman" panose="02020603050405020304" pitchFamily="18" charset="0"/>
                <a:cs typeface="Times New Roman" panose="02020603050405020304" pitchFamily="18" charset="0"/>
              </a:rPr>
              <a:t> </a:t>
            </a:r>
            <a:r>
              <a:rPr sz="2400" b="1" dirty="0">
                <a:latin typeface="Times New Roman" panose="02020603050405020304" pitchFamily="18" charset="0"/>
                <a:cs typeface="Times New Roman" panose="02020603050405020304" pitchFamily="18" charset="0"/>
              </a:rPr>
              <a:t>words</a:t>
            </a:r>
            <a:r>
              <a:rPr sz="2400" b="1" spc="150" dirty="0">
                <a:latin typeface="Times New Roman" panose="02020603050405020304" pitchFamily="18" charset="0"/>
                <a:cs typeface="Times New Roman" panose="02020603050405020304" pitchFamily="18" charset="0"/>
              </a:rPr>
              <a:t> </a:t>
            </a:r>
            <a:r>
              <a:rPr sz="2400" b="1" dirty="0">
                <a:latin typeface="Times New Roman" panose="02020603050405020304" pitchFamily="18" charset="0"/>
                <a:cs typeface="Times New Roman" panose="02020603050405020304" pitchFamily="18" charset="0"/>
              </a:rPr>
              <a:t>or</a:t>
            </a:r>
            <a:r>
              <a:rPr sz="2400" b="1" spc="100" dirty="0">
                <a:latin typeface="Times New Roman" panose="02020603050405020304" pitchFamily="18" charset="0"/>
                <a:cs typeface="Times New Roman" panose="02020603050405020304" pitchFamily="18" charset="0"/>
              </a:rPr>
              <a:t> </a:t>
            </a:r>
            <a:r>
              <a:rPr lang="en-US" sz="2400" b="1" spc="105" dirty="0">
                <a:latin typeface="Times New Roman" panose="02020603050405020304" pitchFamily="18" charset="0"/>
                <a:cs typeface="Times New Roman" panose="02020603050405020304" pitchFamily="18" charset="0"/>
              </a:rPr>
              <a:t>facts</a:t>
            </a:r>
            <a:r>
              <a:rPr sz="2400" b="1" spc="155" dirty="0">
                <a:latin typeface="Times New Roman" panose="02020603050405020304" pitchFamily="18" charset="0"/>
                <a:cs typeface="Times New Roman" panose="02020603050405020304" pitchFamily="18" charset="0"/>
              </a:rPr>
              <a:t> </a:t>
            </a:r>
            <a:r>
              <a:rPr sz="2400" spc="65" dirty="0">
                <a:latin typeface="Times New Roman" panose="02020603050405020304" pitchFamily="18" charset="0"/>
                <a:cs typeface="Times New Roman" panose="02020603050405020304" pitchFamily="18" charset="0"/>
              </a:rPr>
              <a:t>associated </a:t>
            </a:r>
            <a:r>
              <a:rPr sz="2400" dirty="0">
                <a:latin typeface="Times New Roman" panose="02020603050405020304" pitchFamily="18" charset="0"/>
                <a:cs typeface="Times New Roman" panose="02020603050405020304" pitchFamily="18" charset="0"/>
              </a:rPr>
              <a:t>with</a:t>
            </a:r>
            <a:r>
              <a:rPr sz="2400" spc="9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the</a:t>
            </a:r>
            <a:r>
              <a:rPr sz="2400" spc="100" dirty="0">
                <a:latin typeface="Times New Roman" panose="02020603050405020304" pitchFamily="18" charset="0"/>
                <a:cs typeface="Times New Roman" panose="02020603050405020304" pitchFamily="18" charset="0"/>
              </a:rPr>
              <a:t> </a:t>
            </a:r>
            <a:r>
              <a:rPr sz="2400" spc="45" dirty="0">
                <a:latin typeface="Times New Roman" panose="02020603050405020304" pitchFamily="18" charset="0"/>
                <a:cs typeface="Times New Roman" panose="02020603050405020304" pitchFamily="18" charset="0"/>
              </a:rPr>
              <a:t>question</a:t>
            </a:r>
            <a:endParaRPr sz="2400" dirty="0">
              <a:latin typeface="Times New Roman" panose="02020603050405020304" pitchFamily="18" charset="0"/>
              <a:cs typeface="Times New Roman" panose="02020603050405020304" pitchFamily="18" charset="0"/>
            </a:endParaRPr>
          </a:p>
        </p:txBody>
      </p:sp>
      <p:sp>
        <p:nvSpPr>
          <p:cNvPr id="9" name="object 9"/>
          <p:cNvSpPr txBox="1"/>
          <p:nvPr/>
        </p:nvSpPr>
        <p:spPr>
          <a:xfrm>
            <a:off x="6818883" y="4417631"/>
            <a:ext cx="4662805" cy="2223135"/>
          </a:xfrm>
          <a:prstGeom prst="rect">
            <a:avLst/>
          </a:prstGeom>
        </p:spPr>
        <p:txBody>
          <a:bodyPr vert="horz" wrap="square" lIns="0" tIns="27305" rIns="0" bIns="0" rtlCol="0">
            <a:spAutoFit/>
          </a:bodyPr>
          <a:lstStyle/>
          <a:p>
            <a:pPr marL="12700" marR="115570">
              <a:lnSpc>
                <a:spcPts val="2860"/>
              </a:lnSpc>
              <a:spcBef>
                <a:spcPts val="215"/>
              </a:spcBef>
            </a:pPr>
            <a:r>
              <a:rPr sz="2400" spc="70" dirty="0">
                <a:latin typeface="Cambria"/>
                <a:cs typeface="Cambria"/>
              </a:rPr>
              <a:t>(2)</a:t>
            </a:r>
            <a:r>
              <a:rPr lang="en-US" sz="2400" spc="70" dirty="0">
                <a:latin typeface="Cambria"/>
                <a:cs typeface="Cambria"/>
              </a:rPr>
              <a:t> </a:t>
            </a:r>
            <a:r>
              <a:rPr sz="2400" spc="70" dirty="0">
                <a:latin typeface="Times New Roman" panose="02020603050405020304" pitchFamily="18" charset="0"/>
                <a:cs typeface="Times New Roman" panose="02020603050405020304" pitchFamily="18" charset="0"/>
              </a:rPr>
              <a:t>Quickly</a:t>
            </a:r>
            <a:r>
              <a:rPr sz="2400" spc="80" dirty="0">
                <a:latin typeface="Times New Roman" panose="02020603050405020304" pitchFamily="18" charset="0"/>
                <a:cs typeface="Times New Roman" panose="02020603050405020304" pitchFamily="18" charset="0"/>
              </a:rPr>
              <a:t> </a:t>
            </a:r>
            <a:r>
              <a:rPr sz="2400" spc="85" dirty="0">
                <a:latin typeface="Times New Roman" panose="02020603050405020304" pitchFamily="18" charset="0"/>
                <a:cs typeface="Times New Roman" panose="02020603050405020304" pitchFamily="18" charset="0"/>
              </a:rPr>
              <a:t>moving </a:t>
            </a:r>
            <a:r>
              <a:rPr sz="2400" spc="95" dirty="0">
                <a:latin typeface="Times New Roman" panose="02020603050405020304" pitchFamily="18" charset="0"/>
                <a:cs typeface="Times New Roman" panose="02020603050405020304" pitchFamily="18" charset="0"/>
              </a:rPr>
              <a:t>eyes</a:t>
            </a:r>
            <a:r>
              <a:rPr sz="2400" spc="35" dirty="0">
                <a:latin typeface="Times New Roman" panose="02020603050405020304" pitchFamily="18" charset="0"/>
                <a:cs typeface="Times New Roman" panose="02020603050405020304" pitchFamily="18" charset="0"/>
              </a:rPr>
              <a:t> </a:t>
            </a:r>
            <a:r>
              <a:rPr sz="2400" spc="55" dirty="0">
                <a:latin typeface="Times New Roman" panose="02020603050405020304" pitchFamily="18" charset="0"/>
                <a:cs typeface="Times New Roman" panose="02020603050405020304" pitchFamily="18" charset="0"/>
              </a:rPr>
              <a:t>over</a:t>
            </a:r>
            <a:r>
              <a:rPr sz="2400" spc="60" dirty="0">
                <a:latin typeface="Times New Roman" panose="02020603050405020304" pitchFamily="18" charset="0"/>
                <a:cs typeface="Times New Roman" panose="02020603050405020304" pitchFamily="18" charset="0"/>
              </a:rPr>
              <a:t> </a:t>
            </a:r>
            <a:r>
              <a:rPr sz="2400" spc="-25" dirty="0">
                <a:latin typeface="Times New Roman" panose="02020603050405020304" pitchFamily="18" charset="0"/>
                <a:cs typeface="Times New Roman" panose="02020603050405020304" pitchFamily="18" charset="0"/>
              </a:rPr>
              <a:t>the </a:t>
            </a:r>
            <a:r>
              <a:rPr sz="2400" spc="-20" dirty="0">
                <a:latin typeface="Times New Roman" panose="02020603050405020304" pitchFamily="18" charset="0"/>
                <a:cs typeface="Times New Roman" panose="02020603050405020304" pitchFamily="18" charset="0"/>
              </a:rPr>
              <a:t>text</a:t>
            </a:r>
            <a:endParaRPr sz="2400" dirty="0">
              <a:latin typeface="Times New Roman" panose="02020603050405020304" pitchFamily="18" charset="0"/>
              <a:cs typeface="Times New Roman" panose="02020603050405020304" pitchFamily="18" charset="0"/>
            </a:endParaRPr>
          </a:p>
          <a:p>
            <a:pPr marL="12700" marR="5080">
              <a:lnSpc>
                <a:spcPct val="100400"/>
              </a:lnSpc>
              <a:spcBef>
                <a:spcPts val="2790"/>
              </a:spcBef>
            </a:pPr>
            <a:r>
              <a:rPr lang="en-US" sz="2400" spc="70" dirty="0">
                <a:latin typeface="Times New Roman" panose="02020603050405020304" pitchFamily="18" charset="0"/>
                <a:cs typeface="Times New Roman" panose="02020603050405020304" pitchFamily="18" charset="0"/>
              </a:rPr>
              <a:t>(3) </a:t>
            </a:r>
            <a:r>
              <a:rPr sz="2400" spc="70" dirty="0">
                <a:latin typeface="Times New Roman" panose="02020603050405020304" pitchFamily="18" charset="0"/>
                <a:cs typeface="Times New Roman" panose="02020603050405020304" pitchFamily="18" charset="0"/>
              </a:rPr>
              <a:t>Less</a:t>
            </a:r>
            <a:r>
              <a:rPr sz="2400" spc="30" dirty="0">
                <a:latin typeface="Times New Roman" panose="02020603050405020304" pitchFamily="18" charset="0"/>
                <a:cs typeface="Times New Roman" panose="02020603050405020304" pitchFamily="18" charset="0"/>
              </a:rPr>
              <a:t> </a:t>
            </a:r>
            <a:r>
              <a:rPr sz="2400" spc="100" dirty="0">
                <a:latin typeface="Times New Roman" panose="02020603050405020304" pitchFamily="18" charset="0"/>
                <a:cs typeface="Times New Roman" panose="02020603050405020304" pitchFamily="18" charset="0"/>
              </a:rPr>
              <a:t>reading</a:t>
            </a:r>
            <a:r>
              <a:rPr sz="2400" spc="80" dirty="0">
                <a:latin typeface="Times New Roman" panose="02020603050405020304" pitchFamily="18" charset="0"/>
                <a:cs typeface="Times New Roman" panose="02020603050405020304" pitchFamily="18" charset="0"/>
              </a:rPr>
              <a:t> and </a:t>
            </a:r>
            <a:r>
              <a:rPr sz="2400" spc="60" dirty="0">
                <a:latin typeface="Times New Roman" panose="02020603050405020304" pitchFamily="18" charset="0"/>
                <a:cs typeface="Times New Roman" panose="02020603050405020304" pitchFamily="18" charset="0"/>
              </a:rPr>
              <a:t>more</a:t>
            </a:r>
            <a:r>
              <a:rPr sz="2400" spc="55" dirty="0">
                <a:latin typeface="Times New Roman" panose="02020603050405020304" pitchFamily="18" charset="0"/>
                <a:cs typeface="Times New Roman" panose="02020603050405020304" pitchFamily="18" charset="0"/>
              </a:rPr>
              <a:t> </a:t>
            </a:r>
            <a:r>
              <a:rPr sz="2400" spc="80" dirty="0">
                <a:latin typeface="Times New Roman" panose="02020603050405020304" pitchFamily="18" charset="0"/>
                <a:cs typeface="Times New Roman" panose="02020603050405020304" pitchFamily="18" charset="0"/>
              </a:rPr>
              <a:t>searching </a:t>
            </a:r>
            <a:r>
              <a:rPr sz="2400" spc="-10" dirty="0">
                <a:latin typeface="Times New Roman" panose="02020603050405020304" pitchFamily="18" charset="0"/>
                <a:cs typeface="Times New Roman" panose="02020603050405020304" pitchFamily="18" charset="0"/>
              </a:rPr>
              <a:t>–</a:t>
            </a:r>
            <a:r>
              <a:rPr sz="2400" spc="50" dirty="0">
                <a:latin typeface="Times New Roman" panose="02020603050405020304" pitchFamily="18" charset="0"/>
                <a:cs typeface="Times New Roman" panose="02020603050405020304" pitchFamily="18" charset="0"/>
              </a:rPr>
              <a:t>the</a:t>
            </a:r>
            <a:r>
              <a:rPr sz="2400" spc="70" dirty="0">
                <a:latin typeface="Times New Roman" panose="02020603050405020304" pitchFamily="18" charset="0"/>
                <a:cs typeface="Times New Roman" panose="02020603050405020304" pitchFamily="18" charset="0"/>
              </a:rPr>
              <a:t> brain</a:t>
            </a:r>
            <a:r>
              <a:rPr sz="2400" spc="7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hunts</a:t>
            </a:r>
            <a:r>
              <a:rPr sz="2400" spc="50" dirty="0">
                <a:latin typeface="Times New Roman" panose="02020603050405020304" pitchFamily="18" charset="0"/>
                <a:cs typeface="Times New Roman" panose="02020603050405020304" pitchFamily="18" charset="0"/>
              </a:rPr>
              <a:t> </a:t>
            </a:r>
            <a:r>
              <a:rPr sz="2400" spc="55" dirty="0">
                <a:latin typeface="Times New Roman" panose="02020603050405020304" pitchFamily="18" charset="0"/>
                <a:cs typeface="Times New Roman" panose="02020603050405020304" pitchFamily="18" charset="0"/>
              </a:rPr>
              <a:t>for</a:t>
            </a:r>
            <a:r>
              <a:rPr sz="2400" spc="75" dirty="0">
                <a:latin typeface="Times New Roman" panose="02020603050405020304" pitchFamily="18" charset="0"/>
                <a:cs typeface="Times New Roman" panose="02020603050405020304" pitchFamily="18" charset="0"/>
              </a:rPr>
              <a:t> </a:t>
            </a:r>
            <a:r>
              <a:rPr sz="2400" spc="85" dirty="0">
                <a:latin typeface="Times New Roman" panose="02020603050405020304" pitchFamily="18" charset="0"/>
                <a:cs typeface="Times New Roman" panose="02020603050405020304" pitchFamily="18" charset="0"/>
              </a:rPr>
              <a:t>specific </a:t>
            </a:r>
            <a:r>
              <a:rPr sz="2400" spc="-10" dirty="0">
                <a:latin typeface="Times New Roman" panose="02020603050405020304" pitchFamily="18" charset="0"/>
                <a:cs typeface="Times New Roman" panose="02020603050405020304" pitchFamily="18" charset="0"/>
              </a:rPr>
              <a:t>information</a:t>
            </a:r>
            <a:endParaRPr sz="2400" dirty="0">
              <a:latin typeface="Times New Roman" panose="02020603050405020304" pitchFamily="18" charset="0"/>
              <a:cs typeface="Times New Roman" panose="02020603050405020304" pitchFamily="18" charset="0"/>
            </a:endParaRPr>
          </a:p>
        </p:txBody>
      </p:sp>
      <p:pic>
        <p:nvPicPr>
          <p:cNvPr id="10" name="object 10"/>
          <p:cNvPicPr/>
          <p:nvPr/>
        </p:nvPicPr>
        <p:blipFill>
          <a:blip r:embed="rId5" cstate="print"/>
          <a:stretch>
            <a:fillRect/>
          </a:stretch>
        </p:blipFill>
        <p:spPr>
          <a:xfrm>
            <a:off x="2698229" y="4268535"/>
            <a:ext cx="1710576" cy="2472153"/>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B8903B-4926-382D-351D-EF93ECF6C83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F74E5F5E-72BC-A1CF-3C58-0C22C0B7C9D1}"/>
              </a:ext>
            </a:extLst>
          </p:cNvPr>
          <p:cNvSpPr txBox="1"/>
          <p:nvPr/>
        </p:nvSpPr>
        <p:spPr>
          <a:xfrm>
            <a:off x="280218" y="1128050"/>
            <a:ext cx="11149782" cy="2308324"/>
          </a:xfrm>
          <a:prstGeom prst="rect">
            <a:avLst/>
          </a:prstGeom>
          <a:noFill/>
        </p:spPr>
        <p:txBody>
          <a:bodyPr wrap="square">
            <a:spAutoFit/>
          </a:bodyPr>
          <a:lstStyle/>
          <a:p>
            <a:r>
              <a:rPr lang="en-US" sz="2400" b="1" dirty="0">
                <a:latin typeface="Times New Roman" panose="02020603050405020304" pitchFamily="18" charset="0"/>
                <a:cs typeface="Times New Roman" panose="02020603050405020304" pitchFamily="18" charset="0"/>
              </a:rPr>
              <a:t>Text: </a:t>
            </a:r>
          </a:p>
          <a:p>
            <a:r>
              <a:rPr lang="en-US" sz="2400" dirty="0">
                <a:latin typeface="Times New Roman" panose="02020603050405020304" pitchFamily="18" charset="0"/>
                <a:cs typeface="Times New Roman" panose="02020603050405020304" pitchFamily="18" charset="0"/>
              </a:rPr>
              <a:t>Passage: "The library is open from Monday to Saturday between 8:00 AM and 9:00 PM. On Sundays, the facility remains closed for weekly maintenance.“</a:t>
            </a:r>
          </a:p>
          <a:p>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(Scanning Strategy): You quickly move your eyes down the text to look for specific keywords like weekdays or Monday to Saturday and the time format.</a:t>
            </a:r>
            <a:endParaRPr lang="en-US" sz="2000" dirty="0">
              <a:latin typeface="Times New Roman" panose="02020603050405020304" pitchFamily="18" charset="0"/>
              <a:cs typeface="Times New Roman" panose="02020603050405020304" pitchFamily="18" charset="0"/>
            </a:endParaRPr>
          </a:p>
        </p:txBody>
      </p:sp>
      <p:sp>
        <p:nvSpPr>
          <p:cNvPr id="7" name="Title 1">
            <a:extLst>
              <a:ext uri="{FF2B5EF4-FFF2-40B4-BE49-F238E27FC236}">
                <a16:creationId xmlns:a16="http://schemas.microsoft.com/office/drawing/2014/main" id="{E840D3DB-6367-586F-45A5-104F5B2C409F}"/>
              </a:ext>
            </a:extLst>
          </p:cNvPr>
          <p:cNvSpPr txBox="1">
            <a:spLocks/>
          </p:cNvSpPr>
          <p:nvPr/>
        </p:nvSpPr>
        <p:spPr>
          <a:xfrm>
            <a:off x="-12290" y="76200"/>
            <a:ext cx="8746490" cy="553998"/>
          </a:xfrm>
          <a:prstGeom prst="rect">
            <a:avLst/>
          </a:prstGeom>
        </p:spPr>
        <p:txBody>
          <a:bodyPr/>
          <a:lstStyle>
            <a:lvl1pPr>
              <a:defRPr>
                <a:latin typeface="+mj-lt"/>
                <a:ea typeface="+mj-ea"/>
                <a:cs typeface="+mj-cs"/>
              </a:defRPr>
            </a:lvl1pPr>
          </a:lstStyle>
          <a:p>
            <a:r>
              <a:rPr lang="en-US" sz="3600" b="1" dirty="0">
                <a:latin typeface="Times New Roman" panose="02020603050405020304" pitchFamily="18" charset="0"/>
                <a:cs typeface="Times New Roman" panose="02020603050405020304" pitchFamily="18" charset="0"/>
              </a:rPr>
              <a:t> </a:t>
            </a:r>
            <a:r>
              <a:rPr lang="en-US" sz="4000" b="1" dirty="0">
                <a:latin typeface="Times New Roman" panose="02020603050405020304" pitchFamily="18" charset="0"/>
                <a:cs typeface="Times New Roman" panose="02020603050405020304" pitchFamily="18" charset="0"/>
              </a:rPr>
              <a:t>Practice 2 – Scanning:</a:t>
            </a:r>
          </a:p>
        </p:txBody>
      </p:sp>
      <p:sp>
        <p:nvSpPr>
          <p:cNvPr id="9" name="TextBox 8">
            <a:extLst>
              <a:ext uri="{FF2B5EF4-FFF2-40B4-BE49-F238E27FC236}">
                <a16:creationId xmlns:a16="http://schemas.microsoft.com/office/drawing/2014/main" id="{14876DD1-F779-2AEE-5810-0A64A44B13FE}"/>
              </a:ext>
            </a:extLst>
          </p:cNvPr>
          <p:cNvSpPr txBox="1"/>
          <p:nvPr/>
        </p:nvSpPr>
        <p:spPr>
          <a:xfrm>
            <a:off x="280218" y="4419600"/>
            <a:ext cx="6958781" cy="830997"/>
          </a:xfrm>
          <a:prstGeom prst="rect">
            <a:avLst/>
          </a:prstGeom>
          <a:noFill/>
        </p:spPr>
        <p:txBody>
          <a:bodyPr wrap="square">
            <a:spAutoFit/>
          </a:bodyPr>
          <a:lstStyle/>
          <a:p>
            <a:r>
              <a:rPr lang="en-US" sz="2400" b="1" dirty="0">
                <a:latin typeface="Times New Roman" panose="02020603050405020304" pitchFamily="18" charset="0"/>
                <a:cs typeface="Times New Roman" panose="02020603050405020304" pitchFamily="18" charset="0"/>
              </a:rPr>
              <a:t>Questions</a:t>
            </a:r>
          </a:p>
          <a:p>
            <a:r>
              <a:rPr lang="en-US" sz="2400" dirty="0">
                <a:latin typeface="Times New Roman" panose="02020603050405020304" pitchFamily="18" charset="0"/>
                <a:cs typeface="Times New Roman" panose="02020603050405020304" pitchFamily="18" charset="0"/>
              </a:rPr>
              <a:t>​What time does the library close on weekdays?​</a:t>
            </a:r>
          </a:p>
        </p:txBody>
      </p:sp>
    </p:spTree>
    <p:extLst>
      <p:ext uri="{BB962C8B-B14F-4D97-AF65-F5344CB8AC3E}">
        <p14:creationId xmlns:p14="http://schemas.microsoft.com/office/powerpoint/2010/main" val="33133971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533400" y="402728"/>
            <a:ext cx="8878049" cy="365633"/>
          </a:xfrm>
          <a:prstGeom prst="rect">
            <a:avLst/>
          </a:prstGeom>
        </p:spPr>
      </p:pic>
      <p:sp>
        <p:nvSpPr>
          <p:cNvPr id="3" name="object 3"/>
          <p:cNvSpPr txBox="1"/>
          <p:nvPr/>
        </p:nvSpPr>
        <p:spPr>
          <a:xfrm>
            <a:off x="838200" y="1447800"/>
            <a:ext cx="4778375" cy="3793987"/>
          </a:xfrm>
          <a:prstGeom prst="rect">
            <a:avLst/>
          </a:prstGeom>
        </p:spPr>
        <p:txBody>
          <a:bodyPr vert="horz" wrap="square" lIns="0" tIns="114935" rIns="0" bIns="0" rtlCol="0">
            <a:spAutoFit/>
          </a:bodyPr>
          <a:lstStyle/>
          <a:p>
            <a:pPr marL="195580" indent="-182880">
              <a:lnSpc>
                <a:spcPct val="100000"/>
              </a:lnSpc>
              <a:spcBef>
                <a:spcPts val="905"/>
              </a:spcBef>
              <a:buClr>
                <a:srgbClr val="9E3611"/>
              </a:buClr>
              <a:buSzPct val="84375"/>
              <a:buFont typeface="Wingdings"/>
              <a:buChar char=""/>
              <a:tabLst>
                <a:tab pos="195580" algn="l"/>
              </a:tabLst>
            </a:pPr>
            <a:r>
              <a:rPr lang="en-US" sz="2800" spc="105" dirty="0">
                <a:latin typeface="Times New Roman" panose="02020603050405020304" pitchFamily="18" charset="0"/>
                <a:cs typeface="Times New Roman" panose="02020603050405020304" pitchFamily="18" charset="0"/>
              </a:rPr>
              <a:t>Process of drawing logical conclusion</a:t>
            </a:r>
          </a:p>
          <a:p>
            <a:pPr marL="195580" indent="-182880">
              <a:lnSpc>
                <a:spcPct val="100000"/>
              </a:lnSpc>
              <a:spcBef>
                <a:spcPts val="905"/>
              </a:spcBef>
              <a:buClr>
                <a:srgbClr val="9E3611"/>
              </a:buClr>
              <a:buSzPct val="84375"/>
              <a:buFont typeface="Wingdings"/>
              <a:buChar char=""/>
              <a:tabLst>
                <a:tab pos="195580" algn="l"/>
              </a:tabLst>
            </a:pPr>
            <a:r>
              <a:rPr lang="en-US" sz="2800" dirty="0">
                <a:latin typeface="Times New Roman" panose="02020603050405020304" pitchFamily="18" charset="0"/>
                <a:cs typeface="Times New Roman" panose="02020603050405020304" pitchFamily="18" charset="0"/>
              </a:rPr>
              <a:t>By using clues from the text together with own prior knowledge</a:t>
            </a:r>
          </a:p>
          <a:p>
            <a:pPr marL="195580" indent="-182880">
              <a:lnSpc>
                <a:spcPct val="100000"/>
              </a:lnSpc>
              <a:spcBef>
                <a:spcPts val="905"/>
              </a:spcBef>
              <a:buClr>
                <a:srgbClr val="9E3611"/>
              </a:buClr>
              <a:buSzPct val="84375"/>
              <a:buFont typeface="Wingdings"/>
              <a:buChar char=""/>
              <a:tabLst>
                <a:tab pos="195580" algn="l"/>
              </a:tabLst>
            </a:pPr>
            <a:r>
              <a:rPr lang="en-US" sz="2800" dirty="0">
                <a:latin typeface="Times New Roman" panose="02020603050405020304" pitchFamily="18" charset="0"/>
                <a:cs typeface="Times New Roman" panose="02020603050405020304" pitchFamily="18" charset="0"/>
              </a:rPr>
              <a:t>Reading “between the lines" to understand the writer's intended meaning.</a:t>
            </a:r>
            <a:endParaRPr sz="2800"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EFD6F308-04C1-C6F2-6651-D42EBB157958}"/>
              </a:ext>
            </a:extLst>
          </p:cNvPr>
          <p:cNvSpPr txBox="1"/>
          <p:nvPr/>
        </p:nvSpPr>
        <p:spPr>
          <a:xfrm>
            <a:off x="6577885" y="4419600"/>
            <a:ext cx="5105400" cy="1200329"/>
          </a:xfrm>
          <a:prstGeom prst="rect">
            <a:avLst/>
          </a:prstGeom>
          <a:noFill/>
        </p:spPr>
        <p:txBody>
          <a:bodyPr wrap="square">
            <a:spAutoFit/>
          </a:bodyPr>
          <a:lstStyle/>
          <a:p>
            <a:r>
              <a:rPr lang="en-US" sz="2400" b="1" dirty="0">
                <a:latin typeface="Times New Roman" panose="02020603050405020304" pitchFamily="18" charset="0"/>
                <a:cs typeface="Times New Roman" panose="02020603050405020304" pitchFamily="18" charset="0"/>
              </a:rPr>
              <a:t>Formula:</a:t>
            </a:r>
          </a:p>
          <a:p>
            <a:r>
              <a:rPr lang="en-US" sz="2400" b="1" dirty="0">
                <a:latin typeface="Times New Roman" panose="02020603050405020304" pitchFamily="18" charset="0"/>
                <a:cs typeface="Times New Roman" panose="02020603050405020304" pitchFamily="18" charset="0"/>
              </a:rPr>
              <a:t>Text Clues + Background Knowledge = Inference</a:t>
            </a:r>
          </a:p>
        </p:txBody>
      </p:sp>
      <p:pic>
        <p:nvPicPr>
          <p:cNvPr id="7" name="Picture 6">
            <a:extLst>
              <a:ext uri="{FF2B5EF4-FFF2-40B4-BE49-F238E27FC236}">
                <a16:creationId xmlns:a16="http://schemas.microsoft.com/office/drawing/2014/main" id="{50F24355-7EEC-CFD9-7808-C35EA3AF3739}"/>
              </a:ext>
            </a:extLst>
          </p:cNvPr>
          <p:cNvPicPr>
            <a:picLocks noChangeAspect="1"/>
          </p:cNvPicPr>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tretch>
            <a:fillRect/>
          </a:stretch>
        </p:blipFill>
        <p:spPr>
          <a:xfrm>
            <a:off x="7848600" y="1676400"/>
            <a:ext cx="2809875" cy="19240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ED514-4EF2-C34F-93C7-EB9088A885E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B535133C-7BC3-DF0D-5AD2-84EDC0B1FF11}"/>
              </a:ext>
            </a:extLst>
          </p:cNvPr>
          <p:cNvSpPr txBox="1"/>
          <p:nvPr/>
        </p:nvSpPr>
        <p:spPr>
          <a:xfrm>
            <a:off x="457200" y="1447800"/>
            <a:ext cx="10668000" cy="3539430"/>
          </a:xfrm>
          <a:prstGeom prst="rect">
            <a:avLst/>
          </a:prstGeom>
          <a:noFill/>
        </p:spPr>
        <p:txBody>
          <a:bodyPr wrap="square">
            <a:spAutoFit/>
          </a:bodyPr>
          <a:lstStyle/>
          <a:p>
            <a:r>
              <a:rPr lang="en-US" sz="3200" dirty="0">
                <a:latin typeface="Times New Roman" panose="02020603050405020304" pitchFamily="18" charset="0"/>
                <a:cs typeface="Times New Roman" panose="02020603050405020304" pitchFamily="18" charset="0"/>
              </a:rPr>
              <a:t>Text: </a:t>
            </a:r>
          </a:p>
          <a:p>
            <a:r>
              <a:rPr lang="en-US" sz="3200" dirty="0">
                <a:latin typeface="Times New Roman" panose="02020603050405020304" pitchFamily="18" charset="0"/>
                <a:cs typeface="Times New Roman" panose="02020603050405020304" pitchFamily="18" charset="0"/>
              </a:rPr>
              <a:t>“As Jane walked inside, she immediately shook her umbrella, wiped her wet boots on the mat, and pulled her raincoat tightly around her shoulders’.</a:t>
            </a:r>
          </a:p>
          <a:p>
            <a:endParaRPr lang="en-US" sz="3200" dirty="0">
              <a:latin typeface="Times New Roman" panose="02020603050405020304" pitchFamily="18" charset="0"/>
              <a:cs typeface="Times New Roman" panose="02020603050405020304" pitchFamily="18" charset="0"/>
            </a:endParaRPr>
          </a:p>
          <a:p>
            <a:r>
              <a:rPr lang="en-US" sz="3200" dirty="0">
                <a:latin typeface="Times New Roman" panose="02020603050405020304" pitchFamily="18" charset="0"/>
                <a:cs typeface="Times New Roman" panose="02020603050405020304" pitchFamily="18" charset="0"/>
              </a:rPr>
              <a:t>Question:</a:t>
            </a:r>
          </a:p>
          <a:p>
            <a:r>
              <a:rPr lang="en-US" sz="3200" dirty="0">
                <a:latin typeface="Times New Roman" panose="02020603050405020304" pitchFamily="18" charset="0"/>
                <a:cs typeface="Times New Roman" panose="02020603050405020304" pitchFamily="18" charset="0"/>
              </a:rPr>
              <a:t>What can you infer? What is the weather likely like outside?</a:t>
            </a:r>
          </a:p>
        </p:txBody>
      </p:sp>
      <p:sp>
        <p:nvSpPr>
          <p:cNvPr id="7" name="Title 1">
            <a:extLst>
              <a:ext uri="{FF2B5EF4-FFF2-40B4-BE49-F238E27FC236}">
                <a16:creationId xmlns:a16="http://schemas.microsoft.com/office/drawing/2014/main" id="{4578C0A0-386D-3BC0-3B12-3E605F1F9BD3}"/>
              </a:ext>
            </a:extLst>
          </p:cNvPr>
          <p:cNvSpPr txBox="1">
            <a:spLocks/>
          </p:cNvSpPr>
          <p:nvPr/>
        </p:nvSpPr>
        <p:spPr>
          <a:xfrm>
            <a:off x="152400" y="228600"/>
            <a:ext cx="8746490" cy="553998"/>
          </a:xfrm>
          <a:prstGeom prst="rect">
            <a:avLst/>
          </a:prstGeom>
        </p:spPr>
        <p:txBody>
          <a:bodyPr/>
          <a:lstStyle>
            <a:lvl1pPr>
              <a:defRPr>
                <a:latin typeface="+mj-lt"/>
                <a:ea typeface="+mj-ea"/>
                <a:cs typeface="+mj-cs"/>
              </a:defRPr>
            </a:lvl1pPr>
          </a:lstStyle>
          <a:p>
            <a:r>
              <a:rPr lang="en-US" sz="3600" b="1" dirty="0">
                <a:latin typeface="Times New Roman" panose="02020603050405020304" pitchFamily="18" charset="0"/>
                <a:cs typeface="Times New Roman" panose="02020603050405020304" pitchFamily="18" charset="0"/>
              </a:rPr>
              <a:t> </a:t>
            </a:r>
            <a:r>
              <a:rPr lang="en-US" sz="4000" b="1" dirty="0">
                <a:latin typeface="Times New Roman" panose="02020603050405020304" pitchFamily="18" charset="0"/>
                <a:cs typeface="Times New Roman" panose="02020603050405020304" pitchFamily="18" charset="0"/>
              </a:rPr>
              <a:t>Practice 3–Inferencing:</a:t>
            </a:r>
          </a:p>
        </p:txBody>
      </p:sp>
    </p:spTree>
    <p:extLst>
      <p:ext uri="{BB962C8B-B14F-4D97-AF65-F5344CB8AC3E}">
        <p14:creationId xmlns:p14="http://schemas.microsoft.com/office/powerpoint/2010/main" val="24002882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p:nvPr/>
        </p:nvSpPr>
        <p:spPr>
          <a:xfrm>
            <a:off x="6568334" y="2745420"/>
            <a:ext cx="5156835" cy="1583767"/>
          </a:xfrm>
          <a:prstGeom prst="rect">
            <a:avLst/>
          </a:prstGeom>
        </p:spPr>
        <p:txBody>
          <a:bodyPr vert="horz" wrap="square" lIns="0" tIns="153670" rIns="0" bIns="0" rtlCol="0">
            <a:spAutoFit/>
          </a:bodyPr>
          <a:lstStyle/>
          <a:p>
            <a:pPr marL="195580" indent="-182880">
              <a:lnSpc>
                <a:spcPct val="100000"/>
              </a:lnSpc>
              <a:spcBef>
                <a:spcPts val="1210"/>
              </a:spcBef>
              <a:buClr>
                <a:srgbClr val="9E3611"/>
              </a:buClr>
              <a:buSzPct val="84375"/>
              <a:buFont typeface="Wingdings"/>
              <a:buChar char=""/>
              <a:tabLst>
                <a:tab pos="195580" algn="l"/>
              </a:tabLst>
            </a:pPr>
            <a:r>
              <a:rPr sz="3200" b="1" spc="45" dirty="0">
                <a:latin typeface="Times New Roman" panose="02020603050405020304" pitchFamily="18" charset="0"/>
                <a:cs typeface="Times New Roman" panose="02020603050405020304" pitchFamily="18" charset="0"/>
              </a:rPr>
              <a:t>Focus</a:t>
            </a:r>
            <a:r>
              <a:rPr sz="2750" b="1" spc="45" dirty="0">
                <a:latin typeface="Times New Roman" panose="02020603050405020304" pitchFamily="18" charset="0"/>
                <a:cs typeface="Times New Roman" panose="02020603050405020304" pitchFamily="18" charset="0"/>
              </a:rPr>
              <a:t>:</a:t>
            </a:r>
            <a:endParaRPr sz="2750" b="1" dirty="0">
              <a:latin typeface="Times New Roman" panose="02020603050405020304" pitchFamily="18" charset="0"/>
              <a:cs typeface="Times New Roman" panose="02020603050405020304" pitchFamily="18" charset="0"/>
            </a:endParaRPr>
          </a:p>
          <a:p>
            <a:pPr marL="194310" marR="5080" indent="-182245">
              <a:lnSpc>
                <a:spcPts val="3000"/>
              </a:lnSpc>
              <a:spcBef>
                <a:spcPts val="1255"/>
              </a:spcBef>
              <a:buClr>
                <a:srgbClr val="9E3611"/>
              </a:buClr>
              <a:buSzPct val="87272"/>
              <a:buFont typeface="Wingdings"/>
              <a:buChar char=""/>
              <a:tabLst>
                <a:tab pos="195580" algn="l"/>
              </a:tabLst>
            </a:pPr>
            <a:r>
              <a:rPr lang="en-US" sz="2750" dirty="0">
                <a:latin typeface="Times New Roman" panose="02020603050405020304" pitchFamily="18" charset="0"/>
                <a:cs typeface="Times New Roman" panose="02020603050405020304" pitchFamily="18" charset="0"/>
              </a:rPr>
              <a:t> Reading longer texts for overall fluency and pleasure..</a:t>
            </a:r>
            <a:endParaRPr sz="2750" dirty="0">
              <a:latin typeface="Times New Roman" panose="02020603050405020304" pitchFamily="18" charset="0"/>
              <a:cs typeface="Times New Roman" panose="02020603050405020304" pitchFamily="18" charset="0"/>
            </a:endParaRPr>
          </a:p>
        </p:txBody>
      </p:sp>
      <p:pic>
        <p:nvPicPr>
          <p:cNvPr id="7" name="object 7"/>
          <p:cNvPicPr/>
          <p:nvPr/>
        </p:nvPicPr>
        <p:blipFill>
          <a:blip r:embed="rId2" cstate="print"/>
          <a:stretch>
            <a:fillRect/>
          </a:stretch>
        </p:blipFill>
        <p:spPr>
          <a:xfrm>
            <a:off x="5357559" y="4876881"/>
            <a:ext cx="1600200" cy="1981119"/>
          </a:xfrm>
          <a:prstGeom prst="rect">
            <a:avLst/>
          </a:prstGeom>
        </p:spPr>
      </p:pic>
      <p:sp>
        <p:nvSpPr>
          <p:cNvPr id="11" name="Title 1">
            <a:extLst>
              <a:ext uri="{FF2B5EF4-FFF2-40B4-BE49-F238E27FC236}">
                <a16:creationId xmlns:a16="http://schemas.microsoft.com/office/drawing/2014/main" id="{436380D8-68A9-FC07-5095-4F85ECD3FE0C}"/>
              </a:ext>
            </a:extLst>
          </p:cNvPr>
          <p:cNvSpPr txBox="1">
            <a:spLocks/>
          </p:cNvSpPr>
          <p:nvPr/>
        </p:nvSpPr>
        <p:spPr>
          <a:xfrm>
            <a:off x="685800" y="1678542"/>
            <a:ext cx="3886200" cy="553998"/>
          </a:xfrm>
          <a:prstGeom prst="rect">
            <a:avLst/>
          </a:prstGeom>
        </p:spPr>
        <p:txBody>
          <a:bodyPr/>
          <a:lstStyle>
            <a:lvl1pPr>
              <a:defRPr>
                <a:latin typeface="+mj-lt"/>
                <a:ea typeface="+mj-ea"/>
                <a:cs typeface="+mj-cs"/>
              </a:defRPr>
            </a:lvl1pPr>
          </a:lstStyle>
          <a:p>
            <a:r>
              <a:rPr lang="en-US" sz="3600" b="1" dirty="0">
                <a:latin typeface="Times New Roman" panose="02020603050405020304" pitchFamily="18" charset="0"/>
                <a:cs typeface="Times New Roman" panose="02020603050405020304" pitchFamily="18" charset="0"/>
              </a:rPr>
              <a:t>Intensive Reading:</a:t>
            </a:r>
          </a:p>
        </p:txBody>
      </p:sp>
      <p:pic>
        <p:nvPicPr>
          <p:cNvPr id="13" name="Graphic 12" descr="Bullseye with solid fill">
            <a:extLst>
              <a:ext uri="{FF2B5EF4-FFF2-40B4-BE49-F238E27FC236}">
                <a16:creationId xmlns:a16="http://schemas.microsoft.com/office/drawing/2014/main" id="{D9E00750-A205-04D5-9B51-C34DE2CC3BA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0" y="1663794"/>
            <a:ext cx="762000" cy="762000"/>
          </a:xfrm>
          <a:prstGeom prst="rect">
            <a:avLst/>
          </a:prstGeom>
        </p:spPr>
      </p:pic>
      <p:pic>
        <p:nvPicPr>
          <p:cNvPr id="15" name="Graphic 14" descr="Lightbulb and gear with solid fill">
            <a:extLst>
              <a:ext uri="{FF2B5EF4-FFF2-40B4-BE49-F238E27FC236}">
                <a16:creationId xmlns:a16="http://schemas.microsoft.com/office/drawing/2014/main" id="{82615665-90CB-A5D1-9FC8-DB7BFE4F77F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575708" y="1786031"/>
            <a:ext cx="639763" cy="639763"/>
          </a:xfrm>
          <a:prstGeom prst="rect">
            <a:avLst/>
          </a:prstGeom>
        </p:spPr>
      </p:pic>
      <p:sp>
        <p:nvSpPr>
          <p:cNvPr id="17" name="Title 1">
            <a:extLst>
              <a:ext uri="{FF2B5EF4-FFF2-40B4-BE49-F238E27FC236}">
                <a16:creationId xmlns:a16="http://schemas.microsoft.com/office/drawing/2014/main" id="{98729FCB-528C-4C63-1702-60130B7ABD25}"/>
              </a:ext>
            </a:extLst>
          </p:cNvPr>
          <p:cNvSpPr txBox="1">
            <a:spLocks/>
          </p:cNvSpPr>
          <p:nvPr/>
        </p:nvSpPr>
        <p:spPr>
          <a:xfrm>
            <a:off x="7215471" y="1764307"/>
            <a:ext cx="4291873" cy="553998"/>
          </a:xfrm>
          <a:prstGeom prst="rect">
            <a:avLst/>
          </a:prstGeom>
        </p:spPr>
        <p:txBody>
          <a:bodyPr/>
          <a:lstStyle>
            <a:lvl1pPr>
              <a:defRPr>
                <a:latin typeface="+mj-lt"/>
                <a:ea typeface="+mj-ea"/>
                <a:cs typeface="+mj-cs"/>
              </a:defRPr>
            </a:lvl1pPr>
          </a:lstStyle>
          <a:p>
            <a:r>
              <a:rPr lang="en-US" sz="3600" b="1" dirty="0">
                <a:latin typeface="Times New Roman" panose="02020603050405020304" pitchFamily="18" charset="0"/>
                <a:cs typeface="Times New Roman" panose="02020603050405020304" pitchFamily="18" charset="0"/>
              </a:rPr>
              <a:t>Extensive Reading:</a:t>
            </a:r>
          </a:p>
        </p:txBody>
      </p:sp>
      <p:sp>
        <p:nvSpPr>
          <p:cNvPr id="21" name="object 4">
            <a:extLst>
              <a:ext uri="{FF2B5EF4-FFF2-40B4-BE49-F238E27FC236}">
                <a16:creationId xmlns:a16="http://schemas.microsoft.com/office/drawing/2014/main" id="{BD104167-53B3-43C3-2436-13E9AA42423B}"/>
              </a:ext>
            </a:extLst>
          </p:cNvPr>
          <p:cNvSpPr txBox="1"/>
          <p:nvPr/>
        </p:nvSpPr>
        <p:spPr>
          <a:xfrm>
            <a:off x="762000" y="2637559"/>
            <a:ext cx="5156835" cy="1583767"/>
          </a:xfrm>
          <a:prstGeom prst="rect">
            <a:avLst/>
          </a:prstGeom>
        </p:spPr>
        <p:txBody>
          <a:bodyPr vert="horz" wrap="square" lIns="0" tIns="153670" rIns="0" bIns="0" rtlCol="0">
            <a:spAutoFit/>
          </a:bodyPr>
          <a:lstStyle/>
          <a:p>
            <a:pPr marL="195580" indent="-182880">
              <a:lnSpc>
                <a:spcPct val="100000"/>
              </a:lnSpc>
              <a:spcBef>
                <a:spcPts val="1210"/>
              </a:spcBef>
              <a:buClr>
                <a:srgbClr val="9E3611"/>
              </a:buClr>
              <a:buSzPct val="84375"/>
              <a:buFont typeface="Wingdings"/>
              <a:buChar char=""/>
              <a:tabLst>
                <a:tab pos="195580" algn="l"/>
              </a:tabLst>
            </a:pPr>
            <a:r>
              <a:rPr sz="3200" b="1" spc="45" dirty="0">
                <a:latin typeface="Times New Roman" panose="02020603050405020304" pitchFamily="18" charset="0"/>
                <a:cs typeface="Times New Roman" panose="02020603050405020304" pitchFamily="18" charset="0"/>
              </a:rPr>
              <a:t>Focus</a:t>
            </a:r>
            <a:r>
              <a:rPr sz="2750" b="1" spc="45" dirty="0">
                <a:latin typeface="Times New Roman" panose="02020603050405020304" pitchFamily="18" charset="0"/>
                <a:cs typeface="Times New Roman" panose="02020603050405020304" pitchFamily="18" charset="0"/>
              </a:rPr>
              <a:t>:</a:t>
            </a:r>
            <a:endParaRPr sz="2750" b="1" dirty="0">
              <a:latin typeface="Times New Roman" panose="02020603050405020304" pitchFamily="18" charset="0"/>
              <a:cs typeface="Times New Roman" panose="02020603050405020304" pitchFamily="18" charset="0"/>
            </a:endParaRPr>
          </a:p>
          <a:p>
            <a:pPr marL="194310" marR="5080" indent="-182245">
              <a:lnSpc>
                <a:spcPts val="3000"/>
              </a:lnSpc>
              <a:spcBef>
                <a:spcPts val="1255"/>
              </a:spcBef>
              <a:buClr>
                <a:srgbClr val="9E3611"/>
              </a:buClr>
              <a:buSzPct val="87272"/>
              <a:buFont typeface="Wingdings"/>
              <a:buChar char=""/>
              <a:tabLst>
                <a:tab pos="195580" algn="l"/>
              </a:tabLst>
            </a:pPr>
            <a:r>
              <a:rPr lang="en-US" sz="2750" dirty="0">
                <a:latin typeface="Times New Roman" panose="02020603050405020304" pitchFamily="18" charset="0"/>
                <a:cs typeface="Times New Roman" panose="02020603050405020304" pitchFamily="18" charset="0"/>
              </a:rPr>
              <a:t> Slow, detailed analysis of text, grammar, and vocabulary.</a:t>
            </a:r>
            <a:endParaRPr sz="275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B936B1-6B6C-0887-49F3-F524E5623835}"/>
            </a:ext>
          </a:extLst>
        </p:cNvPr>
        <p:cNvGrpSpPr/>
        <p:nvPr/>
      </p:nvGrpSpPr>
      <p:grpSpPr>
        <a:xfrm>
          <a:off x="0" y="0"/>
          <a:ext cx="0" cy="0"/>
          <a:chOff x="0" y="0"/>
          <a:chExt cx="0" cy="0"/>
        </a:xfrm>
      </p:grpSpPr>
      <p:sp>
        <p:nvSpPr>
          <p:cNvPr id="11" name="Title 1">
            <a:extLst>
              <a:ext uri="{FF2B5EF4-FFF2-40B4-BE49-F238E27FC236}">
                <a16:creationId xmlns:a16="http://schemas.microsoft.com/office/drawing/2014/main" id="{B6BC3554-EC2D-3FC3-DCF8-C69B157364C3}"/>
              </a:ext>
            </a:extLst>
          </p:cNvPr>
          <p:cNvSpPr txBox="1">
            <a:spLocks/>
          </p:cNvSpPr>
          <p:nvPr/>
        </p:nvSpPr>
        <p:spPr>
          <a:xfrm>
            <a:off x="685800" y="36856"/>
            <a:ext cx="3886200" cy="533400"/>
          </a:xfrm>
          <a:prstGeom prst="rect">
            <a:avLst/>
          </a:prstGeom>
        </p:spPr>
        <p:txBody>
          <a:bodyPr/>
          <a:lstStyle>
            <a:lvl1pPr>
              <a:defRPr>
                <a:latin typeface="+mj-lt"/>
                <a:ea typeface="+mj-ea"/>
                <a:cs typeface="+mj-cs"/>
              </a:defRPr>
            </a:lvl1pPr>
          </a:lstStyle>
          <a:p>
            <a:r>
              <a:rPr lang="en-US" sz="2800" b="1" dirty="0">
                <a:latin typeface="Times New Roman" panose="02020603050405020304" pitchFamily="18" charset="0"/>
                <a:cs typeface="Times New Roman" panose="02020603050405020304" pitchFamily="18" charset="0"/>
              </a:rPr>
              <a:t>Reading Passage:</a:t>
            </a:r>
          </a:p>
        </p:txBody>
      </p:sp>
      <p:pic>
        <p:nvPicPr>
          <p:cNvPr id="13" name="Graphic 12" descr="Bullseye with solid fill">
            <a:extLst>
              <a:ext uri="{FF2B5EF4-FFF2-40B4-BE49-F238E27FC236}">
                <a16:creationId xmlns:a16="http://schemas.microsoft.com/office/drawing/2014/main" id="{F648B718-7178-D34C-6772-3EBB895150DD}"/>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38881" y="36856"/>
            <a:ext cx="533400" cy="524576"/>
          </a:xfrm>
          <a:prstGeom prst="rect">
            <a:avLst/>
          </a:prstGeom>
        </p:spPr>
      </p:pic>
      <p:sp>
        <p:nvSpPr>
          <p:cNvPr id="21" name="object 4">
            <a:extLst>
              <a:ext uri="{FF2B5EF4-FFF2-40B4-BE49-F238E27FC236}">
                <a16:creationId xmlns:a16="http://schemas.microsoft.com/office/drawing/2014/main" id="{FB224B21-CB0E-55CB-C1CD-31359DC67ED1}"/>
              </a:ext>
            </a:extLst>
          </p:cNvPr>
          <p:cNvSpPr txBox="1"/>
          <p:nvPr/>
        </p:nvSpPr>
        <p:spPr>
          <a:xfrm>
            <a:off x="147485" y="457200"/>
            <a:ext cx="11658600" cy="6156814"/>
          </a:xfrm>
          <a:prstGeom prst="rect">
            <a:avLst/>
          </a:prstGeom>
        </p:spPr>
        <p:txBody>
          <a:bodyPr vert="horz" wrap="square" lIns="0" tIns="153670" rIns="0" bIns="0" rtlCol="0">
            <a:spAutoFit/>
          </a:bodyPr>
          <a:lstStyle/>
          <a:p>
            <a:pPr marL="195580" indent="-182880">
              <a:lnSpc>
                <a:spcPct val="100000"/>
              </a:lnSpc>
              <a:spcBef>
                <a:spcPts val="1210"/>
              </a:spcBef>
              <a:buClr>
                <a:srgbClr val="9E3611"/>
              </a:buClr>
              <a:buSzPct val="84375"/>
              <a:buFont typeface="Wingdings"/>
              <a:buChar char=""/>
              <a:tabLst>
                <a:tab pos="195580" algn="l"/>
              </a:tabLst>
            </a:pPr>
            <a:r>
              <a:rPr lang="en-US" sz="2000" spc="45" dirty="0">
                <a:latin typeface="Times New Roman" panose="02020603050405020304" pitchFamily="18" charset="0"/>
                <a:cs typeface="Times New Roman" panose="02020603050405020304" pitchFamily="18" charset="0"/>
              </a:rPr>
              <a:t>Read the passage below and answer the following questions. </a:t>
            </a:r>
          </a:p>
          <a:p>
            <a:pPr marL="12700">
              <a:lnSpc>
                <a:spcPct val="100000"/>
              </a:lnSpc>
              <a:spcBef>
                <a:spcPts val="1210"/>
              </a:spcBef>
              <a:buClr>
                <a:srgbClr val="9E3611"/>
              </a:buClr>
              <a:buSzPct val="84375"/>
              <a:tabLst>
                <a:tab pos="195580" algn="l"/>
              </a:tabLst>
            </a:pPr>
            <a:r>
              <a:rPr lang="en-US" sz="2000" spc="45" dirty="0">
                <a:latin typeface="Times New Roman" panose="02020603050405020304" pitchFamily="18" charset="0"/>
                <a:cs typeface="Times New Roman" panose="02020603050405020304" pitchFamily="18" charset="0"/>
              </a:rPr>
              <a:t>Time is one of the most valuable resources in our lives. Unlike money, once time is lost, it can never be regained. Therefore, managing time wisely is essential for achieving</a:t>
            </a:r>
            <a:r>
              <a:rPr lang="en-US" sz="2000" spc="45" dirty="0">
                <a:solidFill>
                  <a:srgbClr val="FF0000"/>
                </a:solidFill>
                <a:latin typeface="Times New Roman" panose="02020603050405020304" pitchFamily="18" charset="0"/>
                <a:cs typeface="Times New Roman" panose="02020603050405020304" pitchFamily="18" charset="0"/>
              </a:rPr>
              <a:t> success </a:t>
            </a:r>
            <a:r>
              <a:rPr lang="en-US" sz="2000" spc="45" dirty="0">
                <a:latin typeface="Times New Roman" panose="02020603050405020304" pitchFamily="18" charset="0"/>
                <a:cs typeface="Times New Roman" panose="02020603050405020304" pitchFamily="18" charset="0"/>
              </a:rPr>
              <a:t>in both personal and professional life. Time management helps us complete our tasks efficiently, </a:t>
            </a:r>
            <a:r>
              <a:rPr lang="en-US" sz="2000" spc="45" dirty="0">
                <a:solidFill>
                  <a:srgbClr val="FF0000"/>
                </a:solidFill>
                <a:latin typeface="Times New Roman" panose="02020603050405020304" pitchFamily="18" charset="0"/>
                <a:cs typeface="Times New Roman" panose="02020603050405020304" pitchFamily="18" charset="0"/>
              </a:rPr>
              <a:t>reduce stress</a:t>
            </a:r>
            <a:r>
              <a:rPr lang="en-US" sz="2000" spc="45" dirty="0">
                <a:latin typeface="Times New Roman" panose="02020603050405020304" pitchFamily="18" charset="0"/>
                <a:cs typeface="Times New Roman" panose="02020603050405020304" pitchFamily="18" charset="0"/>
              </a:rPr>
              <a:t>, and maintain a healthy balance between work and leisure. One of the greatest benefits of time management is increased productivity. People who plan their daily activities and set clear </a:t>
            </a:r>
            <a:r>
              <a:rPr lang="en-US" sz="2000" spc="45" dirty="0">
                <a:solidFill>
                  <a:srgbClr val="FF0000"/>
                </a:solidFill>
                <a:latin typeface="Times New Roman" panose="02020603050405020304" pitchFamily="18" charset="0"/>
                <a:cs typeface="Times New Roman" panose="02020603050405020304" pitchFamily="18" charset="0"/>
              </a:rPr>
              <a:t>priorities</a:t>
            </a:r>
            <a:r>
              <a:rPr lang="en-US" sz="2000" spc="45" dirty="0">
                <a:latin typeface="Times New Roman" panose="02020603050405020304" pitchFamily="18" charset="0"/>
                <a:cs typeface="Times New Roman" panose="02020603050405020304" pitchFamily="18" charset="0"/>
              </a:rPr>
              <a:t> can accomplish more in less time. They are less likely to waste hours on unimportant tasks and are better prepared to meet deadlines. As a result, they feel more confident and satisfied with their achievements. Good time management also improves mental well-being. When people organize their schedules effectively, they experience less anxiety and pressure. Having enough time for family, hobbies, exercise, and rest contributes to a healthier and happier lifestyle. Moreover, time management develops important life skills such as self-discipline, responsibility, and decision-making. Students who manage their study time properly usually perform better in examinations because they revise their lessons regularly instead of studying at the last minute. Likewise, professionals who organize their work effectively often gain the trust of their colleagues and employers. In today's digital world, distractions such as social media, online games, and endless notifications can consume a significant amount of time. Therefore, it is important to use technology wisely and avoid unnecessary distractions while working or studying. In conclusion, time management is not simply about following a schedule; it is about making the best use of every moment. It enables us to achieve our goals, improve our well-being, and lead a more balanced and productive life.</a:t>
            </a:r>
            <a:endParaRPr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745123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D9C31A-7748-7CC7-7EBF-B4A146463CDA}"/>
            </a:ext>
          </a:extLst>
        </p:cNvPr>
        <p:cNvGrpSpPr/>
        <p:nvPr/>
      </p:nvGrpSpPr>
      <p:grpSpPr>
        <a:xfrm>
          <a:off x="0" y="0"/>
          <a:ext cx="0" cy="0"/>
          <a:chOff x="0" y="0"/>
          <a:chExt cx="0" cy="0"/>
        </a:xfrm>
      </p:grpSpPr>
      <p:sp>
        <p:nvSpPr>
          <p:cNvPr id="21" name="object 4">
            <a:extLst>
              <a:ext uri="{FF2B5EF4-FFF2-40B4-BE49-F238E27FC236}">
                <a16:creationId xmlns:a16="http://schemas.microsoft.com/office/drawing/2014/main" id="{4D441079-F84F-7AB1-B0D6-BAEDB9E9F78C}"/>
              </a:ext>
            </a:extLst>
          </p:cNvPr>
          <p:cNvSpPr txBox="1"/>
          <p:nvPr/>
        </p:nvSpPr>
        <p:spPr>
          <a:xfrm>
            <a:off x="342900" y="196705"/>
            <a:ext cx="11506200" cy="6464590"/>
          </a:xfrm>
          <a:prstGeom prst="rect">
            <a:avLst/>
          </a:prstGeom>
        </p:spPr>
        <p:txBody>
          <a:bodyPr vert="horz" wrap="square" lIns="0" tIns="153670" rIns="0" bIns="0" rtlCol="0">
            <a:spAutoFit/>
          </a:bodyPr>
          <a:lstStyle/>
          <a:p>
            <a:pPr marL="195580" indent="-182880">
              <a:spcBef>
                <a:spcPts val="1210"/>
              </a:spcBef>
              <a:buClr>
                <a:srgbClr val="9E3611"/>
              </a:buClr>
              <a:buSzPct val="84375"/>
              <a:buFont typeface="Wingdings"/>
              <a:buChar char=""/>
              <a:tabLst>
                <a:tab pos="195580" algn="l"/>
              </a:tabLst>
            </a:pPr>
            <a:r>
              <a:rPr lang="en-US" sz="2000" b="1" spc="45" dirty="0">
                <a:latin typeface="Times New Roman" panose="02020603050405020304" pitchFamily="18" charset="0"/>
                <a:cs typeface="Times New Roman" panose="02020603050405020304" pitchFamily="18" charset="0"/>
              </a:rPr>
              <a:t>1A. Write down the correct answer for the following.                                                            </a:t>
            </a:r>
            <a:r>
              <a:rPr lang="en-US" sz="2000" spc="45" dirty="0">
                <a:latin typeface="Times New Roman" panose="02020603050405020304" pitchFamily="18" charset="0"/>
                <a:cs typeface="Times New Roman" panose="02020603050405020304" pitchFamily="18" charset="0"/>
              </a:rPr>
              <a:t>(0.5×4=2) </a:t>
            </a:r>
          </a:p>
          <a:p>
            <a:pPr marL="12700">
              <a:spcBef>
                <a:spcPts val="1210"/>
              </a:spcBef>
              <a:buClr>
                <a:srgbClr val="9E3611"/>
              </a:buClr>
              <a:buSzPct val="84375"/>
              <a:tabLst>
                <a:tab pos="195580" algn="l"/>
              </a:tabLst>
            </a:pPr>
            <a:r>
              <a:rPr lang="en-US" sz="2000" b="1" spc="45" dirty="0" err="1">
                <a:latin typeface="Times New Roman" panose="02020603050405020304" pitchFamily="18" charset="0"/>
                <a:cs typeface="Times New Roman" panose="02020603050405020304" pitchFamily="18" charset="0"/>
              </a:rPr>
              <a:t>i</a:t>
            </a:r>
            <a:r>
              <a:rPr lang="en-US" sz="2000" b="1" spc="45" dirty="0">
                <a:latin typeface="Times New Roman" panose="02020603050405020304" pitchFamily="18" charset="0"/>
                <a:cs typeface="Times New Roman" panose="02020603050405020304" pitchFamily="18" charset="0"/>
              </a:rPr>
              <a:t>. Which statement best reflects the writer's central argument? </a:t>
            </a:r>
          </a:p>
          <a:p>
            <a:pPr marL="12700">
              <a:spcBef>
                <a:spcPts val="1210"/>
              </a:spcBef>
              <a:buClr>
                <a:srgbClr val="9E3611"/>
              </a:buClr>
              <a:buSzPct val="84375"/>
              <a:tabLst>
                <a:tab pos="195580" algn="l"/>
              </a:tabLst>
            </a:pPr>
            <a:r>
              <a:rPr lang="en-US" sz="2000" spc="45" dirty="0">
                <a:latin typeface="Times New Roman" panose="02020603050405020304" pitchFamily="18" charset="0"/>
                <a:cs typeface="Times New Roman" panose="02020603050405020304" pitchFamily="18" charset="0"/>
              </a:rPr>
              <a:t>a) Success depends entirely on following a strict daily routine. </a:t>
            </a:r>
          </a:p>
          <a:p>
            <a:pPr marL="12700">
              <a:spcBef>
                <a:spcPts val="1210"/>
              </a:spcBef>
              <a:buClr>
                <a:srgbClr val="9E3611"/>
              </a:buClr>
              <a:buSzPct val="84375"/>
              <a:tabLst>
                <a:tab pos="195580" algn="l"/>
              </a:tabLst>
            </a:pPr>
            <a:r>
              <a:rPr lang="en-US" sz="2000" spc="45" dirty="0">
                <a:latin typeface="Times New Roman" panose="02020603050405020304" pitchFamily="18" charset="0"/>
                <a:cs typeface="Times New Roman" panose="02020603050405020304" pitchFamily="18" charset="0"/>
              </a:rPr>
              <a:t>b) Effective use of time contributes to productivity, well-being, and personal development. </a:t>
            </a:r>
          </a:p>
          <a:p>
            <a:pPr marL="12700">
              <a:spcBef>
                <a:spcPts val="1210"/>
              </a:spcBef>
              <a:buClr>
                <a:srgbClr val="9E3611"/>
              </a:buClr>
              <a:buSzPct val="84375"/>
              <a:tabLst>
                <a:tab pos="195580" algn="l"/>
              </a:tabLst>
            </a:pPr>
            <a:r>
              <a:rPr lang="en-US" sz="2000" spc="45" dirty="0">
                <a:latin typeface="Times New Roman" panose="02020603050405020304" pitchFamily="18" charset="0"/>
                <a:cs typeface="Times New Roman" panose="02020603050405020304" pitchFamily="18" charset="0"/>
              </a:rPr>
              <a:t>c) Technology is the primary reason people fail to manage time. </a:t>
            </a:r>
          </a:p>
          <a:p>
            <a:pPr marL="12700">
              <a:spcBef>
                <a:spcPts val="1210"/>
              </a:spcBef>
              <a:buClr>
                <a:srgbClr val="9E3611"/>
              </a:buClr>
              <a:buSzPct val="84375"/>
              <a:tabLst>
                <a:tab pos="195580" algn="l"/>
              </a:tabLst>
            </a:pPr>
            <a:r>
              <a:rPr lang="en-US" sz="2000" spc="45" dirty="0">
                <a:latin typeface="Times New Roman" panose="02020603050405020304" pitchFamily="18" charset="0"/>
                <a:cs typeface="Times New Roman" panose="02020603050405020304" pitchFamily="18" charset="0"/>
              </a:rPr>
              <a:t>d) Time management is mainly important for students. </a:t>
            </a:r>
          </a:p>
          <a:p>
            <a:pPr marL="12700">
              <a:spcBef>
                <a:spcPts val="1210"/>
              </a:spcBef>
              <a:buClr>
                <a:srgbClr val="9E3611"/>
              </a:buClr>
              <a:buSzPct val="84375"/>
              <a:tabLst>
                <a:tab pos="195580" algn="l"/>
              </a:tabLst>
            </a:pPr>
            <a:endParaRPr lang="en-US" sz="2000" b="1" spc="45" dirty="0">
              <a:latin typeface="Times New Roman" panose="02020603050405020304" pitchFamily="18" charset="0"/>
              <a:cs typeface="Times New Roman" panose="02020603050405020304" pitchFamily="18" charset="0"/>
            </a:endParaRPr>
          </a:p>
          <a:p>
            <a:pPr marL="12700">
              <a:spcBef>
                <a:spcPts val="1210"/>
              </a:spcBef>
              <a:buClr>
                <a:srgbClr val="9E3611"/>
              </a:buClr>
              <a:buSzPct val="84375"/>
              <a:tabLst>
                <a:tab pos="195580" algn="l"/>
              </a:tabLst>
            </a:pPr>
            <a:r>
              <a:rPr lang="en-US" sz="2000" b="1" spc="45" dirty="0">
                <a:latin typeface="Times New Roman" panose="02020603050405020304" pitchFamily="18" charset="0"/>
                <a:cs typeface="Times New Roman" panose="02020603050405020304" pitchFamily="18" charset="0"/>
              </a:rPr>
              <a:t>ii. Which of the following can be logically inferred from the passage? </a:t>
            </a:r>
          </a:p>
          <a:p>
            <a:pPr marL="12700">
              <a:spcBef>
                <a:spcPts val="1210"/>
              </a:spcBef>
              <a:buClr>
                <a:srgbClr val="9E3611"/>
              </a:buClr>
              <a:buSzPct val="84375"/>
              <a:tabLst>
                <a:tab pos="195580" algn="l"/>
              </a:tabLst>
            </a:pPr>
            <a:r>
              <a:rPr lang="en-US" sz="2000" spc="45" dirty="0">
                <a:latin typeface="Times New Roman" panose="02020603050405020304" pitchFamily="18" charset="0"/>
                <a:cs typeface="Times New Roman" panose="02020603050405020304" pitchFamily="18" charset="0"/>
              </a:rPr>
              <a:t>a) Individuals who fail to prioritize their tasks are more likely to miss deadlines. </a:t>
            </a:r>
          </a:p>
          <a:p>
            <a:pPr marL="12700">
              <a:spcBef>
                <a:spcPts val="1210"/>
              </a:spcBef>
              <a:buClr>
                <a:srgbClr val="9E3611"/>
              </a:buClr>
              <a:buSzPct val="84375"/>
              <a:tabLst>
                <a:tab pos="195580" algn="l"/>
              </a:tabLst>
            </a:pPr>
            <a:r>
              <a:rPr lang="en-US" sz="2000" spc="45" dirty="0">
                <a:latin typeface="Times New Roman" panose="02020603050405020304" pitchFamily="18" charset="0"/>
                <a:cs typeface="Times New Roman" panose="02020603050405020304" pitchFamily="18" charset="0"/>
              </a:rPr>
              <a:t>b) People who manage time well never experience stress.</a:t>
            </a:r>
          </a:p>
          <a:p>
            <a:pPr marL="12700">
              <a:spcBef>
                <a:spcPts val="1210"/>
              </a:spcBef>
              <a:buClr>
                <a:srgbClr val="9E3611"/>
              </a:buClr>
              <a:buSzPct val="84375"/>
              <a:tabLst>
                <a:tab pos="195580" algn="l"/>
              </a:tabLst>
            </a:pPr>
            <a:r>
              <a:rPr lang="en-US" sz="2000" spc="45" dirty="0">
                <a:latin typeface="Times New Roman" panose="02020603050405020304" pitchFamily="18" charset="0"/>
                <a:cs typeface="Times New Roman" panose="02020603050405020304" pitchFamily="18" charset="0"/>
              </a:rPr>
              <a:t>c) Professionals who use technology frequently are less productive. </a:t>
            </a:r>
          </a:p>
          <a:p>
            <a:pPr marL="12700">
              <a:spcBef>
                <a:spcPts val="1210"/>
              </a:spcBef>
              <a:buClr>
                <a:srgbClr val="9E3611"/>
              </a:buClr>
              <a:buSzPct val="84375"/>
              <a:tabLst>
                <a:tab pos="195580" algn="l"/>
              </a:tabLst>
            </a:pPr>
            <a:r>
              <a:rPr lang="en-US" sz="2000" spc="45" dirty="0">
                <a:latin typeface="Times New Roman" panose="02020603050405020304" pitchFamily="18" charset="0"/>
                <a:cs typeface="Times New Roman" panose="02020603050405020304" pitchFamily="18" charset="0"/>
              </a:rPr>
              <a:t>d) Time management guarantees success in every aspect of life. </a:t>
            </a:r>
          </a:p>
          <a:p>
            <a:pPr marL="12700">
              <a:spcBef>
                <a:spcPts val="1210"/>
              </a:spcBef>
              <a:buClr>
                <a:srgbClr val="9E3611"/>
              </a:buClr>
              <a:buSzPct val="84375"/>
              <a:tabLst>
                <a:tab pos="195580" algn="l"/>
              </a:tabLst>
            </a:pPr>
            <a:endParaRPr lang="en-US" sz="2000" spc="45" dirty="0">
              <a:latin typeface="Times New Roman" panose="02020603050405020304" pitchFamily="18" charset="0"/>
              <a:cs typeface="Times New Roman" panose="02020603050405020304" pitchFamily="18" charset="0"/>
            </a:endParaRPr>
          </a:p>
          <a:p>
            <a:pPr marL="12700">
              <a:spcBef>
                <a:spcPts val="1210"/>
              </a:spcBef>
              <a:buClr>
                <a:srgbClr val="9E3611"/>
              </a:buClr>
              <a:buSzPct val="84375"/>
              <a:tabLst>
                <a:tab pos="195580" algn="l"/>
              </a:tabLst>
            </a:pPr>
            <a:endParaRPr lang="en-US" sz="2000" spc="45"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608056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0E772F-235C-FBBE-B791-D146CB350B86}"/>
            </a:ext>
          </a:extLst>
        </p:cNvPr>
        <p:cNvGrpSpPr/>
        <p:nvPr/>
      </p:nvGrpSpPr>
      <p:grpSpPr>
        <a:xfrm>
          <a:off x="0" y="0"/>
          <a:ext cx="0" cy="0"/>
          <a:chOff x="0" y="0"/>
          <a:chExt cx="0" cy="0"/>
        </a:xfrm>
      </p:grpSpPr>
      <p:sp>
        <p:nvSpPr>
          <p:cNvPr id="21" name="object 4">
            <a:extLst>
              <a:ext uri="{FF2B5EF4-FFF2-40B4-BE49-F238E27FC236}">
                <a16:creationId xmlns:a16="http://schemas.microsoft.com/office/drawing/2014/main" id="{93588BBE-1FDB-3651-B33B-582DFEAD70FA}"/>
              </a:ext>
            </a:extLst>
          </p:cNvPr>
          <p:cNvSpPr txBox="1"/>
          <p:nvPr/>
        </p:nvSpPr>
        <p:spPr>
          <a:xfrm>
            <a:off x="286366" y="152400"/>
            <a:ext cx="11677034" cy="6002925"/>
          </a:xfrm>
          <a:prstGeom prst="rect">
            <a:avLst/>
          </a:prstGeom>
        </p:spPr>
        <p:txBody>
          <a:bodyPr vert="horz" wrap="square" lIns="0" tIns="153670" rIns="0" bIns="0" rtlCol="0">
            <a:spAutoFit/>
          </a:bodyPr>
          <a:lstStyle/>
          <a:p>
            <a:pPr marL="12700">
              <a:spcBef>
                <a:spcPts val="1210"/>
              </a:spcBef>
              <a:buClr>
                <a:srgbClr val="9E3611"/>
              </a:buClr>
              <a:buSzPct val="84375"/>
              <a:tabLst>
                <a:tab pos="195580" algn="l"/>
              </a:tabLst>
            </a:pPr>
            <a:endParaRPr lang="en-US" sz="2000" b="1" spc="45" dirty="0">
              <a:latin typeface="Times New Roman" panose="02020603050405020304" pitchFamily="18" charset="0"/>
              <a:cs typeface="Times New Roman" panose="02020603050405020304" pitchFamily="18" charset="0"/>
            </a:endParaRPr>
          </a:p>
          <a:p>
            <a:pPr marL="12700">
              <a:spcBef>
                <a:spcPts val="1210"/>
              </a:spcBef>
              <a:buClr>
                <a:srgbClr val="9E3611"/>
              </a:buClr>
              <a:buSzPct val="84375"/>
              <a:tabLst>
                <a:tab pos="195580" algn="l"/>
              </a:tabLst>
            </a:pPr>
            <a:r>
              <a:rPr lang="en-US" sz="2000" b="1" spc="45" dirty="0">
                <a:latin typeface="Times New Roman" panose="02020603050405020304" pitchFamily="18" charset="0"/>
                <a:cs typeface="Times New Roman" panose="02020603050405020304" pitchFamily="18" charset="0"/>
              </a:rPr>
              <a:t>iii. Which one is the most suitable title for the passage? </a:t>
            </a:r>
          </a:p>
          <a:p>
            <a:pPr marL="469900" indent="-457200">
              <a:spcBef>
                <a:spcPts val="1210"/>
              </a:spcBef>
              <a:buClr>
                <a:srgbClr val="9E3611"/>
              </a:buClr>
              <a:buSzPct val="84375"/>
              <a:buAutoNum type="alphaLcParenR"/>
              <a:tabLst>
                <a:tab pos="195580" algn="l"/>
              </a:tabLst>
            </a:pPr>
            <a:r>
              <a:rPr lang="en-US" sz="2000" spc="45" dirty="0">
                <a:latin typeface="Times New Roman" panose="02020603050405020304" pitchFamily="18" charset="0"/>
                <a:cs typeface="Times New Roman" panose="02020603050405020304" pitchFamily="18" charset="0"/>
              </a:rPr>
              <a:t>Beyond the Clock: The Value of Time Management </a:t>
            </a:r>
          </a:p>
          <a:p>
            <a:pPr marL="469900" indent="-457200">
              <a:spcBef>
                <a:spcPts val="1210"/>
              </a:spcBef>
              <a:buClr>
                <a:srgbClr val="9E3611"/>
              </a:buClr>
              <a:buSzPct val="84375"/>
              <a:buAutoNum type="alphaLcParenR"/>
              <a:tabLst>
                <a:tab pos="195580" algn="l"/>
              </a:tabLst>
            </a:pPr>
            <a:r>
              <a:rPr lang="en-US" sz="2000" spc="45" dirty="0">
                <a:latin typeface="Times New Roman" panose="02020603050405020304" pitchFamily="18" charset="0"/>
                <a:cs typeface="Times New Roman" panose="02020603050405020304" pitchFamily="18" charset="0"/>
              </a:rPr>
              <a:t>Technology: A Barrier to Productive Living </a:t>
            </a:r>
          </a:p>
          <a:p>
            <a:pPr marL="469900" indent="-457200">
              <a:spcBef>
                <a:spcPts val="1210"/>
              </a:spcBef>
              <a:buClr>
                <a:srgbClr val="9E3611"/>
              </a:buClr>
              <a:buSzPct val="84375"/>
              <a:buAutoNum type="alphaLcParenR"/>
              <a:tabLst>
                <a:tab pos="195580" algn="l"/>
              </a:tabLst>
            </a:pPr>
            <a:r>
              <a:rPr lang="en-US" sz="2000" spc="45" dirty="0">
                <a:latin typeface="Times New Roman" panose="02020603050405020304" pitchFamily="18" charset="0"/>
                <a:cs typeface="Times New Roman" panose="02020603050405020304" pitchFamily="18" charset="0"/>
              </a:rPr>
              <a:t>The Secret Behind Academic Excellence </a:t>
            </a:r>
          </a:p>
          <a:p>
            <a:pPr marL="469900" indent="-457200">
              <a:spcBef>
                <a:spcPts val="1210"/>
              </a:spcBef>
              <a:buClr>
                <a:srgbClr val="9E3611"/>
              </a:buClr>
              <a:buSzPct val="84375"/>
              <a:buAutoNum type="alphaLcParenR"/>
              <a:tabLst>
                <a:tab pos="195580" algn="l"/>
              </a:tabLst>
            </a:pPr>
            <a:r>
              <a:rPr lang="en-US" sz="2000" spc="45" dirty="0">
                <a:latin typeface="Times New Roman" panose="02020603050405020304" pitchFamily="18" charset="0"/>
                <a:cs typeface="Times New Roman" panose="02020603050405020304" pitchFamily="18" charset="0"/>
              </a:rPr>
              <a:t>Why Successful Professionals Never Waste Time </a:t>
            </a:r>
          </a:p>
          <a:p>
            <a:pPr marL="12700">
              <a:spcBef>
                <a:spcPts val="1210"/>
              </a:spcBef>
              <a:buClr>
                <a:srgbClr val="9E3611"/>
              </a:buClr>
              <a:buSzPct val="84375"/>
              <a:tabLst>
                <a:tab pos="195580" algn="l"/>
              </a:tabLst>
            </a:pPr>
            <a:endParaRPr lang="en-US" sz="2000" b="1" spc="45" dirty="0">
              <a:latin typeface="Times New Roman" panose="02020603050405020304" pitchFamily="18" charset="0"/>
              <a:cs typeface="Times New Roman" panose="02020603050405020304" pitchFamily="18" charset="0"/>
            </a:endParaRPr>
          </a:p>
          <a:p>
            <a:pPr marL="12700">
              <a:spcBef>
                <a:spcPts val="1210"/>
              </a:spcBef>
              <a:buClr>
                <a:srgbClr val="9E3611"/>
              </a:buClr>
              <a:buSzPct val="84375"/>
              <a:tabLst>
                <a:tab pos="195580" algn="l"/>
              </a:tabLst>
            </a:pPr>
            <a:r>
              <a:rPr lang="en-US" sz="2000" b="1" spc="45" dirty="0">
                <a:latin typeface="Times New Roman" panose="02020603050405020304" pitchFamily="18" charset="0"/>
                <a:cs typeface="Times New Roman" panose="02020603050405020304" pitchFamily="18" charset="0"/>
              </a:rPr>
              <a:t>iv. Why does the writer mention students and professionals in the fourth paragraph? </a:t>
            </a:r>
          </a:p>
          <a:p>
            <a:pPr marL="469900" indent="-457200">
              <a:spcBef>
                <a:spcPts val="1210"/>
              </a:spcBef>
              <a:buClr>
                <a:srgbClr val="9E3611"/>
              </a:buClr>
              <a:buSzPct val="84375"/>
              <a:buAutoNum type="alphaLcParenR"/>
              <a:tabLst>
                <a:tab pos="195580" algn="l"/>
              </a:tabLst>
            </a:pPr>
            <a:r>
              <a:rPr lang="en-US" sz="2000" spc="45" dirty="0">
                <a:latin typeface="Times New Roman" panose="02020603050405020304" pitchFamily="18" charset="0"/>
                <a:cs typeface="Times New Roman" panose="02020603050405020304" pitchFamily="18" charset="0"/>
              </a:rPr>
              <a:t>To compare their academic achievements. </a:t>
            </a:r>
          </a:p>
          <a:p>
            <a:pPr marL="469900" indent="-457200">
              <a:spcBef>
                <a:spcPts val="1210"/>
              </a:spcBef>
              <a:buClr>
                <a:srgbClr val="9E3611"/>
              </a:buClr>
              <a:buSzPct val="84375"/>
              <a:buAutoNum type="alphaLcParenR"/>
              <a:tabLst>
                <a:tab pos="195580" algn="l"/>
              </a:tabLst>
            </a:pPr>
            <a:r>
              <a:rPr lang="en-US" sz="2000" spc="45" dirty="0">
                <a:latin typeface="Times New Roman" panose="02020603050405020304" pitchFamily="18" charset="0"/>
                <a:cs typeface="Times New Roman" panose="02020603050405020304" pitchFamily="18" charset="0"/>
              </a:rPr>
              <a:t>To demonstrate that the benefits of time management apply across different areas of life. </a:t>
            </a:r>
          </a:p>
          <a:p>
            <a:pPr marL="469900" indent="-457200">
              <a:spcBef>
                <a:spcPts val="1210"/>
              </a:spcBef>
              <a:buClr>
                <a:srgbClr val="9E3611"/>
              </a:buClr>
              <a:buSzPct val="84375"/>
              <a:buAutoNum type="alphaLcParenR"/>
              <a:tabLst>
                <a:tab pos="195580" algn="l"/>
              </a:tabLst>
            </a:pPr>
            <a:r>
              <a:rPr lang="en-US" sz="2000" spc="45" dirty="0">
                <a:latin typeface="Times New Roman" panose="02020603050405020304" pitchFamily="18" charset="0"/>
                <a:cs typeface="Times New Roman" panose="02020603050405020304" pitchFamily="18" charset="0"/>
              </a:rPr>
              <a:t>To argue that professionals manage time better than students. </a:t>
            </a:r>
          </a:p>
          <a:p>
            <a:pPr marL="469900" indent="-457200">
              <a:spcBef>
                <a:spcPts val="1210"/>
              </a:spcBef>
              <a:buClr>
                <a:srgbClr val="9E3611"/>
              </a:buClr>
              <a:buSzPct val="84375"/>
              <a:buAutoNum type="alphaLcParenR"/>
              <a:tabLst>
                <a:tab pos="195580" algn="l"/>
              </a:tabLst>
            </a:pPr>
            <a:r>
              <a:rPr lang="en-US" sz="2000" spc="45" dirty="0">
                <a:latin typeface="Times New Roman" panose="02020603050405020304" pitchFamily="18" charset="0"/>
                <a:cs typeface="Times New Roman" panose="02020603050405020304" pitchFamily="18" charset="0"/>
              </a:rPr>
              <a:t>To explain why employers value academic success. </a:t>
            </a:r>
          </a:p>
          <a:p>
            <a:pPr marL="12700">
              <a:spcBef>
                <a:spcPts val="1210"/>
              </a:spcBef>
              <a:buClr>
                <a:srgbClr val="9E3611"/>
              </a:buClr>
              <a:buSzPct val="84375"/>
              <a:tabLst>
                <a:tab pos="195580" algn="l"/>
              </a:tabLst>
            </a:pPr>
            <a:endParaRPr lang="en-US" sz="2000" spc="45"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513319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150DA6-90B8-A791-A134-F9D38C12C142}"/>
            </a:ext>
          </a:extLst>
        </p:cNvPr>
        <p:cNvGrpSpPr/>
        <p:nvPr/>
      </p:nvGrpSpPr>
      <p:grpSpPr>
        <a:xfrm>
          <a:off x="0" y="0"/>
          <a:ext cx="0" cy="0"/>
          <a:chOff x="0" y="0"/>
          <a:chExt cx="0" cy="0"/>
        </a:xfrm>
      </p:grpSpPr>
      <p:pic>
        <p:nvPicPr>
          <p:cNvPr id="13" name="Graphic 12" descr="Bullseye with solid fill">
            <a:extLst>
              <a:ext uri="{FF2B5EF4-FFF2-40B4-BE49-F238E27FC236}">
                <a16:creationId xmlns:a16="http://schemas.microsoft.com/office/drawing/2014/main" id="{4D5C1FE2-E63F-E3E6-B2B3-8750F06EE80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38881" y="36856"/>
            <a:ext cx="533400" cy="524576"/>
          </a:xfrm>
          <a:prstGeom prst="rect">
            <a:avLst/>
          </a:prstGeom>
        </p:spPr>
      </p:pic>
      <p:sp>
        <p:nvSpPr>
          <p:cNvPr id="21" name="object 4">
            <a:extLst>
              <a:ext uri="{FF2B5EF4-FFF2-40B4-BE49-F238E27FC236}">
                <a16:creationId xmlns:a16="http://schemas.microsoft.com/office/drawing/2014/main" id="{826B9F4A-AA75-950F-E6AE-F54588A19EC7}"/>
              </a:ext>
            </a:extLst>
          </p:cNvPr>
          <p:cNvSpPr txBox="1"/>
          <p:nvPr/>
        </p:nvSpPr>
        <p:spPr>
          <a:xfrm>
            <a:off x="147485" y="457200"/>
            <a:ext cx="11905634" cy="5541261"/>
          </a:xfrm>
          <a:prstGeom prst="rect">
            <a:avLst/>
          </a:prstGeom>
        </p:spPr>
        <p:txBody>
          <a:bodyPr vert="horz" wrap="square" lIns="0" tIns="153670" rIns="0" bIns="0" rtlCol="0">
            <a:spAutoFit/>
          </a:bodyPr>
          <a:lstStyle/>
          <a:p>
            <a:pPr marL="12700">
              <a:lnSpc>
                <a:spcPct val="100000"/>
              </a:lnSpc>
              <a:spcBef>
                <a:spcPts val="1210"/>
              </a:spcBef>
              <a:buClr>
                <a:srgbClr val="9E3611"/>
              </a:buClr>
              <a:buSzPct val="84375"/>
              <a:tabLst>
                <a:tab pos="195580" algn="l"/>
              </a:tabLst>
            </a:pPr>
            <a:r>
              <a:rPr lang="en-US" sz="2000" b="1" spc="45" dirty="0">
                <a:latin typeface="Times New Roman" panose="02020603050405020304" pitchFamily="18" charset="0"/>
                <a:cs typeface="Times New Roman" panose="02020603050405020304" pitchFamily="18" charset="0"/>
              </a:rPr>
              <a:t>1B. Write T for 'True', F for 'False', and NG for 'Not Given’.                                                       </a:t>
            </a:r>
            <a:r>
              <a:rPr lang="en-US" sz="2000" spc="45" dirty="0">
                <a:latin typeface="Times New Roman" panose="02020603050405020304" pitchFamily="18" charset="0"/>
                <a:cs typeface="Times New Roman" panose="02020603050405020304" pitchFamily="18" charset="0"/>
              </a:rPr>
              <a:t>(0.5×4=2) </a:t>
            </a:r>
          </a:p>
          <a:p>
            <a:pPr marL="527050" indent="-514350">
              <a:lnSpc>
                <a:spcPct val="100000"/>
              </a:lnSpc>
              <a:spcBef>
                <a:spcPts val="1210"/>
              </a:spcBef>
              <a:buClr>
                <a:srgbClr val="9E3611"/>
              </a:buClr>
              <a:buSzPct val="84375"/>
              <a:buAutoNum type="romanLcPeriod"/>
              <a:tabLst>
                <a:tab pos="195580" algn="l"/>
              </a:tabLst>
            </a:pPr>
            <a:r>
              <a:rPr lang="en-US" sz="2000" spc="45" dirty="0">
                <a:latin typeface="Times New Roman" panose="02020603050405020304" pitchFamily="18" charset="0"/>
                <a:cs typeface="Times New Roman" panose="02020603050405020304" pitchFamily="18" charset="0"/>
              </a:rPr>
              <a:t>Every successful person follows exactly the same daily routine. </a:t>
            </a:r>
          </a:p>
          <a:p>
            <a:pPr marL="527050" indent="-514350">
              <a:lnSpc>
                <a:spcPct val="100000"/>
              </a:lnSpc>
              <a:spcBef>
                <a:spcPts val="1210"/>
              </a:spcBef>
              <a:buClr>
                <a:srgbClr val="9E3611"/>
              </a:buClr>
              <a:buSzPct val="84375"/>
              <a:buAutoNum type="romanLcPeriod"/>
              <a:tabLst>
                <a:tab pos="195580" algn="l"/>
              </a:tabLst>
            </a:pPr>
            <a:r>
              <a:rPr lang="en-US" sz="2000" spc="45" dirty="0">
                <a:latin typeface="Times New Roman" panose="02020603050405020304" pitchFamily="18" charset="0"/>
                <a:cs typeface="Times New Roman" panose="02020603050405020304" pitchFamily="18" charset="0"/>
              </a:rPr>
              <a:t>According to the passage, digital devices should be avoided completely while studying. </a:t>
            </a:r>
          </a:p>
          <a:p>
            <a:pPr marL="527050" indent="-514350">
              <a:lnSpc>
                <a:spcPct val="100000"/>
              </a:lnSpc>
              <a:spcBef>
                <a:spcPts val="1210"/>
              </a:spcBef>
              <a:buClr>
                <a:srgbClr val="9E3611"/>
              </a:buClr>
              <a:buSzPct val="84375"/>
              <a:buAutoNum type="romanLcPeriod"/>
              <a:tabLst>
                <a:tab pos="195580" algn="l"/>
              </a:tabLst>
            </a:pPr>
            <a:r>
              <a:rPr lang="en-US" sz="2000" spc="45" dirty="0">
                <a:latin typeface="Times New Roman" panose="02020603050405020304" pitchFamily="18" charset="0"/>
                <a:cs typeface="Times New Roman" panose="02020603050405020304" pitchFamily="18" charset="0"/>
              </a:rPr>
              <a:t>The author provides statistical evidence to support the benefits of time management. </a:t>
            </a:r>
          </a:p>
          <a:p>
            <a:pPr marL="527050" indent="-514350">
              <a:lnSpc>
                <a:spcPct val="100000"/>
              </a:lnSpc>
              <a:spcBef>
                <a:spcPts val="1210"/>
              </a:spcBef>
              <a:buClr>
                <a:srgbClr val="9E3611"/>
              </a:buClr>
              <a:buSzPct val="84375"/>
              <a:buAutoNum type="romanLcPeriod"/>
              <a:tabLst>
                <a:tab pos="195580" algn="l"/>
              </a:tabLst>
            </a:pPr>
            <a:r>
              <a:rPr lang="en-US" sz="2000" spc="45" dirty="0">
                <a:latin typeface="Times New Roman" panose="02020603050405020304" pitchFamily="18" charset="0"/>
                <a:cs typeface="Times New Roman" panose="02020603050405020304" pitchFamily="18" charset="0"/>
              </a:rPr>
              <a:t>Time management is portrayed as equally relevant in academic and professional settings. </a:t>
            </a:r>
          </a:p>
          <a:p>
            <a:pPr marL="527050" indent="-514350">
              <a:lnSpc>
                <a:spcPct val="100000"/>
              </a:lnSpc>
              <a:spcBef>
                <a:spcPts val="1210"/>
              </a:spcBef>
              <a:buClr>
                <a:srgbClr val="9E3611"/>
              </a:buClr>
              <a:buSzPct val="84375"/>
              <a:buAutoNum type="romanLcPeriod"/>
              <a:tabLst>
                <a:tab pos="195580" algn="l"/>
              </a:tabLst>
            </a:pPr>
            <a:endParaRPr lang="en-US" sz="2000" spc="45" dirty="0">
              <a:latin typeface="Times New Roman" panose="02020603050405020304" pitchFamily="18" charset="0"/>
              <a:cs typeface="Times New Roman" panose="02020603050405020304" pitchFamily="18" charset="0"/>
            </a:endParaRPr>
          </a:p>
          <a:p>
            <a:pPr marL="12700">
              <a:lnSpc>
                <a:spcPct val="100000"/>
              </a:lnSpc>
              <a:spcBef>
                <a:spcPts val="1210"/>
              </a:spcBef>
              <a:buClr>
                <a:srgbClr val="9E3611"/>
              </a:buClr>
              <a:buSzPct val="84375"/>
              <a:tabLst>
                <a:tab pos="195580" algn="l"/>
              </a:tabLst>
            </a:pPr>
            <a:endParaRPr lang="en-US" sz="2000" spc="45" dirty="0">
              <a:latin typeface="Times New Roman" panose="02020603050405020304" pitchFamily="18" charset="0"/>
              <a:cs typeface="Times New Roman" panose="02020603050405020304" pitchFamily="18" charset="0"/>
            </a:endParaRPr>
          </a:p>
          <a:p>
            <a:pPr marL="12700">
              <a:lnSpc>
                <a:spcPct val="100000"/>
              </a:lnSpc>
              <a:spcBef>
                <a:spcPts val="1210"/>
              </a:spcBef>
              <a:buClr>
                <a:srgbClr val="9E3611"/>
              </a:buClr>
              <a:buSzPct val="84375"/>
              <a:tabLst>
                <a:tab pos="195580" algn="l"/>
              </a:tabLst>
            </a:pPr>
            <a:endParaRPr lang="en-US" sz="2000" spc="45" dirty="0">
              <a:latin typeface="Times New Roman" panose="02020603050405020304" pitchFamily="18" charset="0"/>
              <a:cs typeface="Times New Roman" panose="02020603050405020304" pitchFamily="18" charset="0"/>
            </a:endParaRPr>
          </a:p>
          <a:p>
            <a:pPr marL="12700">
              <a:lnSpc>
                <a:spcPct val="100000"/>
              </a:lnSpc>
              <a:spcBef>
                <a:spcPts val="1210"/>
              </a:spcBef>
              <a:buClr>
                <a:srgbClr val="9E3611"/>
              </a:buClr>
              <a:buSzPct val="84375"/>
              <a:tabLst>
                <a:tab pos="195580" algn="l"/>
              </a:tabLst>
            </a:pPr>
            <a:r>
              <a:rPr lang="en-US" sz="2000" b="1" spc="45" dirty="0">
                <a:latin typeface="Times New Roman" panose="02020603050405020304" pitchFamily="18" charset="0"/>
                <a:cs typeface="Times New Roman" panose="02020603050405020304" pitchFamily="18" charset="0"/>
              </a:rPr>
              <a:t>1C. Write short answers to the following questions in your own words.                                          </a:t>
            </a:r>
            <a:r>
              <a:rPr lang="en-US" sz="2000" spc="45" dirty="0">
                <a:latin typeface="Times New Roman" panose="02020603050405020304" pitchFamily="18" charset="0"/>
                <a:cs typeface="Times New Roman" panose="02020603050405020304" pitchFamily="18" charset="0"/>
              </a:rPr>
              <a:t>(2×3=6) </a:t>
            </a:r>
            <a:endParaRPr lang="en-US" sz="2000" b="1" spc="45" dirty="0">
              <a:latin typeface="Times New Roman" panose="02020603050405020304" pitchFamily="18" charset="0"/>
              <a:cs typeface="Times New Roman" panose="02020603050405020304" pitchFamily="18" charset="0"/>
            </a:endParaRPr>
          </a:p>
          <a:p>
            <a:pPr marL="527050" indent="-514350">
              <a:lnSpc>
                <a:spcPct val="100000"/>
              </a:lnSpc>
              <a:spcBef>
                <a:spcPts val="1210"/>
              </a:spcBef>
              <a:buClr>
                <a:srgbClr val="9E3611"/>
              </a:buClr>
              <a:buSzPct val="84375"/>
              <a:buAutoNum type="romanLcPeriod"/>
              <a:tabLst>
                <a:tab pos="195580" algn="l"/>
              </a:tabLst>
            </a:pPr>
            <a:r>
              <a:rPr lang="en-US" sz="2000" spc="45" dirty="0">
                <a:latin typeface="Times New Roman" panose="02020603050405020304" pitchFamily="18" charset="0"/>
                <a:cs typeface="Times New Roman" panose="02020603050405020304" pitchFamily="18" charset="0"/>
              </a:rPr>
              <a:t>Why is time management considered important? Describe with references from the passage. </a:t>
            </a:r>
          </a:p>
          <a:p>
            <a:pPr marL="527050" indent="-514350">
              <a:lnSpc>
                <a:spcPct val="100000"/>
              </a:lnSpc>
              <a:spcBef>
                <a:spcPts val="1210"/>
              </a:spcBef>
              <a:buClr>
                <a:srgbClr val="9E3611"/>
              </a:buClr>
              <a:buSzPct val="84375"/>
              <a:buAutoNum type="romanLcPeriod"/>
              <a:tabLst>
                <a:tab pos="195580" algn="l"/>
              </a:tabLst>
            </a:pPr>
            <a:r>
              <a:rPr lang="en-US" sz="2000" spc="45" dirty="0">
                <a:latin typeface="Times New Roman" panose="02020603050405020304" pitchFamily="18" charset="0"/>
                <a:cs typeface="Times New Roman" panose="02020603050405020304" pitchFamily="18" charset="0"/>
              </a:rPr>
              <a:t>ii. How can poor use of technology affect our daily life according to the 5th paragraph? </a:t>
            </a:r>
          </a:p>
          <a:p>
            <a:pPr marL="527050" indent="-514350">
              <a:lnSpc>
                <a:spcPct val="100000"/>
              </a:lnSpc>
              <a:spcBef>
                <a:spcPts val="1210"/>
              </a:spcBef>
              <a:buClr>
                <a:srgbClr val="9E3611"/>
              </a:buClr>
              <a:buSzPct val="84375"/>
              <a:buAutoNum type="romanLcPeriod"/>
              <a:tabLst>
                <a:tab pos="195580" algn="l"/>
              </a:tabLst>
            </a:pPr>
            <a:r>
              <a:rPr lang="en-US" sz="2000" spc="45" dirty="0">
                <a:latin typeface="Times New Roman" panose="02020603050405020304" pitchFamily="18" charset="0"/>
                <a:cs typeface="Times New Roman" panose="02020603050405020304" pitchFamily="18" charset="0"/>
              </a:rPr>
              <a:t>iii. Describe one time-management technique that you use in your own life.</a:t>
            </a: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664884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9DAC1C-285C-95D2-CB9E-5212CC62162E}"/>
            </a:ext>
          </a:extLst>
        </p:cNvPr>
        <p:cNvGrpSpPr/>
        <p:nvPr/>
      </p:nvGrpSpPr>
      <p:grpSpPr>
        <a:xfrm>
          <a:off x="0" y="0"/>
          <a:ext cx="0" cy="0"/>
          <a:chOff x="0" y="0"/>
          <a:chExt cx="0" cy="0"/>
        </a:xfrm>
      </p:grpSpPr>
      <p:sp>
        <p:nvSpPr>
          <p:cNvPr id="21" name="object 4">
            <a:extLst>
              <a:ext uri="{FF2B5EF4-FFF2-40B4-BE49-F238E27FC236}">
                <a16:creationId xmlns:a16="http://schemas.microsoft.com/office/drawing/2014/main" id="{ECE31A3E-CC4A-710B-B5C0-0F11DDC3937F}"/>
              </a:ext>
            </a:extLst>
          </p:cNvPr>
          <p:cNvSpPr txBox="1"/>
          <p:nvPr/>
        </p:nvSpPr>
        <p:spPr>
          <a:xfrm>
            <a:off x="143182" y="14748"/>
            <a:ext cx="11972617" cy="6680034"/>
          </a:xfrm>
          <a:prstGeom prst="rect">
            <a:avLst/>
          </a:prstGeom>
        </p:spPr>
        <p:txBody>
          <a:bodyPr vert="horz" wrap="square" lIns="0" tIns="153670" rIns="0" bIns="0" rtlCol="0">
            <a:spAutoFit/>
          </a:bodyPr>
          <a:lstStyle/>
          <a:p>
            <a:pPr marL="12700">
              <a:lnSpc>
                <a:spcPct val="100000"/>
              </a:lnSpc>
              <a:spcBef>
                <a:spcPts val="1210"/>
              </a:spcBef>
              <a:buClr>
                <a:srgbClr val="9E3611"/>
              </a:buClr>
              <a:buSzPct val="84375"/>
              <a:tabLst>
                <a:tab pos="195580" algn="l"/>
              </a:tabLst>
            </a:pPr>
            <a:r>
              <a:rPr lang="en-US" b="1" spc="45" dirty="0">
                <a:latin typeface="Times New Roman" panose="02020603050405020304" pitchFamily="18" charset="0"/>
                <a:cs typeface="Times New Roman" panose="02020603050405020304" pitchFamily="18" charset="0"/>
              </a:rPr>
              <a:t>Answers to Questions​</a:t>
            </a:r>
          </a:p>
          <a:p>
            <a:pPr marL="12700">
              <a:lnSpc>
                <a:spcPct val="100000"/>
              </a:lnSpc>
              <a:spcBef>
                <a:spcPts val="1210"/>
              </a:spcBef>
              <a:buClr>
                <a:srgbClr val="9E3611"/>
              </a:buClr>
              <a:buSzPct val="84375"/>
              <a:tabLst>
                <a:tab pos="195580" algn="l"/>
              </a:tabLst>
            </a:pPr>
            <a:r>
              <a:rPr lang="en-US" b="1" spc="45" dirty="0">
                <a:latin typeface="Times New Roman" panose="02020603050405020304" pitchFamily="18" charset="0"/>
                <a:cs typeface="Times New Roman" panose="02020603050405020304" pitchFamily="18" charset="0"/>
              </a:rPr>
              <a:t>1A. Multiple Choice Questions</a:t>
            </a:r>
          </a:p>
          <a:p>
            <a:pPr marL="12700">
              <a:lnSpc>
                <a:spcPct val="100000"/>
              </a:lnSpc>
              <a:spcBef>
                <a:spcPts val="1210"/>
              </a:spcBef>
              <a:buClr>
                <a:srgbClr val="9E3611"/>
              </a:buClr>
              <a:buSzPct val="84375"/>
              <a:tabLst>
                <a:tab pos="195580" algn="l"/>
              </a:tabLst>
            </a:pPr>
            <a:r>
              <a:rPr lang="en-US" spc="45" dirty="0">
                <a:latin typeface="Times New Roman" panose="02020603050405020304" pitchFamily="18" charset="0"/>
                <a:cs typeface="Times New Roman" panose="02020603050405020304" pitchFamily="18" charset="0"/>
              </a:rPr>
              <a:t>​</a:t>
            </a:r>
            <a:r>
              <a:rPr lang="en-US" spc="45" dirty="0" err="1">
                <a:latin typeface="Times New Roman" panose="02020603050405020304" pitchFamily="18" charset="0"/>
                <a:cs typeface="Times New Roman" panose="02020603050405020304" pitchFamily="18" charset="0"/>
              </a:rPr>
              <a:t>i</a:t>
            </a:r>
            <a:r>
              <a:rPr lang="en-US" spc="45" dirty="0">
                <a:latin typeface="Times New Roman" panose="02020603050405020304" pitchFamily="18" charset="0"/>
                <a:cs typeface="Times New Roman" panose="02020603050405020304" pitchFamily="18" charset="0"/>
              </a:rPr>
              <a:t>. Which statement best reflects the writer's central argument?​ </a:t>
            </a:r>
            <a:r>
              <a:rPr lang="en-US" b="1" spc="45" dirty="0">
                <a:latin typeface="Times New Roman" panose="02020603050405020304" pitchFamily="18" charset="0"/>
                <a:cs typeface="Times New Roman" panose="02020603050405020304" pitchFamily="18" charset="0"/>
              </a:rPr>
              <a:t>Answer</a:t>
            </a:r>
            <a:r>
              <a:rPr lang="en-US" spc="45" dirty="0">
                <a:latin typeface="Times New Roman" panose="02020603050405020304" pitchFamily="18" charset="0"/>
                <a:cs typeface="Times New Roman" panose="02020603050405020304" pitchFamily="18" charset="0"/>
              </a:rPr>
              <a:t>: b) Effective use of time contributes to productivity, well-being, and personal development.</a:t>
            </a:r>
          </a:p>
          <a:p>
            <a:pPr marL="12700">
              <a:lnSpc>
                <a:spcPct val="100000"/>
              </a:lnSpc>
              <a:spcBef>
                <a:spcPts val="1210"/>
              </a:spcBef>
              <a:buClr>
                <a:srgbClr val="9E3611"/>
              </a:buClr>
              <a:buSzPct val="84375"/>
              <a:tabLst>
                <a:tab pos="195580" algn="l"/>
              </a:tabLst>
            </a:pPr>
            <a:r>
              <a:rPr lang="en-US" spc="45" dirty="0">
                <a:latin typeface="Times New Roman" panose="02020603050405020304" pitchFamily="18" charset="0"/>
                <a:cs typeface="Times New Roman" panose="02020603050405020304" pitchFamily="18" charset="0"/>
              </a:rPr>
              <a:t>​ii. Which of the following can be logically inferred from the passage?​</a:t>
            </a:r>
            <a:r>
              <a:rPr lang="en-US" b="1" spc="45" dirty="0">
                <a:latin typeface="Times New Roman" panose="02020603050405020304" pitchFamily="18" charset="0"/>
                <a:cs typeface="Times New Roman" panose="02020603050405020304" pitchFamily="18" charset="0"/>
              </a:rPr>
              <a:t>Answer</a:t>
            </a:r>
            <a:r>
              <a:rPr lang="en-US" spc="45" dirty="0">
                <a:latin typeface="Times New Roman" panose="02020603050405020304" pitchFamily="18" charset="0"/>
                <a:cs typeface="Times New Roman" panose="02020603050405020304" pitchFamily="18" charset="0"/>
              </a:rPr>
              <a:t>: a) Individuals who fail to prioritize their tasks are more likely to miss deadlines.​</a:t>
            </a:r>
          </a:p>
          <a:p>
            <a:pPr marL="12700">
              <a:lnSpc>
                <a:spcPct val="100000"/>
              </a:lnSpc>
              <a:spcBef>
                <a:spcPts val="1210"/>
              </a:spcBef>
              <a:buClr>
                <a:srgbClr val="9E3611"/>
              </a:buClr>
              <a:buSzPct val="84375"/>
              <a:tabLst>
                <a:tab pos="195580" algn="l"/>
              </a:tabLst>
            </a:pPr>
            <a:r>
              <a:rPr lang="en-US" spc="45" dirty="0">
                <a:latin typeface="Times New Roman" panose="02020603050405020304" pitchFamily="18" charset="0"/>
                <a:cs typeface="Times New Roman" panose="02020603050405020304" pitchFamily="18" charset="0"/>
              </a:rPr>
              <a:t>iii. Which one is the most suitable title for the passage?​</a:t>
            </a:r>
            <a:r>
              <a:rPr lang="en-US" b="1" spc="45" dirty="0">
                <a:latin typeface="Times New Roman" panose="02020603050405020304" pitchFamily="18" charset="0"/>
                <a:cs typeface="Times New Roman" panose="02020603050405020304" pitchFamily="18" charset="0"/>
              </a:rPr>
              <a:t>Answer</a:t>
            </a:r>
            <a:r>
              <a:rPr lang="en-US" spc="45" dirty="0">
                <a:latin typeface="Times New Roman" panose="02020603050405020304" pitchFamily="18" charset="0"/>
                <a:cs typeface="Times New Roman" panose="02020603050405020304" pitchFamily="18" charset="0"/>
              </a:rPr>
              <a:t>: a) Beyond the Clock: The Value of Time Management​iv. </a:t>
            </a:r>
          </a:p>
          <a:p>
            <a:pPr marL="12700">
              <a:lnSpc>
                <a:spcPct val="100000"/>
              </a:lnSpc>
              <a:spcBef>
                <a:spcPts val="1210"/>
              </a:spcBef>
              <a:buClr>
                <a:srgbClr val="9E3611"/>
              </a:buClr>
              <a:buSzPct val="84375"/>
              <a:tabLst>
                <a:tab pos="195580" algn="l"/>
              </a:tabLst>
            </a:pPr>
            <a:r>
              <a:rPr lang="en-US" spc="45" dirty="0">
                <a:latin typeface="Times New Roman" panose="02020603050405020304" pitchFamily="18" charset="0"/>
                <a:cs typeface="Times New Roman" panose="02020603050405020304" pitchFamily="18" charset="0"/>
              </a:rPr>
              <a:t>iv. Why does the writer mention students and professionals in the fourth paragraph?</a:t>
            </a:r>
            <a:r>
              <a:rPr lang="en-US" b="1" spc="45" dirty="0">
                <a:latin typeface="Times New Roman" panose="02020603050405020304" pitchFamily="18" charset="0"/>
                <a:cs typeface="Times New Roman" panose="02020603050405020304" pitchFamily="18" charset="0"/>
              </a:rPr>
              <a:t>​Answer</a:t>
            </a:r>
            <a:r>
              <a:rPr lang="en-US" spc="45" dirty="0">
                <a:latin typeface="Times New Roman" panose="02020603050405020304" pitchFamily="18" charset="0"/>
                <a:cs typeface="Times New Roman" panose="02020603050405020304" pitchFamily="18" charset="0"/>
              </a:rPr>
              <a:t>: b) To demonstrate that the benefits of time management apply across different areas of life.​</a:t>
            </a:r>
          </a:p>
          <a:p>
            <a:pPr marL="12700">
              <a:lnSpc>
                <a:spcPct val="100000"/>
              </a:lnSpc>
              <a:spcBef>
                <a:spcPts val="1210"/>
              </a:spcBef>
              <a:buClr>
                <a:srgbClr val="9E3611"/>
              </a:buClr>
              <a:buSzPct val="84375"/>
              <a:tabLst>
                <a:tab pos="195580" algn="l"/>
              </a:tabLst>
            </a:pPr>
            <a:r>
              <a:rPr lang="en-US" b="1" spc="45" dirty="0">
                <a:latin typeface="Times New Roman" panose="02020603050405020304" pitchFamily="18" charset="0"/>
                <a:cs typeface="Times New Roman" panose="02020603050405020304" pitchFamily="18" charset="0"/>
              </a:rPr>
              <a:t>1B. True, False, and Not Given </a:t>
            </a:r>
          </a:p>
          <a:p>
            <a:pPr marL="12700">
              <a:lnSpc>
                <a:spcPct val="100000"/>
              </a:lnSpc>
              <a:spcBef>
                <a:spcPts val="1210"/>
              </a:spcBef>
              <a:buClr>
                <a:srgbClr val="9E3611"/>
              </a:buClr>
              <a:buSzPct val="84375"/>
              <a:tabLst>
                <a:tab pos="195580" algn="l"/>
              </a:tabLst>
            </a:pPr>
            <a:r>
              <a:rPr lang="en-US" spc="45" dirty="0">
                <a:latin typeface="Times New Roman" panose="02020603050405020304" pitchFamily="18" charset="0"/>
                <a:cs typeface="Times New Roman" panose="02020603050405020304" pitchFamily="18" charset="0"/>
              </a:rPr>
              <a:t>​</a:t>
            </a:r>
            <a:r>
              <a:rPr lang="en-US" spc="45" dirty="0" err="1">
                <a:latin typeface="Times New Roman" panose="02020603050405020304" pitchFamily="18" charset="0"/>
                <a:cs typeface="Times New Roman" panose="02020603050405020304" pitchFamily="18" charset="0"/>
              </a:rPr>
              <a:t>i</a:t>
            </a:r>
            <a:r>
              <a:rPr lang="en-US" spc="45" dirty="0">
                <a:latin typeface="Times New Roman" panose="02020603050405020304" pitchFamily="18" charset="0"/>
                <a:cs typeface="Times New Roman" panose="02020603050405020304" pitchFamily="18" charset="0"/>
              </a:rPr>
              <a:t>. Every successful person follows exactly the same daily routine.​</a:t>
            </a:r>
            <a:r>
              <a:rPr lang="en-US" b="1" spc="45" dirty="0">
                <a:latin typeface="Times New Roman" panose="02020603050405020304" pitchFamily="18" charset="0"/>
                <a:cs typeface="Times New Roman" panose="02020603050405020304" pitchFamily="18" charset="0"/>
              </a:rPr>
              <a:t>Answer</a:t>
            </a:r>
            <a:r>
              <a:rPr lang="en-US" spc="45" dirty="0">
                <a:latin typeface="Times New Roman" panose="02020603050405020304" pitchFamily="18" charset="0"/>
                <a:cs typeface="Times New Roman" panose="02020603050405020304" pitchFamily="18" charset="0"/>
              </a:rPr>
              <a:t>: False (The passage does not state that everyone follows the exact same routine).​</a:t>
            </a:r>
          </a:p>
          <a:p>
            <a:pPr marL="12700">
              <a:lnSpc>
                <a:spcPct val="100000"/>
              </a:lnSpc>
              <a:spcBef>
                <a:spcPts val="1210"/>
              </a:spcBef>
              <a:buClr>
                <a:srgbClr val="9E3611"/>
              </a:buClr>
              <a:buSzPct val="84375"/>
              <a:tabLst>
                <a:tab pos="195580" algn="l"/>
              </a:tabLst>
            </a:pPr>
            <a:r>
              <a:rPr lang="en-US" spc="45" dirty="0">
                <a:latin typeface="Times New Roman" panose="02020603050405020304" pitchFamily="18" charset="0"/>
                <a:cs typeface="Times New Roman" panose="02020603050405020304" pitchFamily="18" charset="0"/>
              </a:rPr>
              <a:t>ii. According to the passage, digital devices should be avoided completely while studying.</a:t>
            </a:r>
            <a:r>
              <a:rPr lang="en-US" b="1" spc="45" dirty="0">
                <a:latin typeface="Times New Roman" panose="02020603050405020304" pitchFamily="18" charset="0"/>
                <a:cs typeface="Times New Roman" panose="02020603050405020304" pitchFamily="18" charset="0"/>
              </a:rPr>
              <a:t>​Answer</a:t>
            </a:r>
            <a:r>
              <a:rPr lang="en-US" spc="45" dirty="0">
                <a:latin typeface="Times New Roman" panose="02020603050405020304" pitchFamily="18" charset="0"/>
                <a:cs typeface="Times New Roman" panose="02020603050405020304" pitchFamily="18" charset="0"/>
              </a:rPr>
              <a:t>: False (The text advises using technology wisely and avoiding unnecessary distractions, not avoiding devices completely).​</a:t>
            </a:r>
          </a:p>
          <a:p>
            <a:pPr marL="12700">
              <a:lnSpc>
                <a:spcPct val="100000"/>
              </a:lnSpc>
              <a:spcBef>
                <a:spcPts val="1210"/>
              </a:spcBef>
              <a:buClr>
                <a:srgbClr val="9E3611"/>
              </a:buClr>
              <a:buSzPct val="84375"/>
              <a:tabLst>
                <a:tab pos="195580" algn="l"/>
              </a:tabLst>
            </a:pPr>
            <a:r>
              <a:rPr lang="en-US" spc="45" dirty="0">
                <a:latin typeface="Times New Roman" panose="02020603050405020304" pitchFamily="18" charset="0"/>
                <a:cs typeface="Times New Roman" panose="02020603050405020304" pitchFamily="18" charset="0"/>
              </a:rPr>
              <a:t>iii. The author provides statistical evidence to support the benefits of time management.​</a:t>
            </a:r>
            <a:r>
              <a:rPr lang="en-US" b="1" spc="45" dirty="0">
                <a:latin typeface="Times New Roman" panose="02020603050405020304" pitchFamily="18" charset="0"/>
                <a:cs typeface="Times New Roman" panose="02020603050405020304" pitchFamily="18" charset="0"/>
              </a:rPr>
              <a:t>Answer</a:t>
            </a:r>
            <a:r>
              <a:rPr lang="en-US" spc="45" dirty="0">
                <a:latin typeface="Times New Roman" panose="02020603050405020304" pitchFamily="18" charset="0"/>
                <a:cs typeface="Times New Roman" panose="02020603050405020304" pitchFamily="18" charset="0"/>
              </a:rPr>
              <a:t>: NG (Not Given) (The passage relies on general arguments and examples rather than statistics).​</a:t>
            </a:r>
          </a:p>
          <a:p>
            <a:pPr marL="12700">
              <a:lnSpc>
                <a:spcPct val="100000"/>
              </a:lnSpc>
              <a:spcBef>
                <a:spcPts val="1210"/>
              </a:spcBef>
              <a:buClr>
                <a:srgbClr val="9E3611"/>
              </a:buClr>
              <a:buSzPct val="84375"/>
              <a:tabLst>
                <a:tab pos="195580" algn="l"/>
              </a:tabLst>
            </a:pPr>
            <a:r>
              <a:rPr lang="en-US" spc="45" dirty="0">
                <a:latin typeface="Times New Roman" panose="02020603050405020304" pitchFamily="18" charset="0"/>
                <a:cs typeface="Times New Roman" panose="02020603050405020304" pitchFamily="18" charset="0"/>
              </a:rPr>
              <a:t>iv. Time management is portrayed as equally relevant in academic and professional settings.​</a:t>
            </a:r>
            <a:r>
              <a:rPr lang="en-US" b="1" spc="45" dirty="0">
                <a:latin typeface="Times New Roman" panose="02020603050405020304" pitchFamily="18" charset="0"/>
                <a:cs typeface="Times New Roman" panose="02020603050405020304" pitchFamily="18" charset="0"/>
              </a:rPr>
              <a:t>Answer</a:t>
            </a:r>
            <a:r>
              <a:rPr lang="en-US" spc="45" dirty="0">
                <a:latin typeface="Times New Roman" panose="02020603050405020304" pitchFamily="18" charset="0"/>
                <a:cs typeface="Times New Roman" panose="02020603050405020304" pitchFamily="18" charset="0"/>
              </a:rPr>
              <a:t>: True (It explicitly highlights both students and professionals).​</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371364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6D238F-C12A-B5F5-D28B-DCC2C2D890BF}"/>
            </a:ext>
          </a:extLst>
        </p:cNvPr>
        <p:cNvGrpSpPr/>
        <p:nvPr/>
      </p:nvGrpSpPr>
      <p:grpSpPr>
        <a:xfrm>
          <a:off x="0" y="0"/>
          <a:ext cx="0" cy="0"/>
          <a:chOff x="0" y="0"/>
          <a:chExt cx="0" cy="0"/>
        </a:xfrm>
      </p:grpSpPr>
      <p:sp>
        <p:nvSpPr>
          <p:cNvPr id="21" name="object 4">
            <a:extLst>
              <a:ext uri="{FF2B5EF4-FFF2-40B4-BE49-F238E27FC236}">
                <a16:creationId xmlns:a16="http://schemas.microsoft.com/office/drawing/2014/main" id="{D516D7E8-6D28-9F9B-4E98-8A70497AA1BE}"/>
              </a:ext>
            </a:extLst>
          </p:cNvPr>
          <p:cNvSpPr txBox="1"/>
          <p:nvPr/>
        </p:nvSpPr>
        <p:spPr>
          <a:xfrm>
            <a:off x="143183" y="273649"/>
            <a:ext cx="11905634" cy="6310702"/>
          </a:xfrm>
          <a:prstGeom prst="rect">
            <a:avLst/>
          </a:prstGeom>
        </p:spPr>
        <p:txBody>
          <a:bodyPr vert="horz" wrap="square" lIns="0" tIns="153670" rIns="0" bIns="0" rtlCol="0">
            <a:spAutoFit/>
          </a:bodyPr>
          <a:lstStyle/>
          <a:p>
            <a:pPr marL="12700">
              <a:lnSpc>
                <a:spcPct val="100000"/>
              </a:lnSpc>
              <a:spcBef>
                <a:spcPts val="1210"/>
              </a:spcBef>
              <a:buClr>
                <a:srgbClr val="9E3611"/>
              </a:buClr>
              <a:buSzPct val="84375"/>
              <a:tabLst>
                <a:tab pos="195580" algn="l"/>
              </a:tabLst>
            </a:pPr>
            <a:r>
              <a:rPr lang="en-US" sz="2000" b="1" spc="45" dirty="0">
                <a:latin typeface="Times New Roman" panose="02020603050405020304" pitchFamily="18" charset="0"/>
                <a:cs typeface="Times New Roman" panose="02020603050405020304" pitchFamily="18" charset="0"/>
              </a:rPr>
              <a:t>1C. Short Answer Questions​</a:t>
            </a:r>
          </a:p>
          <a:p>
            <a:pPr marL="12700">
              <a:lnSpc>
                <a:spcPct val="100000"/>
              </a:lnSpc>
              <a:spcBef>
                <a:spcPts val="1210"/>
              </a:spcBef>
              <a:buClr>
                <a:srgbClr val="9E3611"/>
              </a:buClr>
              <a:buSzPct val="84375"/>
              <a:tabLst>
                <a:tab pos="195580" algn="l"/>
              </a:tabLst>
            </a:pPr>
            <a:r>
              <a:rPr lang="en-US" sz="2000" spc="45" dirty="0" err="1">
                <a:latin typeface="Times New Roman" panose="02020603050405020304" pitchFamily="18" charset="0"/>
                <a:cs typeface="Times New Roman" panose="02020603050405020304" pitchFamily="18" charset="0"/>
              </a:rPr>
              <a:t>i</a:t>
            </a:r>
            <a:r>
              <a:rPr lang="en-US" sz="2000" spc="45" dirty="0">
                <a:latin typeface="Times New Roman" panose="02020603050405020304" pitchFamily="18" charset="0"/>
                <a:cs typeface="Times New Roman" panose="02020603050405020304" pitchFamily="18" charset="0"/>
              </a:rPr>
              <a:t>.  Why is time management considered important? Describe with references from the passage.​</a:t>
            </a:r>
          </a:p>
          <a:p>
            <a:pPr marL="12700">
              <a:lnSpc>
                <a:spcPct val="100000"/>
              </a:lnSpc>
              <a:spcBef>
                <a:spcPts val="1210"/>
              </a:spcBef>
              <a:buClr>
                <a:srgbClr val="9E3611"/>
              </a:buClr>
              <a:buSzPct val="84375"/>
              <a:tabLst>
                <a:tab pos="195580" algn="l"/>
              </a:tabLst>
            </a:pPr>
            <a:r>
              <a:rPr lang="en-US" sz="2000" spc="45" dirty="0">
                <a:latin typeface="Times New Roman" panose="02020603050405020304" pitchFamily="18" charset="0"/>
                <a:cs typeface="Times New Roman" panose="02020603050405020304" pitchFamily="18" charset="0"/>
              </a:rPr>
              <a:t>Answer: Time management is essential because time is a non-renewable resource that, once lost, can never be regained. According to the passage, it helps people complete tasks efficiently, reduce stress, increase productivity, and maintain a healthy work-leisure balance. It also fosters life skills like self-discipline and responsibility.​</a:t>
            </a:r>
          </a:p>
          <a:p>
            <a:pPr marL="12700">
              <a:lnSpc>
                <a:spcPct val="100000"/>
              </a:lnSpc>
              <a:spcBef>
                <a:spcPts val="1210"/>
              </a:spcBef>
              <a:buClr>
                <a:srgbClr val="9E3611"/>
              </a:buClr>
              <a:buSzPct val="84375"/>
              <a:tabLst>
                <a:tab pos="195580" algn="l"/>
              </a:tabLst>
            </a:pPr>
            <a:endParaRPr lang="en-US" sz="2000" spc="45" dirty="0">
              <a:latin typeface="Times New Roman" panose="02020603050405020304" pitchFamily="18" charset="0"/>
              <a:cs typeface="Times New Roman" panose="02020603050405020304" pitchFamily="18" charset="0"/>
            </a:endParaRPr>
          </a:p>
          <a:p>
            <a:pPr marL="12700">
              <a:lnSpc>
                <a:spcPct val="100000"/>
              </a:lnSpc>
              <a:spcBef>
                <a:spcPts val="1210"/>
              </a:spcBef>
              <a:buClr>
                <a:srgbClr val="9E3611"/>
              </a:buClr>
              <a:buSzPct val="84375"/>
              <a:tabLst>
                <a:tab pos="195580" algn="l"/>
              </a:tabLst>
            </a:pPr>
            <a:r>
              <a:rPr lang="en-US" sz="2000" spc="45" dirty="0">
                <a:latin typeface="Times New Roman" panose="02020603050405020304" pitchFamily="18" charset="0"/>
                <a:cs typeface="Times New Roman" panose="02020603050405020304" pitchFamily="18" charset="0"/>
              </a:rPr>
              <a:t>ii. How can poor use of technology affect our daily life according to the 5th paragraph?​</a:t>
            </a:r>
          </a:p>
          <a:p>
            <a:pPr marL="12700">
              <a:lnSpc>
                <a:spcPct val="100000"/>
              </a:lnSpc>
              <a:spcBef>
                <a:spcPts val="1210"/>
              </a:spcBef>
              <a:buClr>
                <a:srgbClr val="9E3611"/>
              </a:buClr>
              <a:buSzPct val="84375"/>
              <a:tabLst>
                <a:tab pos="195580" algn="l"/>
              </a:tabLst>
            </a:pPr>
            <a:r>
              <a:rPr lang="en-US" sz="2000" spc="45" dirty="0">
                <a:latin typeface="Times New Roman" panose="02020603050405020304" pitchFamily="18" charset="0"/>
                <a:cs typeface="Times New Roman" panose="02020603050405020304" pitchFamily="18" charset="0"/>
              </a:rPr>
              <a:t>Answer: According to the fifth paragraph, digital distractions such as social media, online games, and endless notifications can consume a significant amount of valuable time, hindering productivity while working or studying.</a:t>
            </a:r>
          </a:p>
          <a:p>
            <a:pPr marL="12700">
              <a:lnSpc>
                <a:spcPct val="100000"/>
              </a:lnSpc>
              <a:spcBef>
                <a:spcPts val="1210"/>
              </a:spcBef>
              <a:buClr>
                <a:srgbClr val="9E3611"/>
              </a:buClr>
              <a:buSzPct val="84375"/>
              <a:tabLst>
                <a:tab pos="195580" algn="l"/>
              </a:tabLst>
            </a:pPr>
            <a:endParaRPr lang="en-US" sz="2000" spc="45" dirty="0">
              <a:latin typeface="Times New Roman" panose="02020603050405020304" pitchFamily="18" charset="0"/>
              <a:cs typeface="Times New Roman" panose="02020603050405020304" pitchFamily="18" charset="0"/>
            </a:endParaRPr>
          </a:p>
          <a:p>
            <a:pPr marL="12700">
              <a:lnSpc>
                <a:spcPct val="100000"/>
              </a:lnSpc>
              <a:spcBef>
                <a:spcPts val="1210"/>
              </a:spcBef>
              <a:buClr>
                <a:srgbClr val="9E3611"/>
              </a:buClr>
              <a:buSzPct val="84375"/>
              <a:tabLst>
                <a:tab pos="195580" algn="l"/>
              </a:tabLst>
            </a:pPr>
            <a:r>
              <a:rPr lang="en-US" sz="2000" spc="45" dirty="0">
                <a:latin typeface="Times New Roman" panose="02020603050405020304" pitchFamily="18" charset="0"/>
                <a:cs typeface="Times New Roman" panose="02020603050405020304" pitchFamily="18" charset="0"/>
              </a:rPr>
              <a:t>​iii. Describe one time-management technique that you use in your own life.​</a:t>
            </a:r>
          </a:p>
          <a:p>
            <a:pPr marL="12700">
              <a:lnSpc>
                <a:spcPct val="100000"/>
              </a:lnSpc>
              <a:spcBef>
                <a:spcPts val="1210"/>
              </a:spcBef>
              <a:buClr>
                <a:srgbClr val="9E3611"/>
              </a:buClr>
              <a:buSzPct val="84375"/>
              <a:tabLst>
                <a:tab pos="195580" algn="l"/>
              </a:tabLst>
            </a:pPr>
            <a:r>
              <a:rPr lang="en-US" sz="2000" spc="45" dirty="0">
                <a:latin typeface="Times New Roman" panose="02020603050405020304" pitchFamily="18" charset="0"/>
                <a:cs typeface="Times New Roman" panose="02020603050405020304" pitchFamily="18" charset="0"/>
              </a:rPr>
              <a:t>Answer: (Example response) One technique I use is the Pomodoro Technique, where I work with intense focus for 25 minutes followed by a short 5-minute break. This helps maintain high productivity and prevents mental burnout.​</a:t>
            </a: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9537511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3962400" y="1905000"/>
            <a:ext cx="2307336" cy="470662"/>
          </a:xfrm>
          <a:prstGeom prst="rect">
            <a:avLst/>
          </a:prstGeom>
        </p:spPr>
      </p:pic>
      <p:pic>
        <p:nvPicPr>
          <p:cNvPr id="3" name="object 3"/>
          <p:cNvPicPr/>
          <p:nvPr/>
        </p:nvPicPr>
        <p:blipFill>
          <a:blip r:embed="rId3" cstate="print"/>
          <a:stretch>
            <a:fillRect/>
          </a:stretch>
        </p:blipFill>
        <p:spPr>
          <a:xfrm>
            <a:off x="3657600" y="3429000"/>
            <a:ext cx="3486023" cy="542417"/>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203</TotalTime>
  <Words>1604</Words>
  <Application>Microsoft Office PowerPoint</Application>
  <PresentationFormat>Widescreen</PresentationFormat>
  <Paragraphs>113</Paragraphs>
  <Slides>15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Calibri</vt:lpstr>
      <vt:lpstr>Cambria</vt:lpstr>
      <vt:lpstr>Times New Roman</vt:lpstr>
      <vt:lpstr>Wingdings</vt:lpstr>
      <vt:lpstr>Office Theme</vt:lpstr>
      <vt:lpstr>Reading Strategies &amp; Reading Comprehension</vt:lpstr>
      <vt:lpstr>Techniques: reading the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Sajjad Hossain</cp:lastModifiedBy>
  <cp:revision>8</cp:revision>
  <dcterms:created xsi:type="dcterms:W3CDTF">2026-05-09T18:01:25Z</dcterms:created>
  <dcterms:modified xsi:type="dcterms:W3CDTF">2026-09-22T19:11:46Z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verter">
    <vt:lpwstr>SolidFramework v10.0.19910.1</vt:lpwstr>
  </property>
  <property fmtid="{D5CDD505-2E9C-101B-9397-08002B2CF9AE}" pid="3" name="Created">
    <vt:filetime>2026-03-04T00:00:00Z</vt:filetime>
  </property>
  <property fmtid="{D5CDD505-2E9C-101B-9397-08002B2CF9AE}" pid="4" name="LastSaved">
    <vt:filetime>2026-05-09T00:00:00Z</vt:filetime>
  </property>
</Properties>
</file>