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684206" y="2623244"/>
            <a:ext cx="6052066" cy="738664"/>
          </a:xfrm>
          <a:prstGeom prst="rect">
            <a:avLst/>
          </a:prstGeom>
          <a:noFill/>
        </p:spPr>
        <p:txBody>
          <a:bodyPr wrap="square" lIns="0" tIns="0" rIns="0" bIns="0" anchor="t">
            <a:spAutoFit/>
          </a:bodyPr>
          <a:lstStyle/>
          <a:p>
            <a:pPr algn="ctr"/>
            <a:r>
              <a:rPr sz="4800" b="1" i="0" u="none" dirty="0">
                <a:latin typeface="Times New Roman" panose="02020603050405020304" pitchFamily="18" charset="0"/>
                <a:cs typeface="Times New Roman" panose="02020603050405020304" pitchFamily="18" charset="0"/>
              </a:rPr>
              <a:t>Short Story Writing</a:t>
            </a:r>
          </a:p>
        </p:txBody>
      </p:sp>
      <p:sp>
        <p:nvSpPr>
          <p:cNvPr id="4" name="TextBox 3"/>
          <p:cNvSpPr txBox="1"/>
          <p:nvPr/>
        </p:nvSpPr>
        <p:spPr>
          <a:xfrm>
            <a:off x="2430870" y="3112173"/>
            <a:ext cx="7330260" cy="767839"/>
          </a:xfrm>
          <a:prstGeom prst="rect">
            <a:avLst/>
          </a:prstGeom>
          <a:noFill/>
        </p:spPr>
        <p:txBody>
          <a:bodyPr wrap="square" lIns="0" tIns="0" rIns="0" bIns="0" anchor="t">
            <a:spAutoFit/>
          </a:bodyPr>
          <a:lstStyle/>
          <a:p>
            <a:pPr algn="ctr">
              <a:lnSpc>
                <a:spcPts val="3120"/>
              </a:lnSpc>
            </a:pPr>
            <a:r>
              <a:rPr dirty="0"/>
              <a:t>
</a:t>
            </a:r>
            <a:r>
              <a:rPr sz="2400" b="0" i="0" u="none" dirty="0">
                <a:latin typeface="Times New Roman" panose="02020603050405020304" pitchFamily="18" charset="0"/>
                <a:cs typeface="Times New Roman" panose="02020603050405020304" pitchFamily="18" charset="0"/>
              </a:rPr>
              <a:t>(Based on the 7 Steps to Writing Success Framework)</a:t>
            </a:r>
          </a:p>
        </p:txBody>
      </p:sp>
      <p:sp>
        <p:nvSpPr>
          <p:cNvPr id="6" name="TextBox 5">
            <a:extLst>
              <a:ext uri="{FF2B5EF4-FFF2-40B4-BE49-F238E27FC236}">
                <a16:creationId xmlns:a16="http://schemas.microsoft.com/office/drawing/2014/main" id="{F4C6E7A1-2A54-7609-FB4B-84655C0EA2B4}"/>
              </a:ext>
            </a:extLst>
          </p:cNvPr>
          <p:cNvSpPr txBox="1"/>
          <p:nvPr/>
        </p:nvSpPr>
        <p:spPr>
          <a:xfrm>
            <a:off x="-176981" y="6079697"/>
            <a:ext cx="4601496" cy="492443"/>
          </a:xfrm>
          <a:prstGeom prst="rect">
            <a:avLst/>
          </a:prstGeom>
          <a:noFill/>
        </p:spPr>
        <p:txBody>
          <a:bodyPr wrap="square" lIns="0" tIns="0" rIns="0" bIns="0" anchor="t">
            <a:spAutoFit/>
          </a:bodyPr>
          <a:lstStyle/>
          <a:p>
            <a:pPr algn="ctr"/>
            <a:r>
              <a:rPr lang="en-US" sz="3200" b="1" i="0" u="none" dirty="0">
                <a:latin typeface="Times New Roman" panose="02020603050405020304" pitchFamily="18" charset="0"/>
                <a:cs typeface="Times New Roman" panose="02020603050405020304" pitchFamily="18" charset="0"/>
              </a:rPr>
              <a:t>SAJJAD HOSSAIN</a:t>
            </a:r>
            <a:endParaRPr sz="3200" b="1" i="0" u="none"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B26A179-0785-386C-0BC1-B5C63DE2F695}"/>
              </a:ext>
            </a:extLst>
          </p:cNvPr>
          <p:cNvSpPr txBox="1"/>
          <p:nvPr/>
        </p:nvSpPr>
        <p:spPr>
          <a:xfrm>
            <a:off x="157316" y="717085"/>
            <a:ext cx="2969342" cy="492443"/>
          </a:xfrm>
          <a:prstGeom prst="rect">
            <a:avLst/>
          </a:prstGeom>
          <a:noFill/>
        </p:spPr>
        <p:txBody>
          <a:bodyPr wrap="square" lIns="0" tIns="0" rIns="0" bIns="0" anchor="t">
            <a:spAutoFit/>
          </a:bodyPr>
          <a:lstStyle/>
          <a:p>
            <a:pPr algn="ctr"/>
            <a:r>
              <a:rPr lang="en-US" sz="3200" b="1" i="0" u="none" dirty="0">
                <a:latin typeface="Times New Roman" panose="02020603050405020304" pitchFamily="18" charset="0"/>
                <a:cs typeface="Times New Roman" panose="02020603050405020304" pitchFamily="18" charset="0"/>
              </a:rPr>
              <a:t>ENG 1011</a:t>
            </a:r>
            <a:endParaRPr sz="3200" b="1" i="0" u="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6612"/>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4" name="TextBox 3"/>
          <p:cNvSpPr txBox="1"/>
          <p:nvPr/>
        </p:nvSpPr>
        <p:spPr>
          <a:xfrm>
            <a:off x="762000" y="627012"/>
            <a:ext cx="11301412" cy="492443"/>
          </a:xfrm>
          <a:prstGeom prst="rect">
            <a:avLst/>
          </a:prstGeom>
          <a:noFill/>
        </p:spPr>
        <p:txBody>
          <a:bodyPr wrap="square" lIns="0" tIns="0" rIns="0" bIns="0" anchor="t">
            <a:spAutoFit/>
          </a:bodyPr>
          <a:lstStyle/>
          <a:p>
            <a:pPr algn="l"/>
            <a:r>
              <a:rPr sz="3200" b="1" i="0" u="none" dirty="0">
                <a:solidFill>
                  <a:srgbClr val="0F172A"/>
                </a:solidFill>
                <a:latin typeface="Times New Roman" panose="02020603050405020304" pitchFamily="18" charset="0"/>
                <a:cs typeface="Times New Roman" panose="02020603050405020304" pitchFamily="18" charset="0"/>
              </a:rPr>
              <a:t>The Narrative Arc</a:t>
            </a:r>
          </a:p>
        </p:txBody>
      </p:sp>
      <p:sp>
        <p:nvSpPr>
          <p:cNvPr id="5" name="TextBox 4"/>
          <p:cNvSpPr txBox="1"/>
          <p:nvPr/>
        </p:nvSpPr>
        <p:spPr>
          <a:xfrm>
            <a:off x="762000" y="1627137"/>
            <a:ext cx="9139361" cy="307777"/>
          </a:xfrm>
          <a:prstGeom prst="rect">
            <a:avLst/>
          </a:prstGeom>
          <a:noFill/>
        </p:spPr>
        <p:txBody>
          <a:bodyPr wrap="none" lIns="0" tIns="0" rIns="0" bIns="0" anchor="t">
            <a:spAutoFit/>
          </a:bodyPr>
          <a:lstStyle/>
          <a:p>
            <a:pPr algn="l">
              <a:lnSpc>
                <a:spcPts val="2400"/>
              </a:lnSpc>
            </a:pPr>
            <a:r>
              <a:rPr sz="2400" b="0" i="0" u="none">
                <a:solidFill>
                  <a:srgbClr val="334155"/>
                </a:solidFill>
                <a:latin typeface="Times New Roman" panose="02020603050405020304" pitchFamily="18" charset="0"/>
                <a:cs typeface="Times New Roman" panose="02020603050405020304" pitchFamily="18" charset="0"/>
              </a:rPr>
              <a:t>A compelling short story follows a structured, gradual build-up of tension.</a:t>
            </a:r>
          </a:p>
        </p:txBody>
      </p:sp>
      <p:sp>
        <p:nvSpPr>
          <p:cNvPr id="6" name="TextBox 5"/>
          <p:cNvSpPr txBox="1"/>
          <p:nvPr/>
        </p:nvSpPr>
        <p:spPr>
          <a:xfrm>
            <a:off x="762000" y="2074812"/>
            <a:ext cx="3504998" cy="307777"/>
          </a:xfrm>
          <a:prstGeom prst="rect">
            <a:avLst/>
          </a:prstGeom>
          <a:noFill/>
        </p:spPr>
        <p:txBody>
          <a:bodyPr wrap="none" lIns="0" tIns="0" rIns="0" bIns="0" anchor="t">
            <a:spAutoFit/>
          </a:bodyPr>
          <a:lstStyle/>
          <a:p>
            <a:pPr algn="l">
              <a:lnSpc>
                <a:spcPts val="2400"/>
              </a:lnSpc>
            </a:pPr>
            <a:r>
              <a:rPr sz="2400" b="1" i="0" u="none">
                <a:solidFill>
                  <a:srgbClr val="334155"/>
                </a:solidFill>
                <a:latin typeface="Times New Roman" panose="02020603050405020304" pitchFamily="18" charset="0"/>
                <a:cs typeface="Times New Roman" panose="02020603050405020304" pitchFamily="18" charset="0"/>
              </a:rPr>
              <a:t>The core elements include:</a:t>
            </a:r>
          </a:p>
        </p:txBody>
      </p:sp>
      <p:sp>
        <p:nvSpPr>
          <p:cNvPr id="7" name="TextBox 6"/>
          <p:cNvSpPr txBox="1"/>
          <p:nvPr/>
        </p:nvSpPr>
        <p:spPr>
          <a:xfrm>
            <a:off x="1333500" y="2665362"/>
            <a:ext cx="4191853" cy="351058"/>
          </a:xfrm>
          <a:prstGeom prst="rect">
            <a:avLst/>
          </a:prstGeom>
          <a:noFill/>
        </p:spPr>
        <p:txBody>
          <a:bodyPr wrap="none" lIns="0" tIns="0" rIns="0" bIns="0" anchor="t">
            <a:spAutoFit/>
          </a:bodyPr>
          <a:lstStyle/>
          <a:p>
            <a:pPr algn="l">
              <a:lnSpc>
                <a:spcPts val="2879"/>
              </a:lnSpc>
            </a:pPr>
            <a:r>
              <a:rPr sz="2400" b="1" i="0" u="none">
                <a:solidFill>
                  <a:srgbClr val="0F172A"/>
                </a:solidFill>
                <a:latin typeface="Times New Roman" panose="02020603050405020304" pitchFamily="18" charset="0"/>
                <a:cs typeface="Times New Roman" panose="02020603050405020304" pitchFamily="18" charset="0"/>
              </a:rPr>
              <a:t>Backfill</a:t>
            </a:r>
            <a:r>
              <a:rPr sz="2400" b="0" i="0" u="none">
                <a:solidFill>
                  <a:srgbClr val="334155"/>
                </a:solidFill>
                <a:latin typeface="Times New Roman" panose="02020603050405020304" pitchFamily="18" charset="0"/>
                <a:cs typeface="Times New Roman" panose="02020603050405020304" pitchFamily="18" charset="0"/>
              </a:rPr>
              <a:t> (Introduction &amp; Context)</a:t>
            </a:r>
          </a:p>
        </p:txBody>
      </p:sp>
      <p:sp>
        <p:nvSpPr>
          <p:cNvPr id="8" name="TextBox 7"/>
          <p:cNvSpPr txBox="1"/>
          <p:nvPr/>
        </p:nvSpPr>
        <p:spPr>
          <a:xfrm>
            <a:off x="1333500" y="3269158"/>
            <a:ext cx="3219471" cy="351058"/>
          </a:xfrm>
          <a:prstGeom prst="rect">
            <a:avLst/>
          </a:prstGeom>
          <a:noFill/>
        </p:spPr>
        <p:txBody>
          <a:bodyPr wrap="none" lIns="0" tIns="0" rIns="0" bIns="0" anchor="t">
            <a:spAutoFit/>
          </a:bodyPr>
          <a:lstStyle/>
          <a:p>
            <a:pPr algn="l">
              <a:lnSpc>
                <a:spcPts val="2879"/>
              </a:lnSpc>
            </a:pPr>
            <a:r>
              <a:rPr sz="2400" b="1" i="0" u="none">
                <a:solidFill>
                  <a:srgbClr val="0F172A"/>
                </a:solidFill>
                <a:latin typeface="Times New Roman" panose="02020603050405020304" pitchFamily="18" charset="0"/>
                <a:cs typeface="Times New Roman" panose="02020603050405020304" pitchFamily="18" charset="0"/>
              </a:rPr>
              <a:t>Pebble</a:t>
            </a:r>
            <a:r>
              <a:rPr sz="2400" b="0" i="0" u="none">
                <a:solidFill>
                  <a:srgbClr val="334155"/>
                </a:solidFill>
                <a:latin typeface="Times New Roman" panose="02020603050405020304" pitchFamily="18" charset="0"/>
                <a:cs typeface="Times New Roman" panose="02020603050405020304" pitchFamily="18" charset="0"/>
              </a:rPr>
              <a:t> (A small problem)</a:t>
            </a:r>
          </a:p>
        </p:txBody>
      </p:sp>
      <p:sp>
        <p:nvSpPr>
          <p:cNvPr id="9" name="TextBox 8"/>
          <p:cNvSpPr txBox="1"/>
          <p:nvPr/>
        </p:nvSpPr>
        <p:spPr>
          <a:xfrm>
            <a:off x="1333500" y="3872954"/>
            <a:ext cx="3407023" cy="351058"/>
          </a:xfrm>
          <a:prstGeom prst="rect">
            <a:avLst/>
          </a:prstGeom>
          <a:noFill/>
        </p:spPr>
        <p:txBody>
          <a:bodyPr wrap="none" lIns="0" tIns="0" rIns="0" bIns="0" anchor="t">
            <a:spAutoFit/>
          </a:bodyPr>
          <a:lstStyle/>
          <a:p>
            <a:pPr algn="l">
              <a:lnSpc>
                <a:spcPts val="2879"/>
              </a:lnSpc>
            </a:pPr>
            <a:r>
              <a:rPr sz="2400" b="1" i="0" u="none">
                <a:solidFill>
                  <a:srgbClr val="0F172A"/>
                </a:solidFill>
                <a:latin typeface="Times New Roman" panose="02020603050405020304" pitchFamily="18" charset="0"/>
                <a:cs typeface="Times New Roman" panose="02020603050405020304" pitchFamily="18" charset="0"/>
              </a:rPr>
              <a:t>Brick</a:t>
            </a:r>
            <a:r>
              <a:rPr sz="2400" b="0" i="0" u="none">
                <a:solidFill>
                  <a:srgbClr val="334155"/>
                </a:solidFill>
                <a:latin typeface="Times New Roman" panose="02020603050405020304" pitchFamily="18" charset="0"/>
                <a:cs typeface="Times New Roman" panose="02020603050405020304" pitchFamily="18" charset="0"/>
              </a:rPr>
              <a:t> (A medium problem)</a:t>
            </a:r>
          </a:p>
        </p:txBody>
      </p:sp>
      <p:sp>
        <p:nvSpPr>
          <p:cNvPr id="10" name="TextBox 9"/>
          <p:cNvSpPr txBox="1"/>
          <p:nvPr/>
        </p:nvSpPr>
        <p:spPr>
          <a:xfrm>
            <a:off x="1333500" y="4476750"/>
            <a:ext cx="4362413" cy="351058"/>
          </a:xfrm>
          <a:prstGeom prst="rect">
            <a:avLst/>
          </a:prstGeom>
          <a:noFill/>
        </p:spPr>
        <p:txBody>
          <a:bodyPr wrap="none" lIns="0" tIns="0" rIns="0" bIns="0" anchor="t">
            <a:spAutoFit/>
          </a:bodyPr>
          <a:lstStyle/>
          <a:p>
            <a:pPr algn="l">
              <a:lnSpc>
                <a:spcPts val="2879"/>
              </a:lnSpc>
            </a:pPr>
            <a:r>
              <a:rPr sz="2400" b="1" i="0" u="none">
                <a:solidFill>
                  <a:srgbClr val="0F172A"/>
                </a:solidFill>
                <a:latin typeface="Times New Roman" panose="02020603050405020304" pitchFamily="18" charset="0"/>
                <a:cs typeface="Times New Roman" panose="02020603050405020304" pitchFamily="18" charset="0"/>
              </a:rPr>
              <a:t>Boulder</a:t>
            </a:r>
            <a:r>
              <a:rPr sz="2400" b="0" i="0" u="none">
                <a:solidFill>
                  <a:srgbClr val="334155"/>
                </a:solidFill>
                <a:latin typeface="Times New Roman" panose="02020603050405020304" pitchFamily="18" charset="0"/>
                <a:cs typeface="Times New Roman" panose="02020603050405020304" pitchFamily="18" charset="0"/>
              </a:rPr>
              <a:t> (A major problem/climax)</a:t>
            </a:r>
          </a:p>
        </p:txBody>
      </p:sp>
      <p:sp>
        <p:nvSpPr>
          <p:cNvPr id="11" name="TextBox 10"/>
          <p:cNvSpPr txBox="1"/>
          <p:nvPr/>
        </p:nvSpPr>
        <p:spPr>
          <a:xfrm>
            <a:off x="1333500" y="5080545"/>
            <a:ext cx="3743012" cy="351058"/>
          </a:xfrm>
          <a:prstGeom prst="rect">
            <a:avLst/>
          </a:prstGeom>
          <a:noFill/>
        </p:spPr>
        <p:txBody>
          <a:bodyPr wrap="none" lIns="0" tIns="0" rIns="0" bIns="0" anchor="t">
            <a:spAutoFit/>
          </a:bodyPr>
          <a:lstStyle/>
          <a:p>
            <a:pPr algn="l">
              <a:lnSpc>
                <a:spcPts val="2879"/>
              </a:lnSpc>
            </a:pPr>
            <a:r>
              <a:rPr sz="2400" b="1" i="0" u="none">
                <a:solidFill>
                  <a:srgbClr val="0F172A"/>
                </a:solidFill>
                <a:latin typeface="Times New Roman" panose="02020603050405020304" pitchFamily="18" charset="0"/>
                <a:cs typeface="Times New Roman" panose="02020603050405020304" pitchFamily="18" charset="0"/>
              </a:rPr>
              <a:t>Exciting Ending</a:t>
            </a:r>
            <a:r>
              <a:rPr sz="2400" b="0" i="0" u="none">
                <a:solidFill>
                  <a:srgbClr val="334155"/>
                </a:solidFill>
                <a:latin typeface="Times New Roman" panose="02020603050405020304" pitchFamily="18" charset="0"/>
                <a:cs typeface="Times New Roman" panose="02020603050405020304" pitchFamily="18" charset="0"/>
              </a:rPr>
              <a:t> (Resolution)</a:t>
            </a:r>
          </a:p>
        </p:txBody>
      </p:sp>
      <p:sp>
        <p:nvSpPr>
          <p:cNvPr id="12" name="TextBox 11"/>
          <p:cNvSpPr txBox="1"/>
          <p:nvPr/>
        </p:nvSpPr>
        <p:spPr>
          <a:xfrm>
            <a:off x="1333500" y="5684341"/>
            <a:ext cx="4359463" cy="351058"/>
          </a:xfrm>
          <a:prstGeom prst="rect">
            <a:avLst/>
          </a:prstGeom>
          <a:noFill/>
        </p:spPr>
        <p:txBody>
          <a:bodyPr wrap="none" lIns="0" tIns="0" rIns="0" bIns="0" anchor="t">
            <a:spAutoFit/>
          </a:bodyPr>
          <a:lstStyle/>
          <a:p>
            <a:pPr algn="l">
              <a:lnSpc>
                <a:spcPts val="2879"/>
              </a:lnSpc>
            </a:pPr>
            <a:r>
              <a:rPr sz="2400" b="1" i="0" u="none">
                <a:solidFill>
                  <a:srgbClr val="0F172A"/>
                </a:solidFill>
                <a:latin typeface="Times New Roman" panose="02020603050405020304" pitchFamily="18" charset="0"/>
                <a:cs typeface="Times New Roman" panose="02020603050405020304" pitchFamily="18" charset="0"/>
              </a:rPr>
              <a:t>Character Wrap-Up</a:t>
            </a:r>
            <a:r>
              <a:rPr sz="2400" b="0" i="0" u="none">
                <a:solidFill>
                  <a:srgbClr val="334155"/>
                </a:solidFill>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4" name="Rounded Rectangle 3"/>
          <p:cNvSpPr/>
          <p:nvPr/>
        </p:nvSpPr>
        <p:spPr>
          <a:xfrm>
            <a:off x="481781" y="4215807"/>
            <a:ext cx="5290369" cy="2162395"/>
          </a:xfrm>
          <a:prstGeom prst="roundRect">
            <a:avLst>
              <a:gd name="adj" fmla="val 247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5" name="Rectangle 4"/>
          <p:cNvSpPr/>
          <p:nvPr/>
        </p:nvSpPr>
        <p:spPr>
          <a:xfrm>
            <a:off x="723900" y="4361855"/>
            <a:ext cx="38100" cy="1538882"/>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381750" y="1671637"/>
            <a:ext cx="5048250" cy="4572000"/>
          </a:xfrm>
          <a:prstGeom prst="rect">
            <a:avLst/>
          </a:prstGeom>
        </p:spPr>
      </p:pic>
      <p:pic>
        <p:nvPicPr>
          <p:cNvPr id="7" name="Picture 6" descr="image.png"/>
          <p:cNvPicPr>
            <a:picLocks noChangeAspect="1"/>
          </p:cNvPicPr>
          <p:nvPr/>
        </p:nvPicPr>
        <p:blipFill>
          <a:blip r:embed="rId3"/>
          <a:stretch>
            <a:fillRect/>
          </a:stretch>
        </p:blipFill>
        <p:spPr>
          <a:xfrm>
            <a:off x="6381750" y="1671637"/>
            <a:ext cx="5048250" cy="4572000"/>
          </a:xfrm>
          <a:prstGeom prst="rect">
            <a:avLst/>
          </a:prstGeom>
        </p:spPr>
      </p:pic>
      <p:sp>
        <p:nvSpPr>
          <p:cNvPr id="8" name="TextBox 7"/>
          <p:cNvSpPr txBox="1"/>
          <p:nvPr/>
        </p:nvSpPr>
        <p:spPr>
          <a:xfrm>
            <a:off x="762000" y="628650"/>
            <a:ext cx="11301412" cy="430887"/>
          </a:xfrm>
          <a:prstGeom prst="rect">
            <a:avLst/>
          </a:prstGeom>
          <a:noFill/>
        </p:spPr>
        <p:txBody>
          <a:bodyPr wrap="square" lIns="0" tIns="0" rIns="0" bIns="0" anchor="t">
            <a:spAutoFit/>
          </a:bodyPr>
          <a:lstStyle/>
          <a:p>
            <a:pPr algn="l"/>
            <a:r>
              <a:rPr sz="2400" b="1" i="0" u="none" dirty="0">
                <a:solidFill>
                  <a:srgbClr val="0F172A"/>
                </a:solidFill>
                <a:latin typeface="Times New Roman" panose="02020603050405020304" pitchFamily="18" charset="0"/>
                <a:cs typeface="Times New Roman" panose="02020603050405020304" pitchFamily="18" charset="0"/>
              </a:rPr>
              <a:t>Step 1: </a:t>
            </a:r>
            <a:r>
              <a:rPr sz="2800" b="1" i="0" u="none" dirty="0">
                <a:solidFill>
                  <a:srgbClr val="0F172A"/>
                </a:solidFill>
                <a:latin typeface="Times New Roman" panose="02020603050405020304" pitchFamily="18" charset="0"/>
                <a:cs typeface="Times New Roman" panose="02020603050405020304" pitchFamily="18" charset="0"/>
              </a:rPr>
              <a:t>Backfill</a:t>
            </a:r>
          </a:p>
        </p:txBody>
      </p:sp>
      <p:sp>
        <p:nvSpPr>
          <p:cNvPr id="9" name="TextBox 8"/>
          <p:cNvSpPr txBox="1"/>
          <p:nvPr/>
        </p:nvSpPr>
        <p:spPr>
          <a:xfrm>
            <a:off x="762000" y="2092821"/>
            <a:ext cx="5143500" cy="615553"/>
          </a:xfrm>
          <a:prstGeom prst="rect">
            <a:avLst/>
          </a:prstGeom>
          <a:noFill/>
        </p:spPr>
        <p:txBody>
          <a:bodyPr wrap="square" lIns="0" tIns="0" rIns="0" bIns="0" anchor="t">
            <a:spAutoFit/>
          </a:bodyPr>
          <a:lstStyle/>
          <a:p>
            <a:pPr algn="l">
              <a:lnSpc>
                <a:spcPts val="2400"/>
              </a:lnSpc>
            </a:pPr>
            <a:r>
              <a:rPr sz="2400" b="0" i="0" u="none">
                <a:solidFill>
                  <a:srgbClr val="334155"/>
                </a:solidFill>
                <a:latin typeface="Times New Roman" panose="02020603050405020304" pitchFamily="18" charset="0"/>
                <a:cs typeface="Times New Roman" panose="02020603050405020304" pitchFamily="18" charset="0"/>
              </a:rPr>
              <a:t>The backfill briefly introduces the main characters and their context to the reader.</a:t>
            </a:r>
          </a:p>
        </p:txBody>
      </p:sp>
      <p:sp>
        <p:nvSpPr>
          <p:cNvPr id="10" name="TextBox 9"/>
          <p:cNvSpPr txBox="1"/>
          <p:nvPr/>
        </p:nvSpPr>
        <p:spPr>
          <a:xfrm>
            <a:off x="914400" y="4331196"/>
            <a:ext cx="4800600" cy="1769715"/>
          </a:xfrm>
          <a:prstGeom prst="rect">
            <a:avLst/>
          </a:prstGeom>
          <a:noFill/>
        </p:spPr>
        <p:txBody>
          <a:bodyPr wrap="square" lIns="0" tIns="0" rIns="0" bIns="0" anchor="t">
            <a:spAutoFit/>
          </a:bodyPr>
          <a:lstStyle/>
          <a:p>
            <a:pPr algn="l">
              <a:lnSpc>
                <a:spcPts val="2279"/>
              </a:lnSpc>
            </a:pPr>
            <a:r>
              <a:rPr sz="2400" b="1" u="none" dirty="0">
                <a:solidFill>
                  <a:srgbClr val="475569"/>
                </a:solidFill>
                <a:latin typeface="Times New Roman" panose="02020603050405020304" pitchFamily="18" charset="0"/>
                <a:cs typeface="Times New Roman" panose="02020603050405020304" pitchFamily="18" charset="0"/>
              </a:rPr>
              <a:t>Example (The Robber):</a:t>
            </a:r>
            <a:r>
              <a:rPr sz="2400" b="0" u="none" dirty="0">
                <a:solidFill>
                  <a:srgbClr val="475569"/>
                </a:solidFill>
                <a:latin typeface="Times New Roman" panose="02020603050405020304" pitchFamily="18" charset="0"/>
                <a:cs typeface="Times New Roman" panose="02020603050405020304" pitchFamily="18" charset="0"/>
              </a:rPr>
              <a:t> "Ja</a:t>
            </a:r>
            <a:r>
              <a:rPr lang="en-US" sz="2400" b="0" u="none" dirty="0">
                <a:solidFill>
                  <a:srgbClr val="475569"/>
                </a:solidFill>
                <a:latin typeface="Times New Roman" panose="02020603050405020304" pitchFamily="18" charset="0"/>
                <a:cs typeface="Times New Roman" panose="02020603050405020304" pitchFamily="18" charset="0"/>
              </a:rPr>
              <a:t>mi</a:t>
            </a:r>
            <a:r>
              <a:rPr sz="2400" b="0" u="none" dirty="0">
                <a:solidFill>
                  <a:srgbClr val="475569"/>
                </a:solidFill>
                <a:latin typeface="Times New Roman" panose="02020603050405020304" pitchFamily="18" charset="0"/>
                <a:cs typeface="Times New Roman" panose="02020603050405020304" pitchFamily="18" charset="0"/>
              </a:rPr>
              <a:t> and her family decided to go to the big park near the sandy beach for a picnic. They were very excited. At the park Jazelle saw tall trees and </a:t>
            </a:r>
            <a:r>
              <a:rPr sz="2400" b="0" u="none" dirty="0" err="1">
                <a:solidFill>
                  <a:srgbClr val="475569"/>
                </a:solidFill>
                <a:latin typeface="Times New Roman" panose="02020603050405020304" pitchFamily="18" charset="0"/>
                <a:cs typeface="Times New Roman" panose="02020603050405020304" pitchFamily="18" charset="0"/>
              </a:rPr>
              <a:t>colourful</a:t>
            </a:r>
            <a:r>
              <a:rPr sz="2400" b="0" u="none" dirty="0">
                <a:solidFill>
                  <a:srgbClr val="475569"/>
                </a:solidFill>
                <a:latin typeface="Times New Roman" panose="02020603050405020304" pitchFamily="18" charset="0"/>
                <a:cs typeface="Times New Roman" panose="02020603050405020304" pitchFamily="18" charset="0"/>
              </a:rPr>
              <a:t> flowers all around."</a:t>
            </a:r>
          </a:p>
        </p:txBody>
      </p:sp>
      <p:sp>
        <p:nvSpPr>
          <p:cNvPr id="11" name="TextBox 10"/>
          <p:cNvSpPr txBox="1"/>
          <p:nvPr/>
        </p:nvSpPr>
        <p:spPr>
          <a:xfrm>
            <a:off x="1047750" y="2845296"/>
            <a:ext cx="4407681" cy="307777"/>
          </a:xfrm>
          <a:prstGeom prst="rect">
            <a:avLst/>
          </a:prstGeom>
          <a:noFill/>
        </p:spPr>
        <p:txBody>
          <a:bodyPr wrap="none" lIns="0" tIns="0" rIns="0" bIns="0" anchor="t">
            <a:spAutoFit/>
          </a:bodyPr>
          <a:lstStyle/>
          <a:p>
            <a:pPr algn="l">
              <a:lnSpc>
                <a:spcPts val="2400"/>
              </a:lnSpc>
            </a:pPr>
            <a:r>
              <a:rPr sz="2400" b="1" i="0" u="none">
                <a:solidFill>
                  <a:srgbClr val="334155"/>
                </a:solidFill>
                <a:latin typeface="Times New Roman" panose="02020603050405020304" pitchFamily="18" charset="0"/>
                <a:cs typeface="Times New Roman" panose="02020603050405020304" pitchFamily="18" charset="0"/>
              </a:rPr>
              <a:t>Structure:</a:t>
            </a:r>
            <a:r>
              <a:rPr sz="2400" b="0" i="0" u="none">
                <a:solidFill>
                  <a:srgbClr val="334155"/>
                </a:solidFill>
                <a:latin typeface="Times New Roman" panose="02020603050405020304" pitchFamily="18" charset="0"/>
                <a:cs typeface="Times New Roman" panose="02020603050405020304" pitchFamily="18" charset="0"/>
              </a:rPr>
              <a:t> Typically 1-2 sentences.</a:t>
            </a:r>
          </a:p>
        </p:txBody>
      </p:sp>
      <p:sp>
        <p:nvSpPr>
          <p:cNvPr id="12" name="TextBox 11"/>
          <p:cNvSpPr txBox="1"/>
          <p:nvPr/>
        </p:nvSpPr>
        <p:spPr>
          <a:xfrm>
            <a:off x="1047750" y="3340596"/>
            <a:ext cx="4857750" cy="615553"/>
          </a:xfrm>
          <a:prstGeom prst="rect">
            <a:avLst/>
          </a:prstGeom>
          <a:noFill/>
        </p:spPr>
        <p:txBody>
          <a:bodyPr wrap="square" lIns="0" tIns="0" rIns="0" bIns="0" anchor="t">
            <a:spAutoFit/>
          </a:bodyPr>
          <a:lstStyle/>
          <a:p>
            <a:pPr algn="l">
              <a:lnSpc>
                <a:spcPts val="2400"/>
              </a:lnSpc>
            </a:pPr>
            <a:r>
              <a:rPr sz="2400" b="1" i="0" u="none" dirty="0">
                <a:solidFill>
                  <a:srgbClr val="334155"/>
                </a:solidFill>
                <a:latin typeface="Times New Roman" panose="02020603050405020304" pitchFamily="18" charset="0"/>
                <a:cs typeface="Times New Roman" panose="02020603050405020304" pitchFamily="18" charset="0"/>
              </a:rPr>
              <a:t>Purpose:</a:t>
            </a:r>
            <a:r>
              <a:rPr sz="2400" b="0" i="0" u="none" dirty="0">
                <a:solidFill>
                  <a:srgbClr val="334155"/>
                </a:solidFill>
                <a:latin typeface="Times New Roman" panose="02020603050405020304" pitchFamily="18" charset="0"/>
                <a:cs typeface="Times New Roman" panose="02020603050405020304" pitchFamily="18" charset="0"/>
              </a:rPr>
              <a:t> Address the </a:t>
            </a:r>
            <a:r>
              <a:rPr sz="2400" b="1" i="0" u="none" dirty="0">
                <a:solidFill>
                  <a:srgbClr val="334155"/>
                </a:solidFill>
                <a:latin typeface="Times New Roman" panose="02020603050405020304" pitchFamily="18" charset="0"/>
                <a:cs typeface="Times New Roman" panose="02020603050405020304" pitchFamily="18" charset="0"/>
              </a:rPr>
              <a:t>5 </a:t>
            </a:r>
            <a:r>
              <a:rPr sz="2400" b="1" i="0" u="none" dirty="0" err="1">
                <a:solidFill>
                  <a:srgbClr val="334155"/>
                </a:solidFill>
                <a:latin typeface="Times New Roman" panose="02020603050405020304" pitchFamily="18" charset="0"/>
                <a:cs typeface="Times New Roman" panose="02020603050405020304" pitchFamily="18" charset="0"/>
              </a:rPr>
              <a:t>Ws</a:t>
            </a:r>
            <a:r>
              <a:rPr sz="2400" b="1" i="0" u="none" dirty="0">
                <a:solidFill>
                  <a:srgbClr val="334155"/>
                </a:solidFill>
                <a:latin typeface="Times New Roman" panose="02020603050405020304" pitchFamily="18" charset="0"/>
                <a:cs typeface="Times New Roman" panose="02020603050405020304" pitchFamily="18" charset="0"/>
              </a:rPr>
              <a:t>: Who? What? When? Where? Why?</a:t>
            </a:r>
          </a:p>
        </p:txBody>
      </p:sp>
      <p:sp>
        <p:nvSpPr>
          <p:cNvPr id="13" name="TextBox 12"/>
          <p:cNvSpPr txBox="1"/>
          <p:nvPr/>
        </p:nvSpPr>
        <p:spPr>
          <a:xfrm>
            <a:off x="762000" y="2892921"/>
            <a:ext cx="185948" cy="235642"/>
          </a:xfrm>
          <a:prstGeom prst="rect">
            <a:avLst/>
          </a:prstGeom>
          <a:noFill/>
        </p:spPr>
        <p:txBody>
          <a:bodyPr wrap="none" lIns="0" tIns="0" rIns="0" bIns="0" anchor="t">
            <a:spAutoFit/>
          </a:bodyPr>
          <a:lstStyle/>
          <a:p>
            <a:pPr algn="l">
              <a:lnSpc>
                <a:spcPts val="1679"/>
              </a:lnSpc>
            </a:pPr>
            <a:r>
              <a:rPr sz="2400" b="0" i="0" u="none">
                <a:solidFill>
                  <a:srgbClr val="1E3A8A"/>
                </a:solidFill>
                <a:latin typeface="Times New Roman" panose="02020603050405020304" pitchFamily="18" charset="0"/>
                <a:cs typeface="Times New Roman" panose="02020603050405020304" pitchFamily="18" charset="0"/>
              </a:rPr>
              <a:t>■</a:t>
            </a:r>
          </a:p>
        </p:txBody>
      </p:sp>
      <p:sp>
        <p:nvSpPr>
          <p:cNvPr id="14" name="TextBox 13"/>
          <p:cNvSpPr txBox="1"/>
          <p:nvPr/>
        </p:nvSpPr>
        <p:spPr>
          <a:xfrm>
            <a:off x="762000" y="3388221"/>
            <a:ext cx="185948" cy="235642"/>
          </a:xfrm>
          <a:prstGeom prst="rect">
            <a:avLst/>
          </a:prstGeom>
          <a:noFill/>
        </p:spPr>
        <p:txBody>
          <a:bodyPr wrap="none" lIns="0" tIns="0" rIns="0" bIns="0" anchor="t">
            <a:spAutoFit/>
          </a:bodyPr>
          <a:lstStyle/>
          <a:p>
            <a:pPr algn="l">
              <a:lnSpc>
                <a:spcPts val="1679"/>
              </a:lnSpc>
            </a:pPr>
            <a:r>
              <a:rPr sz="2400" b="0" i="0" u="none">
                <a:solidFill>
                  <a:srgbClr val="1E3A8A"/>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 name="Rounded Rectangle 3"/>
          <p:cNvSpPr/>
          <p:nvPr/>
        </p:nvSpPr>
        <p:spPr>
          <a:xfrm>
            <a:off x="762000" y="3603575"/>
            <a:ext cx="5048250" cy="2341912"/>
          </a:xfrm>
          <a:prstGeom prst="roundRect">
            <a:avLst>
              <a:gd name="adj" fmla="val 179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5" name="Rectangle 4"/>
          <p:cNvSpPr/>
          <p:nvPr/>
        </p:nvSpPr>
        <p:spPr>
          <a:xfrm>
            <a:off x="762000" y="3603575"/>
            <a:ext cx="38100" cy="2117824"/>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381750" y="1671637"/>
            <a:ext cx="5048250" cy="4572000"/>
          </a:xfrm>
          <a:prstGeom prst="rect">
            <a:avLst/>
          </a:prstGeom>
        </p:spPr>
      </p:pic>
      <p:pic>
        <p:nvPicPr>
          <p:cNvPr id="7" name="Picture 6" descr="image.png"/>
          <p:cNvPicPr>
            <a:picLocks noChangeAspect="1"/>
          </p:cNvPicPr>
          <p:nvPr/>
        </p:nvPicPr>
        <p:blipFill>
          <a:blip r:embed="rId3"/>
          <a:stretch>
            <a:fillRect/>
          </a:stretch>
        </p:blipFill>
        <p:spPr>
          <a:xfrm>
            <a:off x="6381750" y="1671637"/>
            <a:ext cx="5048250" cy="4572000"/>
          </a:xfrm>
          <a:prstGeom prst="rect">
            <a:avLst/>
          </a:prstGeom>
        </p:spPr>
      </p:pic>
      <p:sp>
        <p:nvSpPr>
          <p:cNvPr id="8" name="TextBox 7"/>
          <p:cNvSpPr txBox="1"/>
          <p:nvPr/>
        </p:nvSpPr>
        <p:spPr>
          <a:xfrm>
            <a:off x="762000" y="628650"/>
            <a:ext cx="11301412" cy="430887"/>
          </a:xfrm>
          <a:prstGeom prst="rect">
            <a:avLst/>
          </a:prstGeom>
          <a:noFill/>
        </p:spPr>
        <p:txBody>
          <a:bodyPr wrap="square" lIns="0" tIns="0" rIns="0" bIns="0" anchor="t">
            <a:spAutoFit/>
          </a:bodyPr>
          <a:lstStyle/>
          <a:p>
            <a:pPr algn="l"/>
            <a:r>
              <a:rPr sz="2800" b="1" i="0" u="none" dirty="0">
                <a:solidFill>
                  <a:srgbClr val="0F172A"/>
                </a:solidFill>
                <a:latin typeface="Times New Roman" panose="02020603050405020304" pitchFamily="18" charset="0"/>
                <a:cs typeface="Times New Roman" panose="02020603050405020304" pitchFamily="18" charset="0"/>
              </a:rPr>
              <a:t>Step 2: The Pebble (Small Problem)</a:t>
            </a:r>
          </a:p>
        </p:txBody>
      </p:sp>
      <p:sp>
        <p:nvSpPr>
          <p:cNvPr id="9" name="TextBox 8"/>
          <p:cNvSpPr txBox="1"/>
          <p:nvPr/>
        </p:nvSpPr>
        <p:spPr>
          <a:xfrm>
            <a:off x="762000" y="2051000"/>
            <a:ext cx="5143500" cy="923330"/>
          </a:xfrm>
          <a:prstGeom prst="rect">
            <a:avLst/>
          </a:prstGeom>
          <a:noFill/>
        </p:spPr>
        <p:txBody>
          <a:bodyPr wrap="square" lIns="0" tIns="0" rIns="0" bIns="0" anchor="t">
            <a:spAutoFit/>
          </a:bodyPr>
          <a:lstStyle/>
          <a:p>
            <a:pPr algn="l">
              <a:lnSpc>
                <a:spcPts val="2400"/>
              </a:lnSpc>
            </a:pPr>
            <a:r>
              <a:rPr sz="2000" b="0" i="0" u="none" dirty="0">
                <a:solidFill>
                  <a:srgbClr val="334155"/>
                </a:solidFill>
                <a:latin typeface="Times New Roman" panose="02020603050405020304" pitchFamily="18" charset="0"/>
                <a:cs typeface="Times New Roman" panose="02020603050405020304" pitchFamily="18" charset="0"/>
              </a:rPr>
              <a:t>The tension begins to build. The setting is described, the initial problem is introduced, and secondary characters may appear.</a:t>
            </a:r>
          </a:p>
        </p:txBody>
      </p:sp>
      <p:sp>
        <p:nvSpPr>
          <p:cNvPr id="10" name="TextBox 9"/>
          <p:cNvSpPr txBox="1"/>
          <p:nvPr/>
        </p:nvSpPr>
        <p:spPr>
          <a:xfrm>
            <a:off x="952500" y="3794075"/>
            <a:ext cx="4762500" cy="2064668"/>
          </a:xfrm>
          <a:prstGeom prst="rect">
            <a:avLst/>
          </a:prstGeom>
          <a:noFill/>
        </p:spPr>
        <p:txBody>
          <a:bodyPr wrap="square" lIns="0" tIns="0" rIns="0" bIns="0" anchor="t">
            <a:spAutoFit/>
          </a:bodyPr>
          <a:lstStyle/>
          <a:p>
            <a:pPr algn="l">
              <a:lnSpc>
                <a:spcPts val="2279"/>
              </a:lnSpc>
            </a:pPr>
            <a:r>
              <a:rPr sz="2000" b="1" u="none" dirty="0">
                <a:solidFill>
                  <a:srgbClr val="475569"/>
                </a:solidFill>
                <a:latin typeface="Times New Roman" panose="02020603050405020304" pitchFamily="18" charset="0"/>
                <a:cs typeface="Times New Roman" panose="02020603050405020304" pitchFamily="18" charset="0"/>
              </a:rPr>
              <a:t>Example (The Haunted Mansion):</a:t>
            </a:r>
            <a:r>
              <a:rPr sz="2000" b="0" u="none" dirty="0">
                <a:solidFill>
                  <a:srgbClr val="475569"/>
                </a:solidFill>
                <a:latin typeface="Times New Roman" panose="02020603050405020304" pitchFamily="18" charset="0"/>
                <a:cs typeface="Times New Roman" panose="02020603050405020304" pitchFamily="18" charset="0"/>
              </a:rPr>
              <a:t> "After eating, Ja</a:t>
            </a:r>
            <a:r>
              <a:rPr lang="en-US" sz="2000" b="0" u="none" dirty="0">
                <a:solidFill>
                  <a:srgbClr val="475569"/>
                </a:solidFill>
                <a:latin typeface="Times New Roman" panose="02020603050405020304" pitchFamily="18" charset="0"/>
                <a:cs typeface="Times New Roman" panose="02020603050405020304" pitchFamily="18" charset="0"/>
              </a:rPr>
              <a:t>mi</a:t>
            </a:r>
            <a:r>
              <a:rPr sz="2000" b="0" u="none" dirty="0">
                <a:solidFill>
                  <a:srgbClr val="475569"/>
                </a:solidFill>
                <a:latin typeface="Times New Roman" panose="02020603050405020304" pitchFamily="18" charset="0"/>
                <a:cs typeface="Times New Roman" panose="02020603050405020304" pitchFamily="18" charset="0"/>
              </a:rPr>
              <a:t> and </a:t>
            </a:r>
            <a:r>
              <a:rPr lang="en-US" sz="2000" dirty="0">
                <a:solidFill>
                  <a:srgbClr val="475569"/>
                </a:solidFill>
                <a:latin typeface="Times New Roman" panose="02020603050405020304" pitchFamily="18" charset="0"/>
                <a:cs typeface="Times New Roman" panose="02020603050405020304" pitchFamily="18" charset="0"/>
              </a:rPr>
              <a:t>Sany</a:t>
            </a:r>
            <a:r>
              <a:rPr sz="2000" b="0" u="none" dirty="0">
                <a:solidFill>
                  <a:srgbClr val="475569"/>
                </a:solidFill>
                <a:latin typeface="Times New Roman" panose="02020603050405020304" pitchFamily="18" charset="0"/>
                <a:cs typeface="Times New Roman" panose="02020603050405020304" pitchFamily="18" charset="0"/>
              </a:rPr>
              <a:t> noticed something on the ground. It was an arrow made of sticks, pointing towards the woods. They were curious. They decided to follow the arrow... The arrow led them to a strange, old mansion."</a:t>
            </a:r>
          </a:p>
        </p:txBody>
      </p:sp>
      <p:sp>
        <p:nvSpPr>
          <p:cNvPr id="11" name="TextBox 10"/>
          <p:cNvSpPr txBox="1"/>
          <p:nvPr/>
        </p:nvSpPr>
        <p:spPr>
          <a:xfrm>
            <a:off x="1047750" y="3108275"/>
            <a:ext cx="3671005" cy="307777"/>
          </a:xfrm>
          <a:prstGeom prst="rect">
            <a:avLst/>
          </a:prstGeom>
          <a:noFill/>
        </p:spPr>
        <p:txBody>
          <a:bodyPr wrap="none" lIns="0" tIns="0" rIns="0" bIns="0" anchor="t">
            <a:spAutoFit/>
          </a:bodyPr>
          <a:lstStyle/>
          <a:p>
            <a:pPr algn="l">
              <a:lnSpc>
                <a:spcPts val="2400"/>
              </a:lnSpc>
            </a:pPr>
            <a:r>
              <a:rPr sz="2000" b="1" i="0" u="none" dirty="0">
                <a:solidFill>
                  <a:srgbClr val="334155"/>
                </a:solidFill>
                <a:latin typeface="Times New Roman" panose="02020603050405020304" pitchFamily="18" charset="0"/>
                <a:cs typeface="Times New Roman" panose="02020603050405020304" pitchFamily="18" charset="0"/>
              </a:rPr>
              <a:t>Structure:</a:t>
            </a:r>
            <a:r>
              <a:rPr sz="2000" b="0" i="0" u="none" dirty="0">
                <a:solidFill>
                  <a:srgbClr val="334155"/>
                </a:solidFill>
                <a:latin typeface="Times New Roman" panose="02020603050405020304" pitchFamily="18" charset="0"/>
                <a:cs typeface="Times New Roman" panose="02020603050405020304" pitchFamily="18" charset="0"/>
              </a:rPr>
              <a:t> Typically 2-3 sentences.</a:t>
            </a:r>
          </a:p>
        </p:txBody>
      </p:sp>
      <p:sp>
        <p:nvSpPr>
          <p:cNvPr id="12" name="TextBox 11"/>
          <p:cNvSpPr txBox="1"/>
          <p:nvPr/>
        </p:nvSpPr>
        <p:spPr>
          <a:xfrm>
            <a:off x="762000" y="3155900"/>
            <a:ext cx="155492" cy="223587"/>
          </a:xfrm>
          <a:prstGeom prst="rect">
            <a:avLst/>
          </a:prstGeom>
          <a:noFill/>
        </p:spPr>
        <p:txBody>
          <a:bodyPr wrap="none" lIns="0" tIns="0" rIns="0" bIns="0" anchor="t">
            <a:spAutoFit/>
          </a:bodyPr>
          <a:lstStyle/>
          <a:p>
            <a:pPr algn="l">
              <a:lnSpc>
                <a:spcPts val="1679"/>
              </a:lnSpc>
            </a:pPr>
            <a:r>
              <a:rPr sz="2000" b="0" i="0" u="none">
                <a:solidFill>
                  <a:srgbClr val="1E3A8A"/>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 name="Rounded Rectangle 3"/>
          <p:cNvSpPr/>
          <p:nvPr/>
        </p:nvSpPr>
        <p:spPr>
          <a:xfrm>
            <a:off x="631425" y="4270649"/>
            <a:ext cx="5048250" cy="1538882"/>
          </a:xfrm>
          <a:prstGeom prst="roundRect">
            <a:avLst>
              <a:gd name="adj" fmla="val 247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5" name="Rectangle 4"/>
          <p:cNvSpPr/>
          <p:nvPr/>
        </p:nvSpPr>
        <p:spPr>
          <a:xfrm>
            <a:off x="718984" y="4359502"/>
            <a:ext cx="38100" cy="1538882"/>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381750" y="1671637"/>
            <a:ext cx="5048250" cy="4572000"/>
          </a:xfrm>
          <a:prstGeom prst="rect">
            <a:avLst/>
          </a:prstGeom>
        </p:spPr>
      </p:pic>
      <p:pic>
        <p:nvPicPr>
          <p:cNvPr id="7" name="Picture 6" descr="image.png"/>
          <p:cNvPicPr>
            <a:picLocks noChangeAspect="1"/>
          </p:cNvPicPr>
          <p:nvPr/>
        </p:nvPicPr>
        <p:blipFill>
          <a:blip r:embed="rId3"/>
          <a:stretch>
            <a:fillRect/>
          </a:stretch>
        </p:blipFill>
        <p:spPr>
          <a:xfrm>
            <a:off x="6381750" y="1671637"/>
            <a:ext cx="5048250" cy="4572000"/>
          </a:xfrm>
          <a:prstGeom prst="rect">
            <a:avLst/>
          </a:prstGeom>
        </p:spPr>
      </p:pic>
      <p:sp>
        <p:nvSpPr>
          <p:cNvPr id="8" name="TextBox 7"/>
          <p:cNvSpPr txBox="1"/>
          <p:nvPr/>
        </p:nvSpPr>
        <p:spPr>
          <a:xfrm>
            <a:off x="762000" y="628650"/>
            <a:ext cx="11301412" cy="430887"/>
          </a:xfrm>
          <a:prstGeom prst="rect">
            <a:avLst/>
          </a:prstGeom>
          <a:noFill/>
        </p:spPr>
        <p:txBody>
          <a:bodyPr wrap="square" lIns="0" tIns="0" rIns="0" bIns="0" anchor="t">
            <a:spAutoFit/>
          </a:bodyPr>
          <a:lstStyle/>
          <a:p>
            <a:pPr algn="l"/>
            <a:r>
              <a:rPr sz="2800" b="1" i="0" u="none" dirty="0">
                <a:solidFill>
                  <a:srgbClr val="0F172A"/>
                </a:solidFill>
                <a:latin typeface="Times New Roman" panose="02020603050405020304" pitchFamily="18" charset="0"/>
                <a:cs typeface="Times New Roman" panose="02020603050405020304" pitchFamily="18" charset="0"/>
              </a:rPr>
              <a:t>Step 3: The Brick (Medium Problem)</a:t>
            </a:r>
          </a:p>
        </p:txBody>
      </p:sp>
      <p:sp>
        <p:nvSpPr>
          <p:cNvPr id="9" name="TextBox 8"/>
          <p:cNvSpPr txBox="1"/>
          <p:nvPr/>
        </p:nvSpPr>
        <p:spPr>
          <a:xfrm>
            <a:off x="762000" y="2340471"/>
            <a:ext cx="5143500" cy="923330"/>
          </a:xfrm>
          <a:prstGeom prst="rect">
            <a:avLst/>
          </a:prstGeom>
          <a:noFill/>
        </p:spPr>
        <p:txBody>
          <a:bodyPr wrap="square" lIns="0" tIns="0" rIns="0" bIns="0" anchor="t">
            <a:spAutoFit/>
          </a:bodyPr>
          <a:lstStyle/>
          <a:p>
            <a:pPr algn="l">
              <a:lnSpc>
                <a:spcPts val="2400"/>
              </a:lnSpc>
            </a:pPr>
            <a:r>
              <a:rPr sz="2000" b="0" i="0" u="none">
                <a:solidFill>
                  <a:srgbClr val="334155"/>
                </a:solidFill>
                <a:latin typeface="Times New Roman" panose="02020603050405020304" pitchFamily="18" charset="0"/>
                <a:cs typeface="Times New Roman" panose="02020603050405020304" pitchFamily="18" charset="0"/>
              </a:rPr>
              <a:t>Things begin to go wrong for the characters. This section explains how the problem is escalating and worsening.</a:t>
            </a:r>
          </a:p>
        </p:txBody>
      </p:sp>
      <p:sp>
        <p:nvSpPr>
          <p:cNvPr id="10" name="TextBox 9"/>
          <p:cNvSpPr txBox="1"/>
          <p:nvPr/>
        </p:nvSpPr>
        <p:spPr>
          <a:xfrm>
            <a:off x="952500" y="4334768"/>
            <a:ext cx="4762500" cy="1474763"/>
          </a:xfrm>
          <a:prstGeom prst="rect">
            <a:avLst/>
          </a:prstGeom>
          <a:noFill/>
        </p:spPr>
        <p:txBody>
          <a:bodyPr wrap="square" lIns="0" tIns="0" rIns="0" bIns="0" anchor="t">
            <a:spAutoFit/>
          </a:bodyPr>
          <a:lstStyle/>
          <a:p>
            <a:pPr algn="l">
              <a:lnSpc>
                <a:spcPts val="2279"/>
              </a:lnSpc>
            </a:pPr>
            <a:r>
              <a:rPr sz="2000" b="1" u="none" dirty="0">
                <a:solidFill>
                  <a:srgbClr val="475569"/>
                </a:solidFill>
                <a:latin typeface="Times New Roman" panose="02020603050405020304" pitchFamily="18" charset="0"/>
                <a:cs typeface="Times New Roman" panose="02020603050405020304" pitchFamily="18" charset="0"/>
              </a:rPr>
              <a:t>Example (The Haunted Mansion):</a:t>
            </a:r>
            <a:r>
              <a:rPr sz="2000" b="0" u="none" dirty="0">
                <a:solidFill>
                  <a:srgbClr val="475569"/>
                </a:solidFill>
                <a:latin typeface="Times New Roman" panose="02020603050405020304" pitchFamily="18" charset="0"/>
                <a:cs typeface="Times New Roman" panose="02020603050405020304" pitchFamily="18" charset="0"/>
              </a:rPr>
              <a:t> "They opened the creaky door and stepped inside. The house was dark and dusty. Suddenly, the door slammed shut behind them with a loud BANG!"</a:t>
            </a:r>
          </a:p>
        </p:txBody>
      </p:sp>
      <p:sp>
        <p:nvSpPr>
          <p:cNvPr id="11" name="TextBox 10"/>
          <p:cNvSpPr txBox="1"/>
          <p:nvPr/>
        </p:nvSpPr>
        <p:spPr>
          <a:xfrm>
            <a:off x="1047750" y="3397746"/>
            <a:ext cx="3671005" cy="307777"/>
          </a:xfrm>
          <a:prstGeom prst="rect">
            <a:avLst/>
          </a:prstGeom>
          <a:noFill/>
        </p:spPr>
        <p:txBody>
          <a:bodyPr wrap="none" lIns="0" tIns="0" rIns="0" bIns="0" anchor="t">
            <a:spAutoFit/>
          </a:bodyPr>
          <a:lstStyle/>
          <a:p>
            <a:pPr algn="l">
              <a:lnSpc>
                <a:spcPts val="2400"/>
              </a:lnSpc>
            </a:pPr>
            <a:r>
              <a:rPr sz="2000" b="1" i="0" u="none">
                <a:solidFill>
                  <a:srgbClr val="334155"/>
                </a:solidFill>
                <a:latin typeface="Times New Roman" panose="02020603050405020304" pitchFamily="18" charset="0"/>
                <a:cs typeface="Times New Roman" panose="02020603050405020304" pitchFamily="18" charset="0"/>
              </a:rPr>
              <a:t>Structure:</a:t>
            </a:r>
            <a:r>
              <a:rPr sz="2000" b="0" i="0" u="none">
                <a:solidFill>
                  <a:srgbClr val="334155"/>
                </a:solidFill>
                <a:latin typeface="Times New Roman" panose="02020603050405020304" pitchFamily="18" charset="0"/>
                <a:cs typeface="Times New Roman" panose="02020603050405020304" pitchFamily="18" charset="0"/>
              </a:rPr>
              <a:t> Typically 2-3 sentences.</a:t>
            </a:r>
          </a:p>
        </p:txBody>
      </p:sp>
      <p:sp>
        <p:nvSpPr>
          <p:cNvPr id="12" name="TextBox 11"/>
          <p:cNvSpPr txBox="1"/>
          <p:nvPr/>
        </p:nvSpPr>
        <p:spPr>
          <a:xfrm>
            <a:off x="762000" y="3445371"/>
            <a:ext cx="155492" cy="223587"/>
          </a:xfrm>
          <a:prstGeom prst="rect">
            <a:avLst/>
          </a:prstGeom>
          <a:noFill/>
        </p:spPr>
        <p:txBody>
          <a:bodyPr wrap="none" lIns="0" tIns="0" rIns="0" bIns="0" anchor="t">
            <a:spAutoFit/>
          </a:bodyPr>
          <a:lstStyle/>
          <a:p>
            <a:pPr algn="l">
              <a:lnSpc>
                <a:spcPts val="1679"/>
              </a:lnSpc>
            </a:pPr>
            <a:r>
              <a:rPr sz="2000" b="0" i="0" u="none">
                <a:solidFill>
                  <a:srgbClr val="1E3A8A"/>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 name="Rounded Rectangle 3"/>
          <p:cNvSpPr/>
          <p:nvPr/>
        </p:nvSpPr>
        <p:spPr>
          <a:xfrm>
            <a:off x="762000" y="3995886"/>
            <a:ext cx="5048250" cy="1828353"/>
          </a:xfrm>
          <a:prstGeom prst="roundRect">
            <a:avLst>
              <a:gd name="adj" fmla="val 208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5" name="Rectangle 4"/>
          <p:cNvSpPr/>
          <p:nvPr/>
        </p:nvSpPr>
        <p:spPr>
          <a:xfrm>
            <a:off x="762000" y="3995886"/>
            <a:ext cx="38100" cy="1828353"/>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381750" y="1671637"/>
            <a:ext cx="5048250" cy="4572000"/>
          </a:xfrm>
          <a:prstGeom prst="rect">
            <a:avLst/>
          </a:prstGeom>
        </p:spPr>
      </p:pic>
      <p:pic>
        <p:nvPicPr>
          <p:cNvPr id="7" name="Picture 6" descr="image.png"/>
          <p:cNvPicPr>
            <a:picLocks noChangeAspect="1"/>
          </p:cNvPicPr>
          <p:nvPr/>
        </p:nvPicPr>
        <p:blipFill>
          <a:blip r:embed="rId3"/>
          <a:stretch>
            <a:fillRect/>
          </a:stretch>
        </p:blipFill>
        <p:spPr>
          <a:xfrm>
            <a:off x="6381750" y="1671637"/>
            <a:ext cx="5048250" cy="4572000"/>
          </a:xfrm>
          <a:prstGeom prst="rect">
            <a:avLst/>
          </a:prstGeom>
        </p:spPr>
      </p:pic>
      <p:sp>
        <p:nvSpPr>
          <p:cNvPr id="8" name="TextBox 7"/>
          <p:cNvSpPr txBox="1"/>
          <p:nvPr/>
        </p:nvSpPr>
        <p:spPr>
          <a:xfrm>
            <a:off x="762000" y="628650"/>
            <a:ext cx="11301412" cy="430887"/>
          </a:xfrm>
          <a:prstGeom prst="rect">
            <a:avLst/>
          </a:prstGeom>
          <a:noFill/>
        </p:spPr>
        <p:txBody>
          <a:bodyPr wrap="square" lIns="0" tIns="0" rIns="0" bIns="0" anchor="t">
            <a:spAutoFit/>
          </a:bodyPr>
          <a:lstStyle/>
          <a:p>
            <a:pPr algn="l"/>
            <a:r>
              <a:rPr sz="2800" b="1" i="0" u="none" dirty="0">
                <a:solidFill>
                  <a:srgbClr val="0F172A"/>
                </a:solidFill>
                <a:latin typeface="Times New Roman" panose="02020603050405020304" pitchFamily="18" charset="0"/>
                <a:cs typeface="Times New Roman" panose="02020603050405020304" pitchFamily="18" charset="0"/>
              </a:rPr>
              <a:t>Step 4: The Boulder (Big Problem)</a:t>
            </a:r>
          </a:p>
        </p:txBody>
      </p:sp>
      <p:sp>
        <p:nvSpPr>
          <p:cNvPr id="9" name="TextBox 8"/>
          <p:cNvSpPr txBox="1"/>
          <p:nvPr/>
        </p:nvSpPr>
        <p:spPr>
          <a:xfrm>
            <a:off x="762000" y="1948011"/>
            <a:ext cx="5143500" cy="615553"/>
          </a:xfrm>
          <a:prstGeom prst="rect">
            <a:avLst/>
          </a:prstGeom>
          <a:noFill/>
        </p:spPr>
        <p:txBody>
          <a:bodyPr wrap="square" lIns="0" tIns="0" rIns="0" bIns="0" anchor="t">
            <a:spAutoFit/>
          </a:bodyPr>
          <a:lstStyle/>
          <a:p>
            <a:pPr algn="l">
              <a:lnSpc>
                <a:spcPts val="2400"/>
              </a:lnSpc>
            </a:pPr>
            <a:r>
              <a:rPr sz="2000" b="0" i="0" u="none" dirty="0">
                <a:solidFill>
                  <a:srgbClr val="334155"/>
                </a:solidFill>
                <a:latin typeface="Times New Roman" panose="02020603050405020304" pitchFamily="18" charset="0"/>
                <a:cs typeface="Times New Roman" panose="02020603050405020304" pitchFamily="18" charset="0"/>
              </a:rPr>
              <a:t>This is the climax of the tension—the point where the problem reaches its absolute worst.</a:t>
            </a:r>
          </a:p>
        </p:txBody>
      </p:sp>
      <p:sp>
        <p:nvSpPr>
          <p:cNvPr id="10" name="TextBox 9"/>
          <p:cNvSpPr txBox="1"/>
          <p:nvPr/>
        </p:nvSpPr>
        <p:spPr>
          <a:xfrm>
            <a:off x="864941" y="4308499"/>
            <a:ext cx="4762500" cy="1474763"/>
          </a:xfrm>
          <a:prstGeom prst="rect">
            <a:avLst/>
          </a:prstGeom>
          <a:noFill/>
        </p:spPr>
        <p:txBody>
          <a:bodyPr wrap="square" lIns="0" tIns="0" rIns="0" bIns="0" anchor="t">
            <a:spAutoFit/>
          </a:bodyPr>
          <a:lstStyle/>
          <a:p>
            <a:pPr algn="l">
              <a:lnSpc>
                <a:spcPts val="2279"/>
              </a:lnSpc>
            </a:pPr>
            <a:r>
              <a:rPr sz="2000" b="1" u="none" dirty="0">
                <a:solidFill>
                  <a:srgbClr val="475569"/>
                </a:solidFill>
                <a:latin typeface="Times New Roman" panose="02020603050405020304" pitchFamily="18" charset="0"/>
                <a:cs typeface="Times New Roman" panose="02020603050405020304" pitchFamily="18" charset="0"/>
              </a:rPr>
              <a:t>Example (The Robber):</a:t>
            </a:r>
            <a:r>
              <a:rPr sz="2000" b="0" u="none" dirty="0">
                <a:solidFill>
                  <a:srgbClr val="475569"/>
                </a:solidFill>
                <a:latin typeface="Times New Roman" panose="02020603050405020304" pitchFamily="18" charset="0"/>
                <a:cs typeface="Times New Roman" panose="02020603050405020304" pitchFamily="18" charset="0"/>
              </a:rPr>
              <a:t> "He broke the glass window and went inside. He opened the silver fridge, ate all the delicious food and stole all their money. The family’s brave dog spotted the robber and started barking loudly."</a:t>
            </a:r>
          </a:p>
        </p:txBody>
      </p:sp>
      <p:sp>
        <p:nvSpPr>
          <p:cNvPr id="11" name="TextBox 10"/>
          <p:cNvSpPr txBox="1"/>
          <p:nvPr/>
        </p:nvSpPr>
        <p:spPr>
          <a:xfrm>
            <a:off x="1047750" y="2700486"/>
            <a:ext cx="4857750" cy="615553"/>
          </a:xfrm>
          <a:prstGeom prst="rect">
            <a:avLst/>
          </a:prstGeom>
          <a:noFill/>
        </p:spPr>
        <p:txBody>
          <a:bodyPr wrap="square" lIns="0" tIns="0" rIns="0" bIns="0" anchor="t">
            <a:spAutoFit/>
          </a:bodyPr>
          <a:lstStyle/>
          <a:p>
            <a:pPr algn="l">
              <a:lnSpc>
                <a:spcPts val="2400"/>
              </a:lnSpc>
            </a:pPr>
            <a:r>
              <a:rPr sz="2000" b="1" i="0" u="none" dirty="0">
                <a:solidFill>
                  <a:srgbClr val="334155"/>
                </a:solidFill>
                <a:latin typeface="Times New Roman" panose="02020603050405020304" pitchFamily="18" charset="0"/>
                <a:cs typeface="Times New Roman" panose="02020603050405020304" pitchFamily="18" charset="0"/>
              </a:rPr>
              <a:t>Goal:</a:t>
            </a:r>
            <a:r>
              <a:rPr sz="2000" b="0" i="0" u="none" dirty="0">
                <a:solidFill>
                  <a:srgbClr val="334155"/>
                </a:solidFill>
                <a:latin typeface="Times New Roman" panose="02020603050405020304" pitchFamily="18" charset="0"/>
                <a:cs typeface="Times New Roman" panose="02020603050405020304" pitchFamily="18" charset="0"/>
              </a:rPr>
              <a:t> The reader must think, "They will never make it!"</a:t>
            </a:r>
          </a:p>
        </p:txBody>
      </p:sp>
      <p:sp>
        <p:nvSpPr>
          <p:cNvPr id="12" name="TextBox 11"/>
          <p:cNvSpPr txBox="1"/>
          <p:nvPr/>
        </p:nvSpPr>
        <p:spPr>
          <a:xfrm>
            <a:off x="1047750" y="3500586"/>
            <a:ext cx="3671005" cy="307777"/>
          </a:xfrm>
          <a:prstGeom prst="rect">
            <a:avLst/>
          </a:prstGeom>
          <a:noFill/>
        </p:spPr>
        <p:txBody>
          <a:bodyPr wrap="none" lIns="0" tIns="0" rIns="0" bIns="0" anchor="t">
            <a:spAutoFit/>
          </a:bodyPr>
          <a:lstStyle/>
          <a:p>
            <a:pPr algn="l">
              <a:lnSpc>
                <a:spcPts val="2400"/>
              </a:lnSpc>
            </a:pPr>
            <a:r>
              <a:rPr sz="2000" b="1" i="0" u="none">
                <a:solidFill>
                  <a:srgbClr val="334155"/>
                </a:solidFill>
                <a:latin typeface="Times New Roman" panose="02020603050405020304" pitchFamily="18" charset="0"/>
                <a:cs typeface="Times New Roman" panose="02020603050405020304" pitchFamily="18" charset="0"/>
              </a:rPr>
              <a:t>Structure:</a:t>
            </a:r>
            <a:r>
              <a:rPr sz="2000" b="0" i="0" u="none">
                <a:solidFill>
                  <a:srgbClr val="334155"/>
                </a:solidFill>
                <a:latin typeface="Times New Roman" panose="02020603050405020304" pitchFamily="18" charset="0"/>
                <a:cs typeface="Times New Roman" panose="02020603050405020304" pitchFamily="18" charset="0"/>
              </a:rPr>
              <a:t> Typically 2-3 sentences.</a:t>
            </a:r>
          </a:p>
        </p:txBody>
      </p:sp>
      <p:sp>
        <p:nvSpPr>
          <p:cNvPr id="13" name="TextBox 12"/>
          <p:cNvSpPr txBox="1"/>
          <p:nvPr/>
        </p:nvSpPr>
        <p:spPr>
          <a:xfrm>
            <a:off x="762000" y="2748111"/>
            <a:ext cx="155492" cy="223587"/>
          </a:xfrm>
          <a:prstGeom prst="rect">
            <a:avLst/>
          </a:prstGeom>
          <a:noFill/>
        </p:spPr>
        <p:txBody>
          <a:bodyPr wrap="none" lIns="0" tIns="0" rIns="0" bIns="0" anchor="t">
            <a:spAutoFit/>
          </a:bodyPr>
          <a:lstStyle/>
          <a:p>
            <a:pPr algn="l">
              <a:lnSpc>
                <a:spcPts val="1679"/>
              </a:lnSpc>
            </a:pPr>
            <a:r>
              <a:rPr sz="2000" b="0" i="0" u="none">
                <a:solidFill>
                  <a:srgbClr val="1E3A8A"/>
                </a:solidFill>
                <a:latin typeface="Times New Roman" panose="02020603050405020304" pitchFamily="18" charset="0"/>
                <a:cs typeface="Times New Roman" panose="02020603050405020304" pitchFamily="18" charset="0"/>
              </a:rPr>
              <a:t>■</a:t>
            </a:r>
          </a:p>
        </p:txBody>
      </p:sp>
      <p:sp>
        <p:nvSpPr>
          <p:cNvPr id="14" name="TextBox 13"/>
          <p:cNvSpPr txBox="1"/>
          <p:nvPr/>
        </p:nvSpPr>
        <p:spPr>
          <a:xfrm>
            <a:off x="762000" y="3548211"/>
            <a:ext cx="155492" cy="223587"/>
          </a:xfrm>
          <a:prstGeom prst="rect">
            <a:avLst/>
          </a:prstGeom>
          <a:noFill/>
        </p:spPr>
        <p:txBody>
          <a:bodyPr wrap="none" lIns="0" tIns="0" rIns="0" bIns="0" anchor="t">
            <a:spAutoFit/>
          </a:bodyPr>
          <a:lstStyle/>
          <a:p>
            <a:pPr algn="l">
              <a:lnSpc>
                <a:spcPts val="1679"/>
              </a:lnSpc>
            </a:pPr>
            <a:r>
              <a:rPr sz="2000" b="0" i="0" u="none">
                <a:solidFill>
                  <a:srgbClr val="1E3A8A"/>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 name="Rounded Rectangle 3"/>
          <p:cNvSpPr/>
          <p:nvPr/>
        </p:nvSpPr>
        <p:spPr>
          <a:xfrm>
            <a:off x="666750" y="3748236"/>
            <a:ext cx="5143500" cy="2721390"/>
          </a:xfrm>
          <a:prstGeom prst="roundRect">
            <a:avLst>
              <a:gd name="adj" fmla="val 208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5" name="Rectangle 4"/>
          <p:cNvSpPr/>
          <p:nvPr/>
        </p:nvSpPr>
        <p:spPr>
          <a:xfrm>
            <a:off x="762000" y="3748236"/>
            <a:ext cx="38100" cy="1828353"/>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381750" y="1671637"/>
            <a:ext cx="5048250" cy="4572000"/>
          </a:xfrm>
          <a:prstGeom prst="rect">
            <a:avLst/>
          </a:prstGeom>
        </p:spPr>
      </p:pic>
      <p:pic>
        <p:nvPicPr>
          <p:cNvPr id="7" name="Picture 6" descr="image.png"/>
          <p:cNvPicPr>
            <a:picLocks noChangeAspect="1"/>
          </p:cNvPicPr>
          <p:nvPr/>
        </p:nvPicPr>
        <p:blipFill>
          <a:blip r:embed="rId3"/>
          <a:stretch>
            <a:fillRect/>
          </a:stretch>
        </p:blipFill>
        <p:spPr>
          <a:xfrm>
            <a:off x="6381750" y="1671637"/>
            <a:ext cx="5048250" cy="4572000"/>
          </a:xfrm>
          <a:prstGeom prst="rect">
            <a:avLst/>
          </a:prstGeom>
        </p:spPr>
      </p:pic>
      <p:sp>
        <p:nvSpPr>
          <p:cNvPr id="8" name="TextBox 7"/>
          <p:cNvSpPr txBox="1"/>
          <p:nvPr/>
        </p:nvSpPr>
        <p:spPr>
          <a:xfrm>
            <a:off x="762000" y="628650"/>
            <a:ext cx="11301412" cy="430887"/>
          </a:xfrm>
          <a:prstGeom prst="rect">
            <a:avLst/>
          </a:prstGeom>
          <a:noFill/>
        </p:spPr>
        <p:txBody>
          <a:bodyPr wrap="square" lIns="0" tIns="0" rIns="0" bIns="0" anchor="t">
            <a:spAutoFit/>
          </a:bodyPr>
          <a:lstStyle/>
          <a:p>
            <a:pPr algn="l"/>
            <a:r>
              <a:rPr sz="2800" b="1" i="0" u="none" dirty="0">
                <a:solidFill>
                  <a:srgbClr val="0F172A"/>
                </a:solidFill>
                <a:latin typeface="Times New Roman" panose="02020603050405020304" pitchFamily="18" charset="0"/>
                <a:cs typeface="Times New Roman" panose="02020603050405020304" pitchFamily="18" charset="0"/>
              </a:rPr>
              <a:t>Step 5: Exciting Ending</a:t>
            </a:r>
          </a:p>
        </p:txBody>
      </p:sp>
      <p:sp>
        <p:nvSpPr>
          <p:cNvPr id="9" name="TextBox 8"/>
          <p:cNvSpPr txBox="1"/>
          <p:nvPr/>
        </p:nvSpPr>
        <p:spPr>
          <a:xfrm>
            <a:off x="762000" y="2195661"/>
            <a:ext cx="5143500" cy="923330"/>
          </a:xfrm>
          <a:prstGeom prst="rect">
            <a:avLst/>
          </a:prstGeom>
          <a:noFill/>
        </p:spPr>
        <p:txBody>
          <a:bodyPr wrap="square" lIns="0" tIns="0" rIns="0" bIns="0" anchor="t">
            <a:spAutoFit/>
          </a:bodyPr>
          <a:lstStyle/>
          <a:p>
            <a:pPr algn="l">
              <a:lnSpc>
                <a:spcPts val="2400"/>
              </a:lnSpc>
            </a:pPr>
            <a:r>
              <a:rPr sz="2000" b="0" i="0" u="none" dirty="0">
                <a:solidFill>
                  <a:srgbClr val="334155"/>
                </a:solidFill>
                <a:latin typeface="Times New Roman" panose="02020603050405020304" pitchFamily="18" charset="0"/>
                <a:cs typeface="Times New Roman" panose="02020603050405020304" pitchFamily="18" charset="0"/>
              </a:rPr>
              <a:t>The narrative tension breaks. The main character solves the problem, usually through a clever idea, and "saves the day."</a:t>
            </a:r>
          </a:p>
        </p:txBody>
      </p:sp>
      <p:sp>
        <p:nvSpPr>
          <p:cNvPr id="10" name="TextBox 9"/>
          <p:cNvSpPr txBox="1"/>
          <p:nvPr/>
        </p:nvSpPr>
        <p:spPr>
          <a:xfrm>
            <a:off x="952500" y="3938736"/>
            <a:ext cx="4762500" cy="1769715"/>
          </a:xfrm>
          <a:prstGeom prst="rect">
            <a:avLst/>
          </a:prstGeom>
          <a:noFill/>
        </p:spPr>
        <p:txBody>
          <a:bodyPr wrap="square" lIns="0" tIns="0" rIns="0" bIns="0" anchor="t">
            <a:spAutoFit/>
          </a:bodyPr>
          <a:lstStyle/>
          <a:p>
            <a:pPr algn="l">
              <a:lnSpc>
                <a:spcPts val="2279"/>
              </a:lnSpc>
            </a:pPr>
            <a:r>
              <a:rPr sz="2000" b="1" u="none" dirty="0">
                <a:solidFill>
                  <a:srgbClr val="475569"/>
                </a:solidFill>
                <a:latin typeface="Times New Roman" panose="02020603050405020304" pitchFamily="18" charset="0"/>
                <a:cs typeface="Times New Roman" panose="02020603050405020304" pitchFamily="18" charset="0"/>
              </a:rPr>
              <a:t>Example (The Haunted Mansion):</a:t>
            </a:r>
            <a:r>
              <a:rPr sz="2000" b="0" u="none" dirty="0">
                <a:solidFill>
                  <a:srgbClr val="475569"/>
                </a:solidFill>
                <a:latin typeface="Times New Roman" panose="02020603050405020304" pitchFamily="18" charset="0"/>
                <a:cs typeface="Times New Roman" panose="02020603050405020304" pitchFamily="18" charset="0"/>
              </a:rPr>
              <a:t> "Instead of a ghost, they saw something even more surprising—a friendly cat! ... Ja</a:t>
            </a:r>
            <a:r>
              <a:rPr lang="en-US" sz="2000" b="0" u="none" dirty="0">
                <a:solidFill>
                  <a:srgbClr val="475569"/>
                </a:solidFill>
                <a:latin typeface="Times New Roman" panose="02020603050405020304" pitchFamily="18" charset="0"/>
                <a:cs typeface="Times New Roman" panose="02020603050405020304" pitchFamily="18" charset="0"/>
              </a:rPr>
              <a:t>mi</a:t>
            </a:r>
            <a:r>
              <a:rPr sz="2000" b="0" u="none" dirty="0">
                <a:solidFill>
                  <a:srgbClr val="475569"/>
                </a:solidFill>
                <a:latin typeface="Times New Roman" panose="02020603050405020304" pitchFamily="18" charset="0"/>
                <a:cs typeface="Times New Roman" panose="02020603050405020304" pitchFamily="18" charset="0"/>
              </a:rPr>
              <a:t> and </a:t>
            </a:r>
            <a:r>
              <a:rPr lang="en-US" sz="2000" dirty="0">
                <a:solidFill>
                  <a:srgbClr val="475569"/>
                </a:solidFill>
                <a:latin typeface="Times New Roman" panose="02020603050405020304" pitchFamily="18" charset="0"/>
                <a:cs typeface="Times New Roman" panose="02020603050405020304" pitchFamily="18" charset="0"/>
              </a:rPr>
              <a:t>San</a:t>
            </a:r>
            <a:r>
              <a:rPr sz="2000" b="0" u="none" dirty="0">
                <a:solidFill>
                  <a:srgbClr val="475569"/>
                </a:solidFill>
                <a:latin typeface="Times New Roman" panose="02020603050405020304" pitchFamily="18" charset="0"/>
                <a:cs typeface="Times New Roman" panose="02020603050405020304" pitchFamily="18" charset="0"/>
              </a:rPr>
              <a:t>y decided to trust the cat. They followed it down the hallway, around a corner, and then to a door that led outside!"</a:t>
            </a:r>
          </a:p>
        </p:txBody>
      </p:sp>
      <p:sp>
        <p:nvSpPr>
          <p:cNvPr id="11" name="TextBox 10"/>
          <p:cNvSpPr txBox="1"/>
          <p:nvPr/>
        </p:nvSpPr>
        <p:spPr>
          <a:xfrm>
            <a:off x="1047750" y="3252936"/>
            <a:ext cx="3671005" cy="307777"/>
          </a:xfrm>
          <a:prstGeom prst="rect">
            <a:avLst/>
          </a:prstGeom>
          <a:noFill/>
        </p:spPr>
        <p:txBody>
          <a:bodyPr wrap="none" lIns="0" tIns="0" rIns="0" bIns="0" anchor="t">
            <a:spAutoFit/>
          </a:bodyPr>
          <a:lstStyle/>
          <a:p>
            <a:pPr algn="l">
              <a:lnSpc>
                <a:spcPts val="2400"/>
              </a:lnSpc>
            </a:pPr>
            <a:r>
              <a:rPr sz="2000" b="1" i="0" u="none">
                <a:solidFill>
                  <a:srgbClr val="334155"/>
                </a:solidFill>
                <a:latin typeface="Times New Roman" panose="02020603050405020304" pitchFamily="18" charset="0"/>
                <a:cs typeface="Times New Roman" panose="02020603050405020304" pitchFamily="18" charset="0"/>
              </a:rPr>
              <a:t>Structure:</a:t>
            </a:r>
            <a:r>
              <a:rPr sz="2000" b="0" i="0" u="none">
                <a:solidFill>
                  <a:srgbClr val="334155"/>
                </a:solidFill>
                <a:latin typeface="Times New Roman" panose="02020603050405020304" pitchFamily="18" charset="0"/>
                <a:cs typeface="Times New Roman" panose="02020603050405020304" pitchFamily="18" charset="0"/>
              </a:rPr>
              <a:t> Typically 1-2 sentences.</a:t>
            </a:r>
          </a:p>
        </p:txBody>
      </p:sp>
      <p:sp>
        <p:nvSpPr>
          <p:cNvPr id="12" name="TextBox 11"/>
          <p:cNvSpPr txBox="1"/>
          <p:nvPr/>
        </p:nvSpPr>
        <p:spPr>
          <a:xfrm>
            <a:off x="762000" y="3300561"/>
            <a:ext cx="155492" cy="223587"/>
          </a:xfrm>
          <a:prstGeom prst="rect">
            <a:avLst/>
          </a:prstGeom>
          <a:noFill/>
        </p:spPr>
        <p:txBody>
          <a:bodyPr wrap="none" lIns="0" tIns="0" rIns="0" bIns="0" anchor="t">
            <a:spAutoFit/>
          </a:bodyPr>
          <a:lstStyle/>
          <a:p>
            <a:pPr algn="l">
              <a:lnSpc>
                <a:spcPts val="1679"/>
              </a:lnSpc>
            </a:pPr>
            <a:r>
              <a:rPr sz="2000" b="0" i="0" u="none">
                <a:solidFill>
                  <a:srgbClr val="1E3A8A"/>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 name="Rounded Rectangle 3"/>
          <p:cNvSpPr/>
          <p:nvPr/>
        </p:nvSpPr>
        <p:spPr>
          <a:xfrm>
            <a:off x="762000" y="3595836"/>
            <a:ext cx="5048250" cy="2136370"/>
          </a:xfrm>
          <a:prstGeom prst="roundRect">
            <a:avLst>
              <a:gd name="adj" fmla="val 208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5" name="Rectangle 4"/>
          <p:cNvSpPr/>
          <p:nvPr/>
        </p:nvSpPr>
        <p:spPr>
          <a:xfrm>
            <a:off x="762000" y="3595836"/>
            <a:ext cx="38100" cy="1828353"/>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381750" y="1671637"/>
            <a:ext cx="5048250" cy="4572000"/>
          </a:xfrm>
          <a:prstGeom prst="rect">
            <a:avLst/>
          </a:prstGeom>
        </p:spPr>
      </p:pic>
      <p:pic>
        <p:nvPicPr>
          <p:cNvPr id="7" name="Picture 6" descr="image.png"/>
          <p:cNvPicPr>
            <a:picLocks noChangeAspect="1"/>
          </p:cNvPicPr>
          <p:nvPr/>
        </p:nvPicPr>
        <p:blipFill>
          <a:blip r:embed="rId3"/>
          <a:stretch>
            <a:fillRect/>
          </a:stretch>
        </p:blipFill>
        <p:spPr>
          <a:xfrm>
            <a:off x="6381750" y="1671637"/>
            <a:ext cx="5048250" cy="4572000"/>
          </a:xfrm>
          <a:prstGeom prst="rect">
            <a:avLst/>
          </a:prstGeom>
        </p:spPr>
      </p:pic>
      <p:sp>
        <p:nvSpPr>
          <p:cNvPr id="8" name="TextBox 7"/>
          <p:cNvSpPr txBox="1"/>
          <p:nvPr/>
        </p:nvSpPr>
        <p:spPr>
          <a:xfrm>
            <a:off x="762000" y="628650"/>
            <a:ext cx="11301412" cy="430887"/>
          </a:xfrm>
          <a:prstGeom prst="rect">
            <a:avLst/>
          </a:prstGeom>
          <a:noFill/>
        </p:spPr>
        <p:txBody>
          <a:bodyPr wrap="square" lIns="0" tIns="0" rIns="0" bIns="0" anchor="t">
            <a:spAutoFit/>
          </a:bodyPr>
          <a:lstStyle/>
          <a:p>
            <a:pPr algn="l"/>
            <a:r>
              <a:rPr sz="2800" b="1" i="0" u="none" dirty="0">
                <a:solidFill>
                  <a:srgbClr val="0F172A"/>
                </a:solidFill>
                <a:latin typeface="Times New Roman" panose="02020603050405020304" pitchFamily="18" charset="0"/>
                <a:cs typeface="Times New Roman" panose="02020603050405020304" pitchFamily="18" charset="0"/>
              </a:rPr>
              <a:t>Step 6: Character Wrap-Up</a:t>
            </a:r>
          </a:p>
        </p:txBody>
      </p:sp>
      <p:sp>
        <p:nvSpPr>
          <p:cNvPr id="9" name="TextBox 8"/>
          <p:cNvSpPr txBox="1"/>
          <p:nvPr/>
        </p:nvSpPr>
        <p:spPr>
          <a:xfrm>
            <a:off x="762000" y="2348061"/>
            <a:ext cx="5143500" cy="615553"/>
          </a:xfrm>
          <a:prstGeom prst="rect">
            <a:avLst/>
          </a:prstGeom>
          <a:noFill/>
        </p:spPr>
        <p:txBody>
          <a:bodyPr wrap="square" lIns="0" tIns="0" rIns="0" bIns="0" anchor="t">
            <a:spAutoFit/>
          </a:bodyPr>
          <a:lstStyle/>
          <a:p>
            <a:pPr algn="l">
              <a:lnSpc>
                <a:spcPts val="2400"/>
              </a:lnSpc>
            </a:pPr>
            <a:r>
              <a:rPr sz="2000" b="0" i="0" u="none">
                <a:solidFill>
                  <a:srgbClr val="334155"/>
                </a:solidFill>
                <a:latin typeface="Times New Roman" panose="02020603050405020304" pitchFamily="18" charset="0"/>
                <a:cs typeface="Times New Roman" panose="02020603050405020304" pitchFamily="18" charset="0"/>
              </a:rPr>
              <a:t>The story concludes with the characters reflecting on the events and internalizing a lesson.</a:t>
            </a:r>
          </a:p>
        </p:txBody>
      </p:sp>
      <p:sp>
        <p:nvSpPr>
          <p:cNvPr id="10" name="TextBox 9"/>
          <p:cNvSpPr txBox="1"/>
          <p:nvPr/>
        </p:nvSpPr>
        <p:spPr>
          <a:xfrm>
            <a:off x="952500" y="3786336"/>
            <a:ext cx="4762500" cy="1474763"/>
          </a:xfrm>
          <a:prstGeom prst="rect">
            <a:avLst/>
          </a:prstGeom>
          <a:noFill/>
        </p:spPr>
        <p:txBody>
          <a:bodyPr wrap="square" lIns="0" tIns="0" rIns="0" bIns="0" anchor="t">
            <a:spAutoFit/>
          </a:bodyPr>
          <a:lstStyle/>
          <a:p>
            <a:pPr algn="l">
              <a:lnSpc>
                <a:spcPts val="2279"/>
              </a:lnSpc>
            </a:pPr>
            <a:r>
              <a:rPr sz="2000" b="1" u="none" dirty="0">
                <a:solidFill>
                  <a:srgbClr val="475569"/>
                </a:solidFill>
                <a:latin typeface="Times New Roman" panose="02020603050405020304" pitchFamily="18" charset="0"/>
                <a:cs typeface="Times New Roman" panose="02020603050405020304" pitchFamily="18" charset="0"/>
              </a:rPr>
              <a:t>Example (The Haunted Mansion):</a:t>
            </a:r>
            <a:r>
              <a:rPr sz="2000" b="0" u="none" dirty="0">
                <a:solidFill>
                  <a:srgbClr val="475569"/>
                </a:solidFill>
                <a:latin typeface="Times New Roman" panose="02020603050405020304" pitchFamily="18" charset="0"/>
                <a:cs typeface="Times New Roman" panose="02020603050405020304" pitchFamily="18" charset="0"/>
              </a:rPr>
              <a:t> "Ja</a:t>
            </a:r>
            <a:r>
              <a:rPr lang="en-US" sz="2000" b="0" u="none" dirty="0">
                <a:solidFill>
                  <a:srgbClr val="475569"/>
                </a:solidFill>
                <a:latin typeface="Times New Roman" panose="02020603050405020304" pitchFamily="18" charset="0"/>
                <a:cs typeface="Times New Roman" panose="02020603050405020304" pitchFamily="18" charset="0"/>
              </a:rPr>
              <a:t>mi</a:t>
            </a:r>
            <a:r>
              <a:rPr sz="2000" b="0" u="none" dirty="0">
                <a:solidFill>
                  <a:srgbClr val="475569"/>
                </a:solidFill>
                <a:latin typeface="Times New Roman" panose="02020603050405020304" pitchFamily="18" charset="0"/>
                <a:cs typeface="Times New Roman" panose="02020603050405020304" pitchFamily="18" charset="0"/>
              </a:rPr>
              <a:t> and </a:t>
            </a:r>
            <a:r>
              <a:rPr lang="en-US" sz="2000" dirty="0">
                <a:solidFill>
                  <a:srgbClr val="475569"/>
                </a:solidFill>
                <a:latin typeface="Times New Roman" panose="02020603050405020304" pitchFamily="18" charset="0"/>
                <a:cs typeface="Times New Roman" panose="02020603050405020304" pitchFamily="18" charset="0"/>
              </a:rPr>
              <a:t>San</a:t>
            </a:r>
            <a:r>
              <a:rPr sz="2000" b="0" u="none" dirty="0">
                <a:solidFill>
                  <a:srgbClr val="475569"/>
                </a:solidFill>
                <a:latin typeface="Times New Roman" panose="02020603050405020304" pitchFamily="18" charset="0"/>
                <a:cs typeface="Times New Roman" panose="02020603050405020304" pitchFamily="18" charset="0"/>
              </a:rPr>
              <a:t>y nodded. They had learned a big lesson that day. The rest of the picnic was peaceful and fun, but they never forgot their scary adventure in the haunted mansion."</a:t>
            </a:r>
          </a:p>
        </p:txBody>
      </p:sp>
      <p:sp>
        <p:nvSpPr>
          <p:cNvPr id="11" name="TextBox 10"/>
          <p:cNvSpPr txBox="1"/>
          <p:nvPr/>
        </p:nvSpPr>
        <p:spPr>
          <a:xfrm>
            <a:off x="1047750" y="3100536"/>
            <a:ext cx="3358420" cy="307777"/>
          </a:xfrm>
          <a:prstGeom prst="rect">
            <a:avLst/>
          </a:prstGeom>
          <a:noFill/>
        </p:spPr>
        <p:txBody>
          <a:bodyPr wrap="none" lIns="0" tIns="0" rIns="0" bIns="0" anchor="t">
            <a:spAutoFit/>
          </a:bodyPr>
          <a:lstStyle/>
          <a:p>
            <a:pPr algn="l">
              <a:lnSpc>
                <a:spcPts val="2400"/>
              </a:lnSpc>
            </a:pPr>
            <a:r>
              <a:rPr sz="2000" b="1" i="0" u="none">
                <a:solidFill>
                  <a:srgbClr val="334155"/>
                </a:solidFill>
                <a:latin typeface="Times New Roman" panose="02020603050405020304" pitchFamily="18" charset="0"/>
                <a:cs typeface="Times New Roman" panose="02020603050405020304" pitchFamily="18" charset="0"/>
              </a:rPr>
              <a:t>Structure:</a:t>
            </a:r>
            <a:r>
              <a:rPr sz="2000" b="0" i="0" u="none">
                <a:solidFill>
                  <a:srgbClr val="334155"/>
                </a:solidFill>
                <a:latin typeface="Times New Roman" panose="02020603050405020304" pitchFamily="18" charset="0"/>
                <a:cs typeface="Times New Roman" panose="02020603050405020304" pitchFamily="18" charset="0"/>
              </a:rPr>
              <a:t> Typically 1 sentence.</a:t>
            </a:r>
          </a:p>
        </p:txBody>
      </p:sp>
      <p:sp>
        <p:nvSpPr>
          <p:cNvPr id="12" name="TextBox 11"/>
          <p:cNvSpPr txBox="1"/>
          <p:nvPr/>
        </p:nvSpPr>
        <p:spPr>
          <a:xfrm>
            <a:off x="762000" y="3148161"/>
            <a:ext cx="155492" cy="223587"/>
          </a:xfrm>
          <a:prstGeom prst="rect">
            <a:avLst/>
          </a:prstGeom>
          <a:noFill/>
        </p:spPr>
        <p:txBody>
          <a:bodyPr wrap="none" lIns="0" tIns="0" rIns="0" bIns="0" anchor="t">
            <a:spAutoFit/>
          </a:bodyPr>
          <a:lstStyle/>
          <a:p>
            <a:pPr algn="l">
              <a:lnSpc>
                <a:spcPts val="1679"/>
              </a:lnSpc>
            </a:pPr>
            <a:r>
              <a:rPr sz="2000" b="0" i="0" u="none">
                <a:solidFill>
                  <a:srgbClr val="1E3A8A"/>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 name="Rectangle 2"/>
          <p:cNvSpPr/>
          <p:nvPr/>
        </p:nvSpPr>
        <p:spPr>
          <a:xfrm>
            <a:off x="762000" y="1238250"/>
            <a:ext cx="106680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pic>
        <p:nvPicPr>
          <p:cNvPr id="4" name="Picture 3" descr="image.png"/>
          <p:cNvPicPr>
            <a:picLocks noChangeAspect="1"/>
          </p:cNvPicPr>
          <p:nvPr/>
        </p:nvPicPr>
        <p:blipFill>
          <a:blip r:embed="rId2"/>
          <a:stretch>
            <a:fillRect/>
          </a:stretch>
        </p:blipFill>
        <p:spPr>
          <a:xfrm>
            <a:off x="1809750" y="3033712"/>
            <a:ext cx="219075" cy="200025"/>
          </a:xfrm>
          <a:prstGeom prst="rect">
            <a:avLst/>
          </a:prstGeom>
        </p:spPr>
      </p:pic>
      <p:pic>
        <p:nvPicPr>
          <p:cNvPr id="5" name="Picture 4" descr="image.png"/>
          <p:cNvPicPr>
            <a:picLocks noChangeAspect="1"/>
          </p:cNvPicPr>
          <p:nvPr/>
        </p:nvPicPr>
        <p:blipFill>
          <a:blip r:embed="rId3"/>
          <a:stretch>
            <a:fillRect/>
          </a:stretch>
        </p:blipFill>
        <p:spPr>
          <a:xfrm>
            <a:off x="1809750" y="3881437"/>
            <a:ext cx="190500" cy="200025"/>
          </a:xfrm>
          <a:prstGeom prst="rect">
            <a:avLst/>
          </a:prstGeom>
        </p:spPr>
      </p:pic>
      <p:pic>
        <p:nvPicPr>
          <p:cNvPr id="6" name="Picture 5" descr="image.png"/>
          <p:cNvPicPr>
            <a:picLocks noChangeAspect="1"/>
          </p:cNvPicPr>
          <p:nvPr/>
        </p:nvPicPr>
        <p:blipFill>
          <a:blip r:embed="rId4"/>
          <a:stretch>
            <a:fillRect/>
          </a:stretch>
        </p:blipFill>
        <p:spPr>
          <a:xfrm>
            <a:off x="1809750" y="4729162"/>
            <a:ext cx="238125" cy="200025"/>
          </a:xfrm>
          <a:prstGeom prst="rect">
            <a:avLst/>
          </a:prstGeom>
        </p:spPr>
      </p:pic>
      <p:sp>
        <p:nvSpPr>
          <p:cNvPr id="7" name="TextBox 6"/>
          <p:cNvSpPr txBox="1"/>
          <p:nvPr/>
        </p:nvSpPr>
        <p:spPr>
          <a:xfrm>
            <a:off x="762000" y="628650"/>
            <a:ext cx="11301412" cy="430887"/>
          </a:xfrm>
          <a:prstGeom prst="rect">
            <a:avLst/>
          </a:prstGeom>
          <a:noFill/>
        </p:spPr>
        <p:txBody>
          <a:bodyPr wrap="square" lIns="0" tIns="0" rIns="0" bIns="0" anchor="t">
            <a:spAutoFit/>
          </a:bodyPr>
          <a:lstStyle/>
          <a:p>
            <a:pPr algn="l"/>
            <a:r>
              <a:rPr sz="2800" b="1" i="0" u="none" dirty="0">
                <a:solidFill>
                  <a:srgbClr val="0F172A"/>
                </a:solidFill>
                <a:latin typeface="Times New Roman" panose="02020603050405020304" pitchFamily="18" charset="0"/>
                <a:cs typeface="Times New Roman" panose="02020603050405020304" pitchFamily="18" charset="0"/>
              </a:rPr>
              <a:t>Key Narrative Elements</a:t>
            </a:r>
          </a:p>
        </p:txBody>
      </p:sp>
      <p:sp>
        <p:nvSpPr>
          <p:cNvPr id="8" name="TextBox 7"/>
          <p:cNvSpPr txBox="1"/>
          <p:nvPr/>
        </p:nvSpPr>
        <p:spPr>
          <a:xfrm>
            <a:off x="762000" y="2390775"/>
            <a:ext cx="8465202" cy="307777"/>
          </a:xfrm>
          <a:prstGeom prst="rect">
            <a:avLst/>
          </a:prstGeom>
          <a:noFill/>
        </p:spPr>
        <p:txBody>
          <a:bodyPr wrap="none" lIns="0" tIns="0" rIns="0" bIns="0" anchor="t">
            <a:spAutoFit/>
          </a:bodyPr>
          <a:lstStyle/>
          <a:p>
            <a:pPr algn="l">
              <a:lnSpc>
                <a:spcPts val="2400"/>
              </a:lnSpc>
            </a:pPr>
            <a:r>
              <a:rPr sz="2000" b="0" i="0" u="none">
                <a:solidFill>
                  <a:srgbClr val="334155"/>
                </a:solidFill>
                <a:latin typeface="Times New Roman" panose="02020603050405020304" pitchFamily="18" charset="0"/>
                <a:cs typeface="Times New Roman" panose="02020603050405020304" pitchFamily="18" charset="0"/>
              </a:rPr>
              <a:t>To maximize the impact of this structure, writers must employ specific techniques:</a:t>
            </a:r>
          </a:p>
        </p:txBody>
      </p:sp>
      <p:sp>
        <p:nvSpPr>
          <p:cNvPr id="9" name="TextBox 8"/>
          <p:cNvSpPr txBox="1"/>
          <p:nvPr/>
        </p:nvSpPr>
        <p:spPr>
          <a:xfrm>
            <a:off x="2238375" y="2981325"/>
            <a:ext cx="8239125" cy="615553"/>
          </a:xfrm>
          <a:prstGeom prst="rect">
            <a:avLst/>
          </a:prstGeom>
          <a:noFill/>
        </p:spPr>
        <p:txBody>
          <a:bodyPr wrap="square" lIns="0" tIns="0" rIns="0" bIns="0" anchor="t">
            <a:spAutoFit/>
          </a:bodyPr>
          <a:lstStyle/>
          <a:p>
            <a:pPr algn="l">
              <a:lnSpc>
                <a:spcPts val="2400"/>
              </a:lnSpc>
            </a:pPr>
            <a:r>
              <a:rPr sz="2000" b="1" i="0" u="none">
                <a:solidFill>
                  <a:srgbClr val="0F172A"/>
                </a:solidFill>
                <a:latin typeface="Times New Roman" panose="02020603050405020304" pitchFamily="18" charset="0"/>
                <a:cs typeface="Times New Roman" panose="02020603050405020304" pitchFamily="18" charset="0"/>
              </a:rPr>
              <a:t>The 5 Senses:</a:t>
            </a:r>
            <a:r>
              <a:rPr sz="2000" b="0" i="0" u="none">
                <a:solidFill>
                  <a:srgbClr val="334155"/>
                </a:solidFill>
                <a:latin typeface="Times New Roman" panose="02020603050405020304" pitchFamily="18" charset="0"/>
                <a:cs typeface="Times New Roman" panose="02020603050405020304" pitchFamily="18" charset="0"/>
              </a:rPr>
              <a:t> Use sensory details to “show, don’t tell,” particularly during the tension-building phases (Pebble, Brick, Boulder).</a:t>
            </a:r>
          </a:p>
        </p:txBody>
      </p:sp>
      <p:sp>
        <p:nvSpPr>
          <p:cNvPr id="10" name="TextBox 9"/>
          <p:cNvSpPr txBox="1"/>
          <p:nvPr/>
        </p:nvSpPr>
        <p:spPr>
          <a:xfrm>
            <a:off x="2238375" y="3829050"/>
            <a:ext cx="8239125" cy="615553"/>
          </a:xfrm>
          <a:prstGeom prst="rect">
            <a:avLst/>
          </a:prstGeom>
          <a:noFill/>
        </p:spPr>
        <p:txBody>
          <a:bodyPr wrap="square" lIns="0" tIns="0" rIns="0" bIns="0" anchor="t">
            <a:spAutoFit/>
          </a:bodyPr>
          <a:lstStyle/>
          <a:p>
            <a:pPr algn="l">
              <a:lnSpc>
                <a:spcPts val="2400"/>
              </a:lnSpc>
            </a:pPr>
            <a:r>
              <a:rPr sz="2000" b="1" i="0" u="none" dirty="0">
                <a:solidFill>
                  <a:srgbClr val="0F172A"/>
                </a:solidFill>
                <a:latin typeface="Times New Roman" panose="02020603050405020304" pitchFamily="18" charset="0"/>
                <a:cs typeface="Times New Roman" panose="02020603050405020304" pitchFamily="18" charset="0"/>
              </a:rPr>
              <a:t>Consistent Tense:</a:t>
            </a:r>
            <a:r>
              <a:rPr sz="2000" b="0" i="0" u="none" dirty="0">
                <a:solidFill>
                  <a:srgbClr val="334155"/>
                </a:solidFill>
                <a:latin typeface="Times New Roman" panose="02020603050405020304" pitchFamily="18" charset="0"/>
                <a:cs typeface="Times New Roman" panose="02020603050405020304" pitchFamily="18" charset="0"/>
              </a:rPr>
              <a:t> Maintain the use of past tense verbs throughout the narrative to ensure smooth storytelling.</a:t>
            </a:r>
          </a:p>
        </p:txBody>
      </p:sp>
      <p:sp>
        <p:nvSpPr>
          <p:cNvPr id="11" name="TextBox 10"/>
          <p:cNvSpPr txBox="1"/>
          <p:nvPr/>
        </p:nvSpPr>
        <p:spPr>
          <a:xfrm>
            <a:off x="2238375" y="4676775"/>
            <a:ext cx="8239125" cy="615553"/>
          </a:xfrm>
          <a:prstGeom prst="rect">
            <a:avLst/>
          </a:prstGeom>
          <a:noFill/>
        </p:spPr>
        <p:txBody>
          <a:bodyPr wrap="square" lIns="0" tIns="0" rIns="0" bIns="0" anchor="t">
            <a:spAutoFit/>
          </a:bodyPr>
          <a:lstStyle/>
          <a:p>
            <a:pPr algn="l">
              <a:lnSpc>
                <a:spcPts val="2400"/>
              </a:lnSpc>
            </a:pPr>
            <a:r>
              <a:rPr sz="2000" b="1" i="0" u="none">
                <a:solidFill>
                  <a:srgbClr val="0F172A"/>
                </a:solidFill>
                <a:latin typeface="Times New Roman" panose="02020603050405020304" pitchFamily="18" charset="0"/>
                <a:cs typeface="Times New Roman" panose="02020603050405020304" pitchFamily="18" charset="0"/>
              </a:rPr>
              <a:t>Dynamic Dialogue:</a:t>
            </a:r>
            <a:r>
              <a:rPr sz="2000" b="0" i="0" u="none">
                <a:solidFill>
                  <a:srgbClr val="334155"/>
                </a:solidFill>
                <a:latin typeface="Times New Roman" panose="02020603050405020304" pitchFamily="18" charset="0"/>
                <a:cs typeface="Times New Roman" panose="02020603050405020304" pitchFamily="18" charset="0"/>
              </a:rPr>
              <a:t> Incorporate examples of dialogue during the tension phases to bring the scenes and characters to life.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666</Words>
  <Application>Microsoft Office PowerPoint</Application>
  <PresentationFormat>Widescreen</PresentationFormat>
  <Paragraphs>52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Sajjad Hossain</cp:lastModifiedBy>
  <cp:revision>2</cp:revision>
  <dcterms:created xsi:type="dcterms:W3CDTF">2013-01-27T09:14:16Z</dcterms:created>
  <dcterms:modified xsi:type="dcterms:W3CDTF">2026-09-22T19:24:21Z</dcterms:modified>
  <cp:category/>
</cp:coreProperties>
</file>