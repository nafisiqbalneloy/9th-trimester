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6" r:id="rId2"/>
    <p:sldId id="257" r:id="rId3"/>
    <p:sldId id="258" r:id="rId4"/>
    <p:sldId id="288" r:id="rId5"/>
    <p:sldId id="289" r:id="rId6"/>
    <p:sldId id="290" r:id="rId7"/>
    <p:sldId id="287" r:id="rId8"/>
    <p:sldId id="284" r:id="rId9"/>
    <p:sldId id="285" r:id="rId10"/>
    <p:sldId id="286" r:id="rId11"/>
    <p:sldId id="283"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4" r:id="rId27"/>
    <p:sldId id="273" r:id="rId28"/>
    <p:sldId id="275" r:id="rId29"/>
    <p:sldId id="276" r:id="rId30"/>
    <p:sldId id="277" r:id="rId31"/>
    <p:sldId id="278" r:id="rId32"/>
    <p:sldId id="279" r:id="rId33"/>
    <p:sldId id="280" r:id="rId34"/>
    <p:sldId id="281" r:id="rId35"/>
    <p:sldId id="282"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23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pPr/>
              <a:t>9/12/2026</a:t>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6F15528-21DE-4FAA-801E-634DDDAF4B2B}" type="slidenum">
              <a:rPr lang="en-US" smtClean="0"/>
              <a:pPr/>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D8BD707-D9CF-40AE-B4C6-C98DA3205C09}" type="datetimeFigureOut">
              <a:rPr lang="en-US" smtClean="0"/>
              <a:pPr/>
              <a:t>9/12/2026</a:t>
            </a:fld>
            <a:endParaRPr 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524000"/>
            <a:ext cx="6096000" cy="2593975"/>
          </a:xfrm>
        </p:spPr>
        <p:txBody>
          <a:bodyPr/>
          <a:lstStyle/>
          <a:p>
            <a:pPr algn="ctr"/>
            <a:r>
              <a:rPr lang="en-US" dirty="0" smtClean="0"/>
              <a:t>Design Pattern QP Solutions</a:t>
            </a:r>
            <a:endParaRPr lang="en-US" dirty="0"/>
          </a:p>
        </p:txBody>
      </p:sp>
      <p:sp>
        <p:nvSpPr>
          <p:cNvPr id="3" name="Subtitle 2"/>
          <p:cNvSpPr>
            <a:spLocks noGrp="1"/>
          </p:cNvSpPr>
          <p:nvPr>
            <p:ph type="subTitle" idx="1"/>
          </p:nvPr>
        </p:nvSpPr>
        <p:spPr>
          <a:xfrm>
            <a:off x="1143000" y="5181600"/>
            <a:ext cx="6461760" cy="1066800"/>
          </a:xfrm>
        </p:spPr>
        <p:txBody>
          <a:bodyPr>
            <a:normAutofit/>
          </a:bodyPr>
          <a:lstStyle/>
          <a:p>
            <a:pPr algn="ctr"/>
            <a:r>
              <a:rPr lang="en-US" sz="2800" dirty="0" err="1" smtClean="0">
                <a:solidFill>
                  <a:schemeClr val="tx2"/>
                </a:solidFill>
              </a:rPr>
              <a:t>Samin</a:t>
            </a:r>
            <a:r>
              <a:rPr lang="en-US" sz="2800" dirty="0" smtClean="0">
                <a:solidFill>
                  <a:schemeClr val="tx2"/>
                </a:solidFill>
              </a:rPr>
              <a:t> </a:t>
            </a:r>
            <a:r>
              <a:rPr lang="en-US" sz="2800" dirty="0" err="1" smtClean="0">
                <a:solidFill>
                  <a:schemeClr val="tx2"/>
                </a:solidFill>
              </a:rPr>
              <a:t>Sharaf</a:t>
            </a:r>
            <a:r>
              <a:rPr lang="en-US" sz="2800" dirty="0" smtClean="0">
                <a:solidFill>
                  <a:schemeClr val="tx2"/>
                </a:solidFill>
              </a:rPr>
              <a:t> </a:t>
            </a:r>
            <a:r>
              <a:rPr lang="en-US" sz="2800" dirty="0" err="1" smtClean="0">
                <a:solidFill>
                  <a:schemeClr val="tx2"/>
                </a:solidFill>
              </a:rPr>
              <a:t>Somik</a:t>
            </a:r>
            <a:r>
              <a:rPr lang="en-US" sz="2800" dirty="0" smtClean="0">
                <a:solidFill>
                  <a:schemeClr val="tx2"/>
                </a:solidFill>
              </a:rPr>
              <a:t/>
            </a:r>
            <a:br>
              <a:rPr lang="en-US" sz="2800" dirty="0" smtClean="0">
                <a:solidFill>
                  <a:schemeClr val="tx2"/>
                </a:solidFill>
              </a:rPr>
            </a:br>
            <a:r>
              <a:rPr lang="en-US" sz="2800" dirty="0" smtClean="0">
                <a:solidFill>
                  <a:schemeClr val="tx2"/>
                </a:solidFill>
              </a:rPr>
              <a:t>Lecturer, Dept. of CSE, UIU</a:t>
            </a:r>
            <a:endParaRPr lang="en-US" sz="2800" dirty="0">
              <a:solidFill>
                <a:schemeClr val="tx2"/>
              </a:solidFill>
            </a:endParaRPr>
          </a:p>
        </p:txBody>
      </p:sp>
    </p:spTree>
    <p:extLst>
      <p:ext uri="{BB962C8B-B14F-4D97-AF65-F5344CB8AC3E}">
        <p14:creationId xmlns:p14="http://schemas.microsoft.com/office/powerpoint/2010/main" val="39358634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Disclaimer</a:t>
            </a:r>
            <a:endParaRPr lang="en-US" b="1" dirty="0"/>
          </a:p>
        </p:txBody>
      </p:sp>
      <p:sp>
        <p:nvSpPr>
          <p:cNvPr id="3" name="Content Placeholder 2"/>
          <p:cNvSpPr>
            <a:spLocks noGrp="1"/>
          </p:cNvSpPr>
          <p:nvPr>
            <p:ph idx="1"/>
          </p:nvPr>
        </p:nvSpPr>
        <p:spPr/>
        <p:txBody>
          <a:bodyPr>
            <a:normAutofit/>
          </a:bodyPr>
          <a:lstStyle/>
          <a:p>
            <a:r>
              <a:rPr lang="en-US" sz="2400" dirty="0" smtClean="0">
                <a:solidFill>
                  <a:schemeClr val="tx2"/>
                </a:solidFill>
              </a:rPr>
              <a:t>This slide contains all the solutions from the past question papers for the Design Pattern problems</a:t>
            </a:r>
          </a:p>
          <a:p>
            <a:r>
              <a:rPr lang="en-US" sz="2400" dirty="0" smtClean="0">
                <a:solidFill>
                  <a:schemeClr val="tx2"/>
                </a:solidFill>
              </a:rPr>
              <a:t>Try out the problems on your own first, and then check your answers with the solutions</a:t>
            </a:r>
            <a:endParaRPr lang="en-US" sz="2400" dirty="0">
              <a:solidFill>
                <a:schemeClr val="tx2"/>
              </a:solidFill>
            </a:endParaRPr>
          </a:p>
        </p:txBody>
      </p:sp>
    </p:spTree>
    <p:extLst>
      <p:ext uri="{BB962C8B-B14F-4D97-AF65-F5344CB8AC3E}">
        <p14:creationId xmlns:p14="http://schemas.microsoft.com/office/powerpoint/2010/main" val="34783908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Spring 26</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a:solidFill>
                  <a:schemeClr val="tx2"/>
                </a:solidFill>
              </a:rPr>
              <a:t>1. Design UML diagrams using the appropriate design pattern for the following scenarios: [CO2</a:t>
            </a:r>
            <a:r>
              <a:rPr lang="en-US" sz="2400" dirty="0" smtClean="0">
                <a:solidFill>
                  <a:schemeClr val="tx2"/>
                </a:solidFill>
              </a:rPr>
              <a:t>] [4 Marks]</a:t>
            </a:r>
            <a:br>
              <a:rPr lang="en-US" sz="2400" dirty="0" smtClean="0">
                <a:solidFill>
                  <a:schemeClr val="tx2"/>
                </a:solidFill>
              </a:rPr>
            </a:br>
            <a:endParaRPr lang="en-US" sz="2400" dirty="0">
              <a:solidFill>
                <a:schemeClr val="tx2"/>
              </a:solidFill>
            </a:endParaRPr>
          </a:p>
          <a:p>
            <a:pPr marL="114300" indent="0">
              <a:buNone/>
            </a:pPr>
            <a:r>
              <a:rPr lang="en-US" sz="2400" dirty="0">
                <a:solidFill>
                  <a:schemeClr val="tx2"/>
                </a:solidFill>
              </a:rPr>
              <a:t>(a) </a:t>
            </a:r>
            <a:r>
              <a:rPr lang="en-US" sz="2400" dirty="0" err="1">
                <a:solidFill>
                  <a:schemeClr val="tx2"/>
                </a:solidFill>
              </a:rPr>
              <a:t>IntelliWrite</a:t>
            </a:r>
            <a:r>
              <a:rPr lang="en-US" sz="2400" dirty="0">
                <a:solidFill>
                  <a:schemeClr val="tx2"/>
                </a:solidFill>
              </a:rPr>
              <a:t> is an AI-powered writing assistant used for drafting emails, reports, and social </a:t>
            </a:r>
            <a:r>
              <a:rPr lang="en-US" sz="2400" dirty="0" smtClean="0">
                <a:solidFill>
                  <a:schemeClr val="tx2"/>
                </a:solidFill>
              </a:rPr>
              <a:t>media </a:t>
            </a:r>
            <a:r>
              <a:rPr lang="en-US" sz="2400" dirty="0">
                <a:solidFill>
                  <a:schemeClr val="tx2"/>
                </a:solidFill>
              </a:rPr>
              <a:t>posts. The application supports multiple text generation modes, including </a:t>
            </a:r>
            <a:r>
              <a:rPr lang="en-US" sz="2400" dirty="0" smtClean="0">
                <a:solidFill>
                  <a:schemeClr val="tx2"/>
                </a:solidFill>
              </a:rPr>
              <a:t> Professional Writing</a:t>
            </a:r>
            <a:r>
              <a:rPr lang="en-US" sz="2400" dirty="0">
                <a:solidFill>
                  <a:schemeClr val="tx2"/>
                </a:solidFill>
              </a:rPr>
              <a:t>, Creative Writing, and Technical Writing. Users can switch between these </a:t>
            </a:r>
            <a:r>
              <a:rPr lang="en-US" sz="2400" dirty="0" smtClean="0">
                <a:solidFill>
                  <a:schemeClr val="tx2"/>
                </a:solidFill>
              </a:rPr>
              <a:t>generation modes </a:t>
            </a:r>
            <a:r>
              <a:rPr lang="en-US" sz="2400" dirty="0">
                <a:solidFill>
                  <a:schemeClr val="tx2"/>
                </a:solidFill>
              </a:rPr>
              <a:t>at runtime depending on their needs. The system should allow additional writing </a:t>
            </a:r>
            <a:r>
              <a:rPr lang="en-US" sz="2400" dirty="0" smtClean="0">
                <a:solidFill>
                  <a:schemeClr val="tx2"/>
                </a:solidFill>
              </a:rPr>
              <a:t>modes to </a:t>
            </a:r>
            <a:r>
              <a:rPr lang="en-US" sz="2400" dirty="0">
                <a:solidFill>
                  <a:schemeClr val="tx2"/>
                </a:solidFill>
              </a:rPr>
              <a:t>be added in the future without modifying existing code.</a:t>
            </a:r>
            <a:endParaRPr lang="en-US" sz="2400" dirty="0">
              <a:solidFill>
                <a:schemeClr val="tx2"/>
              </a:solidFill>
            </a:endParaRPr>
          </a:p>
        </p:txBody>
      </p:sp>
    </p:spTree>
    <p:extLst>
      <p:ext uri="{BB962C8B-B14F-4D97-AF65-F5344CB8AC3E}">
        <p14:creationId xmlns:p14="http://schemas.microsoft.com/office/powerpoint/2010/main" val="27725522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Spring 26</a:t>
            </a:r>
            <a:endParaRPr lang="en-US" b="1"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40175" y="1600200"/>
            <a:ext cx="6654049"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82703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Spring 26</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a:solidFill>
                  <a:schemeClr val="tx2"/>
                </a:solidFill>
              </a:rPr>
              <a:t>1. Design UML diagrams using the appropriate design pattern for the following scenarios: [CO2</a:t>
            </a:r>
            <a:r>
              <a:rPr lang="en-US" sz="2400" dirty="0" smtClean="0">
                <a:solidFill>
                  <a:schemeClr val="tx2"/>
                </a:solidFill>
              </a:rPr>
              <a:t>] [4 Marks]</a:t>
            </a:r>
            <a:br>
              <a:rPr lang="en-US" sz="2400" dirty="0" smtClean="0">
                <a:solidFill>
                  <a:schemeClr val="tx2"/>
                </a:solidFill>
              </a:rPr>
            </a:br>
            <a:endParaRPr lang="en-US" sz="2400" dirty="0">
              <a:solidFill>
                <a:schemeClr val="tx2"/>
              </a:solidFill>
            </a:endParaRPr>
          </a:p>
          <a:p>
            <a:pPr marL="114300" indent="0">
              <a:buNone/>
            </a:pPr>
            <a:r>
              <a:rPr lang="en-US" sz="2400" dirty="0" smtClean="0">
                <a:solidFill>
                  <a:schemeClr val="tx2"/>
                </a:solidFill>
              </a:rPr>
              <a:t>(</a:t>
            </a:r>
            <a:r>
              <a:rPr lang="en-US" sz="2400" dirty="0">
                <a:solidFill>
                  <a:schemeClr val="tx2"/>
                </a:solidFill>
              </a:rPr>
              <a:t>b) </a:t>
            </a:r>
            <a:r>
              <a:rPr lang="en-US" sz="2400" dirty="0" err="1">
                <a:solidFill>
                  <a:schemeClr val="tx2"/>
                </a:solidFill>
              </a:rPr>
              <a:t>IntelliWrite</a:t>
            </a:r>
            <a:r>
              <a:rPr lang="en-US" sz="2400" dirty="0">
                <a:solidFill>
                  <a:schemeClr val="tx2"/>
                </a:solidFill>
              </a:rPr>
              <a:t> interacts with language models via the standard </a:t>
            </a:r>
            <a:r>
              <a:rPr lang="en-US" sz="2400" dirty="0" err="1">
                <a:solidFill>
                  <a:schemeClr val="tx2"/>
                </a:solidFill>
              </a:rPr>
              <a:t>LLMService</a:t>
            </a:r>
            <a:r>
              <a:rPr lang="en-US" sz="2400" dirty="0">
                <a:solidFill>
                  <a:schemeClr val="tx2"/>
                </a:solidFill>
              </a:rPr>
              <a:t> interface for text </a:t>
            </a:r>
            <a:r>
              <a:rPr lang="en-US" sz="2400" dirty="0" smtClean="0">
                <a:solidFill>
                  <a:schemeClr val="tx2"/>
                </a:solidFill>
              </a:rPr>
              <a:t>generation</a:t>
            </a:r>
            <a:r>
              <a:rPr lang="en-US" sz="2400" dirty="0">
                <a:solidFill>
                  <a:schemeClr val="tx2"/>
                </a:solidFill>
              </a:rPr>
              <a:t>. The system was originally designed to work with </a:t>
            </a:r>
            <a:r>
              <a:rPr lang="en-US" sz="2400" dirty="0" err="1">
                <a:solidFill>
                  <a:schemeClr val="tx2"/>
                </a:solidFill>
              </a:rPr>
              <a:t>OpenAI’s</a:t>
            </a:r>
            <a:r>
              <a:rPr lang="en-US" sz="2400" dirty="0">
                <a:solidFill>
                  <a:schemeClr val="tx2"/>
                </a:solidFill>
              </a:rPr>
              <a:t> GPT service. </a:t>
            </a:r>
            <a:r>
              <a:rPr lang="en-US" sz="2400" dirty="0" smtClean="0">
                <a:solidFill>
                  <a:schemeClr val="tx2"/>
                </a:solidFill>
              </a:rPr>
              <a:t>The team </a:t>
            </a:r>
            <a:r>
              <a:rPr lang="en-US" sz="2400" dirty="0">
                <a:solidFill>
                  <a:schemeClr val="tx2"/>
                </a:solidFill>
              </a:rPr>
              <a:t>now wants to integrate </a:t>
            </a:r>
            <a:r>
              <a:rPr lang="en-US" sz="2400" dirty="0" err="1">
                <a:solidFill>
                  <a:schemeClr val="tx2"/>
                </a:solidFill>
              </a:rPr>
              <a:t>Anthropic’s</a:t>
            </a:r>
            <a:r>
              <a:rPr lang="en-US" sz="2400" dirty="0">
                <a:solidFill>
                  <a:schemeClr val="tx2"/>
                </a:solidFill>
              </a:rPr>
              <a:t> Claude as an additional AI provider. Since </a:t>
            </a:r>
            <a:r>
              <a:rPr lang="en-US" sz="2400" dirty="0" smtClean="0">
                <a:solidFill>
                  <a:schemeClr val="tx2"/>
                </a:solidFill>
              </a:rPr>
              <a:t>Claude uses </a:t>
            </a:r>
            <a:r>
              <a:rPr lang="en-US" sz="2400" dirty="0">
                <a:solidFill>
                  <a:schemeClr val="tx2"/>
                </a:solidFill>
              </a:rPr>
              <a:t>a different request and response format, the team must ensure that the new </a:t>
            </a:r>
            <a:r>
              <a:rPr lang="en-US" sz="2400" dirty="0" smtClean="0">
                <a:solidFill>
                  <a:schemeClr val="tx2"/>
                </a:solidFill>
              </a:rPr>
              <a:t>providers’ format </a:t>
            </a:r>
            <a:r>
              <a:rPr lang="en-US" sz="2400" dirty="0">
                <a:solidFill>
                  <a:schemeClr val="tx2"/>
                </a:solidFill>
              </a:rPr>
              <a:t>works seamlessly with the existing application without modifying </a:t>
            </a:r>
            <a:r>
              <a:rPr lang="en-US" sz="2400" dirty="0" err="1">
                <a:solidFill>
                  <a:schemeClr val="tx2"/>
                </a:solidFill>
              </a:rPr>
              <a:t>IntelliWrite’s</a:t>
            </a:r>
            <a:r>
              <a:rPr lang="en-US" sz="2400" dirty="0">
                <a:solidFill>
                  <a:schemeClr val="tx2"/>
                </a:solidFill>
              </a:rPr>
              <a:t> </a:t>
            </a:r>
            <a:r>
              <a:rPr lang="en-US" sz="2400" dirty="0" smtClean="0">
                <a:solidFill>
                  <a:schemeClr val="tx2"/>
                </a:solidFill>
              </a:rPr>
              <a:t> internal code</a:t>
            </a:r>
            <a:r>
              <a:rPr lang="en-US" sz="2400" dirty="0">
                <a:solidFill>
                  <a:schemeClr val="tx2"/>
                </a:solidFill>
              </a:rPr>
              <a:t>.</a:t>
            </a:r>
            <a:endParaRPr lang="en-US" sz="2400" dirty="0">
              <a:solidFill>
                <a:schemeClr val="tx2"/>
              </a:solidFill>
            </a:endParaRPr>
          </a:p>
        </p:txBody>
      </p:sp>
    </p:spTree>
    <p:extLst>
      <p:ext uri="{BB962C8B-B14F-4D97-AF65-F5344CB8AC3E}">
        <p14:creationId xmlns:p14="http://schemas.microsoft.com/office/powerpoint/2010/main" val="34455805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Spring 26</a:t>
            </a:r>
            <a:endParaRPr lang="en-US" b="1"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9812" y="1600200"/>
            <a:ext cx="7534776"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3877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Fall 25</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a:solidFill>
                  <a:schemeClr val="tx2"/>
                </a:solidFill>
              </a:rPr>
              <a:t>1. Design UML diagrams using the appropriate design pattern for the following scenarios: [CO2</a:t>
            </a:r>
            <a:r>
              <a:rPr lang="en-US" sz="2400" dirty="0" smtClean="0">
                <a:solidFill>
                  <a:schemeClr val="tx2"/>
                </a:solidFill>
              </a:rPr>
              <a:t>] [4 Marks]</a:t>
            </a:r>
            <a:br>
              <a:rPr lang="en-US" sz="2400" dirty="0" smtClean="0">
                <a:solidFill>
                  <a:schemeClr val="tx2"/>
                </a:solidFill>
              </a:rPr>
            </a:br>
            <a:endParaRPr lang="en-US" sz="2400" dirty="0">
              <a:solidFill>
                <a:schemeClr val="tx2"/>
              </a:solidFill>
            </a:endParaRPr>
          </a:p>
          <a:p>
            <a:pPr marL="114300" indent="0">
              <a:buNone/>
            </a:pPr>
            <a:r>
              <a:rPr lang="en-US" sz="2400" dirty="0">
                <a:solidFill>
                  <a:schemeClr val="tx2"/>
                </a:solidFill>
              </a:rPr>
              <a:t>(a) </a:t>
            </a:r>
            <a:r>
              <a:rPr lang="en-US" sz="2400" dirty="0" err="1">
                <a:solidFill>
                  <a:schemeClr val="tx2"/>
                </a:solidFill>
              </a:rPr>
              <a:t>FitRide</a:t>
            </a:r>
            <a:r>
              <a:rPr lang="en-US" sz="2400" dirty="0">
                <a:solidFill>
                  <a:schemeClr val="tx2"/>
                </a:solidFill>
              </a:rPr>
              <a:t> is a fitness application that allows users to track their workouts. The app supports </a:t>
            </a:r>
            <a:r>
              <a:rPr lang="en-US" sz="2400" dirty="0" smtClean="0">
                <a:solidFill>
                  <a:schemeClr val="tx2"/>
                </a:solidFill>
              </a:rPr>
              <a:t>various </a:t>
            </a:r>
            <a:r>
              <a:rPr lang="en-US" sz="2400" dirty="0">
                <a:solidFill>
                  <a:schemeClr val="tx2"/>
                </a:solidFill>
              </a:rPr>
              <a:t>workout calculation techniques, including calorie-based, time-based, and </a:t>
            </a:r>
            <a:r>
              <a:rPr lang="en-US" sz="2400" dirty="0" smtClean="0">
                <a:solidFill>
                  <a:schemeClr val="tx2"/>
                </a:solidFill>
              </a:rPr>
              <a:t>distance-based workouts</a:t>
            </a:r>
            <a:r>
              <a:rPr lang="en-US" sz="2400" dirty="0">
                <a:solidFill>
                  <a:schemeClr val="tx2"/>
                </a:solidFill>
              </a:rPr>
              <a:t>. A user can switch between these workout calculation techniques at runtime </a:t>
            </a:r>
            <a:r>
              <a:rPr lang="en-US" sz="2400" dirty="0" smtClean="0">
                <a:solidFill>
                  <a:schemeClr val="tx2"/>
                </a:solidFill>
              </a:rPr>
              <a:t>depending </a:t>
            </a:r>
            <a:r>
              <a:rPr lang="en-US" sz="2400" dirty="0">
                <a:solidFill>
                  <a:schemeClr val="tx2"/>
                </a:solidFill>
              </a:rPr>
              <a:t>on their fitness goal. The application should allow adding new workout </a:t>
            </a:r>
            <a:r>
              <a:rPr lang="en-US" sz="2400" dirty="0" smtClean="0">
                <a:solidFill>
                  <a:schemeClr val="tx2"/>
                </a:solidFill>
              </a:rPr>
              <a:t>calculation techniques </a:t>
            </a:r>
            <a:r>
              <a:rPr lang="en-US" sz="2400" dirty="0">
                <a:solidFill>
                  <a:schemeClr val="tx2"/>
                </a:solidFill>
              </a:rPr>
              <a:t>in the future without modifying existing code.</a:t>
            </a:r>
          </a:p>
        </p:txBody>
      </p:sp>
    </p:spTree>
    <p:extLst>
      <p:ext uri="{BB962C8B-B14F-4D97-AF65-F5344CB8AC3E}">
        <p14:creationId xmlns:p14="http://schemas.microsoft.com/office/powerpoint/2010/main" val="36181808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Fall 25</a:t>
            </a:r>
            <a:endParaRPr lang="en-US" b="1"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240397"/>
            <a:ext cx="6629400" cy="5220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64435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Fall 25</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a:solidFill>
                  <a:schemeClr val="tx2"/>
                </a:solidFill>
              </a:rPr>
              <a:t>1. Design UML diagrams using the appropriate design pattern for the following scenarios: [CO2</a:t>
            </a:r>
            <a:r>
              <a:rPr lang="en-US" sz="2400" dirty="0" smtClean="0">
                <a:solidFill>
                  <a:schemeClr val="tx2"/>
                </a:solidFill>
              </a:rPr>
              <a:t>] [4 Marks]</a:t>
            </a:r>
            <a:br>
              <a:rPr lang="en-US" sz="2400" dirty="0" smtClean="0">
                <a:solidFill>
                  <a:schemeClr val="tx2"/>
                </a:solidFill>
              </a:rPr>
            </a:br>
            <a:endParaRPr lang="en-US" sz="2400" dirty="0">
              <a:solidFill>
                <a:schemeClr val="tx2"/>
              </a:solidFill>
            </a:endParaRPr>
          </a:p>
          <a:p>
            <a:pPr marL="114300" indent="0">
              <a:buNone/>
            </a:pPr>
            <a:r>
              <a:rPr lang="en-US" sz="2400" dirty="0" smtClean="0">
                <a:solidFill>
                  <a:schemeClr val="tx2"/>
                </a:solidFill>
              </a:rPr>
              <a:t>(b</a:t>
            </a:r>
            <a:r>
              <a:rPr lang="en-US" sz="2400" dirty="0">
                <a:solidFill>
                  <a:schemeClr val="tx2"/>
                </a:solidFill>
              </a:rPr>
              <a:t>) </a:t>
            </a:r>
            <a:r>
              <a:rPr lang="en-US" sz="2400" dirty="0" err="1">
                <a:solidFill>
                  <a:schemeClr val="tx2"/>
                </a:solidFill>
              </a:rPr>
              <a:t>UniPay</a:t>
            </a:r>
            <a:r>
              <a:rPr lang="en-US" sz="2400" dirty="0">
                <a:solidFill>
                  <a:schemeClr val="tx2"/>
                </a:solidFill>
              </a:rPr>
              <a:t> is a university-wide online payment system used for tuition fees, examination fees, and </a:t>
            </a:r>
            <a:r>
              <a:rPr lang="en-US" sz="2400" dirty="0" smtClean="0">
                <a:solidFill>
                  <a:schemeClr val="tx2"/>
                </a:solidFill>
              </a:rPr>
              <a:t>library </a:t>
            </a:r>
            <a:r>
              <a:rPr lang="en-US" sz="2400" dirty="0">
                <a:solidFill>
                  <a:schemeClr val="tx2"/>
                </a:solidFill>
              </a:rPr>
              <a:t>fines. To avoid data inconsistency and transaction conflicts, the system must </a:t>
            </a:r>
            <a:r>
              <a:rPr lang="en-US" sz="2400" dirty="0" smtClean="0">
                <a:solidFill>
                  <a:schemeClr val="tx2"/>
                </a:solidFill>
              </a:rPr>
              <a:t>ensure that </a:t>
            </a:r>
            <a:r>
              <a:rPr lang="en-US" sz="2400" dirty="0">
                <a:solidFill>
                  <a:schemeClr val="tx2"/>
                </a:solidFill>
              </a:rPr>
              <a:t>only one instance of the payment manager exists throughout the application lifecycle. </a:t>
            </a:r>
            <a:r>
              <a:rPr lang="en-US" sz="2400" dirty="0" smtClean="0">
                <a:solidFill>
                  <a:schemeClr val="tx2"/>
                </a:solidFill>
              </a:rPr>
              <a:t>All payment </a:t>
            </a:r>
            <a:r>
              <a:rPr lang="en-US" sz="2400" dirty="0">
                <a:solidFill>
                  <a:schemeClr val="tx2"/>
                </a:solidFill>
              </a:rPr>
              <a:t>requests from different modules must be handled through this single instance.</a:t>
            </a:r>
          </a:p>
        </p:txBody>
      </p:sp>
    </p:spTree>
    <p:extLst>
      <p:ext uri="{BB962C8B-B14F-4D97-AF65-F5344CB8AC3E}">
        <p14:creationId xmlns:p14="http://schemas.microsoft.com/office/powerpoint/2010/main" val="26684734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Fall 25</a:t>
            </a:r>
            <a:endParaRPr lang="en-US" b="1"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560786"/>
            <a:ext cx="7162800" cy="469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60167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Summer 25</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a:solidFill>
                  <a:schemeClr val="tx2"/>
                </a:solidFill>
              </a:rPr>
              <a:t>1. Design UML diagrams using the appropriate design pattern for the following scenarios: [CO2</a:t>
            </a:r>
            <a:r>
              <a:rPr lang="en-US" sz="2400" dirty="0" smtClean="0">
                <a:solidFill>
                  <a:schemeClr val="tx2"/>
                </a:solidFill>
              </a:rPr>
              <a:t>] [4 Marks]</a:t>
            </a:r>
            <a:br>
              <a:rPr lang="en-US" sz="2400" dirty="0" smtClean="0">
                <a:solidFill>
                  <a:schemeClr val="tx2"/>
                </a:solidFill>
              </a:rPr>
            </a:br>
            <a:endParaRPr lang="en-US" sz="2400" dirty="0">
              <a:solidFill>
                <a:schemeClr val="tx2"/>
              </a:solidFill>
            </a:endParaRPr>
          </a:p>
          <a:p>
            <a:pPr marL="114300" indent="0">
              <a:buNone/>
            </a:pPr>
            <a:r>
              <a:rPr lang="en-US" sz="2400" dirty="0">
                <a:solidFill>
                  <a:schemeClr val="tx2"/>
                </a:solidFill>
              </a:rPr>
              <a:t>(a) </a:t>
            </a:r>
            <a:r>
              <a:rPr lang="en-US" sz="2400" dirty="0" err="1">
                <a:solidFill>
                  <a:schemeClr val="tx2"/>
                </a:solidFill>
              </a:rPr>
              <a:t>SkyByte</a:t>
            </a:r>
            <a:r>
              <a:rPr lang="en-US" sz="2400" dirty="0">
                <a:solidFill>
                  <a:schemeClr val="tx2"/>
                </a:solidFill>
              </a:rPr>
              <a:t> manufactures drones for three models: Falcon, Hawk, and Eagle. Each model has a distinct  </a:t>
            </a:r>
            <a:r>
              <a:rPr lang="en-US" sz="2400" dirty="0" smtClean="0">
                <a:solidFill>
                  <a:schemeClr val="tx2"/>
                </a:solidFill>
              </a:rPr>
              <a:t>Camera </a:t>
            </a:r>
            <a:r>
              <a:rPr lang="en-US" sz="2400" dirty="0">
                <a:solidFill>
                  <a:schemeClr val="tx2"/>
                </a:solidFill>
              </a:rPr>
              <a:t>System and Propulsion Unit. Falcon uses a 4K </a:t>
            </a:r>
            <a:r>
              <a:rPr lang="en-US" sz="2400" dirty="0" err="1">
                <a:solidFill>
                  <a:schemeClr val="tx2"/>
                </a:solidFill>
              </a:rPr>
              <a:t>UltraCam</a:t>
            </a:r>
            <a:r>
              <a:rPr lang="en-US" sz="2400" dirty="0">
                <a:solidFill>
                  <a:schemeClr val="tx2"/>
                </a:solidFill>
              </a:rPr>
              <a:t> with a </a:t>
            </a:r>
            <a:r>
              <a:rPr lang="en-US" sz="2400" dirty="0" err="1">
                <a:solidFill>
                  <a:schemeClr val="tx2"/>
                </a:solidFill>
              </a:rPr>
              <a:t>TurboJet</a:t>
            </a:r>
            <a:r>
              <a:rPr lang="en-US" sz="2400" dirty="0">
                <a:solidFill>
                  <a:schemeClr val="tx2"/>
                </a:solidFill>
              </a:rPr>
              <a:t> Propulsion, </a:t>
            </a:r>
            <a:r>
              <a:rPr lang="en-US" sz="2400" dirty="0" smtClean="0">
                <a:solidFill>
                  <a:schemeClr val="tx2"/>
                </a:solidFill>
              </a:rPr>
              <a:t>Hawk uses </a:t>
            </a:r>
            <a:r>
              <a:rPr lang="en-US" sz="2400" dirty="0">
                <a:solidFill>
                  <a:schemeClr val="tx2"/>
                </a:solidFill>
              </a:rPr>
              <a:t>a </a:t>
            </a:r>
            <a:r>
              <a:rPr lang="en-US" sz="2400" dirty="0" err="1">
                <a:solidFill>
                  <a:schemeClr val="tx2"/>
                </a:solidFill>
              </a:rPr>
              <a:t>ThermalCam</a:t>
            </a:r>
            <a:r>
              <a:rPr lang="en-US" sz="2400" dirty="0">
                <a:solidFill>
                  <a:schemeClr val="tx2"/>
                </a:solidFill>
              </a:rPr>
              <a:t> with a </a:t>
            </a:r>
            <a:r>
              <a:rPr lang="en-US" sz="2400" dirty="0" err="1">
                <a:solidFill>
                  <a:schemeClr val="tx2"/>
                </a:solidFill>
              </a:rPr>
              <a:t>QuadCopter</a:t>
            </a:r>
            <a:r>
              <a:rPr lang="en-US" sz="2400" dirty="0">
                <a:solidFill>
                  <a:schemeClr val="tx2"/>
                </a:solidFill>
              </a:rPr>
              <a:t> Propulsion, and Eagle uses a </a:t>
            </a:r>
            <a:r>
              <a:rPr lang="en-US" sz="2400" dirty="0" err="1">
                <a:solidFill>
                  <a:schemeClr val="tx2"/>
                </a:solidFill>
              </a:rPr>
              <a:t>NightVisionCam</a:t>
            </a:r>
            <a:r>
              <a:rPr lang="en-US" sz="2400" dirty="0">
                <a:solidFill>
                  <a:schemeClr val="tx2"/>
                </a:solidFill>
              </a:rPr>
              <a:t> with a </a:t>
            </a:r>
            <a:r>
              <a:rPr lang="en-US" sz="2400" dirty="0" smtClean="0">
                <a:solidFill>
                  <a:schemeClr val="tx2"/>
                </a:solidFill>
              </a:rPr>
              <a:t>Hybrid Rotor </a:t>
            </a:r>
            <a:r>
              <a:rPr lang="en-US" sz="2400" dirty="0">
                <a:solidFill>
                  <a:schemeClr val="tx2"/>
                </a:solidFill>
              </a:rPr>
              <a:t>Propulsion.</a:t>
            </a:r>
          </a:p>
        </p:txBody>
      </p:sp>
    </p:spTree>
    <p:extLst>
      <p:ext uri="{BB962C8B-B14F-4D97-AF65-F5344CB8AC3E}">
        <p14:creationId xmlns:p14="http://schemas.microsoft.com/office/powerpoint/2010/main" val="5666124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Summer 25</a:t>
            </a:r>
            <a:endParaRPr lang="en-US" b="1"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101563"/>
            <a:ext cx="6705600" cy="5669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5199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Summer 25</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smtClean="0">
                <a:solidFill>
                  <a:schemeClr val="tx2"/>
                </a:solidFill>
              </a:rPr>
              <a:t>1. Design </a:t>
            </a:r>
            <a:r>
              <a:rPr lang="en-US" sz="2400" dirty="0">
                <a:solidFill>
                  <a:schemeClr val="tx2"/>
                </a:solidFill>
              </a:rPr>
              <a:t>UML diagrams using the appropriate design pattern for the following scenarios: [CO2</a:t>
            </a:r>
            <a:r>
              <a:rPr lang="en-US" sz="2400" dirty="0" smtClean="0">
                <a:solidFill>
                  <a:schemeClr val="tx2"/>
                </a:solidFill>
              </a:rPr>
              <a:t>] [4 Marks]</a:t>
            </a:r>
            <a:br>
              <a:rPr lang="en-US" sz="2400" dirty="0" smtClean="0">
                <a:solidFill>
                  <a:schemeClr val="tx2"/>
                </a:solidFill>
              </a:rPr>
            </a:br>
            <a:endParaRPr lang="en-US" sz="2400" dirty="0" smtClean="0">
              <a:solidFill>
                <a:schemeClr val="tx2"/>
              </a:solidFill>
            </a:endParaRPr>
          </a:p>
          <a:p>
            <a:pPr marL="114300" indent="0">
              <a:buNone/>
            </a:pPr>
            <a:r>
              <a:rPr lang="en-US" sz="2400" dirty="0">
                <a:solidFill>
                  <a:schemeClr val="tx2"/>
                </a:solidFill>
              </a:rPr>
              <a:t>(b) </a:t>
            </a:r>
            <a:r>
              <a:rPr lang="en-US" sz="2400" dirty="0" err="1">
                <a:solidFill>
                  <a:schemeClr val="tx2"/>
                </a:solidFill>
              </a:rPr>
              <a:t>SkyByte</a:t>
            </a:r>
            <a:r>
              <a:rPr lang="en-US" sz="2400" dirty="0">
                <a:solidFill>
                  <a:schemeClr val="tx2"/>
                </a:solidFill>
              </a:rPr>
              <a:t> allows users to enhance drones with add-ons like Auto-Return System, Obstacle </a:t>
            </a:r>
            <a:r>
              <a:rPr lang="en-US" sz="2400" dirty="0" smtClean="0">
                <a:solidFill>
                  <a:schemeClr val="tx2"/>
                </a:solidFill>
              </a:rPr>
              <a:t>Avoidance, and </a:t>
            </a:r>
            <a:r>
              <a:rPr lang="en-US" sz="2400" dirty="0">
                <a:solidFill>
                  <a:schemeClr val="tx2"/>
                </a:solidFill>
              </a:rPr>
              <a:t>Live Tracking Module. These add-ons can be attached independently to any drone.</a:t>
            </a:r>
          </a:p>
        </p:txBody>
      </p:sp>
    </p:spTree>
    <p:extLst>
      <p:ext uri="{BB962C8B-B14F-4D97-AF65-F5344CB8AC3E}">
        <p14:creationId xmlns:p14="http://schemas.microsoft.com/office/powerpoint/2010/main" val="23398100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Summer 25</a:t>
            </a:r>
            <a:endParaRPr lang="en-US" b="1" dirty="0"/>
          </a:p>
        </p:txBody>
      </p:sp>
      <p:sp>
        <p:nvSpPr>
          <p:cNvPr id="4" name="Content Placeholder 3"/>
          <p:cNvSpPr>
            <a:spLocks noGrp="1"/>
          </p:cNvSpPr>
          <p:nvPr>
            <p:ph idx="1"/>
          </p:nvPr>
        </p:nvSpPr>
        <p:spPr/>
        <p:txBody>
          <a:bodyPr/>
          <a:lstStyle/>
          <a:p>
            <a:endParaRPr 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76240"/>
            <a:ext cx="5225824" cy="5681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20358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Spring 25</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a:solidFill>
                  <a:schemeClr val="tx2"/>
                </a:solidFill>
              </a:rPr>
              <a:t>1. Design UML diagrams using the appropriate design pattern for the following scenarios</a:t>
            </a:r>
            <a:r>
              <a:rPr lang="en-US" sz="2400" dirty="0" smtClean="0">
                <a:solidFill>
                  <a:schemeClr val="tx2"/>
                </a:solidFill>
              </a:rPr>
              <a:t>: </a:t>
            </a:r>
            <a:r>
              <a:rPr lang="en-US" sz="2400" dirty="0">
                <a:solidFill>
                  <a:schemeClr val="tx2"/>
                </a:solidFill>
              </a:rPr>
              <a:t>[CO2] [4 Marks</a:t>
            </a:r>
            <a:r>
              <a:rPr lang="en-US" sz="2400" dirty="0" smtClean="0">
                <a:solidFill>
                  <a:schemeClr val="tx2"/>
                </a:solidFill>
              </a:rPr>
              <a:t>]</a:t>
            </a:r>
            <a:br>
              <a:rPr lang="en-US" sz="2400" dirty="0" smtClean="0">
                <a:solidFill>
                  <a:schemeClr val="tx2"/>
                </a:solidFill>
              </a:rPr>
            </a:br>
            <a:endParaRPr lang="en-US" sz="2400" dirty="0">
              <a:solidFill>
                <a:schemeClr val="tx2"/>
              </a:solidFill>
            </a:endParaRPr>
          </a:p>
          <a:p>
            <a:pPr marL="114300" indent="0">
              <a:buNone/>
            </a:pPr>
            <a:r>
              <a:rPr lang="en-US" sz="2400" dirty="0">
                <a:solidFill>
                  <a:schemeClr val="tx2"/>
                </a:solidFill>
              </a:rPr>
              <a:t>(a) </a:t>
            </a:r>
            <a:r>
              <a:rPr lang="en-US" sz="2400" dirty="0" err="1">
                <a:solidFill>
                  <a:schemeClr val="tx2"/>
                </a:solidFill>
              </a:rPr>
              <a:t>Tekno</a:t>
            </a:r>
            <a:r>
              <a:rPr lang="en-US" sz="2400" dirty="0">
                <a:solidFill>
                  <a:schemeClr val="tx2"/>
                </a:solidFill>
              </a:rPr>
              <a:t> is a code editor that can compile and run codes for C, C++ and Java. Recently the </a:t>
            </a:r>
            <a:r>
              <a:rPr lang="en-US" sz="2400" dirty="0" smtClean="0">
                <a:solidFill>
                  <a:schemeClr val="tx2"/>
                </a:solidFill>
              </a:rPr>
              <a:t>developers at </a:t>
            </a:r>
            <a:r>
              <a:rPr lang="en-US" sz="2400" dirty="0" err="1">
                <a:solidFill>
                  <a:schemeClr val="tx2"/>
                </a:solidFill>
              </a:rPr>
              <a:t>Tekno</a:t>
            </a:r>
            <a:r>
              <a:rPr lang="en-US" sz="2400" dirty="0">
                <a:solidFill>
                  <a:schemeClr val="tx2"/>
                </a:solidFill>
              </a:rPr>
              <a:t> want to shift to Python as it is high on demand.</a:t>
            </a:r>
            <a:r>
              <a:rPr lang="en-US" sz="2400" dirty="0" smtClean="0">
                <a:solidFill>
                  <a:schemeClr val="tx2"/>
                </a:solidFill>
              </a:rPr>
              <a:t/>
            </a:r>
            <a:br>
              <a:rPr lang="en-US" sz="2400" dirty="0" smtClean="0">
                <a:solidFill>
                  <a:schemeClr val="tx2"/>
                </a:solidFill>
              </a:rPr>
            </a:br>
            <a:endParaRPr lang="en-US" sz="2400" dirty="0" smtClean="0">
              <a:solidFill>
                <a:schemeClr val="tx2"/>
              </a:solidFill>
            </a:endParaRPr>
          </a:p>
        </p:txBody>
      </p:sp>
    </p:spTree>
    <p:extLst>
      <p:ext uri="{BB962C8B-B14F-4D97-AF65-F5344CB8AC3E}">
        <p14:creationId xmlns:p14="http://schemas.microsoft.com/office/powerpoint/2010/main" val="26081204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Spring 25</a:t>
            </a:r>
            <a:endParaRPr lang="en-US" b="1" dirty="0"/>
          </a:p>
        </p:txBody>
      </p:sp>
      <p:sp>
        <p:nvSpPr>
          <p:cNvPr id="3" name="Content Placeholder 2"/>
          <p:cNvSpPr>
            <a:spLocks noGrp="1"/>
          </p:cNvSpPr>
          <p:nvPr>
            <p:ph idx="1"/>
          </p:nvPr>
        </p:nvSpPr>
        <p:spPr/>
        <p:txBody>
          <a:bodyPr>
            <a:normAutofit/>
          </a:bodyPr>
          <a:lstStyle/>
          <a:p>
            <a:pPr marL="114300" indent="0">
              <a:buNone/>
            </a:pPr>
            <a:endParaRPr lang="en-US" sz="2400" dirty="0" smtClean="0">
              <a:solidFill>
                <a:schemeClr val="tx2"/>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799"/>
            <a:ext cx="7696200" cy="4891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93682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Spring 25</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a:solidFill>
                  <a:schemeClr val="tx2"/>
                </a:solidFill>
              </a:rPr>
              <a:t>1. Design UML diagrams using the appropriate design pattern for the following scenarios</a:t>
            </a:r>
            <a:r>
              <a:rPr lang="en-US" sz="2400" dirty="0" smtClean="0">
                <a:solidFill>
                  <a:schemeClr val="tx2"/>
                </a:solidFill>
              </a:rPr>
              <a:t>: </a:t>
            </a:r>
            <a:r>
              <a:rPr lang="en-US" sz="2400" dirty="0">
                <a:solidFill>
                  <a:schemeClr val="tx2"/>
                </a:solidFill>
              </a:rPr>
              <a:t>[CO2] [4 Marks</a:t>
            </a:r>
            <a:r>
              <a:rPr lang="en-US" sz="2400" dirty="0" smtClean="0">
                <a:solidFill>
                  <a:schemeClr val="tx2"/>
                </a:solidFill>
              </a:rPr>
              <a:t>]</a:t>
            </a:r>
            <a:br>
              <a:rPr lang="en-US" sz="2400" dirty="0" smtClean="0">
                <a:solidFill>
                  <a:schemeClr val="tx2"/>
                </a:solidFill>
              </a:rPr>
            </a:br>
            <a:endParaRPr lang="en-US" sz="2400" dirty="0">
              <a:solidFill>
                <a:schemeClr val="tx2"/>
              </a:solidFill>
            </a:endParaRPr>
          </a:p>
          <a:p>
            <a:pPr marL="114300" indent="0">
              <a:buNone/>
            </a:pPr>
            <a:r>
              <a:rPr lang="en-US" sz="2400" dirty="0">
                <a:solidFill>
                  <a:schemeClr val="tx2"/>
                </a:solidFill>
              </a:rPr>
              <a:t/>
            </a:r>
            <a:br>
              <a:rPr lang="en-US" sz="2400" dirty="0">
                <a:solidFill>
                  <a:schemeClr val="tx2"/>
                </a:solidFill>
              </a:rPr>
            </a:br>
            <a:r>
              <a:rPr lang="en-US" sz="2400" dirty="0">
                <a:solidFill>
                  <a:schemeClr val="tx2"/>
                </a:solidFill>
              </a:rPr>
              <a:t>(b) </a:t>
            </a:r>
            <a:r>
              <a:rPr lang="en-US" sz="2400" dirty="0" err="1">
                <a:solidFill>
                  <a:schemeClr val="tx2"/>
                </a:solidFill>
              </a:rPr>
              <a:t>Tekno</a:t>
            </a:r>
            <a:r>
              <a:rPr lang="en-US" sz="2400" dirty="0">
                <a:solidFill>
                  <a:schemeClr val="tx2"/>
                </a:solidFill>
              </a:rPr>
              <a:t> has a built in compiler system that optimizes compilation by using different algorithms for </a:t>
            </a:r>
            <a:r>
              <a:rPr lang="en-US" sz="2400" dirty="0" smtClean="0">
                <a:solidFill>
                  <a:schemeClr val="tx2"/>
                </a:solidFill>
              </a:rPr>
              <a:t>different programming </a:t>
            </a:r>
            <a:r>
              <a:rPr lang="en-US" sz="2400" dirty="0">
                <a:solidFill>
                  <a:schemeClr val="tx2"/>
                </a:solidFill>
              </a:rPr>
              <a:t>languages. For C and C++, the compiler uses the X2 algorithm. For Java, Y7 </a:t>
            </a:r>
            <a:r>
              <a:rPr lang="en-US" sz="2400" dirty="0" smtClean="0">
                <a:solidFill>
                  <a:schemeClr val="tx2"/>
                </a:solidFill>
              </a:rPr>
              <a:t>algorithm is </a:t>
            </a:r>
            <a:r>
              <a:rPr lang="en-US" sz="2400" dirty="0">
                <a:solidFill>
                  <a:schemeClr val="tx2"/>
                </a:solidFill>
              </a:rPr>
              <a:t>used. Z3 algorithm is applied for Python codes.</a:t>
            </a:r>
            <a:endParaRPr lang="en-US" sz="2400" dirty="0" smtClean="0">
              <a:solidFill>
                <a:schemeClr val="tx2"/>
              </a:solidFill>
            </a:endParaRPr>
          </a:p>
        </p:txBody>
      </p:sp>
    </p:spTree>
    <p:extLst>
      <p:ext uri="{BB962C8B-B14F-4D97-AF65-F5344CB8AC3E}">
        <p14:creationId xmlns:p14="http://schemas.microsoft.com/office/powerpoint/2010/main" val="23209611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Spring 25</a:t>
            </a:r>
            <a:endParaRPr lang="en-US" b="1"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2948" y="1600201"/>
            <a:ext cx="7225651" cy="4759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03273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Fall 24</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smtClean="0">
                <a:solidFill>
                  <a:schemeClr val="tx2"/>
                </a:solidFill>
              </a:rPr>
              <a:t>1a. </a:t>
            </a:r>
            <a:r>
              <a:rPr lang="en-US" sz="2400" dirty="0" err="1">
                <a:solidFill>
                  <a:schemeClr val="tx2"/>
                </a:solidFill>
              </a:rPr>
              <a:t>Pookaburra</a:t>
            </a:r>
            <a:r>
              <a:rPr lang="en-US" sz="2400" dirty="0">
                <a:solidFill>
                  <a:schemeClr val="tx2"/>
                </a:solidFill>
              </a:rPr>
              <a:t> is a cricket kit manufacturing company which produces the best quality cricketing </a:t>
            </a:r>
            <a:r>
              <a:rPr lang="en-US" sz="2400" dirty="0" err="1" smtClean="0">
                <a:solidFill>
                  <a:schemeClr val="tx2"/>
                </a:solidFill>
              </a:rPr>
              <a:t>equipments</a:t>
            </a:r>
            <a:r>
              <a:rPr lang="en-US" sz="2400" dirty="0">
                <a:solidFill>
                  <a:schemeClr val="tx2"/>
                </a:solidFill>
              </a:rPr>
              <a:t>. They mainly produce bats, balls, and cricket gear. The raw materials required for the bats </a:t>
            </a:r>
            <a:r>
              <a:rPr lang="en-US" sz="2400" dirty="0" smtClean="0">
                <a:solidFill>
                  <a:schemeClr val="tx2"/>
                </a:solidFill>
              </a:rPr>
              <a:t>are wood(for </a:t>
            </a:r>
            <a:r>
              <a:rPr lang="en-US" sz="2400" dirty="0">
                <a:solidFill>
                  <a:schemeClr val="tx2"/>
                </a:solidFill>
              </a:rPr>
              <a:t>the body) and rubber(for the grip). They produce two kinds of balls - white(for ODIs </a:t>
            </a:r>
            <a:r>
              <a:rPr lang="en-US" sz="2400" dirty="0" smtClean="0">
                <a:solidFill>
                  <a:schemeClr val="tx2"/>
                </a:solidFill>
              </a:rPr>
              <a:t>and T20s</a:t>
            </a:r>
            <a:r>
              <a:rPr lang="en-US" sz="2400" dirty="0">
                <a:solidFill>
                  <a:schemeClr val="tx2"/>
                </a:solidFill>
              </a:rPr>
              <a:t>) and red(for Test cricket). The balls require wood and leather to produce. For gears, they </a:t>
            </a:r>
            <a:r>
              <a:rPr lang="en-US" sz="2400" dirty="0" smtClean="0">
                <a:solidFill>
                  <a:schemeClr val="tx2"/>
                </a:solidFill>
              </a:rPr>
              <a:t>mainly produce </a:t>
            </a:r>
            <a:r>
              <a:rPr lang="en-US" sz="2400" dirty="0">
                <a:solidFill>
                  <a:schemeClr val="tx2"/>
                </a:solidFill>
              </a:rPr>
              <a:t>pads and helmets.</a:t>
            </a:r>
          </a:p>
          <a:p>
            <a:pPr marL="114300" indent="0">
              <a:buNone/>
            </a:pPr>
            <a:r>
              <a:rPr lang="en-US" sz="2400" dirty="0" smtClean="0">
                <a:solidFill>
                  <a:schemeClr val="tx2"/>
                </a:solidFill>
              </a:rPr>
              <a:t/>
            </a:r>
            <a:br>
              <a:rPr lang="en-US" sz="2400" dirty="0" smtClean="0">
                <a:solidFill>
                  <a:schemeClr val="tx2"/>
                </a:solidFill>
              </a:rPr>
            </a:br>
            <a:r>
              <a:rPr lang="en-US" sz="2400" dirty="0" smtClean="0">
                <a:solidFill>
                  <a:schemeClr val="tx2"/>
                </a:solidFill>
              </a:rPr>
              <a:t>Draw </a:t>
            </a:r>
            <a:r>
              <a:rPr lang="en-US" sz="2400" dirty="0">
                <a:solidFill>
                  <a:schemeClr val="tx2"/>
                </a:solidFill>
              </a:rPr>
              <a:t>an UML Diagram using an appropriate Design Pattern for the scenario above</a:t>
            </a:r>
            <a:r>
              <a:rPr lang="en-US" sz="2400" dirty="0" smtClean="0">
                <a:solidFill>
                  <a:schemeClr val="tx2"/>
                </a:solidFill>
              </a:rPr>
              <a:t>. [CO2] [5 Marks]</a:t>
            </a:r>
          </a:p>
        </p:txBody>
      </p:sp>
    </p:spTree>
    <p:extLst>
      <p:ext uri="{BB962C8B-B14F-4D97-AF65-F5344CB8AC3E}">
        <p14:creationId xmlns:p14="http://schemas.microsoft.com/office/powerpoint/2010/main" val="40562816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
            <a:ext cx="7620000" cy="1143000"/>
          </a:xfrm>
        </p:spPr>
        <p:txBody>
          <a:bodyPr/>
          <a:lstStyle/>
          <a:p>
            <a:r>
              <a:rPr lang="en-US" b="1" dirty="0" smtClean="0"/>
              <a:t>Fall 24</a:t>
            </a:r>
            <a:endParaRPr lang="en-US" b="1"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2200" y="304800"/>
            <a:ext cx="5181600" cy="6497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56967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Summer 24</a:t>
            </a:r>
            <a:endParaRPr lang="en-US" b="1" dirty="0"/>
          </a:p>
        </p:txBody>
      </p:sp>
      <p:sp>
        <p:nvSpPr>
          <p:cNvPr id="3" name="Content Placeholder 2"/>
          <p:cNvSpPr>
            <a:spLocks noGrp="1"/>
          </p:cNvSpPr>
          <p:nvPr>
            <p:ph idx="1"/>
          </p:nvPr>
        </p:nvSpPr>
        <p:spPr>
          <a:xfrm>
            <a:off x="381000" y="1371600"/>
            <a:ext cx="7620000" cy="4800600"/>
          </a:xfrm>
        </p:spPr>
        <p:txBody>
          <a:bodyPr>
            <a:normAutofit lnSpcReduction="10000"/>
          </a:bodyPr>
          <a:lstStyle/>
          <a:p>
            <a:pPr marL="114300" indent="0">
              <a:buNone/>
            </a:pPr>
            <a:r>
              <a:rPr lang="en-US" sz="2400" dirty="0" smtClean="0">
                <a:solidFill>
                  <a:schemeClr val="tx2"/>
                </a:solidFill>
              </a:rPr>
              <a:t>1a</a:t>
            </a:r>
            <a:r>
              <a:rPr lang="en-US" sz="2400" dirty="0">
                <a:solidFill>
                  <a:schemeClr val="tx2"/>
                </a:solidFill>
              </a:rPr>
              <a:t>. </a:t>
            </a:r>
            <a:r>
              <a:rPr lang="en-US" sz="2400" dirty="0" err="1">
                <a:solidFill>
                  <a:schemeClr val="tx2"/>
                </a:solidFill>
              </a:rPr>
              <a:t>TumTum</a:t>
            </a:r>
            <a:r>
              <a:rPr lang="en-US" sz="2400" dirty="0">
                <a:solidFill>
                  <a:schemeClr val="tx2"/>
                </a:solidFill>
              </a:rPr>
              <a:t> Doughnuts is a leading doughnut chain that sells different varieties of doughnuts. You can </a:t>
            </a:r>
            <a:r>
              <a:rPr lang="en-US" sz="2400" dirty="0" smtClean="0">
                <a:solidFill>
                  <a:schemeClr val="tx2"/>
                </a:solidFill>
              </a:rPr>
              <a:t>buy </a:t>
            </a:r>
            <a:r>
              <a:rPr lang="en-US" sz="2400" dirty="0">
                <a:solidFill>
                  <a:schemeClr val="tx2"/>
                </a:solidFill>
              </a:rPr>
              <a:t>two basic doughnuts - the disc-shaped doughnut and the ball doughnut. You can add </a:t>
            </a:r>
            <a:r>
              <a:rPr lang="en-US" sz="2400" dirty="0" smtClean="0">
                <a:solidFill>
                  <a:schemeClr val="tx2"/>
                </a:solidFill>
              </a:rPr>
              <a:t>different kinds </a:t>
            </a:r>
            <a:r>
              <a:rPr lang="en-US" sz="2400" dirty="0">
                <a:solidFill>
                  <a:schemeClr val="tx2"/>
                </a:solidFill>
              </a:rPr>
              <a:t>of icing on the doughnut such as chocolate, strawberry and white-chocolate. You can </a:t>
            </a:r>
            <a:r>
              <a:rPr lang="en-US" sz="2400" dirty="0" smtClean="0">
                <a:solidFill>
                  <a:schemeClr val="tx2"/>
                </a:solidFill>
              </a:rPr>
              <a:t>also add </a:t>
            </a:r>
            <a:r>
              <a:rPr lang="en-US" sz="2400" dirty="0">
                <a:solidFill>
                  <a:schemeClr val="tx2"/>
                </a:solidFill>
              </a:rPr>
              <a:t>fillings to the doughnuts such as custard, mousse and cheese. </a:t>
            </a:r>
            <a:r>
              <a:rPr lang="en-US" sz="2400" dirty="0" err="1">
                <a:solidFill>
                  <a:schemeClr val="tx2"/>
                </a:solidFill>
              </a:rPr>
              <a:t>TumTum</a:t>
            </a:r>
            <a:r>
              <a:rPr lang="en-US" sz="2400" dirty="0">
                <a:solidFill>
                  <a:schemeClr val="tx2"/>
                </a:solidFill>
              </a:rPr>
              <a:t> has recently </a:t>
            </a:r>
            <a:r>
              <a:rPr lang="en-US" sz="2400" dirty="0" smtClean="0">
                <a:solidFill>
                  <a:schemeClr val="tx2"/>
                </a:solidFill>
              </a:rPr>
              <a:t>introduced new </a:t>
            </a:r>
            <a:r>
              <a:rPr lang="en-US" sz="2400" dirty="0">
                <a:solidFill>
                  <a:schemeClr val="tx2"/>
                </a:solidFill>
              </a:rPr>
              <a:t>toppings that can be added such as chocolate-shavings and cherry-fruit. A customer </a:t>
            </a:r>
            <a:r>
              <a:rPr lang="en-US" sz="2400" dirty="0" smtClean="0">
                <a:solidFill>
                  <a:schemeClr val="tx2"/>
                </a:solidFill>
              </a:rPr>
              <a:t>can order </a:t>
            </a:r>
            <a:r>
              <a:rPr lang="en-US" sz="2400" dirty="0">
                <a:solidFill>
                  <a:schemeClr val="tx2"/>
                </a:solidFill>
              </a:rPr>
              <a:t>a plain doughnut, and if they want they can pick/not pick any one type of icing, filling </a:t>
            </a:r>
            <a:r>
              <a:rPr lang="en-US" sz="2400" dirty="0" smtClean="0">
                <a:solidFill>
                  <a:schemeClr val="tx2"/>
                </a:solidFill>
              </a:rPr>
              <a:t>and topping</a:t>
            </a:r>
            <a:r>
              <a:rPr lang="en-US" sz="2400" dirty="0">
                <a:solidFill>
                  <a:schemeClr val="tx2"/>
                </a:solidFill>
              </a:rPr>
              <a:t>. Draw an UML Diagram using an appropriate Design Pattern for the scenario above</a:t>
            </a:r>
            <a:r>
              <a:rPr lang="en-US" sz="2400" dirty="0" smtClean="0">
                <a:solidFill>
                  <a:schemeClr val="tx2"/>
                </a:solidFill>
              </a:rPr>
              <a:t>. [CO2] [6 Marks]</a:t>
            </a:r>
          </a:p>
        </p:txBody>
      </p:sp>
    </p:spTree>
    <p:extLst>
      <p:ext uri="{BB962C8B-B14F-4D97-AF65-F5344CB8AC3E}">
        <p14:creationId xmlns:p14="http://schemas.microsoft.com/office/powerpoint/2010/main" val="375525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8575"/>
            <a:ext cx="7620000" cy="1143000"/>
          </a:xfrm>
        </p:spPr>
        <p:txBody>
          <a:bodyPr/>
          <a:lstStyle/>
          <a:p>
            <a:r>
              <a:rPr lang="en-US" b="1" dirty="0" smtClean="0"/>
              <a:t>Summer 24</a:t>
            </a:r>
            <a:endParaRPr lang="en-US" b="1" dirty="0"/>
          </a:p>
        </p:txBody>
      </p:sp>
      <p:sp>
        <p:nvSpPr>
          <p:cNvPr id="3" name="Content Placeholder 2"/>
          <p:cNvSpPr>
            <a:spLocks noGrp="1"/>
          </p:cNvSpPr>
          <p:nvPr>
            <p:ph idx="1"/>
          </p:nvPr>
        </p:nvSpPr>
        <p:spPr/>
        <p:txBody>
          <a:bodyPr>
            <a:normAutofit/>
          </a:bodyPr>
          <a:lstStyle/>
          <a:p>
            <a:pPr marL="114300" indent="0">
              <a:buNone/>
            </a:pPr>
            <a:endParaRPr lang="en-US" sz="2400" dirty="0" smtClean="0">
              <a:solidFill>
                <a:schemeClr val="tx2"/>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817343"/>
            <a:ext cx="5029200" cy="6039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7518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Spring 24</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smtClean="0">
                <a:solidFill>
                  <a:schemeClr val="tx2"/>
                </a:solidFill>
              </a:rPr>
              <a:t>1a</a:t>
            </a:r>
            <a:r>
              <a:rPr lang="en-US" sz="2400" dirty="0">
                <a:solidFill>
                  <a:schemeClr val="tx2"/>
                </a:solidFill>
              </a:rPr>
              <a:t>. Yummy is a fast-food chain restaurant serving the best dishes. They offer Burgers, Pizzas, and </a:t>
            </a:r>
            <a:r>
              <a:rPr lang="en-US" sz="2400" dirty="0" smtClean="0">
                <a:solidFill>
                  <a:schemeClr val="tx2"/>
                </a:solidFill>
              </a:rPr>
              <a:t>Drinks. There </a:t>
            </a:r>
            <a:r>
              <a:rPr lang="en-US" sz="2400" dirty="0">
                <a:solidFill>
                  <a:schemeClr val="tx2"/>
                </a:solidFill>
              </a:rPr>
              <a:t>are two kinds of Burgers - Beef and Chicken. Pizzas come in 4 types - Alfredo, SMG, </a:t>
            </a:r>
            <a:r>
              <a:rPr lang="en-US" sz="2400" dirty="0" err="1" smtClean="0">
                <a:solidFill>
                  <a:schemeClr val="tx2"/>
                </a:solidFill>
              </a:rPr>
              <a:t>Cheezy</a:t>
            </a:r>
            <a:r>
              <a:rPr lang="en-US" sz="2400" dirty="0" smtClean="0">
                <a:solidFill>
                  <a:schemeClr val="tx2"/>
                </a:solidFill>
              </a:rPr>
              <a:t>, Mushroom</a:t>
            </a:r>
            <a:r>
              <a:rPr lang="en-US" sz="2400" dirty="0">
                <a:solidFill>
                  <a:schemeClr val="tx2"/>
                </a:solidFill>
              </a:rPr>
              <a:t>. Soft Drinks (Coke, Dew, Sprite) and Shakes (Oreo, </a:t>
            </a:r>
            <a:r>
              <a:rPr lang="en-US" sz="2400" dirty="0" err="1">
                <a:solidFill>
                  <a:schemeClr val="tx2"/>
                </a:solidFill>
              </a:rPr>
              <a:t>Kitkat</a:t>
            </a:r>
            <a:r>
              <a:rPr lang="en-US" sz="2400" dirty="0">
                <a:solidFill>
                  <a:schemeClr val="tx2"/>
                </a:solidFill>
              </a:rPr>
              <a:t>) are available under Drinks</a:t>
            </a:r>
            <a:r>
              <a:rPr lang="en-US" sz="2400" dirty="0" smtClean="0">
                <a:solidFill>
                  <a:schemeClr val="tx2"/>
                </a:solidFill>
              </a:rPr>
              <a:t>.</a:t>
            </a:r>
            <a:br>
              <a:rPr lang="en-US" sz="2400" dirty="0" smtClean="0">
                <a:solidFill>
                  <a:schemeClr val="tx2"/>
                </a:solidFill>
              </a:rPr>
            </a:br>
            <a:endParaRPr lang="en-US" sz="2400" dirty="0">
              <a:solidFill>
                <a:schemeClr val="tx2"/>
              </a:solidFill>
            </a:endParaRPr>
          </a:p>
          <a:p>
            <a:pPr marL="114300" indent="0">
              <a:buNone/>
            </a:pPr>
            <a:r>
              <a:rPr lang="en-US" sz="2400" dirty="0">
                <a:solidFill>
                  <a:schemeClr val="tx2"/>
                </a:solidFill>
              </a:rPr>
              <a:t>Draw an UML diagram for the scenario above using the appropriate design pattern</a:t>
            </a:r>
            <a:r>
              <a:rPr lang="en-US" sz="2400" dirty="0" smtClean="0">
                <a:solidFill>
                  <a:schemeClr val="tx2"/>
                </a:solidFill>
              </a:rPr>
              <a:t>. [CO2] [4 Marks]</a:t>
            </a:r>
          </a:p>
        </p:txBody>
      </p:sp>
    </p:spTree>
    <p:extLst>
      <p:ext uri="{BB962C8B-B14F-4D97-AF65-F5344CB8AC3E}">
        <p14:creationId xmlns:p14="http://schemas.microsoft.com/office/powerpoint/2010/main" val="233540331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8575"/>
            <a:ext cx="7620000" cy="1143000"/>
          </a:xfrm>
        </p:spPr>
        <p:txBody>
          <a:bodyPr/>
          <a:lstStyle/>
          <a:p>
            <a:r>
              <a:rPr lang="en-US" b="1" dirty="0" smtClean="0"/>
              <a:t>Spring 24</a:t>
            </a:r>
            <a:endParaRPr lang="en-US" b="1" dirty="0"/>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895089"/>
            <a:ext cx="4953000" cy="5936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52676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Spring 24</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smtClean="0">
                <a:solidFill>
                  <a:schemeClr val="tx2"/>
                </a:solidFill>
              </a:rPr>
              <a:t>1b</a:t>
            </a:r>
            <a:r>
              <a:rPr lang="en-US" sz="2400" dirty="0">
                <a:solidFill>
                  <a:schemeClr val="tx2"/>
                </a:solidFill>
              </a:rPr>
              <a:t>. Yummy is a fast-food chain restaurant serving the best dishes. They offer the customer’s to enjoy </a:t>
            </a:r>
            <a:r>
              <a:rPr lang="en-US" sz="2400" dirty="0" smtClean="0">
                <a:solidFill>
                  <a:schemeClr val="tx2"/>
                </a:solidFill>
              </a:rPr>
              <a:t>an open </a:t>
            </a:r>
            <a:r>
              <a:rPr lang="en-US" sz="2400" dirty="0">
                <a:solidFill>
                  <a:schemeClr val="tx2"/>
                </a:solidFill>
              </a:rPr>
              <a:t>live kitchen and see their food being prepared. They cook their food either in the Skillet </a:t>
            </a:r>
            <a:r>
              <a:rPr lang="en-US" sz="2400" dirty="0" smtClean="0">
                <a:solidFill>
                  <a:schemeClr val="tx2"/>
                </a:solidFill>
              </a:rPr>
              <a:t>Grill, Tandoor </a:t>
            </a:r>
            <a:r>
              <a:rPr lang="en-US" sz="2400" dirty="0">
                <a:solidFill>
                  <a:schemeClr val="tx2"/>
                </a:solidFill>
              </a:rPr>
              <a:t>Grill, Air Fryer according to the customer’s demand.</a:t>
            </a:r>
            <a:r>
              <a:rPr lang="en-US" sz="2400" dirty="0" smtClean="0">
                <a:solidFill>
                  <a:schemeClr val="tx2"/>
                </a:solidFill>
              </a:rPr>
              <a:t/>
            </a:r>
            <a:br>
              <a:rPr lang="en-US" sz="2400" dirty="0" smtClean="0">
                <a:solidFill>
                  <a:schemeClr val="tx2"/>
                </a:solidFill>
              </a:rPr>
            </a:br>
            <a:endParaRPr lang="en-US" sz="2400" dirty="0">
              <a:solidFill>
                <a:schemeClr val="tx2"/>
              </a:solidFill>
            </a:endParaRPr>
          </a:p>
          <a:p>
            <a:pPr marL="114300" indent="0">
              <a:buNone/>
            </a:pPr>
            <a:r>
              <a:rPr lang="en-US" sz="2400" dirty="0">
                <a:solidFill>
                  <a:schemeClr val="tx2"/>
                </a:solidFill>
              </a:rPr>
              <a:t>Draw an UML diagram for the scenario above using the appropriate design pattern</a:t>
            </a:r>
            <a:r>
              <a:rPr lang="en-US" sz="2400" dirty="0" smtClean="0">
                <a:solidFill>
                  <a:schemeClr val="tx2"/>
                </a:solidFill>
              </a:rPr>
              <a:t>. [CO2] [4 Marks]</a:t>
            </a:r>
          </a:p>
        </p:txBody>
      </p:sp>
    </p:spTree>
    <p:extLst>
      <p:ext uri="{BB962C8B-B14F-4D97-AF65-F5344CB8AC3E}">
        <p14:creationId xmlns:p14="http://schemas.microsoft.com/office/powerpoint/2010/main" val="37383789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9050"/>
            <a:ext cx="7620000" cy="1143000"/>
          </a:xfrm>
        </p:spPr>
        <p:txBody>
          <a:bodyPr/>
          <a:lstStyle/>
          <a:p>
            <a:r>
              <a:rPr lang="en-US" b="1" dirty="0" smtClean="0"/>
              <a:t>Spring 24</a:t>
            </a:r>
            <a:endParaRPr lang="en-US" b="1" dirty="0"/>
          </a:p>
        </p:txBody>
      </p:sp>
      <p:sp>
        <p:nvSpPr>
          <p:cNvPr id="3" name="Content Placeholder 2"/>
          <p:cNvSpPr>
            <a:spLocks noGrp="1"/>
          </p:cNvSpPr>
          <p:nvPr>
            <p:ph idx="1"/>
          </p:nvPr>
        </p:nvSpPr>
        <p:spPr/>
        <p:txBody>
          <a:bodyPr>
            <a:normAutofit/>
          </a:bodyPr>
          <a:lstStyle/>
          <a:p>
            <a:pPr marL="114300" indent="0">
              <a:buNone/>
            </a:pPr>
            <a:endParaRPr lang="en-US" sz="2400" dirty="0" smtClean="0">
              <a:solidFill>
                <a:schemeClr val="tx2"/>
              </a:solidFill>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799" y="990600"/>
            <a:ext cx="5116373"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65415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Fall 23</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smtClean="0">
                <a:solidFill>
                  <a:schemeClr val="tx2"/>
                </a:solidFill>
              </a:rPr>
              <a:t>1. Part 1: [CO2] [4 Marks]</a:t>
            </a:r>
            <a:br>
              <a:rPr lang="en-US" sz="2400" dirty="0" smtClean="0">
                <a:solidFill>
                  <a:schemeClr val="tx2"/>
                </a:solidFill>
              </a:rPr>
            </a:br>
            <a:r>
              <a:rPr lang="en-US" sz="2400" dirty="0">
                <a:solidFill>
                  <a:schemeClr val="tx2"/>
                </a:solidFill>
              </a:rPr>
              <a:t/>
            </a:r>
            <a:br>
              <a:rPr lang="en-US" sz="2400" dirty="0">
                <a:solidFill>
                  <a:schemeClr val="tx2"/>
                </a:solidFill>
              </a:rPr>
            </a:br>
            <a:r>
              <a:rPr lang="en-US" sz="2400" dirty="0">
                <a:solidFill>
                  <a:schemeClr val="tx2"/>
                </a:solidFill>
              </a:rPr>
              <a:t>You’re a proprietor of a television manufacturing company. The television can only be in two modes: on, </a:t>
            </a:r>
            <a:r>
              <a:rPr lang="en-US" sz="2400" dirty="0" smtClean="0">
                <a:solidFill>
                  <a:schemeClr val="tx2"/>
                </a:solidFill>
              </a:rPr>
              <a:t>and </a:t>
            </a:r>
            <a:r>
              <a:rPr lang="en-US" sz="2400" dirty="0">
                <a:solidFill>
                  <a:schemeClr val="tx2"/>
                </a:solidFill>
              </a:rPr>
              <a:t>off. It may go from on to off if the power button is pressed. It goes from off to on similarly. Follow </a:t>
            </a:r>
            <a:r>
              <a:rPr lang="en-US" sz="2400" dirty="0" smtClean="0">
                <a:solidFill>
                  <a:schemeClr val="tx2"/>
                </a:solidFill>
              </a:rPr>
              <a:t>an appropriate </a:t>
            </a:r>
            <a:r>
              <a:rPr lang="en-US" sz="2400" dirty="0">
                <a:solidFill>
                  <a:schemeClr val="tx2"/>
                </a:solidFill>
              </a:rPr>
              <a:t>design pattern and draw an UML diagram for this scenario.</a:t>
            </a:r>
          </a:p>
        </p:txBody>
      </p:sp>
    </p:spTree>
    <p:extLst>
      <p:ext uri="{BB962C8B-B14F-4D97-AF65-F5344CB8AC3E}">
        <p14:creationId xmlns:p14="http://schemas.microsoft.com/office/powerpoint/2010/main" val="37604178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7620000" cy="1143000"/>
          </a:xfrm>
        </p:spPr>
        <p:txBody>
          <a:bodyPr/>
          <a:lstStyle/>
          <a:p>
            <a:r>
              <a:rPr lang="en-US" b="1" dirty="0" smtClean="0"/>
              <a:t>Fall 23</a:t>
            </a:r>
            <a:endParaRPr lang="en-US" b="1" dirty="0"/>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0" y="38100"/>
            <a:ext cx="5112863" cy="6778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26596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Fall 23</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smtClean="0">
                <a:solidFill>
                  <a:schemeClr val="tx2"/>
                </a:solidFill>
              </a:rPr>
              <a:t>1. Part 2: [CO2] [4 Marks]</a:t>
            </a:r>
            <a:br>
              <a:rPr lang="en-US" sz="2400" dirty="0" smtClean="0">
                <a:solidFill>
                  <a:schemeClr val="tx2"/>
                </a:solidFill>
              </a:rPr>
            </a:br>
            <a:r>
              <a:rPr lang="en-US" sz="2400" dirty="0">
                <a:solidFill>
                  <a:schemeClr val="tx2"/>
                </a:solidFill>
              </a:rPr>
              <a:t/>
            </a:r>
            <a:br>
              <a:rPr lang="en-US" sz="2400" dirty="0">
                <a:solidFill>
                  <a:schemeClr val="tx2"/>
                </a:solidFill>
              </a:rPr>
            </a:br>
            <a:r>
              <a:rPr lang="en-US" sz="2400" dirty="0">
                <a:solidFill>
                  <a:schemeClr val="tx2"/>
                </a:solidFill>
              </a:rPr>
              <a:t>Later, you have decided to add surveillance mode (</a:t>
            </a:r>
            <a:r>
              <a:rPr lang="en-US" sz="2400" dirty="0" smtClean="0">
                <a:solidFill>
                  <a:schemeClr val="tx2"/>
                </a:solidFill>
              </a:rPr>
              <a:t>the front </a:t>
            </a:r>
            <a:r>
              <a:rPr lang="en-US" sz="2400" dirty="0">
                <a:solidFill>
                  <a:schemeClr val="tx2"/>
                </a:solidFill>
              </a:rPr>
              <a:t>camera acts like a CCTV camera) and a </a:t>
            </a:r>
            <a:r>
              <a:rPr lang="en-US" sz="2400" dirty="0" smtClean="0">
                <a:solidFill>
                  <a:schemeClr val="tx2"/>
                </a:solidFill>
              </a:rPr>
              <a:t>constant-display mode (used to display some portraits letting the TV behave like wall art). These two features are independent and optional. You plan to add more features like these in the future. Which design pattern would you use to support this addition? Give e brief explanation.</a:t>
            </a:r>
            <a:endParaRPr lang="en-US" sz="2400" dirty="0">
              <a:solidFill>
                <a:schemeClr val="tx2"/>
              </a:solidFill>
            </a:endParaRPr>
          </a:p>
        </p:txBody>
      </p:sp>
    </p:spTree>
    <p:extLst>
      <p:ext uri="{BB962C8B-B14F-4D97-AF65-F5344CB8AC3E}">
        <p14:creationId xmlns:p14="http://schemas.microsoft.com/office/powerpoint/2010/main" val="41746043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3337"/>
            <a:ext cx="7620000" cy="1143000"/>
          </a:xfrm>
        </p:spPr>
        <p:txBody>
          <a:bodyPr/>
          <a:lstStyle/>
          <a:p>
            <a:r>
              <a:rPr lang="en-US" b="1" dirty="0" smtClean="0"/>
              <a:t>Fall 23</a:t>
            </a:r>
            <a:endParaRPr lang="en-US" b="1" dirty="0"/>
          </a:p>
        </p:txBody>
      </p:sp>
      <p:sp>
        <p:nvSpPr>
          <p:cNvPr id="3" name="Content Placeholder 2"/>
          <p:cNvSpPr>
            <a:spLocks noGrp="1"/>
          </p:cNvSpPr>
          <p:nvPr>
            <p:ph idx="1"/>
          </p:nvPr>
        </p:nvSpPr>
        <p:spPr/>
        <p:txBody>
          <a:bodyPr>
            <a:normAutofit/>
          </a:bodyPr>
          <a:lstStyle/>
          <a:p>
            <a:pPr marL="114300" indent="0">
              <a:buNone/>
            </a:pPr>
            <a:endParaRPr lang="en-US" sz="2400" dirty="0">
              <a:solidFill>
                <a:schemeClr val="tx2"/>
              </a:solidFill>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6269" y="280987"/>
            <a:ext cx="6303845"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57861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Summer 23</a:t>
            </a:r>
            <a:endParaRPr lang="en-US" b="1" dirty="0"/>
          </a:p>
        </p:txBody>
      </p:sp>
      <p:sp>
        <p:nvSpPr>
          <p:cNvPr id="3" name="Content Placeholder 2"/>
          <p:cNvSpPr>
            <a:spLocks noGrp="1"/>
          </p:cNvSpPr>
          <p:nvPr>
            <p:ph idx="1"/>
          </p:nvPr>
        </p:nvSpPr>
        <p:spPr/>
        <p:txBody>
          <a:bodyPr>
            <a:normAutofit/>
          </a:bodyPr>
          <a:lstStyle/>
          <a:p>
            <a:pPr marL="114300" indent="0">
              <a:buNone/>
            </a:pPr>
            <a:r>
              <a:rPr lang="en-US" sz="2400" dirty="0" smtClean="0">
                <a:solidFill>
                  <a:schemeClr val="tx2"/>
                </a:solidFill>
              </a:rPr>
              <a:t>1</a:t>
            </a:r>
            <a:r>
              <a:rPr lang="en-US" sz="2400" dirty="0">
                <a:solidFill>
                  <a:schemeClr val="tx2"/>
                </a:solidFill>
              </a:rPr>
              <a:t>. Draw an UML diagram for the following scenario: </a:t>
            </a:r>
            <a:r>
              <a:rPr lang="en-US" sz="2400" dirty="0" smtClean="0">
                <a:solidFill>
                  <a:schemeClr val="tx2"/>
                </a:solidFill>
              </a:rPr>
              <a:t/>
            </a:r>
            <a:br>
              <a:rPr lang="en-US" sz="2400" dirty="0" smtClean="0">
                <a:solidFill>
                  <a:schemeClr val="tx2"/>
                </a:solidFill>
              </a:rPr>
            </a:br>
            <a:r>
              <a:rPr lang="en-US" sz="2400" dirty="0" smtClean="0">
                <a:solidFill>
                  <a:schemeClr val="tx2"/>
                </a:solidFill>
              </a:rPr>
              <a:t>[</a:t>
            </a:r>
            <a:r>
              <a:rPr lang="en-US" sz="2400" dirty="0">
                <a:solidFill>
                  <a:schemeClr val="tx2"/>
                </a:solidFill>
              </a:rPr>
              <a:t>CO2] [8 Marks]</a:t>
            </a:r>
          </a:p>
          <a:p>
            <a:pPr marL="114300" indent="0">
              <a:buNone/>
            </a:pPr>
            <a:r>
              <a:rPr lang="en-US" sz="2400" dirty="0" smtClean="0">
                <a:solidFill>
                  <a:schemeClr val="tx2"/>
                </a:solidFill>
              </a:rPr>
              <a:t/>
            </a:r>
            <a:br>
              <a:rPr lang="en-US" sz="2400" dirty="0" smtClean="0">
                <a:solidFill>
                  <a:schemeClr val="tx2"/>
                </a:solidFill>
              </a:rPr>
            </a:br>
            <a:r>
              <a:rPr lang="en-US" sz="2400" dirty="0" smtClean="0">
                <a:solidFill>
                  <a:schemeClr val="tx2"/>
                </a:solidFill>
              </a:rPr>
              <a:t>Visual </a:t>
            </a:r>
            <a:r>
              <a:rPr lang="en-US" sz="2400" dirty="0">
                <a:solidFill>
                  <a:schemeClr val="tx2"/>
                </a:solidFill>
              </a:rPr>
              <a:t>Studio Code is an IDE which is used for writing and editing codes in different </a:t>
            </a:r>
            <a:r>
              <a:rPr lang="en-US" sz="2400" dirty="0" smtClean="0">
                <a:solidFill>
                  <a:schemeClr val="tx2"/>
                </a:solidFill>
              </a:rPr>
              <a:t>languages. The </a:t>
            </a:r>
            <a:r>
              <a:rPr lang="en-US" sz="2400" dirty="0">
                <a:solidFill>
                  <a:schemeClr val="tx2"/>
                </a:solidFill>
              </a:rPr>
              <a:t>IDE supports programming languages such as C, Java, Python, and normal Text as well. </a:t>
            </a:r>
            <a:r>
              <a:rPr lang="en-US" sz="2400" dirty="0" smtClean="0">
                <a:solidFill>
                  <a:schemeClr val="tx2"/>
                </a:solidFill>
              </a:rPr>
              <a:t>It currently </a:t>
            </a:r>
            <a:r>
              <a:rPr lang="en-US" sz="2400" dirty="0">
                <a:solidFill>
                  <a:schemeClr val="tx2"/>
                </a:solidFill>
              </a:rPr>
              <a:t>has different text styles such as Textual, Graphical and Colorful. The IDE </a:t>
            </a:r>
            <a:r>
              <a:rPr lang="en-US" sz="2400" dirty="0" smtClean="0">
                <a:solidFill>
                  <a:schemeClr val="tx2"/>
                </a:solidFill>
              </a:rPr>
              <a:t>supports themes </a:t>
            </a:r>
            <a:r>
              <a:rPr lang="en-US" sz="2400" dirty="0">
                <a:solidFill>
                  <a:schemeClr val="tx2"/>
                </a:solidFill>
              </a:rPr>
              <a:t>such as Dracula and Heavenly. The Visual Studio Code team wants to add annotations </a:t>
            </a:r>
            <a:r>
              <a:rPr lang="en-US" sz="2400" dirty="0" smtClean="0">
                <a:solidFill>
                  <a:schemeClr val="tx2"/>
                </a:solidFill>
              </a:rPr>
              <a:t>to their </a:t>
            </a:r>
            <a:r>
              <a:rPr lang="en-US" sz="2400" dirty="0">
                <a:solidFill>
                  <a:schemeClr val="tx2"/>
                </a:solidFill>
              </a:rPr>
              <a:t>codes such as Comments and Diagrams.</a:t>
            </a:r>
          </a:p>
        </p:txBody>
      </p:sp>
    </p:spTree>
    <p:extLst>
      <p:ext uri="{BB962C8B-B14F-4D97-AF65-F5344CB8AC3E}">
        <p14:creationId xmlns:p14="http://schemas.microsoft.com/office/powerpoint/2010/main" val="34877144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12" y="0"/>
            <a:ext cx="7620000" cy="1143000"/>
          </a:xfrm>
        </p:spPr>
        <p:txBody>
          <a:bodyPr/>
          <a:lstStyle/>
          <a:p>
            <a:r>
              <a:rPr lang="en-US" b="1" dirty="0" smtClean="0"/>
              <a:t>Summer 23</a:t>
            </a:r>
            <a:endParaRPr lang="en-US" b="1" dirty="0"/>
          </a:p>
        </p:txBody>
      </p:sp>
      <p:sp>
        <p:nvSpPr>
          <p:cNvPr id="3" name="Content Placeholder 2"/>
          <p:cNvSpPr>
            <a:spLocks noGrp="1"/>
          </p:cNvSpPr>
          <p:nvPr>
            <p:ph idx="1"/>
          </p:nvPr>
        </p:nvSpPr>
        <p:spPr/>
        <p:txBody>
          <a:bodyPr>
            <a:normAutofit/>
          </a:bodyPr>
          <a:lstStyle/>
          <a:p>
            <a:pPr marL="114300" indent="0">
              <a:buNone/>
            </a:pPr>
            <a:endParaRPr lang="en-US" sz="2400" dirty="0">
              <a:solidFill>
                <a:schemeClr val="tx2"/>
              </a:solidFill>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5412" y="228600"/>
            <a:ext cx="537005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09747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Spring 23 - MID</a:t>
            </a:r>
            <a:endParaRPr lang="en-US" b="1" dirty="0"/>
          </a:p>
        </p:txBody>
      </p:sp>
      <p:sp>
        <p:nvSpPr>
          <p:cNvPr id="3" name="Content Placeholder 2"/>
          <p:cNvSpPr>
            <a:spLocks noGrp="1"/>
          </p:cNvSpPr>
          <p:nvPr>
            <p:ph idx="1"/>
          </p:nvPr>
        </p:nvSpPr>
        <p:spPr>
          <a:xfrm>
            <a:off x="304800" y="1371600"/>
            <a:ext cx="8001000" cy="5257800"/>
          </a:xfrm>
        </p:spPr>
        <p:txBody>
          <a:bodyPr>
            <a:normAutofit/>
          </a:bodyPr>
          <a:lstStyle/>
          <a:p>
            <a:pPr marL="114300" indent="0">
              <a:buNone/>
            </a:pPr>
            <a:r>
              <a:rPr lang="en-US" sz="2400" dirty="0">
                <a:solidFill>
                  <a:schemeClr val="tx2"/>
                </a:solidFill>
              </a:rPr>
              <a:t>4. Draw an UML diagram for the given scenario using the appropriate design pattern</a:t>
            </a:r>
            <a:r>
              <a:rPr lang="en-US" sz="2400" dirty="0" smtClean="0">
                <a:solidFill>
                  <a:schemeClr val="tx2"/>
                </a:solidFill>
              </a:rPr>
              <a:t>: [CO2] [6 Marks]</a:t>
            </a:r>
            <a:br>
              <a:rPr lang="en-US" sz="2400" dirty="0" smtClean="0">
                <a:solidFill>
                  <a:schemeClr val="tx2"/>
                </a:solidFill>
              </a:rPr>
            </a:br>
            <a:endParaRPr lang="en-US" sz="2400" dirty="0">
              <a:solidFill>
                <a:schemeClr val="tx2"/>
              </a:solidFill>
            </a:endParaRPr>
          </a:p>
          <a:p>
            <a:pPr marL="114300" indent="0">
              <a:buNone/>
            </a:pPr>
            <a:r>
              <a:rPr lang="en-US" sz="2400" dirty="0">
                <a:solidFill>
                  <a:schemeClr val="tx2"/>
                </a:solidFill>
              </a:rPr>
              <a:t>Picasso is an art gallery company which creates different types of artwork. The three </a:t>
            </a:r>
            <a:r>
              <a:rPr lang="en-US" sz="2400" dirty="0" smtClean="0">
                <a:solidFill>
                  <a:schemeClr val="tx2"/>
                </a:solidFill>
              </a:rPr>
              <a:t>major artworks </a:t>
            </a:r>
            <a:r>
              <a:rPr lang="en-US" sz="2400" dirty="0">
                <a:solidFill>
                  <a:schemeClr val="tx2"/>
                </a:solidFill>
              </a:rPr>
              <a:t>that are available in the company are Sketches, Portraits and Sculptures. Picasso </a:t>
            </a:r>
            <a:r>
              <a:rPr lang="en-US" sz="2400" dirty="0" smtClean="0">
                <a:solidFill>
                  <a:schemeClr val="tx2"/>
                </a:solidFill>
              </a:rPr>
              <a:t>provides multiple </a:t>
            </a:r>
            <a:r>
              <a:rPr lang="en-US" sz="2400" dirty="0">
                <a:solidFill>
                  <a:schemeClr val="tx2"/>
                </a:solidFill>
              </a:rPr>
              <a:t>paint options such as Oil Paint, Pencils, Crayons. The paper options available are </a:t>
            </a:r>
            <a:r>
              <a:rPr lang="en-US" sz="2400" dirty="0" smtClean="0">
                <a:solidFill>
                  <a:schemeClr val="tx2"/>
                </a:solidFill>
              </a:rPr>
              <a:t>Art Paper</a:t>
            </a:r>
            <a:r>
              <a:rPr lang="en-US" sz="2400" dirty="0">
                <a:solidFill>
                  <a:schemeClr val="tx2"/>
                </a:solidFill>
              </a:rPr>
              <a:t>, Canvass. Also multiple tools are available such as Brushes, Chisel and Hammer. </a:t>
            </a:r>
            <a:r>
              <a:rPr lang="en-US" sz="2400" dirty="0" smtClean="0">
                <a:solidFill>
                  <a:schemeClr val="tx2"/>
                </a:solidFill>
              </a:rPr>
              <a:t>Sketches are </a:t>
            </a:r>
            <a:r>
              <a:rPr lang="en-US" sz="2400" dirty="0">
                <a:solidFill>
                  <a:schemeClr val="tx2"/>
                </a:solidFill>
              </a:rPr>
              <a:t>made on Art Paper with the help of Pencils and Crayons. Portraits require a Canvass, </a:t>
            </a:r>
            <a:r>
              <a:rPr lang="en-US" sz="2400" dirty="0" smtClean="0">
                <a:solidFill>
                  <a:schemeClr val="tx2"/>
                </a:solidFill>
              </a:rPr>
              <a:t>Brushes and </a:t>
            </a:r>
            <a:r>
              <a:rPr lang="en-US" sz="2400" dirty="0">
                <a:solidFill>
                  <a:schemeClr val="tx2"/>
                </a:solidFill>
              </a:rPr>
              <a:t>Oil Paint. Sculptures need Marble and Chisel and Hammer to build. </a:t>
            </a:r>
          </a:p>
        </p:txBody>
      </p:sp>
    </p:spTree>
    <p:extLst>
      <p:ext uri="{BB962C8B-B14F-4D97-AF65-F5344CB8AC3E}">
        <p14:creationId xmlns:p14="http://schemas.microsoft.com/office/powerpoint/2010/main" val="361496921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9050"/>
            <a:ext cx="7620000" cy="1143000"/>
          </a:xfrm>
        </p:spPr>
        <p:txBody>
          <a:bodyPr/>
          <a:lstStyle/>
          <a:p>
            <a:r>
              <a:rPr lang="en-US" b="1" dirty="0" smtClean="0"/>
              <a:t>Spring 23 - MID</a:t>
            </a:r>
            <a:endParaRPr lang="en-US" b="1" dirty="0"/>
          </a:p>
        </p:txBody>
      </p:sp>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3600" y="842961"/>
            <a:ext cx="4800600" cy="6043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997827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438400"/>
            <a:ext cx="7848600" cy="1447800"/>
          </a:xfrm>
        </p:spPr>
        <p:txBody>
          <a:bodyPr/>
          <a:lstStyle/>
          <a:p>
            <a:pPr algn="ctr"/>
            <a:r>
              <a:rPr lang="en-US" b="1" dirty="0" smtClean="0"/>
              <a:t>THANK YOU ^_^ !!!</a:t>
            </a:r>
            <a:br>
              <a:rPr lang="en-US" b="1" dirty="0" smtClean="0"/>
            </a:br>
            <a:r>
              <a:rPr lang="en-US" b="1" dirty="0" smtClean="0"/>
              <a:t>BEST OF LUCK ^_^ !!!</a:t>
            </a:r>
            <a:endParaRPr lang="en-US" b="1" dirty="0"/>
          </a:p>
        </p:txBody>
      </p:sp>
    </p:spTree>
    <p:extLst>
      <p:ext uri="{BB962C8B-B14F-4D97-AF65-F5344CB8AC3E}">
        <p14:creationId xmlns:p14="http://schemas.microsoft.com/office/powerpoint/2010/main" val="205364627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100</TotalTime>
  <Words>675</Words>
  <Application>Microsoft Office PowerPoint</Application>
  <PresentationFormat>On-screen Show (4:3)</PresentationFormat>
  <Paragraphs>67</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Adjacency</vt:lpstr>
      <vt:lpstr>Design Pattern QP Solutions</vt:lpstr>
      <vt:lpstr>Disclaimer</vt:lpstr>
      <vt:lpstr>Spring 26</vt:lpstr>
      <vt:lpstr>Spring 26</vt:lpstr>
      <vt:lpstr>Spring 26</vt:lpstr>
      <vt:lpstr>Spring 26</vt:lpstr>
      <vt:lpstr>Fall 25</vt:lpstr>
      <vt:lpstr>Fall 25</vt:lpstr>
      <vt:lpstr>Fall 25</vt:lpstr>
      <vt:lpstr>Fall 25</vt:lpstr>
      <vt:lpstr>Summer 25</vt:lpstr>
      <vt:lpstr>Summer 25</vt:lpstr>
      <vt:lpstr>Summer 25</vt:lpstr>
      <vt:lpstr>Summer 25</vt:lpstr>
      <vt:lpstr>Spring 25</vt:lpstr>
      <vt:lpstr>Spring 25</vt:lpstr>
      <vt:lpstr>Spring 25</vt:lpstr>
      <vt:lpstr>Spring 25</vt:lpstr>
      <vt:lpstr>Fall 24</vt:lpstr>
      <vt:lpstr>Fall 24</vt:lpstr>
      <vt:lpstr>Summer 24</vt:lpstr>
      <vt:lpstr>Summer 24</vt:lpstr>
      <vt:lpstr>Spring 24</vt:lpstr>
      <vt:lpstr>Spring 24</vt:lpstr>
      <vt:lpstr>Spring 24</vt:lpstr>
      <vt:lpstr>Spring 24</vt:lpstr>
      <vt:lpstr>Fall 23</vt:lpstr>
      <vt:lpstr>Fall 23</vt:lpstr>
      <vt:lpstr>Fall 23</vt:lpstr>
      <vt:lpstr>Fall 23</vt:lpstr>
      <vt:lpstr>Summer 23</vt:lpstr>
      <vt:lpstr>Summer 23</vt:lpstr>
      <vt:lpstr>Spring 23 - MID</vt:lpstr>
      <vt:lpstr>Spring 23 - MID</vt:lpstr>
      <vt:lpstr>THANK YOU ^_^ !!! BEST OF LUCK ^_^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 QP Solutions</dc:title>
  <dc:creator>Samin Sharaf Somik</dc:creator>
  <cp:lastModifiedBy>Samin Sharaf Somik</cp:lastModifiedBy>
  <cp:revision>10</cp:revision>
  <dcterms:created xsi:type="dcterms:W3CDTF">2006-08-16T00:00:00Z</dcterms:created>
  <dcterms:modified xsi:type="dcterms:W3CDTF">2026-09-12T09:19:12Z</dcterms:modified>
</cp:coreProperties>
</file>