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40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59" r:id="rId18"/>
    <p:sldId id="279" r:id="rId19"/>
    <p:sldId id="278" r:id="rId20"/>
    <p:sldId id="277" r:id="rId21"/>
    <p:sldId id="285" r:id="rId22"/>
    <p:sldId id="286" r:id="rId23"/>
    <p:sldId id="287" r:id="rId24"/>
    <p:sldId id="288" r:id="rId25"/>
    <p:sldId id="280" r:id="rId26"/>
    <p:sldId id="281" r:id="rId27"/>
    <p:sldId id="282" r:id="rId28"/>
    <p:sldId id="283" r:id="rId29"/>
    <p:sldId id="284" r:id="rId30"/>
    <p:sldId id="272" r:id="rId31"/>
    <p:sldId id="273" r:id="rId32"/>
    <p:sldId id="274" r:id="rId33"/>
    <p:sldId id="275" r:id="rId34"/>
    <p:sldId id="276" r:id="rId35"/>
    <p:sldId id="289" r:id="rId36"/>
    <p:sldId id="290" r:id="rId37"/>
    <p:sldId id="291" r:id="rId38"/>
    <p:sldId id="292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16" y="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39988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35a39aed8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d35a39aed8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35a39aed8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35a39aed8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d35a39aed8_2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d35a39aed8_2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5a39aed8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d35a39aed8_2_3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3d35a39aed8_2_3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5a39aed8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d35a39aed8_2_6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d35a39aed8_2_6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5a39aed8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d35a39aed8_2_8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d35a39aed8_2_8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35a39aed8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d35a39aed8_2_10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35a39aed8_2_10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35a39aed8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d35a39aed8_2_12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d35a39aed8_2_12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5a39aed8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d35a39aed8_2_14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d35a39aed8_2_14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35a39aed8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d35a39aed8_2_15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d35a39aed8_2_15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35a39aed8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d35a39aed8_2_17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d35a39aed8_2_17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35a39aed8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d35a39aed8_2_20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d35a39aed8_2_20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35a39aed8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3d35a39aed8_2_22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d35a39aed8_2_22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35a39aed8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d35a39aed8_2_24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d35a39aed8_2_24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35a39aed8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d35a39aed8_2_27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d35a39aed8_2_27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35a39aed8_2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d35a39aed8_2_28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d35a39aed8_2_28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5a39aed8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d35a39aed8_2_4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d35a39aed8_2_4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35a39aed8_2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d35a39aed8_2_34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g3d35a39aed8_2_34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35a39aed8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3d35a39aed8_2_33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3d35a39aed8_2_33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35a39aed8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3d35a39aed8_2_30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d35a39aed8_2_30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35a39aed8_2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g3d35a39aed8_2_55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d35a39aed8_2_55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35a39aed8_2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3d35a39aed8_2_58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d35a39aed8_2_58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35a39aed8_2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g3d35a39aed8_2_60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g3d35a39aed8_2_60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cc40b789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g3dcc40b7893_0_3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g3dcc40b7893_0_3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35a39aed8_2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d35a39aed8_2_3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d35a39aed8_2_3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35a39aed8_2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3d35a39aed8_2_40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d35a39aed8_2_40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35a39aed8_2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5" name="Google Shape;515;g3d35a39aed8_2_43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d35a39aed8_2_43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35a39aed8_2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g3d35a39aed8_2_4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g3d35a39aed8_2_4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35a39aed8_2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g3d35a39aed8_2_48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g3d35a39aed8_2_48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35a39aed8_2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d35a39aed8_2_41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d35a39aed8_2_41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35a39ae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d35a39aed8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d35a39aed8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cc40b789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dcc40b7893_0_4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dcc40b7893_0_4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cc40b789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3dcc40b7893_0_7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dcc40b7893_0_7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cc40b789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dcc40b7893_0_9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dcc40b7893_0_9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35a39aed8_2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d35a39aed8_2_19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3d35a39aed8_2_19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35a39aed8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7" name="Google Shape;667;g3d35a39aed8_2_50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g3d35a39aed8_2_50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cc40b789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g3dcc40b7893_0_12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g3dcc40b7893_0_12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cc40b789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g3dcc40b7893_0_14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3dcc40b7893_0_14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0930" y="2926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731520" y="9144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lang="en" sz="4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Git &amp; GitHub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Version Control?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/>
          <p:nvPr/>
        </p:nvSpPr>
        <p:spPr>
          <a:xfrm>
            <a:off x="12344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lang="en" sz="18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sz="1800" b="0" i="0" u="none" strike="noStrike" cap="non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report_final.docx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report_final_v2.docx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Consolas"/>
              <a:buNone/>
            </a:pPr>
            <a:r>
              <a:rPr lang="en" sz="13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report_FINAL_FINAL.docx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onsolas"/>
              <a:buNone/>
            </a:pPr>
            <a:r>
              <a:rPr lang="en" sz="13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report_FINAL_FINAL_fixed.docx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Sound familiar? We've all been there.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553212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Trebuchet MS"/>
              <a:buNone/>
            </a:pPr>
            <a:r>
              <a:rPr lang="en" sz="18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Solution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Version Control Systems (VCS) track every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change to your files over time.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 can: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Revert to any previous version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See who changed what and when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Collaborate without overwriting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Work on features in parallel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vs GitHub</a:t>
            </a:r>
            <a:r>
              <a:rPr lang="en" sz="32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Know the Difference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400"/>
              <a:buFont typeface="Trebuchet MS"/>
              <a:buNone/>
            </a:pPr>
            <a:r>
              <a:rPr lang="en" sz="24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73152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distributed version control system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Runs locally on your machine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Tracks changes in a repository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Works completely offline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Created by Linus Torvalds (2005)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&amp; open source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400"/>
              <a:buFont typeface="Trebuchet MS"/>
              <a:buNone/>
            </a:pPr>
            <a:r>
              <a:rPr lang="en" sz="24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02920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cloud platform built around Git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Hosts Git repositories online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Adds collaboration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Pull Requests, Issues, Actions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Owned by Microsoft (since 2018)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for public repositories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Git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363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796563" y="1181945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lang="en" sz="1800" b="1" i="0" u="none" strike="noStrike" cap="non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Installation</a:t>
            </a:r>
            <a:endParaRPr sz="1800" b="0" i="0" u="none" strike="noStrike" cap="non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339363" y="1730585"/>
            <a:ext cx="3840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522242" y="1822025"/>
            <a:ext cx="3474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Windows: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Download from git-scm.com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macOS: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brew install git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Linux (Ubuntu/Debian):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sudo apt install git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6768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4993968" y="118194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Trebuchet MS"/>
              <a:buNone/>
            </a:pPr>
            <a:r>
              <a:rPr lang="en" sz="18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First-Time Configuration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536750" y="1730575"/>
            <a:ext cx="43329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628275" y="1822025"/>
            <a:ext cx="4241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lang="en" sz="12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who you are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user.name "Your Name"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lang="en" sz="12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your email (preferred to put your GitHub email here)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user.email</a:t>
            </a:r>
            <a:r>
              <a:rPr lang="en" sz="1200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"you@email.com"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Verify your configuration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--list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Core Concepts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 (Repo)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73152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folder tracked by Git. Contains your project files plus a hidden .git directory that stores the entire change history.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Directory</a:t>
            </a:r>
            <a:endParaRPr sz="1600" b="0" i="0" u="none" strike="noStrike" cap="non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actual files you see and edit on your computer. This is your project folder as it currently looks.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114300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 Area (Index)</a:t>
            </a:r>
            <a:endParaRPr sz="1600" b="0" i="0" u="none" strike="noStrike" cap="non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73152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preparation zone. You "stage" specific changes before committing them. Think of it as a draft of your next snapshot.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544068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</a:t>
            </a:r>
            <a:endParaRPr sz="16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permanent snapshot of staged changes. Each commit has a unique ID (SHA hash), author, timestamp, and message.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Three States of Git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65760" y="1828800"/>
            <a:ext cx="2011680" cy="1463040"/>
          </a:xfrm>
          <a:prstGeom prst="rect">
            <a:avLst/>
          </a:prstGeom>
          <a:solidFill>
            <a:srgbClr val="F6F8FA"/>
          </a:solidFill>
          <a:ln w="25400" cap="flat" cmpd="sng">
            <a:solidFill>
              <a:srgbClr val="1A7F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36576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Directory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237745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→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3611875" y="1828800"/>
            <a:ext cx="2011800" cy="1463100"/>
          </a:xfrm>
          <a:prstGeom prst="rect">
            <a:avLst/>
          </a:prstGeom>
          <a:solidFill>
            <a:srgbClr val="F6F8FA"/>
          </a:solidFill>
          <a:ln w="25400" cap="flat" cmpd="sng">
            <a:solidFill>
              <a:srgbClr val="BF8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/>
          <p:nvPr/>
        </p:nvSpPr>
        <p:spPr>
          <a:xfrm>
            <a:off x="3698674" y="2491675"/>
            <a:ext cx="18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</a:t>
            </a:r>
            <a:endParaRPr sz="1400" b="0" i="0" u="none" strike="noStrike" cap="non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Area</a:t>
            </a:r>
            <a:endParaRPr sz="1400" b="0" i="0" u="none" strike="noStrike" cap="non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564648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lang="en" sz="11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commit →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949440" y="1828800"/>
            <a:ext cx="2011680" cy="1463040"/>
          </a:xfrm>
          <a:prstGeom prst="rect">
            <a:avLst/>
          </a:prstGeom>
          <a:solidFill>
            <a:srgbClr val="F6F8FA"/>
          </a:solidFill>
          <a:ln w="25400" cap="flat" cmpd="sng">
            <a:solidFill>
              <a:srgbClr val="0969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096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>
            <a:off x="694944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Local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 file in your project is in one of these states: modified, staged, or committed.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Starting a Repository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 init</a:t>
            </a:r>
            <a:r>
              <a:rPr lang="en" sz="1600" b="1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Start from Scratch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Create a directory and get started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mkdir my-project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cd my-project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Initialize the directory (repository) to track changes using git</a:t>
            </a:r>
            <a:endParaRPr sz="1200" b="1">
              <a:solidFill>
                <a:srgbClr val="E8563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init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Initialized empty Git repository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 /home/user/my-project/.git/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.git folder — your repo is born!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clone</a:t>
            </a:r>
            <a:r>
              <a:rPr lang="en" sz="1600" b="1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Copy Existing Repo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Copy an existing GitHub repository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Or do it with SSH (must have it configured from Slide 4):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git@github.com: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Downloads the full repo with all history.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add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 Your Changes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457200" y="1097280"/>
            <a:ext cx="8229600" cy="1645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/>
          <p:nvPr/>
        </p:nvSpPr>
        <p:spPr>
          <a:xfrm>
            <a:off x="731520" y="1188720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 specific file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index.html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an entire folder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src/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ALL changes (use carefully!)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/>
          <p:nvPr/>
        </p:nvSpPr>
        <p:spPr>
          <a:xfrm>
            <a:off x="9144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Scenario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731520" y="3566160"/>
            <a:ext cx="7772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You're building a website. You've edited index.html and style.css but also have debug.log files you don't want to commit. Use git add index.html style.css to stage only what matters, not git add . which would include everything.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Saving a Snapshot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640080" y="118872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Git commit needs a flag -m (message)</a:t>
            </a:r>
            <a:endParaRPr sz="1100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After that, in double quotes, write your commit message</a:t>
            </a:r>
            <a:endParaRPr sz="1100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login page"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"Fix: null pointer on checkout"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One shot command to add and commit: -a auto-stages tracked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-am "Update styles"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Messages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5943600" y="1554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lang="en" sz="18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</a:t>
            </a: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"Add user auth middleware"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"Fix #42: cart total rounding"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"fix stuff"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"asdfgh"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"changes"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Anatomy of a Commit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SHA Hash: </a:t>
            </a:r>
            <a:r>
              <a:rPr lang="en" sz="12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 |  </a:t>
            </a:r>
            <a:r>
              <a:rPr lang="en" sz="1200" b="1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Author: </a:t>
            </a: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Jane Doe  |  </a:t>
            </a:r>
            <a:r>
              <a:rPr lang="en" sz="12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2025-03-28  |  </a:t>
            </a:r>
            <a:r>
              <a:rPr lang="en" sz="1200" b="1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Message: </a:t>
            </a: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"Add login page"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Inspecting Your Repository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/>
          <p:nvPr/>
        </p:nvSpPr>
        <p:spPr>
          <a:xfrm>
            <a:off x="114300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lang="en" sz="18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Shows the current state of your files: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On branch main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Changes to be committed: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modified: index.html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Untracked files: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debug.log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/>
          <p:nvPr/>
        </p:nvSpPr>
        <p:spPr>
          <a:xfrm>
            <a:off x="544068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Consolas"/>
              <a:buNone/>
            </a:pPr>
            <a:r>
              <a:rPr lang="en" sz="18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log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commit history: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Track all your commits using git log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Add login page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e4f5g6h Fix header layout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i7j8k9l Initial commit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--graph --oneline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  Visualizes branching history!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Comparing &amp; Undoing Changes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Consola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diff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64008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unstaged changes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 b="0" i="0" u="none" strike="noStrike" cap="non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staged changes</a:t>
            </a:r>
            <a:endParaRPr sz="1100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 --staged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4937760" y="1188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Undo Commands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Discard working changes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file.txt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 b="0" i="0" u="none" strike="noStrike" cap="non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Unstage a file</a:t>
            </a:r>
            <a:endParaRPr sz="1100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--staged file.txt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457200" y="2834650"/>
            <a:ext cx="8229600" cy="1810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/>
          <p:nvPr/>
        </p:nvSpPr>
        <p:spPr>
          <a:xfrm>
            <a:off x="1143000" y="2971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Undo (Use with Caution!)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731520" y="3539349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revert &lt;commit_hash&gt;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NEW commit that undoes a previous one. </a:t>
            </a:r>
            <a:r>
              <a:rPr lang="en" sz="11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Safe for shared branches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git reset --soft HEAD~1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Undoes last commit but keeps changes staged. </a:t>
            </a:r>
            <a:r>
              <a:rPr lang="en" sz="11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Good for fixing commit messages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reset --hard HEAD~1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Permanently discards last commit AND changes. Destructive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so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be very careful!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Gits Superpower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12801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7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branch is an independent line of development.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304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/>
          <p:nvPr/>
        </p:nvSpPr>
        <p:spPr>
          <a:xfrm>
            <a:off x="59436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Isolation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59436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Work on features without affecting the main codebase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3246098" y="292605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" name="Google Shape;246;p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340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3383270" y="3520440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Parallel Work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347472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Multiple developers can build different features simultaneously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6035058" y="292600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2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2385" y="3063215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/>
          <p:nvPr/>
        </p:nvSpPr>
        <p:spPr>
          <a:xfrm>
            <a:off x="6172268" y="3520415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Net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6172330" y="3863318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If something breaks, main branch stays untouched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with Branches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64008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local branches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640080" y="1645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branch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 new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64008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checkout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(classic)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640080" y="2377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switch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(modern)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AND switch in one step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40080" y="3108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Delete a branch (after merge)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640080" y="3474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Force delete (unmerged)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 -a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029200" y="3840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branches (incl. remote)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Merging Branches Together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Merge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Switch to the receiving 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Merge the feature branch 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merge feature-login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Delete the branch (optional)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4937760" y="1188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Fast-Forward Merge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main hasn't changed since branching. Git simply moves the pointer forward — no merge commit needed. Clean, linear history.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4937760" y="2834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Three-Way Merge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4937760" y="32004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both branches have new commits. Git creates a special merge commit with two parents, combining work from both branches. This is the most common scenario in teams.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Merge Conflicts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!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Don't Panic!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Conflicts happen when two branches edit the same line(s). Git marks the conflict and asks you to decide.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457200" y="1463051"/>
            <a:ext cx="4572000" cy="2347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What a Conflict Looks Like: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640080" y="1920240"/>
            <a:ext cx="42062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 HEAD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background: blue;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=======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background: red;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&gt;&gt;&gt;&gt;&gt;&gt;&gt; feature-redesign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YOUR changes are above =======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THEIR changes are below =======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5303525" y="1463051"/>
            <a:ext cx="3383400" cy="2347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5486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Resolve: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5486400" y="19202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Open the conflicted file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Choose which code to keep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(or combine both)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Remove the conflict markers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(&lt;&lt;&lt;, ===, &gt;&gt;&gt; lines)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Stage &amp; commit the fix: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 git add . &amp;&amp; git commit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457200" y="4010121"/>
            <a:ext cx="8229600" cy="64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101561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/>
          <p:nvPr/>
        </p:nvSpPr>
        <p:spPr>
          <a:xfrm>
            <a:off x="1097280" y="4055841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Modern IDEs</a:t>
            </a:r>
            <a:r>
              <a:rPr lang="en" sz="1200" b="0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 highlight conflicts with color-coded buttons</a:t>
            </a:r>
            <a:r>
              <a:rPr lang="en" sz="1200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200" b="0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Accept Current, Accept Incoming, or Accept Both.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Your GitHub Account &amp; SSH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5720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114300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GitHub Account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8580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Go to github.com/signup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Enter your email, password, username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Verify your account via email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Choose the Free plan (perfect for students!)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Tip: </a:t>
            </a:r>
            <a:r>
              <a:rPr lang="en" sz="1200" b="0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Apply for GitHub Student Developer Pack</a:t>
            </a: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at education.github.com for free Pro features!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75488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544068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Setup (All Platforms)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98348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SSH lets you push/pull without typing your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password every time. Set it up once: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Generate a key pair on your machine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Copy the public key (.pub file)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Add it to GitHub → Settings → SSH Keys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4. Test with: ssh -T git@github.com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57200" y="2940767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Generation Commands by 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57200" y="3306527"/>
            <a:ext cx="8229600" cy="91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64008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Windows (Git Bash / PowerShell)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29184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macOS (Terminal)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943600" y="3352247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Linux (Terminal)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57190" y="423644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200" i="1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ssh-keygen commands create an SSH key which will help you communicate securely (with verification) with your GitHub account</a:t>
            </a:r>
            <a:endParaRPr sz="12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a GitHub Repository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8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969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8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8"/>
          <p:cNvSpPr/>
          <p:nvPr/>
        </p:nvSpPr>
        <p:spPr>
          <a:xfrm>
            <a:off x="1280160" y="11887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 to github.com → Click "+" → "New repository"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8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1280160" y="196596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Name your repo, add description, choose public/private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8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8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1280160" y="274320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Optionally add README, .gitignore, and license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8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B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8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1280160" y="35204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Click "Create repository"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Then connect your local repo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Push / Pull Workflow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548640" y="1371600"/>
            <a:ext cx="3200400" cy="2743200"/>
          </a:xfrm>
          <a:prstGeom prst="rect">
            <a:avLst/>
          </a:prstGeom>
          <a:solidFill>
            <a:srgbClr val="F6F8FA"/>
          </a:solidFill>
          <a:ln w="25400" cap="flat" cmpd="sng">
            <a:solidFill>
              <a:srgbClr val="0969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54864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Trebuchet MS"/>
              <a:buNone/>
            </a:pPr>
            <a:r>
              <a:rPr lang="en" sz="12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YOUR MACHINE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731520" y="1920240"/>
            <a:ext cx="28346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add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commit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Local Repository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5394960" y="1371600"/>
            <a:ext cx="3200400" cy="2743200"/>
          </a:xfrm>
          <a:prstGeom prst="rect">
            <a:avLst/>
          </a:prstGeom>
          <a:solidFill>
            <a:srgbClr val="F6F8FA"/>
          </a:solidFill>
          <a:ln w="25400" cap="flat" cmpd="sng">
            <a:solidFill>
              <a:srgbClr val="E85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7"/>
          <p:cNvSpPr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Trebuchet M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(REMOTE)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3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7960" y="22860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7"/>
          <p:cNvSpPr/>
          <p:nvPr/>
        </p:nvSpPr>
        <p:spPr>
          <a:xfrm>
            <a:off x="539496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Remote Repository</a:t>
            </a:r>
            <a:endParaRPr sz="1400" b="0" i="0" u="none" strike="noStrike" cap="non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  →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3840480" y="32004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←  git pull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384048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lang="en" sz="1100" b="1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←  git fetch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Remote Repositories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1005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remote is a copy of your repo hosted on a server (like GitHub).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6"/>
          <p:cNvSpPr/>
          <p:nvPr/>
        </p:nvSpPr>
        <p:spPr>
          <a:xfrm>
            <a:off x="640080" y="2423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remote add origin &lt;url&gt;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5303520" y="2423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Connect local repo to GitHub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 -u origin main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Upload local commits to remote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5303520" y="3063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new commits (after first push)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pull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+ merge remote changes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fetch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without merging (safer)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$ git remote -v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List connected remotes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Best Practices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4"/>
          <p:cNvSpPr/>
          <p:nvPr/>
        </p:nvSpPr>
        <p:spPr>
          <a:xfrm>
            <a:off x="45720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4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4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Often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100584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Small, focused commits are easier to review, revert, and understand.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475488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9" name="Google Shape;589;p4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4"/>
          <p:cNvSpPr/>
          <p:nvPr/>
        </p:nvSpPr>
        <p:spPr>
          <a:xfrm>
            <a:off x="530352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Write Good Messages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imperative mood: "Add feature" not "Added feature". Explain WHY, not just what.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45720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3" name="Google Shape;593;p4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Pull Before Push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4"/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Always git pull before pushing to avoid conflicts and rejected pushes.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4"/>
          <p:cNvSpPr/>
          <p:nvPr/>
        </p:nvSpPr>
        <p:spPr>
          <a:xfrm>
            <a:off x="475488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4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4"/>
          <p:cNvSpPr/>
          <p:nvPr/>
        </p:nvSpPr>
        <p:spPr>
          <a:xfrm>
            <a:off x="530352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Never Force Push Main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4"/>
          <p:cNvSpPr/>
          <p:nvPr/>
        </p:nvSpPr>
        <p:spPr>
          <a:xfrm>
            <a:off x="530352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 push --force rewrites remote history. Only use on your own feature branches.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45720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1" name="Google Shape;601;p4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436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4"/>
          <p:cNvSpPr/>
          <p:nvPr/>
        </p:nvSpPr>
        <p:spPr>
          <a:xfrm>
            <a:off x="100584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Use .gitignore Early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100584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Set it up before your first commit. Removing tracked files later is painful.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4"/>
          <p:cNvSpPr/>
          <p:nvPr/>
        </p:nvSpPr>
        <p:spPr>
          <a:xfrm>
            <a:off x="475488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5" name="Google Shape;605;p4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9204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4"/>
          <p:cNvSpPr/>
          <p:nvPr/>
        </p:nvSpPr>
        <p:spPr>
          <a:xfrm>
            <a:off x="530352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Before Commit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4"/>
          <p:cNvSpPr/>
          <p:nvPr/>
        </p:nvSpPr>
        <p:spPr>
          <a:xfrm>
            <a:off x="530352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git diff and git status to verify what you're about to commit.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Command Cheat Sheet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5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5"/>
          <p:cNvSpPr/>
          <p:nvPr/>
        </p:nvSpPr>
        <p:spPr>
          <a:xfrm>
            <a:off x="64008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Initialize repo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5"/>
          <p:cNvSpPr/>
          <p:nvPr/>
        </p:nvSpPr>
        <p:spPr>
          <a:xfrm>
            <a:off x="64008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clone &lt;url&gt;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Copy remote repo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5"/>
          <p:cNvSpPr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BASICS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5"/>
          <p:cNvSpPr/>
          <p:nvPr/>
        </p:nvSpPr>
        <p:spPr>
          <a:xfrm>
            <a:off x="64008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&lt;file&gt;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Stage changes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5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commit -m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Save snapshot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5"/>
          <p:cNvSpPr/>
          <p:nvPr/>
        </p:nvSpPr>
        <p:spPr>
          <a:xfrm>
            <a:off x="64008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Check state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5"/>
          <p:cNvSpPr/>
          <p:nvPr/>
        </p:nvSpPr>
        <p:spPr>
          <a:xfrm>
            <a:off x="64008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log --oneline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View history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5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5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BRANCHING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5"/>
          <p:cNvSpPr/>
          <p:nvPr/>
        </p:nvSpPr>
        <p:spPr>
          <a:xfrm>
            <a:off x="493776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branch &lt;name&gt;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Create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5"/>
          <p:cNvSpPr/>
          <p:nvPr/>
        </p:nvSpPr>
        <p:spPr>
          <a:xfrm>
            <a:off x="493776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switch &lt;name&gt;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Switch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5"/>
          <p:cNvSpPr/>
          <p:nvPr/>
        </p:nvSpPr>
        <p:spPr>
          <a:xfrm>
            <a:off x="493776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merge &lt;name&gt;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Merge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5"/>
          <p:cNvSpPr/>
          <p:nvPr/>
        </p:nvSpPr>
        <p:spPr>
          <a:xfrm>
            <a:off x="493776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REMOTE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5"/>
          <p:cNvSpPr/>
          <p:nvPr/>
        </p:nvSpPr>
        <p:spPr>
          <a:xfrm>
            <a:off x="493776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Upload to remote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5"/>
          <p:cNvSpPr/>
          <p:nvPr/>
        </p:nvSpPr>
        <p:spPr>
          <a:xfrm>
            <a:off x="493776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+ merge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5"/>
          <p:cNvSpPr/>
          <p:nvPr/>
        </p:nvSpPr>
        <p:spPr>
          <a:xfrm>
            <a:off x="493776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fetch</a:t>
            </a:r>
            <a:r>
              <a:rPr lang="en" sz="1200" b="0" i="0" u="none" strike="noStrike" cap="non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only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6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8" name="Google Shape;638;p4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371600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2743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/>
          <p:nvPr/>
        </p:nvSpPr>
        <p:spPr>
          <a:xfrm>
            <a:off x="3406870" y="20472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lang="en" sz="44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6"/>
          <p:cNvSpPr/>
          <p:nvPr/>
        </p:nvSpPr>
        <p:spPr>
          <a:xfrm>
            <a:off x="7772400" y="4709160"/>
            <a:ext cx="1097280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7"/>
          <p:cNvSpPr/>
          <p:nvPr/>
        </p:nvSpPr>
        <p:spPr>
          <a:xfrm>
            <a:off x="791253" y="1877650"/>
            <a:ext cx="7561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lang="en" sz="44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Concepts for you to explore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7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7"/>
          <p:cNvSpPr/>
          <p:nvPr/>
        </p:nvSpPr>
        <p:spPr>
          <a:xfrm>
            <a:off x="7772400" y="4709160"/>
            <a:ext cx="10974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7"/>
          <p:cNvSpPr/>
          <p:nvPr/>
        </p:nvSpPr>
        <p:spPr>
          <a:xfrm>
            <a:off x="457200" y="275557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i="1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Will not appear at your exams but good to know as these are heavily used in the industry</a:t>
            </a:r>
            <a:endParaRPr sz="13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Pull Requests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Pull Request (PR) is a proposal to merge your branch into another. It enables code review, discussion, and automated checks before changes go live.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45720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5" name="Google Shape;485;p3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9"/>
          <p:cNvSpPr/>
          <p:nvPr/>
        </p:nvSpPr>
        <p:spPr>
          <a:xfrm>
            <a:off x="54864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Trebuchet MS"/>
              <a:buNone/>
            </a:pPr>
            <a:r>
              <a:rPr lang="en" sz="13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Push Branch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54864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Push your feature branch to GitHub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237744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260604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3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184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9"/>
          <p:cNvSpPr/>
          <p:nvPr/>
        </p:nvSpPr>
        <p:spPr>
          <a:xfrm>
            <a:off x="269748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300"/>
              <a:buFont typeface="Trebuchet MS"/>
              <a:buNone/>
            </a:pPr>
            <a:r>
              <a:rPr lang="en" sz="13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sz="13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269748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PR on GitHub, describe your changes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452628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475488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3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06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9"/>
          <p:cNvSpPr/>
          <p:nvPr/>
        </p:nvSpPr>
        <p:spPr>
          <a:xfrm>
            <a:off x="484632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Trebuchet MS"/>
              <a:buNone/>
            </a:pPr>
            <a:r>
              <a:rPr lang="en" sz="13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</a:t>
            </a:r>
            <a:endParaRPr sz="13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484632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 reviews code, leaves comments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667512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690372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3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895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9"/>
          <p:cNvSpPr/>
          <p:nvPr/>
        </p:nvSpPr>
        <p:spPr>
          <a:xfrm>
            <a:off x="699516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Trebuchet MS"/>
              <a:buNone/>
            </a:pPr>
            <a:r>
              <a:rPr lang="en" sz="13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699516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Approved PR gets merged into 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PR in Action</a:t>
            </a:r>
            <a:r>
              <a:rPr lang="en" sz="32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, A </a:t>
            </a: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Scenario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0"/>
          <p:cNvSpPr/>
          <p:nvPr/>
        </p:nvSpPr>
        <p:spPr>
          <a:xfrm>
            <a:off x="86868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Adding a search feature to your team's e-commerce site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457200" y="1462713"/>
            <a:ext cx="8229600" cy="3169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and switch to a feature 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feature/search-bar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Write code, test locally, commit regularly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sz="1200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git commit -m "Add search component"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API integration"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results styling"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your branch to GitHub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feature/search-bar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Go to GitHub → "Compare &amp; Pull Request"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Team reviews → Approves → Merge!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6. Clean up: switch back and delete 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 &amp;&amp; git pull &amp;&amp; git branch -d feature/search-bar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</a:t>
            </a:r>
            <a:r>
              <a:rPr lang="en" sz="32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</a:t>
            </a: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1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1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Branch</a:t>
            </a:r>
            <a:endParaRPr sz="15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1"/>
          <p:cNvSpPr/>
          <p:nvPr/>
        </p:nvSpPr>
        <p:spPr>
          <a:xfrm>
            <a:off x="114300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 off main for every feature or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731520" y="1572768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1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1"/>
          <p:cNvSpPr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1143000" y="17556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Add Commits</a:t>
            </a:r>
            <a:endParaRPr sz="15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1143000" y="20299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Make small, focused commits with good messages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731520" y="2231136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1"/>
          <p:cNvSpPr/>
          <p:nvPr/>
        </p:nvSpPr>
        <p:spPr>
          <a:xfrm>
            <a:off x="548640" y="2459736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1"/>
          <p:cNvSpPr/>
          <p:nvPr/>
        </p:nvSpPr>
        <p:spPr>
          <a:xfrm>
            <a:off x="548640" y="24597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1143000" y="24140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sz="15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1143000" y="268833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branch, open Pull Request for discussion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731520" y="2889504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1"/>
          <p:cNvSpPr/>
          <p:nvPr/>
        </p:nvSpPr>
        <p:spPr>
          <a:xfrm>
            <a:off x="548640" y="3118104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1"/>
          <p:cNvSpPr/>
          <p:nvPr/>
        </p:nvSpPr>
        <p:spPr>
          <a:xfrm>
            <a:off x="548640" y="31181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1143000" y="30723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Code Review</a:t>
            </a:r>
            <a:endParaRPr sz="15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1143000" y="33467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Team reviews, suggests changes, approves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731520" y="3547872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548640" y="3776472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548640" y="37764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1143000" y="3730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 &amp; Deploy</a:t>
            </a:r>
            <a:endParaRPr sz="15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1143000" y="40050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Merge into main — it should always be deployable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/>
          <p:nvPr/>
        </p:nvSpPr>
        <p:spPr>
          <a:xfrm>
            <a:off x="5943600" y="1097280"/>
            <a:ext cx="274320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Golden Rules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6108200" y="1540825"/>
            <a:ext cx="2377500" cy="23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Branch names are descriptive: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feature/user-auth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fix/cart-total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✓ Never commit directly to main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PRs get at least 1 review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Delete branches after merge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Forking &amp; Open Source Contribution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fork is your own copy of someone else's repository on GitHub. You can freely experiment without affecting the original project.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Open Source Contribution Workflow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640080" y="2103120"/>
            <a:ext cx="786384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Fork the repo on GitHub (click "Fork" button)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Clone YOUR fork locally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https://github.com/YOU/project.git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Add the original as upstream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remote add upstream https://github.com/ORIGINAL/project.git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Create a branch, make changes, push to YOUR fork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fix/typo-in-readme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origin fix/typo-in-readme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Open PR from YOUR fork → ORIGINAL repo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Beyond Code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3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p4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3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Issues</a:t>
            </a:r>
            <a:endParaRPr sz="16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Track bugs, feature requests, and tasks. Link them to PRs with keywords like 'Closes #42'.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3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7" name="Google Shape;567;p4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3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Actions (CI/CD)</a:t>
            </a:r>
            <a:endParaRPr sz="1600" b="0" i="0" u="none" strike="noStrike" cap="non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3"/>
          <p:cNvSpPr/>
          <p:nvPr/>
        </p:nvSpPr>
        <p:spPr>
          <a:xfrm>
            <a:off x="493776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 tests, builds, and deployments. Runs on every push or PR automatically.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1" name="Google Shape;571;p4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114300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Pages</a:t>
            </a:r>
            <a:endParaRPr sz="1600" b="0" i="0" u="none" strike="noStrike" cap="non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3"/>
          <p:cNvSpPr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Host static websites directly from a repo for free. Perfect for portfolios and project docs.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475488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5" name="Google Shape;575;p4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3"/>
          <p:cNvSpPr/>
          <p:nvPr/>
        </p:nvSpPr>
        <p:spPr>
          <a:xfrm>
            <a:off x="544068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README.md</a:t>
            </a:r>
            <a:endParaRPr sz="1600" b="0" i="0" u="none" strike="noStrike" cap="non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493776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front page of your repo. Write in Markdown. Include setup instructions, usage, and badges.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Strategies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How teams organize their branches determines code quality, release speed, and collaboration efficiency.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457200" y="1508760"/>
            <a:ext cx="73152" cy="914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731520" y="18745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Structured model with main, develop, feature, release, and hotfix branches. Best for scheduled release cycles.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Enterprise, Mobile Apps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Simple: main + feature branches. Deploy from main after PR review. Best for continuous deployment.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6858000" y="2834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Web Apps, SaaS, Startups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731520" y="39776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Everyone commits to main (trunk) with very short-lived branches. Requires strong CI/CD and tests.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6858000" y="3886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Google, Large-scale teams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Naming Conventions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457200" y="960127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Teams also have different branching naming conventions, you should consult with the standards of the team. A usual pattern you will find: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2"/>
          <p:cNvSpPr/>
          <p:nvPr/>
        </p:nvSpPr>
        <p:spPr>
          <a:xfrm>
            <a:off x="1386150" y="1775850"/>
            <a:ext cx="637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2500" b="1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&lt;user_initials&gt;/feature_&lt;feature_name&gt;</a:t>
            </a:r>
            <a:endParaRPr sz="2500" b="0" i="0" u="none" strike="noStrike" cap="non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2"/>
          <p:cNvSpPr/>
          <p:nvPr/>
        </p:nvSpPr>
        <p:spPr>
          <a:xfrm>
            <a:off x="1657475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Trebuchet MS"/>
                <a:ea typeface="Trebuchet MS"/>
                <a:cs typeface="Trebuchet MS"/>
                <a:sym typeface="Trebuchet MS"/>
              </a:rPr>
              <a:t>The initials of the contributor</a:t>
            </a:r>
            <a:endParaRPr sz="900"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38" name="Google Shape;338;p32"/>
          <p:cNvCxnSpPr>
            <a:endCxn id="337" idx="0"/>
          </p:cNvCxnSpPr>
          <p:nvPr/>
        </p:nvCxnSpPr>
        <p:spPr>
          <a:xfrm flipH="1">
            <a:off x="2583575" y="2121152"/>
            <a:ext cx="15300" cy="396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339;p32"/>
          <p:cNvSpPr/>
          <p:nvPr/>
        </p:nvSpPr>
        <p:spPr>
          <a:xfrm>
            <a:off x="5392700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Trebuchet MS"/>
                <a:ea typeface="Trebuchet MS"/>
                <a:cs typeface="Trebuchet MS"/>
                <a:sym typeface="Trebuchet MS"/>
              </a:rPr>
              <a:t>The name of the feature</a:t>
            </a:r>
            <a:endParaRPr sz="900"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40" name="Google Shape;340;p32"/>
          <p:cNvCxnSpPr/>
          <p:nvPr/>
        </p:nvCxnSpPr>
        <p:spPr>
          <a:xfrm>
            <a:off x="6391300" y="2141550"/>
            <a:ext cx="9000" cy="37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" name="Google Shape;341;p32"/>
          <p:cNvSpPr/>
          <p:nvPr/>
        </p:nvSpPr>
        <p:spPr>
          <a:xfrm>
            <a:off x="426400" y="3141702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426400" y="3617500"/>
            <a:ext cx="7946400" cy="9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200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John Doe is contributing to the login feature of the app. John Doe was assigned the initials (JD), therefore his branch name for the login feature would be:</a:t>
            </a:r>
            <a:endParaRPr sz="1200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200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/feature_</a:t>
            </a:r>
            <a:r>
              <a:rPr lang="en" sz="1200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sz="1200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200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for bugfixes, it would be:</a:t>
            </a:r>
            <a:endParaRPr sz="1200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200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lang="e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/bugfixes_</a:t>
            </a:r>
            <a:r>
              <a:rPr lang="en" sz="1200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sz="1200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457200" y="7904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structured branching mode</a:t>
            </a:r>
            <a:r>
              <a:rPr lang="en" sz="1300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. Ideal for projects with scheduled releases.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457200" y="129340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3"/>
          <p:cNvSpPr/>
          <p:nvPr/>
        </p:nvSpPr>
        <p:spPr>
          <a:xfrm>
            <a:off x="457200" y="129340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3"/>
          <p:cNvSpPr/>
          <p:nvPr/>
        </p:nvSpPr>
        <p:spPr>
          <a:xfrm>
            <a:off x="685800" y="133912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685800" y="154028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2286000" y="129340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Production-ready code only. Every commit here is a release.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457200" y="184204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457200" y="1842040"/>
            <a:ext cx="63900" cy="4572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3"/>
          <p:cNvSpPr/>
          <p:nvPr/>
        </p:nvSpPr>
        <p:spPr>
          <a:xfrm>
            <a:off x="685800" y="188776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develop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685800" y="208892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2286000" y="184204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Integration branch for features. The "next release" staging ground.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457200" y="2390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3"/>
          <p:cNvSpPr/>
          <p:nvPr/>
        </p:nvSpPr>
        <p:spPr>
          <a:xfrm>
            <a:off x="457200" y="2390680"/>
            <a:ext cx="63900" cy="4572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685800" y="2436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1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initials/</a:t>
            </a:r>
            <a:r>
              <a:rPr lang="en" sz="12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feature</a:t>
            </a:r>
            <a:r>
              <a:rPr lang="en" sz="1200" b="1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200" b="1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685800" y="263756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286000" y="239068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One per feature. Branch from develop, merge back into develop via PR.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57200" y="293932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457200" y="2939320"/>
            <a:ext cx="63900" cy="45720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685800" y="298504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release/*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685800" y="31862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2286000" y="293932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Prep a release: bump versions, final fixes. Merges into main AND develop.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457200" y="348796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457200" y="348796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685800" y="353368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hotfix/*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685800" y="373484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2286000" y="348796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Emergency fix on production. Branch from main, merge into main AND develop.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457200" y="4082320"/>
            <a:ext cx="8229600" cy="457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6" name="Google Shape;376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128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/>
          <p:nvPr/>
        </p:nvSpPr>
        <p:spPr>
          <a:xfrm>
            <a:off x="1005840" y="40823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Real-world: </a:t>
            </a:r>
            <a:r>
              <a:rPr lang="en" sz="10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mobile banking app releases v2.3 every 2 weeks. Features go on initials/feature branches → develop → release/2.3 for QA → main. Critical bugs use hotfix/* directly to main.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457200" y="9601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simplest strategy. Only two branch types: main and short-lived feature branches.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457200" y="1463040"/>
            <a:ext cx="4755000" cy="2926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640080" y="15544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Entire Workflow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640080" y="1920240"/>
            <a:ext cx="438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branch from 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initials/feature</a:t>
            </a:r>
            <a:r>
              <a:rPr lang="en" sz="1100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dark-mode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Commit your 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dark mode toggle"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&amp; open Pull Request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feature/dark-mode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4. Review → Approve → Merge → Deploy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5. Delete the 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feature/dark-mode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394960" y="1463040"/>
            <a:ext cx="3291900" cy="2926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577840" y="15544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Why Teams Love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5577840" y="192024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Dead simple to learn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 develop, release, or hotfix branches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Every merge triggers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Fast feedback via PRs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Code review is built into the flow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No staging environment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Not ideal for complex release cycles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Used by: </a:t>
            </a:r>
            <a:r>
              <a:rPr lang="en" sz="1200" b="0" i="0" u="none" strike="noStrike" cap="non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GitHub, Shopify, Basecamp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 Development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457200" y="88547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Everyone commits directly to main (the "trunk"). Short-lived branches last hours, not days.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45720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5"/>
          <p:cNvSpPr/>
          <p:nvPr/>
        </p:nvSpPr>
        <p:spPr>
          <a:xfrm>
            <a:off x="100584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Tiny Commits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100584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Commits are small and frequent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ften multiple times per day. Each commit should build and pass tests.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475488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3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/>
          <p:nvPr/>
        </p:nvSpPr>
        <p:spPr>
          <a:xfrm>
            <a:off x="530352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lang="en" sz="1400" b="1" i="0" strike="noStrike" cap="non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Flags</a:t>
            </a:r>
            <a:endParaRPr sz="1400" b="0" i="0" strike="noStrike" cap="non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530352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Incomplete features are hidden behind flags in code, so unfinished work can exist in main safely.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45720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7" name="Google Shape;407;p3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/>
          <p:nvPr/>
        </p:nvSpPr>
        <p:spPr>
          <a:xfrm>
            <a:off x="100584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CI/CD</a:t>
            </a:r>
            <a:endParaRPr sz="1400" b="0" i="0" u="none" strike="noStrike" cap="non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100584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Automated tests run on every commit. If tests fail, the team stops and fixes immediately.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475488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1" name="Google Shape;411;p3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530352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lang="en" sz="14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No Long-Lived Branches</a:t>
            </a:r>
            <a:endParaRPr sz="1400" b="0" i="0" u="none" strike="noStrike" cap="non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30352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Branches (if used at all) live for &lt; 1 day. No feature branches sitting open for a week.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457200" y="3846934"/>
            <a:ext cx="8229600" cy="64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5" name="Google Shape;415;p3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93837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/>
          <p:nvPr/>
        </p:nvSpPr>
        <p:spPr>
          <a:xfrm>
            <a:off x="1005840" y="3846934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 example: 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Some companies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ha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,000+ engineers committing to a single trunk repository. They use feature flags extensively</a:t>
            </a:r>
            <a:r>
              <a:rPr lang="en" sz="11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 Say, </a:t>
            </a:r>
            <a:r>
              <a:rPr lang="en" sz="11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new search algorithm might be in main for months before it's enabled for users.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.gitignore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Keeping Repos Clean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8"/>
          <p:cNvSpPr/>
          <p:nvPr/>
        </p:nvSpPr>
        <p:spPr>
          <a:xfrm>
            <a:off x="64008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.gitignore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640080" y="160020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Dependencies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node_modules/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venv/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Build outputs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dist/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*.pyc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Secrets &amp; environment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*.key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OS files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.DS_Store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2" name="Google Shape;662;p4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8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lang="en" sz="1600" b="1" i="0" u="none" strike="noStrike" cap="non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8"/>
          <p:cNvSpPr/>
          <p:nvPr/>
        </p:nvSpPr>
        <p:spPr>
          <a:xfrm>
            <a:off x="5029200" y="173736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Never commit: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Passwords or API keys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node_modules (can be 500MB+)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Compiled/build output files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OS-generated files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Pro tip: </a:t>
            </a: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github.com/github/gitignore has templates for every language and framework!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Rebase vs Merge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9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9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9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000"/>
              <a:buFont typeface="Consolas"/>
              <a:buNone/>
            </a:pPr>
            <a:r>
              <a:rPr lang="en" sz="2000" b="1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merge (rare usage)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73152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merge commit that combines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two branch histories.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Non-destructive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Preserves complete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Safe for shared branches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Can create a messy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Extra merge commits clutter 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9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9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000"/>
              <a:buFont typeface="Consolas"/>
              <a:buNone/>
            </a:pPr>
            <a:r>
              <a:rPr lang="en" sz="20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rebase (used more)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502920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Re-applies your commits on top of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another branch tip. Rewrites history.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Clean, linear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Easier to read git 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 extra merge commits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Rewrites commit hashes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NEVER rebase shared branches!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stash</a:t>
            </a:r>
            <a:r>
              <a:rPr lang="en" sz="36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6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Save Work for Later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0"/>
          <p:cNvSpPr/>
          <p:nvPr/>
        </p:nvSpPr>
        <p:spPr>
          <a:xfrm>
            <a:off x="457200" y="1005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Need to switch branches but have uncommitted changes? Stash them temporarily.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0"/>
          <p:cNvSpPr/>
          <p:nvPr/>
        </p:nvSpPr>
        <p:spPr>
          <a:xfrm>
            <a:off x="457200" y="1554480"/>
            <a:ext cx="8229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50"/>
          <p:cNvSpPr/>
          <p:nvPr/>
        </p:nvSpPr>
        <p:spPr>
          <a:xfrm>
            <a:off x="640080" y="169164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50"/>
          <p:cNvSpPr/>
          <p:nvPr/>
        </p:nvSpPr>
        <p:spPr>
          <a:xfrm>
            <a:off x="5760720" y="16916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all uncommitted changes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0"/>
          <p:cNvSpPr/>
          <p:nvPr/>
        </p:nvSpPr>
        <p:spPr>
          <a:xfrm>
            <a:off x="640080" y="207568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stash push -m "WIP: login form"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0"/>
          <p:cNvSpPr/>
          <p:nvPr/>
        </p:nvSpPr>
        <p:spPr>
          <a:xfrm>
            <a:off x="5760720" y="207568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with a descriptive name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50"/>
          <p:cNvSpPr/>
          <p:nvPr/>
        </p:nvSpPr>
        <p:spPr>
          <a:xfrm>
            <a:off x="640080" y="2459736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stash list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0"/>
          <p:cNvSpPr/>
          <p:nvPr/>
        </p:nvSpPr>
        <p:spPr>
          <a:xfrm>
            <a:off x="5760720" y="245973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all stashed changes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640080" y="2843784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pop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5760720" y="284378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most recent stash &amp; remove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0"/>
          <p:cNvSpPr/>
          <p:nvPr/>
        </p:nvSpPr>
        <p:spPr>
          <a:xfrm>
            <a:off x="640080" y="322783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 apply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0"/>
          <p:cNvSpPr/>
          <p:nvPr/>
        </p:nvSpPr>
        <p:spPr>
          <a:xfrm>
            <a:off x="5760720" y="322783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stash but keep it in the list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640080" y="361188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drop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5760720" y="36118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Delete a stash without applying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5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37997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0"/>
          <p:cNvSpPr/>
          <p:nvPr/>
        </p:nvSpPr>
        <p:spPr>
          <a:xfrm>
            <a:off x="1005840" y="429768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lang="en" sz="105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" sz="105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mid-feature but need an urgent bug fix on main. Stash → switch → fix → switch back → pop!</a:t>
            </a:r>
            <a:endParaRPr sz="105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1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cherry-pick</a:t>
            </a:r>
            <a:r>
              <a:rPr lang="en" sz="3200" b="1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" sz="3200" b="1" i="0" u="none" strike="noStrike" cap="non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Grab a Single Commit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1"/>
          <p:cNvSpPr/>
          <p:nvPr/>
        </p:nvSpPr>
        <p:spPr>
          <a:xfrm>
            <a:off x="457200" y="9601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Cherry-pick lets you copy a specific commit from one branch and apply it to another</a:t>
            </a:r>
            <a:r>
              <a:rPr lang="en" sz="1300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WITHOUT </a:t>
            </a:r>
            <a:r>
              <a:rPr lang="en" sz="13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merging the entire branch. This is used 99% of the time in </a:t>
            </a:r>
            <a:r>
              <a:rPr lang="en" sz="1300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industry teams.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1"/>
          <p:cNvSpPr/>
          <p:nvPr/>
        </p:nvSpPr>
        <p:spPr>
          <a:xfrm>
            <a:off x="457200" y="1508749"/>
            <a:ext cx="4755000" cy="26277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640080" y="1600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Cherry-Pick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1"/>
          <p:cNvSpPr/>
          <p:nvPr/>
        </p:nvSpPr>
        <p:spPr>
          <a:xfrm>
            <a:off x="640080" y="1965960"/>
            <a:ext cx="43890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Find the commit hash you want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 initials</a:t>
            </a:r>
            <a:r>
              <a:rPr lang="en" sz="1100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feature</a:t>
            </a:r>
            <a:r>
              <a:rPr lang="en" sz="1100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payments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a1b2c3d Fix currency rounding bug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lang="en" sz="10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e4f5g6h Add payment gateway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Switch to the target 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lang="en" sz="1100" b="0" i="0" u="none" strike="noStrike" cap="non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Cherry-pick the specific commit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lang="en" sz="1100" b="1" i="0" u="none" strike="noStrike" cap="non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cherry-pick a1b2c3d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51"/>
          <p:cNvSpPr/>
          <p:nvPr/>
        </p:nvSpPr>
        <p:spPr>
          <a:xfrm>
            <a:off x="5394950" y="1508749"/>
            <a:ext cx="3291900" cy="26277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5577840" y="16002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lang="en" sz="1500" b="1" i="0" u="none" strike="noStrike" cap="non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1"/>
          <p:cNvSpPr/>
          <p:nvPr/>
        </p:nvSpPr>
        <p:spPr>
          <a:xfrm>
            <a:off x="5577850" y="1965948"/>
            <a:ext cx="2926200" cy="2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Hotfix needed on main but the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fix lives on a feature branch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Backporting a fix to an older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release branch (e.g. v2.x)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Picking select commits from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branch you don't want to merge fully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Don't overuse it — merging 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rebasing is usually cleaner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457200" y="4367647"/>
            <a:ext cx="8229600" cy="5943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6" name="Google Shape;716;p5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45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1"/>
          <p:cNvSpPr/>
          <p:nvPr/>
        </p:nvSpPr>
        <p:spPr>
          <a:xfrm>
            <a:off x="1005840" y="4367647"/>
            <a:ext cx="7498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" sz="1050" b="0" i="0" u="none" strike="noStrike" cap="non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Your teammate fixed a critical currency rounding bug on feature/payments, but that branch has 20 other commits not ready for production. Cherry-pick just the bug fix commit onto main without bringing everything else along.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3395</Words>
  <Application>Microsoft Office PowerPoint</Application>
  <PresentationFormat>On-screen Show (16:9)</PresentationFormat>
  <Paragraphs>609</Paragraphs>
  <Slides>37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Samin Sharaf Somik</cp:lastModifiedBy>
  <cp:revision>1</cp:revision>
  <dcterms:modified xsi:type="dcterms:W3CDTF">2026-08-02T10:15:23Z</dcterms:modified>
</cp:coreProperties>
</file>